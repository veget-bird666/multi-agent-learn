
<file path=[Content_Types].xml><?xml version="1.0" encoding="utf-8"?>
<Types xmlns="http://schemas.openxmlformats.org/package/2006/content-types">
  <Default ContentType="image/jpeg" Extension="jpeg"/>
  <Default ContentType="image/png" Extension="png"/>
  <Default ContentType="application/vnd.openxmlformats-package.relationships+xml" Extension="rels"/>
  <Default ContentType="application/vnd.openxmlformats-officedocument.spreadsheetml.sheet" Extension="xlsx"/>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custom-properties+xml" PartName="/docProps/custom.xml"/>
  <Override ContentType="application/vnd.openxmlformats-officedocument.drawingml.chart+xml" PartName="/ppt/charts/chart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 Id="rId5" Target="docProps/custom.xml" Type="http://schemas.openxmlformats.org/officeDocument/2006/relationships/custom-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114" d="100"/>
          <a:sy n="114" d="100"/>
        </p:scale>
        <p:origin x="912" y="6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slides/slide37.xml" Type="http://schemas.openxmlformats.org/officeDocument/2006/relationships/slid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charts/_rels/chart1.xml.rels><?xml version="1.0" encoding="UTF-8" standalone="yes"?><Relationships xmlns="http://schemas.openxmlformats.org/package/2006/relationships"><Relationship Id="rId1" Target="../embeddings/Microsoft_Excel_Worksheet1.xlsx" Type="http://schemas.openxmlformats.org/officeDocument/2006/relationships/package"/></Relationships>
</file>

<file path=ppt/charts/chart1.xml><?xml version="1.0" encoding="utf-8"?>
<c:chartSpace xmlns:c="http://schemas.openxmlformats.org/drawingml/2006/chart" xmlns:a="http://schemas.openxmlformats.org/drawingml/2006/main" xmlns:r="http://schemas.openxmlformats.org/officeDocument/2006/relationships">
  <c:chart>
    <c:autoTitleDeleted val="true"/>
    <c:plotArea>
      <c:barChart>
        <c:barDir val="col"/>
        <c:ser>
          <c:idx val="0"/>
          <c:order val="0"/>
          <c:tx>
            <c:strRef>
              <c:f>Sheet1!$B$1</c:f>
              <c:strCache>
                <c:ptCount val="1"/>
                <c:pt idx="0">
                  <c:v>系列 1</c:v>
                </c:pt>
              </c:strCache>
            </c:strRef>
          </c:tx>
          <c:spPr>
            <a:solidFill>
              <a:srgbClr val="00680F"/>
            </a:solidFill>
            <a:ln>
              <a:noFill/>
            </a:ln>
          </c:spPr>
          <c:cat>
            <c:strRef>
              <c:f>Sheet1!$A$2:$A$5</c:f>
              <c:strCache>
                <c:ptCount val="4"/>
                <c:pt idx="0">
                  <c:v>项目1</c:v>
                </c:pt>
                <c:pt idx="1">
                  <c:v>项目2</c:v>
                </c:pt>
                <c:pt idx="2">
                  <c:v>项目3</c:v>
                </c:pt>
                <c:pt idx="3">
                  <c:v>项目4</c:v>
                </c:pt>
              </c:strCache>
            </c:strRef>
          </c:cat>
          <c:val>
            <c:numRef>
              <c:f>Sheet1!$B$2:$B$5</c:f>
              <c:numCache>
                <c:formatCode>General</c:formatCode>
                <c:ptCount val="4"/>
                <c:pt idx="0">
                  <c:v>4.3</c:v>
                </c:pt>
                <c:pt idx="1">
                  <c:v>2.5</c:v>
                </c:pt>
                <c:pt idx="2">
                  <c:v>3.5</c:v>
                </c:pt>
                <c:pt idx="3">
                  <c:v>4.5</c:v>
                </c:pt>
              </c:numCache>
            </c:numRef>
          </c:val>
        </c:ser>
        <c:ser>
          <c:idx val="1"/>
          <c:order val="1"/>
          <c:tx>
            <c:strRef>
              <c:f>Sheet1!$C$1</c:f>
              <c:strCache>
                <c:ptCount val="1"/>
                <c:pt idx="0">
                  <c:v>系列 2</c:v>
                </c:pt>
              </c:strCache>
            </c:strRef>
          </c:tx>
          <c:spPr>
            <a:solidFill>
              <a:srgbClr val="FEB80A"/>
            </a:solidFill>
            <a:ln>
              <a:noFill/>
            </a:ln>
          </c:spPr>
          <c:cat>
            <c:strRef>
              <c:f>Sheet1!$A$2:$A$5</c:f>
              <c:strCache>
                <c:ptCount val="4"/>
                <c:pt idx="0">
                  <c:v>项目1</c:v>
                </c:pt>
                <c:pt idx="1">
                  <c:v>项目2</c:v>
                </c:pt>
                <c:pt idx="2">
                  <c:v>项目3</c:v>
                </c:pt>
                <c:pt idx="3">
                  <c:v>项目4</c:v>
                </c:pt>
              </c:strCache>
            </c:strRef>
          </c:cat>
          <c:val>
            <c:numRef>
              <c:f>Sheet1!$C$2:$C$5</c:f>
              <c:numCache>
                <c:formatCode>General</c:formatCode>
                <c:ptCount val="4"/>
                <c:pt idx="0">
                  <c:v>2.4</c:v>
                </c:pt>
                <c:pt idx="1">
                  <c:v>4.4</c:v>
                </c:pt>
                <c:pt idx="2">
                  <c:v>1.8</c:v>
                </c:pt>
                <c:pt idx="3">
                  <c:v>2.8</c:v>
                </c:pt>
              </c:numCache>
            </c:numRef>
          </c:val>
        </c:ser>
        <c:ser>
          <c:idx val="2"/>
          <c:order val="2"/>
          <c:tx>
            <c:strRef>
              <c:f>Sheet1!$D$1</c:f>
              <c:strCache>
                <c:ptCount val="1"/>
                <c:pt idx="0">
                  <c:v>系列 3</c:v>
                </c:pt>
              </c:strCache>
            </c:strRef>
          </c:tx>
          <c:spPr>
            <a:solidFill>
              <a:srgbClr val="68A042"/>
            </a:solidFill>
            <a:ln>
              <a:noFill/>
            </a:ln>
          </c:spPr>
          <c:cat>
            <c:strRef>
              <c:f>Sheet1!$A$2:$A$5</c:f>
              <c:strCache>
                <c:ptCount val="4"/>
                <c:pt idx="0">
                  <c:v>项目1</c:v>
                </c:pt>
                <c:pt idx="1">
                  <c:v>项目2</c:v>
                </c:pt>
                <c:pt idx="2">
                  <c:v>项目3</c:v>
                </c:pt>
                <c:pt idx="3">
                  <c:v>项目4</c:v>
                </c:pt>
              </c:strCache>
            </c:strRef>
          </c:cat>
          <c:val>
            <c:numRef>
              <c:f>Sheet1!$D$2:$D$5</c:f>
              <c:numCache>
                <c:formatCode>General</c:formatCode>
                <c:ptCount val="4"/>
                <c:pt idx="0">
                  <c:v>2.0</c:v>
                </c:pt>
                <c:pt idx="1">
                  <c:v>2.0</c:v>
                </c:pt>
                <c:pt idx="2">
                  <c:v>3.0</c:v>
                </c:pt>
                <c:pt idx="3">
                  <c:v>5.0</c:v>
                </c:pt>
              </c:numCache>
            </c:numRef>
          </c:val>
        </c:ser>
        <c:gapWidth val="219"/>
        <c:overlap val="-27"/>
        <c:axId val="0"/>
        <c:axId val="1"/>
      </c:barChart>
      <c:catAx>
        <c:axId val="0"/>
        <c:scaling>
          <c:orientation val="minMax"/>
        </c:scaling>
        <c:delete val="false"/>
        <c:axPos val="b"/>
        <c:majorTickMark val="none"/>
        <c:minorTickMark val="none"/>
        <c:tickLblPos val="nextTo"/>
        <c:spPr>
          <a:noFill/>
          <a:ln w="9476" cap="flat" cmpd="sng">
            <a:solidFill>
              <a:schemeClr val="bg2">
                <a:lumMod val="90000"/>
              </a:schemeClr>
            </a:solidFill>
          </a:ln>
          <a:effectLst/>
        </c:spPr>
        <c:crossAx val="1"/>
        <c:crosses val="autoZero"/>
        <c:auto val="false"/>
      </c:catAx>
      <c:valAx>
        <c:axId val="1"/>
        <c:scaling>
          <c:orientation val="minMax"/>
        </c:scaling>
        <c:delete val="false"/>
        <c:axPos val="l"/>
        <c:majorTickMark val="none"/>
        <c:minorTickMark val="none"/>
        <c:tickLblPos val="nextTo"/>
        <c:spPr>
          <a:ln>
            <a:noFill/>
          </a:ln>
        </c:spPr>
        <c:crossAx val="0"/>
        <c:crosses val="autoZero"/>
        <c:crossBetween val="between"/>
      </c:valAx>
    </c:plotArea>
    <c:legend>
      <c:legendPos val="b"/>
      <c:overlay val="false"/>
      <c:spPr>
        <a:noFill/>
        <a:ln>
          <a:noFill/>
        </a:ln>
      </c:spPr>
    </c:legend>
  </c:chart>
  <c:externalData r:id="rId1"/>
</c:chartSpace>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bg>
      <p:bgPr>
        <a:solidFill>
          <a:srgbClr val="FFFFFF"/>
        </a:solidFill>
      </p:bgPr>
    </p:bg>
    <p:spTree>
      <p:nvGrpSpPr>
        <p:cNvPr id="1" name=""/>
        <p:cNvGrpSpPr/>
        <p:nvPr/>
      </p:nvGrpSpPr>
      <p:grpSpPr>
        <a:xfrm>
          <a:off x="0" y="0"/>
          <a:ext cx="0" cy="0"/>
          <a:chOff x="0" y="0"/>
          <a:chExt cx="0" cy="0"/>
        </a:xfrm>
      </p:grpSpPr>
      <p:sp>
        <p:nvSpPr>
          <p:cNvPr name="AutoShape 2" id="2"/>
          <p:cNvSpPr/>
          <p:nvPr>
            <p:ph type="dt" sz="half" idx="10"/>
          </p:nvPr>
        </p:nvSpPr>
        <p:spPr>
          <a:xfrm>
            <a:off x="838200" y="6356350"/>
            <a:ext cx="2743200" cy="365125"/>
          </a:xfrm>
        </p:spPr>
        <p:txBody>
          <a:bodyPr vert="horz" anchor="ctr" tIns="45720" lIns="91440" bIns="45720" rIns="91440"/>
          <a:p>
            <a:pPr algn="l" marL="0">
              <a:buNone/>
            </a:pPr>
            <a:r>
              <a:rPr lang="zh-CN" b="false" i="false" sz="1200" baseline="0" u="none" altLang="en-US">
                <a:solidFill>
                  <a:schemeClr val="tx1">
                    <a:tint val="75000"/>
                  </a:schemeClr>
                </a:solidFill>
                <a:latin typeface="等线"/>
                <a:ea typeface="等线"/>
              </a:rPr>
              <a:t>2026/3/9</a:t>
            </a:r>
          </a:p>
        </p:txBody>
      </p:sp>
      <p:sp>
        <p:nvSpPr>
          <p:cNvPr name="AutoShape 3" id="3"/>
          <p:cNvSpPr/>
          <p:nvPr>
            <p:ph type="ftr" sz="quarter" idx="11"/>
          </p:nvPr>
        </p:nvSpPr>
        <p:spPr>
          <a:xfrm>
            <a:off x="4038600" y="6356350"/>
            <a:ext cx="4114800" cy="365125"/>
          </a:xfrm>
        </p:spPr>
        <p:txBody>
          <a:bodyPr vert="horz" anchor="ctr" tIns="45720" lIns="91440" bIns="45720" rIns="91440"/>
          <a:p>
            <a:pPr algn="ctr" marL="0">
              <a:buNone/>
            </a:pPr>
          </a:p>
        </p:txBody>
      </p:sp>
      <p:sp>
        <p:nvSpPr>
          <p:cNvPr name="AutoShape 4" id="4"/>
          <p:cNvSpPr/>
          <p:nvPr>
            <p:ph type="sldNum" sz="quarter" idx="12"/>
          </p:nvPr>
        </p:nvSpPr>
        <p:spPr>
          <a:xfrm>
            <a:off x="8610600" y="6356350"/>
            <a:ext cx="2743200" cy="365125"/>
          </a:xfrm>
        </p:spPr>
        <p:txBody>
          <a:bodyPr vert="horz" anchor="ctr" tIns="45720" lIns="91440" bIns="45720" rIns="91440"/>
          <a:p>
            <a:pPr algn="r" marL="0">
              <a:buNone/>
            </a:pPr>
            <a:fld type="slidenum" id="{3386411A-70EE-422D-B97C-F56BEE3FF077}">
              <a:rPr lang="zh-CN" b="false" i="false" sz="1200" baseline="0" u="none" altLang="en-US">
                <a:solidFill>
                  <a:schemeClr val="tx1">
                    <a:tint val="75000"/>
                  </a:schemeClr>
                </a:solidFill>
                <a:latin typeface="等线"/>
                <a:ea typeface="等线"/>
              </a:rPr>
              <a:t>‹#›</a:t>
            </a:fld>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type="title">
  <p:cSld name="标题幻灯片">
    <p:bg>
      <p:bgPr>
        <a:solidFill>
          <a:srgbClr val="FFFFFF"/>
        </a:solidFill>
      </p:bgPr>
    </p:bg>
    <p:spTree>
      <p:nvGrpSpPr>
        <p:cNvPr id="1" name=""/>
        <p:cNvGrpSpPr/>
        <p:nvPr/>
      </p:nvGrpSpPr>
      <p:grpSpPr>
        <a:xfrm>
          <a:off x="0" y="0"/>
          <a:ext cx="0" cy="0"/>
          <a:chOff x="0" y="0"/>
          <a:chExt cx="0" cy="0"/>
        </a:xfrm>
      </p:grpSpPr>
      <p:sp>
        <p:nvSpPr>
          <p:cNvPr name="AutoShape 2" id="2"/>
          <p:cNvSpPr/>
          <p:nvPr>
            <p:ph type="ctrTitle"/>
          </p:nvPr>
        </p:nvSpPr>
        <p:spPr>
          <a:xfrm>
            <a:off x="1524000" y="1122363"/>
            <a:ext cx="9144000" cy="2387600"/>
          </a:xfrm>
        </p:spPr>
        <p:txBody>
          <a:bodyPr vert="horz" anchor="b" tIns="45720" lIns="91440" bIns="45720" rIns="91440"/>
          <a:p>
            <a:pPr algn="ctr">
              <a:lnSpc>
                <a:spcPct val="90000"/>
              </a:lnSpc>
              <a:spcBef>
                <a:spcPct val="0"/>
              </a:spcBef>
              <a:buNone/>
            </a:pPr>
            <a:r>
              <a:rPr lang="zh-CN" b="false" i="false" sz="6000" baseline="0" u="none" altLang="en-US">
                <a:solidFill>
                  <a:schemeClr val="tx1"/>
                </a:solidFill>
              </a:rPr>
              <a:t>单击此处编辑母版标题样式</a:t>
            </a:r>
          </a:p>
        </p:txBody>
      </p:sp>
      <p:sp>
        <p:nvSpPr>
          <p:cNvPr name="AutoShape 3" id="3"/>
          <p:cNvSpPr/>
          <p:nvPr>
            <p:ph type="subTitle" idx="1"/>
          </p:nvPr>
        </p:nvSpPr>
        <p:spPr>
          <a:xfrm>
            <a:off x="1524000" y="3602038"/>
            <a:ext cx="9144000" cy="1655762"/>
          </a:xfrm>
        </p:spPr>
        <p:txBody>
          <a:bodyPr vert="horz" anchor="t" tIns="45720" lIns="91440" bIns="45720" rIns="91440"/>
          <a:p>
            <a:pPr algn="ctr" indent="0" marL="0">
              <a:lnSpc>
                <a:spcPct val="90000"/>
              </a:lnSpc>
              <a:spcBef>
                <a:spcPts val="1000"/>
              </a:spcBef>
              <a:buNone/>
            </a:pPr>
            <a:r>
              <a:rPr lang="zh-CN" b="false" i="false" sz="2400" baseline="0" u="none" altLang="en-US">
                <a:solidFill>
                  <a:schemeClr val="tx1"/>
                </a:solidFill>
              </a:rPr>
              <a:t>单击此处编辑母版副标题样式</a:t>
            </a:r>
          </a:p>
        </p:txBody>
      </p:sp>
      <p:sp>
        <p:nvSpPr>
          <p:cNvPr name="AutoShape 4" id="4"/>
          <p:cNvSpPr/>
          <p:nvPr>
            <p:ph type="dt" sz="half" idx="10"/>
          </p:nvPr>
        </p:nvSpPr>
        <p:spPr>
          <a:xfrm>
            <a:off x="838200" y="6356350"/>
            <a:ext cx="2743200" cy="365125"/>
          </a:xfrm>
        </p:spPr>
        <p:txBody>
          <a:bodyPr vert="horz" anchor="ctr" tIns="45720" lIns="91440" bIns="45720" rIns="91440"/>
          <a:p>
            <a:pPr algn="l" marL="0">
              <a:buNone/>
            </a:pPr>
            <a:r>
              <a:rPr lang="zh-CN" b="false" i="false" sz="1200" baseline="0" u="none" altLang="en-US">
                <a:solidFill>
                  <a:schemeClr val="tx1">
                    <a:tint val="75000"/>
                  </a:schemeClr>
                </a:solidFill>
                <a:latin typeface="等线"/>
                <a:ea typeface="等线"/>
              </a:rPr>
              <a:t>2026/3/9</a:t>
            </a:r>
          </a:p>
        </p:txBody>
      </p:sp>
      <p:sp>
        <p:nvSpPr>
          <p:cNvPr name="AutoShape 5" id="5"/>
          <p:cNvSpPr/>
          <p:nvPr>
            <p:ph type="ftr" sz="quarter" idx="11"/>
          </p:nvPr>
        </p:nvSpPr>
        <p:spPr>
          <a:xfrm>
            <a:off x="4038600" y="6356350"/>
            <a:ext cx="4114800" cy="365125"/>
          </a:xfrm>
        </p:spPr>
        <p:txBody>
          <a:bodyPr vert="horz" anchor="ctr" tIns="45720" lIns="91440" bIns="45720" rIns="91440"/>
          <a:p>
            <a:pPr algn="ctr" marL="0">
              <a:buNone/>
            </a:pPr>
          </a:p>
        </p:txBody>
      </p:sp>
      <p:sp>
        <p:nvSpPr>
          <p:cNvPr name="AutoShape 6" id="6"/>
          <p:cNvSpPr/>
          <p:nvPr>
            <p:ph type="sldNum" sz="quarter" idx="12"/>
          </p:nvPr>
        </p:nvSpPr>
        <p:spPr>
          <a:xfrm>
            <a:off x="8610600" y="6356350"/>
            <a:ext cx="2743200" cy="365125"/>
          </a:xfrm>
        </p:spPr>
        <p:txBody>
          <a:bodyPr vert="horz" anchor="ctr" tIns="45720" lIns="91440" bIns="45720" rIns="91440"/>
          <a:p>
            <a:pPr algn="r" marL="0">
              <a:buNone/>
            </a:pPr>
            <a:fld type="slidenum" id="{3386411A-70EE-422D-B97C-F56BEE3FF077}">
              <a:rPr lang="zh-CN" b="false" i="false" sz="1200" baseline="0" u="none" altLang="en-US">
                <a:solidFill>
                  <a:schemeClr val="tx1">
                    <a:tint val="75000"/>
                  </a:schemeClr>
                </a:solidFill>
                <a:latin typeface="等线"/>
                <a:ea typeface="等线"/>
              </a:rPr>
              <a:t>‹#›</a:t>
            </a:fld>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type="vertTx">
  <p:cSld name="标题和竖排文字">
    <p:bg>
      <p:bgPr>
        <a:solidFill>
          <a:srgbClr val="FFFFFF"/>
        </a:solidFill>
      </p:bgPr>
    </p:bg>
    <p:spTree>
      <p:nvGrpSpPr>
        <p:cNvPr id="1" name=""/>
        <p:cNvGrpSpPr/>
        <p:nvPr/>
      </p:nvGrpSpPr>
      <p:grpSpPr>
        <a:xfrm>
          <a:off x="0" y="0"/>
          <a:ext cx="0" cy="0"/>
          <a:chOff x="0" y="0"/>
          <a:chExt cx="0" cy="0"/>
        </a:xfrm>
      </p:grpSpPr>
      <p:sp>
        <p:nvSpPr>
          <p:cNvPr name="AutoShape 2" id="2"/>
          <p:cNvSpPr/>
          <p:nvPr>
            <p:ph type="title"/>
          </p:nvPr>
        </p:nvSpPr>
        <p:spPr>
          <a:xfrm>
            <a:off x="838200" y="365125"/>
            <a:ext cx="10515600" cy="1325563"/>
          </a:xfrm>
        </p:spPr>
        <p:txBody>
          <a:bodyPr vert="horz" anchor="ctr" tIns="45720" lIns="91440" bIns="45720" rIns="91440"/>
          <a:p>
            <a:pPr algn="l">
              <a:lnSpc>
                <a:spcPct val="90000"/>
              </a:lnSpc>
              <a:spcBef>
                <a:spcPct val="0"/>
              </a:spcBef>
              <a:buNone/>
            </a:pPr>
            <a:r>
              <a:rPr lang="zh-CN" b="false" i="false" sz="4400" baseline="0" u="none" altLang="en-US">
                <a:solidFill>
                  <a:schemeClr val="tx1"/>
                </a:solidFill>
              </a:rPr>
              <a:t>单击此处编辑母版标题样式</a:t>
            </a:r>
          </a:p>
        </p:txBody>
      </p:sp>
      <p:sp>
        <p:nvSpPr>
          <p:cNvPr name="AutoShape 3" id="3"/>
          <p:cNvSpPr/>
          <p:nvPr>
            <p:ph type="body" idx="1"/>
          </p:nvPr>
        </p:nvSpPr>
        <p:spPr>
          <a:xfrm>
            <a:off x="838200" y="1825625"/>
            <a:ext cx="10515600" cy="4351338"/>
          </a:xfrm>
        </p:spPr>
        <p:txBody>
          <a:bodyPr vert="eaVert" anchor="t" tIns="45720" lIns="91440" bIns="45720" rIns="91440"/>
          <a:p>
            <a:pPr algn="l" indent="-228600" marL="228600">
              <a:lnSpc>
                <a:spcPct val="90000"/>
              </a:lnSpc>
              <a:spcBef>
                <a:spcPts val="1000"/>
              </a:spcBef>
              <a:buNone/>
            </a:pPr>
            <a:r>
              <a:rPr lang="zh-CN" b="false" i="false" sz="2800" baseline="0" u="none" altLang="en-US">
                <a:solidFill>
                  <a:schemeClr val="tx1"/>
                </a:solidFill>
              </a:rPr>
              <a:t>单击此处编辑母版文本样式</a:t>
            </a:r>
          </a:p>
          <a:p>
            <a:pPr algn="l" indent="-228600" lvl="1" marL="685800">
              <a:lnSpc>
                <a:spcPct val="90000"/>
              </a:lnSpc>
              <a:spcBef>
                <a:spcPts val="500"/>
              </a:spcBef>
              <a:buNone/>
            </a:pPr>
            <a:r>
              <a:rPr lang="zh-CN" b="false" i="false" sz="2400" baseline="0" u="none" altLang="en-US">
                <a:solidFill>
                  <a:schemeClr val="tx1"/>
                </a:solidFill>
              </a:rPr>
              <a:t>二级</a:t>
            </a:r>
          </a:p>
          <a:p>
            <a:pPr algn="l" indent="-228600" lvl="2" marL="1143000">
              <a:lnSpc>
                <a:spcPct val="90000"/>
              </a:lnSpc>
              <a:spcBef>
                <a:spcPts val="500"/>
              </a:spcBef>
              <a:buNone/>
            </a:pPr>
            <a:r>
              <a:rPr lang="zh-CN" b="false" i="false" sz="2000" baseline="0" u="none" altLang="en-US">
                <a:solidFill>
                  <a:schemeClr val="tx1"/>
                </a:solidFill>
              </a:rPr>
              <a:t>三级</a:t>
            </a:r>
          </a:p>
          <a:p>
            <a:pPr algn="l" indent="-228600" lvl="3" marL="1600200">
              <a:lnSpc>
                <a:spcPct val="90000"/>
              </a:lnSpc>
              <a:spcBef>
                <a:spcPts val="500"/>
              </a:spcBef>
              <a:buNone/>
            </a:pPr>
            <a:r>
              <a:rPr lang="zh-CN" b="false" i="false" sz="1800" baseline="0" u="none" altLang="en-US">
                <a:solidFill>
                  <a:schemeClr val="tx1"/>
                </a:solidFill>
              </a:rPr>
              <a:t>四级</a:t>
            </a:r>
          </a:p>
          <a:p>
            <a:pPr algn="l" indent="-228600" lvl="4" marL="2057400">
              <a:lnSpc>
                <a:spcPct val="90000"/>
              </a:lnSpc>
              <a:spcBef>
                <a:spcPts val="500"/>
              </a:spcBef>
              <a:buNone/>
            </a:pPr>
            <a:r>
              <a:rPr lang="zh-CN" b="false" i="false" sz="1800" baseline="0" u="none" altLang="en-US">
                <a:solidFill>
                  <a:schemeClr val="tx1"/>
                </a:solidFill>
              </a:rPr>
              <a:t>五级</a:t>
            </a:r>
          </a:p>
        </p:txBody>
      </p:sp>
      <p:sp>
        <p:nvSpPr>
          <p:cNvPr name="AutoShape 4" id="4"/>
          <p:cNvSpPr/>
          <p:nvPr>
            <p:ph type="dt" sz="half" idx="10"/>
          </p:nvPr>
        </p:nvSpPr>
        <p:spPr>
          <a:xfrm>
            <a:off x="838200" y="6356350"/>
            <a:ext cx="2743200" cy="365125"/>
          </a:xfrm>
        </p:spPr>
        <p:txBody>
          <a:bodyPr vert="horz" anchor="ctr" tIns="45720" lIns="91440" bIns="45720" rIns="91440"/>
          <a:p>
            <a:pPr algn="l" marL="0">
              <a:buNone/>
            </a:pPr>
            <a:r>
              <a:rPr lang="zh-CN" b="false" i="false" sz="1200" baseline="0" u="none" altLang="en-US">
                <a:solidFill>
                  <a:schemeClr val="tx1">
                    <a:tint val="75000"/>
                  </a:schemeClr>
                </a:solidFill>
                <a:latin typeface="等线"/>
                <a:ea typeface="等线"/>
              </a:rPr>
              <a:t>2026/3/9</a:t>
            </a:r>
          </a:p>
        </p:txBody>
      </p:sp>
      <p:sp>
        <p:nvSpPr>
          <p:cNvPr name="AutoShape 5" id="5"/>
          <p:cNvSpPr/>
          <p:nvPr>
            <p:ph type="ftr" sz="quarter" idx="11"/>
          </p:nvPr>
        </p:nvSpPr>
        <p:spPr>
          <a:xfrm>
            <a:off x="4038600" y="6356350"/>
            <a:ext cx="4114800" cy="365125"/>
          </a:xfrm>
        </p:spPr>
        <p:txBody>
          <a:bodyPr vert="horz" anchor="ctr" tIns="45720" lIns="91440" bIns="45720" rIns="91440"/>
          <a:p>
            <a:pPr algn="ctr" marL="0">
              <a:buNone/>
            </a:pPr>
          </a:p>
        </p:txBody>
      </p:sp>
      <p:sp>
        <p:nvSpPr>
          <p:cNvPr name="AutoShape 6" id="6"/>
          <p:cNvSpPr/>
          <p:nvPr>
            <p:ph type="sldNum" sz="quarter" idx="12"/>
          </p:nvPr>
        </p:nvSpPr>
        <p:spPr>
          <a:xfrm>
            <a:off x="8610600" y="6356350"/>
            <a:ext cx="2743200" cy="365125"/>
          </a:xfrm>
        </p:spPr>
        <p:txBody>
          <a:bodyPr vert="horz" anchor="ctr" tIns="45720" lIns="91440" bIns="45720" rIns="91440"/>
          <a:p>
            <a:pPr algn="r" marL="0">
              <a:buNone/>
            </a:pPr>
            <a:fld type="slidenum" id="{3386411A-70EE-422D-B97C-F56BEE3FF077}">
              <a:rPr lang="zh-CN" b="false" i="false" sz="1200" baseline="0" u="none" altLang="en-US">
                <a:solidFill>
                  <a:schemeClr val="tx1">
                    <a:tint val="75000"/>
                  </a:schemeClr>
                </a:solidFill>
                <a:latin typeface="等线"/>
                <a:ea typeface="等线"/>
              </a:rPr>
              <a:t>‹#›</a:t>
            </a:fld>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type="vertTitleAndTx">
  <p:cSld name="竖排标题与文本">
    <p:bg>
      <p:bgPr>
        <a:solidFill>
          <a:srgbClr val="FFFFFF"/>
        </a:solidFill>
      </p:bgPr>
    </p:bg>
    <p:spTree>
      <p:nvGrpSpPr>
        <p:cNvPr id="1" name=""/>
        <p:cNvGrpSpPr/>
        <p:nvPr/>
      </p:nvGrpSpPr>
      <p:grpSpPr>
        <a:xfrm>
          <a:off x="0" y="0"/>
          <a:ext cx="0" cy="0"/>
          <a:chOff x="0" y="0"/>
          <a:chExt cx="0" cy="0"/>
        </a:xfrm>
      </p:grpSpPr>
      <p:sp>
        <p:nvSpPr>
          <p:cNvPr name="AutoShape 2" id="2"/>
          <p:cNvSpPr/>
          <p:nvPr>
            <p:ph type="title"/>
          </p:nvPr>
        </p:nvSpPr>
        <p:spPr>
          <a:xfrm>
            <a:off x="8724900" y="365125"/>
            <a:ext cx="2628900" cy="5811838"/>
          </a:xfrm>
        </p:spPr>
        <p:txBody>
          <a:bodyPr vert="eaVert" anchor="ctr" tIns="45720" lIns="91440" bIns="45720" rIns="91440"/>
          <a:p>
            <a:pPr algn="l">
              <a:lnSpc>
                <a:spcPct val="90000"/>
              </a:lnSpc>
              <a:spcBef>
                <a:spcPct val="0"/>
              </a:spcBef>
              <a:buNone/>
            </a:pPr>
            <a:r>
              <a:rPr lang="zh-CN" b="false" i="false" sz="4400" baseline="0" u="none" altLang="en-US">
                <a:solidFill>
                  <a:schemeClr val="tx1"/>
                </a:solidFill>
              </a:rPr>
              <a:t>单击此处编辑母版标题样式</a:t>
            </a:r>
          </a:p>
        </p:txBody>
      </p:sp>
      <p:sp>
        <p:nvSpPr>
          <p:cNvPr name="AutoShape 3" id="3"/>
          <p:cNvSpPr/>
          <p:nvPr>
            <p:ph type="body" idx="1"/>
          </p:nvPr>
        </p:nvSpPr>
        <p:spPr>
          <a:xfrm>
            <a:off x="838200" y="365125"/>
            <a:ext cx="7734300" cy="5811838"/>
          </a:xfrm>
        </p:spPr>
        <p:txBody>
          <a:bodyPr vert="eaVert" anchor="t" tIns="45720" lIns="91440" bIns="45720" rIns="91440"/>
          <a:p>
            <a:pPr algn="l" indent="-228600" marL="228600">
              <a:lnSpc>
                <a:spcPct val="90000"/>
              </a:lnSpc>
              <a:spcBef>
                <a:spcPts val="1000"/>
              </a:spcBef>
              <a:buNone/>
            </a:pPr>
            <a:r>
              <a:rPr lang="zh-CN" b="false" i="false" sz="2800" baseline="0" u="none" altLang="en-US">
                <a:solidFill>
                  <a:schemeClr val="tx1"/>
                </a:solidFill>
              </a:rPr>
              <a:t>单击此处编辑母版文本样式</a:t>
            </a:r>
          </a:p>
          <a:p>
            <a:pPr algn="l" indent="-228600" lvl="1" marL="685800">
              <a:lnSpc>
                <a:spcPct val="90000"/>
              </a:lnSpc>
              <a:spcBef>
                <a:spcPts val="500"/>
              </a:spcBef>
              <a:buNone/>
            </a:pPr>
            <a:r>
              <a:rPr lang="zh-CN" b="false" i="false" sz="2400" baseline="0" u="none" altLang="en-US">
                <a:solidFill>
                  <a:schemeClr val="tx1"/>
                </a:solidFill>
              </a:rPr>
              <a:t>二级</a:t>
            </a:r>
          </a:p>
          <a:p>
            <a:pPr algn="l" indent="-228600" lvl="2" marL="1143000">
              <a:lnSpc>
                <a:spcPct val="90000"/>
              </a:lnSpc>
              <a:spcBef>
                <a:spcPts val="500"/>
              </a:spcBef>
              <a:buNone/>
            </a:pPr>
            <a:r>
              <a:rPr lang="zh-CN" b="false" i="false" sz="2000" baseline="0" u="none" altLang="en-US">
                <a:solidFill>
                  <a:schemeClr val="tx1"/>
                </a:solidFill>
              </a:rPr>
              <a:t>三级</a:t>
            </a:r>
          </a:p>
          <a:p>
            <a:pPr algn="l" indent="-228600" lvl="3" marL="1600200">
              <a:lnSpc>
                <a:spcPct val="90000"/>
              </a:lnSpc>
              <a:spcBef>
                <a:spcPts val="500"/>
              </a:spcBef>
              <a:buNone/>
            </a:pPr>
            <a:r>
              <a:rPr lang="zh-CN" b="false" i="false" sz="1800" baseline="0" u="none" altLang="en-US">
                <a:solidFill>
                  <a:schemeClr val="tx1"/>
                </a:solidFill>
              </a:rPr>
              <a:t>四级</a:t>
            </a:r>
          </a:p>
          <a:p>
            <a:pPr algn="l" indent="-228600" lvl="4" marL="2057400">
              <a:lnSpc>
                <a:spcPct val="90000"/>
              </a:lnSpc>
              <a:spcBef>
                <a:spcPts val="500"/>
              </a:spcBef>
              <a:buNone/>
            </a:pPr>
            <a:r>
              <a:rPr lang="zh-CN" b="false" i="false" sz="1800" baseline="0" u="none" altLang="en-US">
                <a:solidFill>
                  <a:schemeClr val="tx1"/>
                </a:solidFill>
              </a:rPr>
              <a:t>五级</a:t>
            </a:r>
          </a:p>
        </p:txBody>
      </p:sp>
      <p:sp>
        <p:nvSpPr>
          <p:cNvPr name="AutoShape 4" id="4"/>
          <p:cNvSpPr/>
          <p:nvPr>
            <p:ph type="dt" sz="half" idx="10"/>
          </p:nvPr>
        </p:nvSpPr>
        <p:spPr>
          <a:xfrm>
            <a:off x="838200" y="6356350"/>
            <a:ext cx="2743200" cy="365125"/>
          </a:xfrm>
        </p:spPr>
        <p:txBody>
          <a:bodyPr vert="horz" anchor="ctr" tIns="45720" lIns="91440" bIns="45720" rIns="91440"/>
          <a:p>
            <a:pPr algn="l" marL="0">
              <a:buNone/>
            </a:pPr>
            <a:r>
              <a:rPr lang="zh-CN" b="false" i="false" sz="1200" baseline="0" u="none" altLang="en-US">
                <a:solidFill>
                  <a:schemeClr val="tx1">
                    <a:tint val="75000"/>
                  </a:schemeClr>
                </a:solidFill>
                <a:latin typeface="等线"/>
                <a:ea typeface="等线"/>
              </a:rPr>
              <a:t>2026/3/9</a:t>
            </a:r>
          </a:p>
        </p:txBody>
      </p:sp>
      <p:sp>
        <p:nvSpPr>
          <p:cNvPr name="AutoShape 5" id="5"/>
          <p:cNvSpPr/>
          <p:nvPr>
            <p:ph type="ftr" sz="quarter" idx="11"/>
          </p:nvPr>
        </p:nvSpPr>
        <p:spPr>
          <a:xfrm>
            <a:off x="4038600" y="6356350"/>
            <a:ext cx="4114800" cy="365125"/>
          </a:xfrm>
        </p:spPr>
        <p:txBody>
          <a:bodyPr vert="horz" anchor="ctr" tIns="45720" lIns="91440" bIns="45720" rIns="91440"/>
          <a:p>
            <a:pPr algn="ctr" marL="0">
              <a:buNone/>
            </a:pPr>
          </a:p>
        </p:txBody>
      </p:sp>
      <p:sp>
        <p:nvSpPr>
          <p:cNvPr name="AutoShape 6" id="6"/>
          <p:cNvSpPr/>
          <p:nvPr>
            <p:ph type="sldNum" sz="quarter" idx="12"/>
          </p:nvPr>
        </p:nvSpPr>
        <p:spPr>
          <a:xfrm>
            <a:off x="8610600" y="6356350"/>
            <a:ext cx="2743200" cy="365125"/>
          </a:xfrm>
        </p:spPr>
        <p:txBody>
          <a:bodyPr vert="horz" anchor="ctr" tIns="45720" lIns="91440" bIns="45720" rIns="91440"/>
          <a:p>
            <a:pPr algn="r" marL="0">
              <a:buNone/>
            </a:pPr>
            <a:fld type="slidenum" id="{3386411A-70EE-422D-B97C-F56BEE3FF077}">
              <a:rPr lang="zh-CN" b="false" i="false" sz="1200" baseline="0" u="none" altLang="en-US">
                <a:solidFill>
                  <a:schemeClr val="tx1">
                    <a:tint val="75000"/>
                  </a:schemeClr>
                </a:solidFill>
                <a:latin typeface="等线"/>
                <a:ea typeface="等线"/>
              </a:rPr>
              <a:t>‹#›</a:t>
            </a:fld>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type="obj">
  <p:cSld name="标题和内容">
    <p:bg>
      <p:bgPr>
        <a:solidFill>
          <a:srgbClr val="FFFFFF"/>
        </a:solidFill>
      </p:bgPr>
    </p:bg>
    <p:spTree>
      <p:nvGrpSpPr>
        <p:cNvPr id="1" name=""/>
        <p:cNvGrpSpPr/>
        <p:nvPr/>
      </p:nvGrpSpPr>
      <p:grpSpPr>
        <a:xfrm>
          <a:off x="0" y="0"/>
          <a:ext cx="0" cy="0"/>
          <a:chOff x="0" y="0"/>
          <a:chExt cx="0" cy="0"/>
        </a:xfrm>
      </p:grpSpPr>
      <p:sp>
        <p:nvSpPr>
          <p:cNvPr name="AutoShape 2" id="2"/>
          <p:cNvSpPr/>
          <p:nvPr>
            <p:ph type="title"/>
          </p:nvPr>
        </p:nvSpPr>
        <p:spPr>
          <a:xfrm>
            <a:off x="838200" y="365125"/>
            <a:ext cx="10515600" cy="1325563"/>
          </a:xfrm>
        </p:spPr>
        <p:txBody>
          <a:bodyPr vert="horz" anchor="ctr" tIns="45720" lIns="91440" bIns="45720" rIns="91440"/>
          <a:p>
            <a:pPr algn="l">
              <a:lnSpc>
                <a:spcPct val="90000"/>
              </a:lnSpc>
              <a:spcBef>
                <a:spcPct val="0"/>
              </a:spcBef>
              <a:buNone/>
            </a:pPr>
            <a:r>
              <a:rPr lang="zh-CN" b="false" i="false" sz="4400" baseline="0" u="none" altLang="en-US">
                <a:solidFill>
                  <a:schemeClr val="tx1"/>
                </a:solidFill>
              </a:rPr>
              <a:t>单击此处编辑母版标题样式</a:t>
            </a:r>
          </a:p>
        </p:txBody>
      </p:sp>
      <p:sp>
        <p:nvSpPr>
          <p:cNvPr name="AutoShape 3" id="3"/>
          <p:cNvSpPr/>
          <p:nvPr>
            <p:ph type="obj" idx="1"/>
          </p:nvPr>
        </p:nvSpPr>
        <p:spPr>
          <a:xfrm>
            <a:off x="838200" y="1825625"/>
            <a:ext cx="10515600" cy="4351338"/>
          </a:xfrm>
        </p:spPr>
        <p:txBody>
          <a:bodyPr vert="horz" anchor="t" tIns="45720" lIns="91440" bIns="45720" rIns="91440"/>
          <a:p>
            <a:pPr algn="l" indent="-228600" marL="228600">
              <a:lnSpc>
                <a:spcPct val="90000"/>
              </a:lnSpc>
              <a:spcBef>
                <a:spcPts val="1000"/>
              </a:spcBef>
              <a:buNone/>
            </a:pPr>
            <a:r>
              <a:rPr lang="zh-CN" b="false" i="false" sz="2800" baseline="0" u="none" altLang="en-US">
                <a:solidFill>
                  <a:schemeClr val="tx1"/>
                </a:solidFill>
              </a:rPr>
              <a:t>单击此处编辑母版文本样式</a:t>
            </a:r>
          </a:p>
          <a:p>
            <a:pPr algn="l" indent="-228600" lvl="1" marL="685800">
              <a:lnSpc>
                <a:spcPct val="90000"/>
              </a:lnSpc>
              <a:spcBef>
                <a:spcPts val="500"/>
              </a:spcBef>
              <a:buNone/>
            </a:pPr>
            <a:r>
              <a:rPr lang="zh-CN" b="false" i="false" sz="2400" baseline="0" u="none" altLang="en-US">
                <a:solidFill>
                  <a:schemeClr val="tx1"/>
                </a:solidFill>
              </a:rPr>
              <a:t>二级</a:t>
            </a:r>
          </a:p>
          <a:p>
            <a:pPr algn="l" indent="-228600" lvl="2" marL="1143000">
              <a:lnSpc>
                <a:spcPct val="90000"/>
              </a:lnSpc>
              <a:spcBef>
                <a:spcPts val="500"/>
              </a:spcBef>
              <a:buNone/>
            </a:pPr>
            <a:r>
              <a:rPr lang="zh-CN" b="false" i="false" sz="2000" baseline="0" u="none" altLang="en-US">
                <a:solidFill>
                  <a:schemeClr val="tx1"/>
                </a:solidFill>
              </a:rPr>
              <a:t>三级</a:t>
            </a:r>
          </a:p>
          <a:p>
            <a:pPr algn="l" indent="-228600" lvl="3" marL="1600200">
              <a:lnSpc>
                <a:spcPct val="90000"/>
              </a:lnSpc>
              <a:spcBef>
                <a:spcPts val="500"/>
              </a:spcBef>
              <a:buNone/>
            </a:pPr>
            <a:r>
              <a:rPr lang="zh-CN" b="false" i="false" sz="1800" baseline="0" u="none" altLang="en-US">
                <a:solidFill>
                  <a:schemeClr val="tx1"/>
                </a:solidFill>
              </a:rPr>
              <a:t>四级</a:t>
            </a:r>
          </a:p>
          <a:p>
            <a:pPr algn="l" indent="-228600" lvl="4" marL="2057400">
              <a:lnSpc>
                <a:spcPct val="90000"/>
              </a:lnSpc>
              <a:spcBef>
                <a:spcPts val="500"/>
              </a:spcBef>
              <a:buNone/>
            </a:pPr>
            <a:r>
              <a:rPr lang="zh-CN" b="false" i="false" sz="1800" baseline="0" u="none" altLang="en-US">
                <a:solidFill>
                  <a:schemeClr val="tx1"/>
                </a:solidFill>
              </a:rPr>
              <a:t>五级</a:t>
            </a:r>
          </a:p>
        </p:txBody>
      </p:sp>
      <p:sp>
        <p:nvSpPr>
          <p:cNvPr name="AutoShape 4" id="4"/>
          <p:cNvSpPr/>
          <p:nvPr>
            <p:ph type="dt" sz="half" idx="10"/>
          </p:nvPr>
        </p:nvSpPr>
        <p:spPr>
          <a:xfrm>
            <a:off x="838200" y="6356350"/>
            <a:ext cx="2743200" cy="365125"/>
          </a:xfrm>
        </p:spPr>
        <p:txBody>
          <a:bodyPr vert="horz" anchor="ctr" tIns="45720" lIns="91440" bIns="45720" rIns="91440"/>
          <a:p>
            <a:pPr algn="l" marL="0">
              <a:buNone/>
            </a:pPr>
            <a:r>
              <a:rPr lang="zh-CN" b="false" i="false" sz="1200" baseline="0" u="none" altLang="en-US">
                <a:solidFill>
                  <a:schemeClr val="tx1">
                    <a:tint val="75000"/>
                  </a:schemeClr>
                </a:solidFill>
                <a:latin typeface="等线"/>
                <a:ea typeface="等线"/>
              </a:rPr>
              <a:t>2026/3/9</a:t>
            </a:r>
          </a:p>
        </p:txBody>
      </p:sp>
      <p:sp>
        <p:nvSpPr>
          <p:cNvPr name="AutoShape 5" id="5"/>
          <p:cNvSpPr/>
          <p:nvPr>
            <p:ph type="ftr" sz="quarter" idx="11"/>
          </p:nvPr>
        </p:nvSpPr>
        <p:spPr>
          <a:xfrm>
            <a:off x="4038600" y="6356350"/>
            <a:ext cx="4114800" cy="365125"/>
          </a:xfrm>
        </p:spPr>
        <p:txBody>
          <a:bodyPr vert="horz" anchor="ctr" tIns="45720" lIns="91440" bIns="45720" rIns="91440"/>
          <a:p>
            <a:pPr algn="ctr" marL="0">
              <a:buNone/>
            </a:pPr>
          </a:p>
        </p:txBody>
      </p:sp>
      <p:sp>
        <p:nvSpPr>
          <p:cNvPr name="AutoShape 6" id="6"/>
          <p:cNvSpPr/>
          <p:nvPr>
            <p:ph type="sldNum" sz="quarter" idx="12"/>
          </p:nvPr>
        </p:nvSpPr>
        <p:spPr>
          <a:xfrm>
            <a:off x="8610600" y="6356350"/>
            <a:ext cx="2743200" cy="365125"/>
          </a:xfrm>
        </p:spPr>
        <p:txBody>
          <a:bodyPr vert="horz" anchor="ctr" tIns="45720" lIns="91440" bIns="45720" rIns="91440"/>
          <a:p>
            <a:pPr algn="r" marL="0">
              <a:buNone/>
            </a:pPr>
            <a:fld type="slidenum" id="{3386411A-70EE-422D-B97C-F56BEE3FF077}">
              <a:rPr lang="zh-CN" b="false" i="false" sz="1200" baseline="0" u="none" altLang="en-US">
                <a:solidFill>
                  <a:schemeClr val="tx1">
                    <a:tint val="75000"/>
                  </a:schemeClr>
                </a:solidFill>
                <a:latin typeface="等线"/>
                <a:ea typeface="等线"/>
              </a:rPr>
              <a:t>‹#›</a:t>
            </a:fld>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type="secHead">
  <p:cSld name="节标题">
    <p:bg>
      <p:bgPr>
        <a:solidFill>
          <a:srgbClr val="FFFFFF"/>
        </a:solidFill>
      </p:bgPr>
    </p:bg>
    <p:spTree>
      <p:nvGrpSpPr>
        <p:cNvPr id="1" name=""/>
        <p:cNvGrpSpPr/>
        <p:nvPr/>
      </p:nvGrpSpPr>
      <p:grpSpPr>
        <a:xfrm>
          <a:off x="0" y="0"/>
          <a:ext cx="0" cy="0"/>
          <a:chOff x="0" y="0"/>
          <a:chExt cx="0" cy="0"/>
        </a:xfrm>
      </p:grpSpPr>
      <p:sp>
        <p:nvSpPr>
          <p:cNvPr name="AutoShape 2" id="2"/>
          <p:cNvSpPr/>
          <p:nvPr>
            <p:ph type="title"/>
          </p:nvPr>
        </p:nvSpPr>
        <p:spPr>
          <a:xfrm>
            <a:off x="831850" y="1709738"/>
            <a:ext cx="10515600" cy="2852737"/>
          </a:xfrm>
        </p:spPr>
        <p:txBody>
          <a:bodyPr vert="horz" anchor="b" tIns="45720" lIns="91440" bIns="45720" rIns="91440"/>
          <a:p>
            <a:pPr algn="l">
              <a:lnSpc>
                <a:spcPct val="90000"/>
              </a:lnSpc>
              <a:spcBef>
                <a:spcPct val="0"/>
              </a:spcBef>
              <a:buNone/>
            </a:pPr>
            <a:r>
              <a:rPr lang="zh-CN" b="false" i="false" sz="6000" baseline="0" u="none" altLang="en-US">
                <a:solidFill>
                  <a:schemeClr val="tx1"/>
                </a:solidFill>
              </a:rPr>
              <a:t>单击此处编辑母版标题样式</a:t>
            </a:r>
          </a:p>
        </p:txBody>
      </p:sp>
      <p:sp>
        <p:nvSpPr>
          <p:cNvPr name="AutoShape 3" id="3"/>
          <p:cNvSpPr/>
          <p:nvPr>
            <p:ph type="body" idx="1"/>
          </p:nvPr>
        </p:nvSpPr>
        <p:spPr>
          <a:xfrm>
            <a:off x="831850" y="4589463"/>
            <a:ext cx="10515600" cy="1500187"/>
          </a:xfrm>
        </p:spPr>
        <p:txBody>
          <a:bodyPr vert="horz" anchor="t" tIns="45720" lIns="91440" bIns="45720" rIns="91440"/>
          <a:p>
            <a:pPr algn="l" indent="0" marL="0">
              <a:lnSpc>
                <a:spcPct val="90000"/>
              </a:lnSpc>
              <a:spcBef>
                <a:spcPts val="1000"/>
              </a:spcBef>
              <a:buNone/>
            </a:pPr>
            <a:r>
              <a:rPr lang="zh-CN" b="false" i="false" sz="2400" baseline="0" u="none" altLang="en-US">
                <a:solidFill>
                  <a:schemeClr val="tx1">
                    <a:tint val="75000"/>
                  </a:schemeClr>
                </a:solidFill>
              </a:rPr>
              <a:t>单击此处编辑母版文本样式</a:t>
            </a:r>
          </a:p>
        </p:txBody>
      </p:sp>
      <p:sp>
        <p:nvSpPr>
          <p:cNvPr name="AutoShape 4" id="4"/>
          <p:cNvSpPr/>
          <p:nvPr>
            <p:ph type="dt" sz="half" idx="10"/>
          </p:nvPr>
        </p:nvSpPr>
        <p:spPr>
          <a:xfrm>
            <a:off x="838200" y="6356350"/>
            <a:ext cx="2743200" cy="365125"/>
          </a:xfrm>
        </p:spPr>
        <p:txBody>
          <a:bodyPr vert="horz" anchor="ctr" tIns="45720" lIns="91440" bIns="45720" rIns="91440"/>
          <a:p>
            <a:pPr algn="l" marL="0">
              <a:buNone/>
            </a:pPr>
            <a:r>
              <a:rPr lang="zh-CN" b="false" i="false" sz="1200" baseline="0" u="none" altLang="en-US">
                <a:solidFill>
                  <a:schemeClr val="tx1">
                    <a:tint val="75000"/>
                  </a:schemeClr>
                </a:solidFill>
                <a:latin typeface="等线"/>
                <a:ea typeface="等线"/>
              </a:rPr>
              <a:t>2026/3/9</a:t>
            </a:r>
          </a:p>
        </p:txBody>
      </p:sp>
      <p:sp>
        <p:nvSpPr>
          <p:cNvPr name="AutoShape 5" id="5"/>
          <p:cNvSpPr/>
          <p:nvPr>
            <p:ph type="ftr" sz="quarter" idx="11"/>
          </p:nvPr>
        </p:nvSpPr>
        <p:spPr>
          <a:xfrm>
            <a:off x="4038600" y="6356350"/>
            <a:ext cx="4114800" cy="365125"/>
          </a:xfrm>
        </p:spPr>
        <p:txBody>
          <a:bodyPr vert="horz" anchor="ctr" tIns="45720" lIns="91440" bIns="45720" rIns="91440"/>
          <a:p>
            <a:pPr algn="ctr" marL="0">
              <a:buNone/>
            </a:pPr>
          </a:p>
        </p:txBody>
      </p:sp>
      <p:sp>
        <p:nvSpPr>
          <p:cNvPr name="AutoShape 6" id="6"/>
          <p:cNvSpPr/>
          <p:nvPr>
            <p:ph type="sldNum" sz="quarter" idx="12"/>
          </p:nvPr>
        </p:nvSpPr>
        <p:spPr>
          <a:xfrm>
            <a:off x="8610600" y="6356350"/>
            <a:ext cx="2743200" cy="365125"/>
          </a:xfrm>
        </p:spPr>
        <p:txBody>
          <a:bodyPr vert="horz" anchor="ctr" tIns="45720" lIns="91440" bIns="45720" rIns="91440"/>
          <a:p>
            <a:pPr algn="r" marL="0">
              <a:buNone/>
            </a:pPr>
            <a:fld type="slidenum" id="{3386411A-70EE-422D-B97C-F56BEE3FF077}">
              <a:rPr lang="zh-CN" b="false" i="false" sz="1200" baseline="0" u="none" altLang="en-US">
                <a:solidFill>
                  <a:schemeClr val="tx1">
                    <a:tint val="75000"/>
                  </a:schemeClr>
                </a:solidFill>
                <a:latin typeface="等线"/>
                <a:ea typeface="等线"/>
              </a:rPr>
              <a:t>‹#›</a:t>
            </a:fld>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type="twoObj">
  <p:cSld name="两栏内容">
    <p:bg>
      <p:bgPr>
        <a:solidFill>
          <a:srgbClr val="FFFFFF"/>
        </a:solidFill>
      </p:bgPr>
    </p:bg>
    <p:spTree>
      <p:nvGrpSpPr>
        <p:cNvPr id="1" name=""/>
        <p:cNvGrpSpPr/>
        <p:nvPr/>
      </p:nvGrpSpPr>
      <p:grpSpPr>
        <a:xfrm>
          <a:off x="0" y="0"/>
          <a:ext cx="0" cy="0"/>
          <a:chOff x="0" y="0"/>
          <a:chExt cx="0" cy="0"/>
        </a:xfrm>
      </p:grpSpPr>
      <p:sp>
        <p:nvSpPr>
          <p:cNvPr name="AutoShape 2" id="2"/>
          <p:cNvSpPr/>
          <p:nvPr>
            <p:ph type="title"/>
          </p:nvPr>
        </p:nvSpPr>
        <p:spPr>
          <a:xfrm>
            <a:off x="838200" y="365125"/>
            <a:ext cx="10515600" cy="1325563"/>
          </a:xfrm>
        </p:spPr>
        <p:txBody>
          <a:bodyPr vert="horz" anchor="ctr" tIns="45720" lIns="91440" bIns="45720" rIns="91440"/>
          <a:p>
            <a:pPr algn="l">
              <a:lnSpc>
                <a:spcPct val="90000"/>
              </a:lnSpc>
              <a:spcBef>
                <a:spcPct val="0"/>
              </a:spcBef>
              <a:buNone/>
            </a:pPr>
            <a:r>
              <a:rPr lang="zh-CN" b="false" i="false" sz="4400" baseline="0" u="none" altLang="en-US">
                <a:solidFill>
                  <a:schemeClr val="tx1"/>
                </a:solidFill>
              </a:rPr>
              <a:t>单击此处编辑母版标题样式</a:t>
            </a:r>
          </a:p>
        </p:txBody>
      </p:sp>
      <p:sp>
        <p:nvSpPr>
          <p:cNvPr name="AutoShape 3" id="3"/>
          <p:cNvSpPr/>
          <p:nvPr>
            <p:ph type="obj" sz="half" idx="1"/>
          </p:nvPr>
        </p:nvSpPr>
        <p:spPr>
          <a:xfrm>
            <a:off x="838200" y="1825625"/>
            <a:ext cx="5181600" cy="4351338"/>
          </a:xfrm>
        </p:spPr>
        <p:txBody>
          <a:bodyPr vert="horz" anchor="t" tIns="45720" lIns="91440" bIns="45720" rIns="91440"/>
          <a:p>
            <a:pPr algn="l" indent="-228600" marL="228600">
              <a:lnSpc>
                <a:spcPct val="90000"/>
              </a:lnSpc>
              <a:spcBef>
                <a:spcPts val="1000"/>
              </a:spcBef>
              <a:buNone/>
            </a:pPr>
            <a:r>
              <a:rPr lang="zh-CN" b="false" i="false" sz="2800" baseline="0" u="none" altLang="en-US">
                <a:solidFill>
                  <a:schemeClr val="tx1"/>
                </a:solidFill>
              </a:rPr>
              <a:t>单击此处编辑母版文本样式</a:t>
            </a:r>
          </a:p>
          <a:p>
            <a:pPr algn="l" indent="-228600" lvl="1" marL="685800">
              <a:lnSpc>
                <a:spcPct val="90000"/>
              </a:lnSpc>
              <a:spcBef>
                <a:spcPts val="500"/>
              </a:spcBef>
              <a:buNone/>
            </a:pPr>
            <a:r>
              <a:rPr lang="zh-CN" b="false" i="false" sz="2400" baseline="0" u="none" altLang="en-US">
                <a:solidFill>
                  <a:schemeClr val="tx1"/>
                </a:solidFill>
              </a:rPr>
              <a:t>二级</a:t>
            </a:r>
          </a:p>
          <a:p>
            <a:pPr algn="l" indent="-228600" lvl="2" marL="1143000">
              <a:lnSpc>
                <a:spcPct val="90000"/>
              </a:lnSpc>
              <a:spcBef>
                <a:spcPts val="500"/>
              </a:spcBef>
              <a:buNone/>
            </a:pPr>
            <a:r>
              <a:rPr lang="zh-CN" b="false" i="false" sz="2000" baseline="0" u="none" altLang="en-US">
                <a:solidFill>
                  <a:schemeClr val="tx1"/>
                </a:solidFill>
              </a:rPr>
              <a:t>三级</a:t>
            </a:r>
          </a:p>
          <a:p>
            <a:pPr algn="l" indent="-228600" lvl="3" marL="1600200">
              <a:lnSpc>
                <a:spcPct val="90000"/>
              </a:lnSpc>
              <a:spcBef>
                <a:spcPts val="500"/>
              </a:spcBef>
              <a:buNone/>
            </a:pPr>
            <a:r>
              <a:rPr lang="zh-CN" b="false" i="false" sz="1800" baseline="0" u="none" altLang="en-US">
                <a:solidFill>
                  <a:schemeClr val="tx1"/>
                </a:solidFill>
              </a:rPr>
              <a:t>四级</a:t>
            </a:r>
          </a:p>
          <a:p>
            <a:pPr algn="l" indent="-228600" lvl="4" marL="2057400">
              <a:lnSpc>
                <a:spcPct val="90000"/>
              </a:lnSpc>
              <a:spcBef>
                <a:spcPts val="500"/>
              </a:spcBef>
              <a:buNone/>
            </a:pPr>
            <a:r>
              <a:rPr lang="zh-CN" b="false" i="false" sz="1800" baseline="0" u="none" altLang="en-US">
                <a:solidFill>
                  <a:schemeClr val="tx1"/>
                </a:solidFill>
              </a:rPr>
              <a:t>五级</a:t>
            </a:r>
          </a:p>
        </p:txBody>
      </p:sp>
      <p:sp>
        <p:nvSpPr>
          <p:cNvPr name="AutoShape 4" id="4"/>
          <p:cNvSpPr/>
          <p:nvPr>
            <p:ph type="obj" sz="half" idx="2"/>
          </p:nvPr>
        </p:nvSpPr>
        <p:spPr>
          <a:xfrm>
            <a:off x="6172200" y="1825625"/>
            <a:ext cx="5181600" cy="4351338"/>
          </a:xfrm>
        </p:spPr>
        <p:txBody>
          <a:bodyPr vert="horz" anchor="t" tIns="45720" lIns="91440" bIns="45720" rIns="91440"/>
          <a:p>
            <a:pPr algn="l" indent="-228600" marL="228600">
              <a:lnSpc>
                <a:spcPct val="90000"/>
              </a:lnSpc>
              <a:spcBef>
                <a:spcPts val="1000"/>
              </a:spcBef>
              <a:buNone/>
            </a:pPr>
            <a:r>
              <a:rPr lang="zh-CN" b="false" i="false" sz="2800" baseline="0" u="none" altLang="en-US">
                <a:solidFill>
                  <a:schemeClr val="tx1"/>
                </a:solidFill>
              </a:rPr>
              <a:t>单击此处编辑母版文本样式</a:t>
            </a:r>
          </a:p>
          <a:p>
            <a:pPr algn="l" indent="-228600" lvl="1" marL="685800">
              <a:lnSpc>
                <a:spcPct val="90000"/>
              </a:lnSpc>
              <a:spcBef>
                <a:spcPts val="500"/>
              </a:spcBef>
              <a:buNone/>
            </a:pPr>
            <a:r>
              <a:rPr lang="zh-CN" b="false" i="false" sz="2400" baseline="0" u="none" altLang="en-US">
                <a:solidFill>
                  <a:schemeClr val="tx1"/>
                </a:solidFill>
              </a:rPr>
              <a:t>二级</a:t>
            </a:r>
          </a:p>
          <a:p>
            <a:pPr algn="l" indent="-228600" lvl="2" marL="1143000">
              <a:lnSpc>
                <a:spcPct val="90000"/>
              </a:lnSpc>
              <a:spcBef>
                <a:spcPts val="500"/>
              </a:spcBef>
              <a:buNone/>
            </a:pPr>
            <a:r>
              <a:rPr lang="zh-CN" b="false" i="false" sz="2000" baseline="0" u="none" altLang="en-US">
                <a:solidFill>
                  <a:schemeClr val="tx1"/>
                </a:solidFill>
              </a:rPr>
              <a:t>三级</a:t>
            </a:r>
          </a:p>
          <a:p>
            <a:pPr algn="l" indent="-228600" lvl="3" marL="1600200">
              <a:lnSpc>
                <a:spcPct val="90000"/>
              </a:lnSpc>
              <a:spcBef>
                <a:spcPts val="500"/>
              </a:spcBef>
              <a:buNone/>
            </a:pPr>
            <a:r>
              <a:rPr lang="zh-CN" b="false" i="false" sz="1800" baseline="0" u="none" altLang="en-US">
                <a:solidFill>
                  <a:schemeClr val="tx1"/>
                </a:solidFill>
              </a:rPr>
              <a:t>四级</a:t>
            </a:r>
          </a:p>
          <a:p>
            <a:pPr algn="l" indent="-228600" lvl="4" marL="2057400">
              <a:lnSpc>
                <a:spcPct val="90000"/>
              </a:lnSpc>
              <a:spcBef>
                <a:spcPts val="500"/>
              </a:spcBef>
              <a:buNone/>
            </a:pPr>
            <a:r>
              <a:rPr lang="zh-CN" b="false" i="false" sz="1800" baseline="0" u="none" altLang="en-US">
                <a:solidFill>
                  <a:schemeClr val="tx1"/>
                </a:solidFill>
              </a:rPr>
              <a:t>五级</a:t>
            </a:r>
          </a:p>
        </p:txBody>
      </p:sp>
      <p:sp>
        <p:nvSpPr>
          <p:cNvPr name="AutoShape 5" id="5"/>
          <p:cNvSpPr/>
          <p:nvPr>
            <p:ph type="dt" sz="half" idx="10"/>
          </p:nvPr>
        </p:nvSpPr>
        <p:spPr>
          <a:xfrm>
            <a:off x="838200" y="6356350"/>
            <a:ext cx="2743200" cy="365125"/>
          </a:xfrm>
        </p:spPr>
        <p:txBody>
          <a:bodyPr vert="horz" anchor="ctr" tIns="45720" lIns="91440" bIns="45720" rIns="91440"/>
          <a:p>
            <a:pPr algn="l" marL="0">
              <a:buNone/>
            </a:pPr>
            <a:r>
              <a:rPr lang="zh-CN" b="false" i="false" sz="1200" baseline="0" u="none" altLang="en-US">
                <a:solidFill>
                  <a:schemeClr val="tx1">
                    <a:tint val="75000"/>
                  </a:schemeClr>
                </a:solidFill>
                <a:latin typeface="等线"/>
                <a:ea typeface="等线"/>
              </a:rPr>
              <a:t>2026/3/9</a:t>
            </a:r>
          </a:p>
        </p:txBody>
      </p:sp>
      <p:sp>
        <p:nvSpPr>
          <p:cNvPr name="AutoShape 6" id="6"/>
          <p:cNvSpPr/>
          <p:nvPr>
            <p:ph type="ftr" sz="quarter" idx="11"/>
          </p:nvPr>
        </p:nvSpPr>
        <p:spPr>
          <a:xfrm>
            <a:off x="4038600" y="6356350"/>
            <a:ext cx="4114800" cy="365125"/>
          </a:xfrm>
        </p:spPr>
        <p:txBody>
          <a:bodyPr vert="horz" anchor="ctr" tIns="45720" lIns="91440" bIns="45720" rIns="91440"/>
          <a:p>
            <a:pPr algn="ctr" marL="0">
              <a:buNone/>
            </a:pPr>
          </a:p>
        </p:txBody>
      </p:sp>
      <p:sp>
        <p:nvSpPr>
          <p:cNvPr name="AutoShape 7" id="7"/>
          <p:cNvSpPr/>
          <p:nvPr>
            <p:ph type="sldNum" sz="quarter" idx="12"/>
          </p:nvPr>
        </p:nvSpPr>
        <p:spPr>
          <a:xfrm>
            <a:off x="8610600" y="6356350"/>
            <a:ext cx="2743200" cy="365125"/>
          </a:xfrm>
        </p:spPr>
        <p:txBody>
          <a:bodyPr vert="horz" anchor="ctr" tIns="45720" lIns="91440" bIns="45720" rIns="91440"/>
          <a:p>
            <a:pPr algn="r" marL="0">
              <a:buNone/>
            </a:pPr>
            <a:fld type="slidenum" id="{3386411A-70EE-422D-B97C-F56BEE3FF077}">
              <a:rPr lang="zh-CN" b="false" i="false" sz="1200" baseline="0" u="none" altLang="en-US">
                <a:solidFill>
                  <a:schemeClr val="tx1">
                    <a:tint val="75000"/>
                  </a:schemeClr>
                </a:solidFill>
                <a:latin typeface="等线"/>
                <a:ea typeface="等线"/>
              </a:rPr>
              <a:t>‹#›</a:t>
            </a:fld>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type="twoTxTwoObj">
  <p:cSld name="比较">
    <p:bg>
      <p:bgPr>
        <a:solidFill>
          <a:srgbClr val="FFFFFF"/>
        </a:solidFill>
      </p:bgPr>
    </p:bg>
    <p:spTree>
      <p:nvGrpSpPr>
        <p:cNvPr id="1" name=""/>
        <p:cNvGrpSpPr/>
        <p:nvPr/>
      </p:nvGrpSpPr>
      <p:grpSpPr>
        <a:xfrm>
          <a:off x="0" y="0"/>
          <a:ext cx="0" cy="0"/>
          <a:chOff x="0" y="0"/>
          <a:chExt cx="0" cy="0"/>
        </a:xfrm>
      </p:grpSpPr>
      <p:sp>
        <p:nvSpPr>
          <p:cNvPr name="AutoShape 2" id="2"/>
          <p:cNvSpPr/>
          <p:nvPr>
            <p:ph type="title"/>
          </p:nvPr>
        </p:nvSpPr>
        <p:spPr>
          <a:xfrm>
            <a:off x="839788" y="365125"/>
            <a:ext cx="10515600" cy="1325563"/>
          </a:xfrm>
        </p:spPr>
        <p:txBody>
          <a:bodyPr vert="horz" anchor="ctr" tIns="45720" lIns="91440" bIns="45720" rIns="91440"/>
          <a:p>
            <a:pPr algn="l">
              <a:lnSpc>
                <a:spcPct val="90000"/>
              </a:lnSpc>
              <a:spcBef>
                <a:spcPct val="0"/>
              </a:spcBef>
              <a:buNone/>
            </a:pPr>
            <a:r>
              <a:rPr lang="zh-CN" b="false" i="false" sz="4400" baseline="0" u="none" altLang="en-US">
                <a:solidFill>
                  <a:schemeClr val="tx1"/>
                </a:solidFill>
              </a:rPr>
              <a:t>单击此处编辑母版标题样式</a:t>
            </a:r>
          </a:p>
        </p:txBody>
      </p:sp>
      <p:sp>
        <p:nvSpPr>
          <p:cNvPr name="AutoShape 3" id="3"/>
          <p:cNvSpPr/>
          <p:nvPr>
            <p:ph type="body" idx="1"/>
          </p:nvPr>
        </p:nvSpPr>
        <p:spPr>
          <a:xfrm>
            <a:off x="839788" y="1681163"/>
            <a:ext cx="5157787" cy="823912"/>
          </a:xfrm>
        </p:spPr>
        <p:txBody>
          <a:bodyPr vert="horz" anchor="b" tIns="45720" lIns="91440" bIns="45720" rIns="91440"/>
          <a:p>
            <a:pPr algn="l" indent="0" marL="0">
              <a:lnSpc>
                <a:spcPct val="90000"/>
              </a:lnSpc>
              <a:spcBef>
                <a:spcPts val="1000"/>
              </a:spcBef>
              <a:buNone/>
            </a:pPr>
            <a:r>
              <a:rPr lang="zh-CN" b="true" i="false" sz="2400" baseline="0" u="none" altLang="en-US">
                <a:solidFill>
                  <a:schemeClr val="tx1"/>
                </a:solidFill>
              </a:rPr>
              <a:t>单击此处编辑母版文本样式</a:t>
            </a:r>
          </a:p>
        </p:txBody>
      </p:sp>
      <p:sp>
        <p:nvSpPr>
          <p:cNvPr name="AutoShape 4" id="4"/>
          <p:cNvSpPr/>
          <p:nvPr>
            <p:ph type="obj" sz="half" idx="2"/>
          </p:nvPr>
        </p:nvSpPr>
        <p:spPr>
          <a:xfrm>
            <a:off x="839788" y="2505075"/>
            <a:ext cx="5157787" cy="3684588"/>
          </a:xfrm>
        </p:spPr>
        <p:txBody>
          <a:bodyPr vert="horz" anchor="t" tIns="45720" lIns="91440" bIns="45720" rIns="91440"/>
          <a:p>
            <a:pPr algn="l" indent="-228600" marL="228600">
              <a:lnSpc>
                <a:spcPct val="90000"/>
              </a:lnSpc>
              <a:spcBef>
                <a:spcPts val="1000"/>
              </a:spcBef>
              <a:buNone/>
            </a:pPr>
            <a:r>
              <a:rPr lang="zh-CN" b="false" i="false" sz="2800" baseline="0" u="none" altLang="en-US">
                <a:solidFill>
                  <a:schemeClr val="tx1"/>
                </a:solidFill>
              </a:rPr>
              <a:t>单击此处编辑母版文本样式</a:t>
            </a:r>
          </a:p>
          <a:p>
            <a:pPr algn="l" indent="-228600" lvl="1" marL="685800">
              <a:lnSpc>
                <a:spcPct val="90000"/>
              </a:lnSpc>
              <a:spcBef>
                <a:spcPts val="500"/>
              </a:spcBef>
              <a:buNone/>
            </a:pPr>
            <a:r>
              <a:rPr lang="zh-CN" b="false" i="false" sz="2400" baseline="0" u="none" altLang="en-US">
                <a:solidFill>
                  <a:schemeClr val="tx1"/>
                </a:solidFill>
              </a:rPr>
              <a:t>二级</a:t>
            </a:r>
          </a:p>
          <a:p>
            <a:pPr algn="l" indent="-228600" lvl="2" marL="1143000">
              <a:lnSpc>
                <a:spcPct val="90000"/>
              </a:lnSpc>
              <a:spcBef>
                <a:spcPts val="500"/>
              </a:spcBef>
              <a:buNone/>
            </a:pPr>
            <a:r>
              <a:rPr lang="zh-CN" b="false" i="false" sz="2000" baseline="0" u="none" altLang="en-US">
                <a:solidFill>
                  <a:schemeClr val="tx1"/>
                </a:solidFill>
              </a:rPr>
              <a:t>三级</a:t>
            </a:r>
          </a:p>
          <a:p>
            <a:pPr algn="l" indent="-228600" lvl="3" marL="1600200">
              <a:lnSpc>
                <a:spcPct val="90000"/>
              </a:lnSpc>
              <a:spcBef>
                <a:spcPts val="500"/>
              </a:spcBef>
              <a:buNone/>
            </a:pPr>
            <a:r>
              <a:rPr lang="zh-CN" b="false" i="false" sz="1800" baseline="0" u="none" altLang="en-US">
                <a:solidFill>
                  <a:schemeClr val="tx1"/>
                </a:solidFill>
              </a:rPr>
              <a:t>四级</a:t>
            </a:r>
          </a:p>
          <a:p>
            <a:pPr algn="l" indent="-228600" lvl="4" marL="2057400">
              <a:lnSpc>
                <a:spcPct val="90000"/>
              </a:lnSpc>
              <a:spcBef>
                <a:spcPts val="500"/>
              </a:spcBef>
              <a:buNone/>
            </a:pPr>
            <a:r>
              <a:rPr lang="zh-CN" b="false" i="false" sz="1800" baseline="0" u="none" altLang="en-US">
                <a:solidFill>
                  <a:schemeClr val="tx1"/>
                </a:solidFill>
              </a:rPr>
              <a:t>五级</a:t>
            </a:r>
          </a:p>
        </p:txBody>
      </p:sp>
      <p:sp>
        <p:nvSpPr>
          <p:cNvPr name="AutoShape 5" id="5"/>
          <p:cNvSpPr/>
          <p:nvPr>
            <p:ph type="body" sz="quarter" idx="3"/>
          </p:nvPr>
        </p:nvSpPr>
        <p:spPr>
          <a:xfrm>
            <a:off x="6172200" y="1681163"/>
            <a:ext cx="5183188" cy="823912"/>
          </a:xfrm>
        </p:spPr>
        <p:txBody>
          <a:bodyPr vert="horz" anchor="b" tIns="45720" lIns="91440" bIns="45720" rIns="91440"/>
          <a:p>
            <a:pPr algn="l" indent="0" marL="0">
              <a:lnSpc>
                <a:spcPct val="90000"/>
              </a:lnSpc>
              <a:spcBef>
                <a:spcPts val="1000"/>
              </a:spcBef>
              <a:buNone/>
            </a:pPr>
            <a:r>
              <a:rPr lang="zh-CN" b="true" i="false" sz="2400" baseline="0" u="none" altLang="en-US">
                <a:solidFill>
                  <a:schemeClr val="tx1"/>
                </a:solidFill>
              </a:rPr>
              <a:t>单击此处编辑母版文本样式</a:t>
            </a:r>
          </a:p>
        </p:txBody>
      </p:sp>
      <p:sp>
        <p:nvSpPr>
          <p:cNvPr name="AutoShape 6" id="6"/>
          <p:cNvSpPr/>
          <p:nvPr>
            <p:ph type="obj" sz="quarter" idx="4"/>
          </p:nvPr>
        </p:nvSpPr>
        <p:spPr>
          <a:xfrm>
            <a:off x="6172200" y="2505075"/>
            <a:ext cx="5183188" cy="3684588"/>
          </a:xfrm>
        </p:spPr>
        <p:txBody>
          <a:bodyPr vert="horz" anchor="t" tIns="45720" lIns="91440" bIns="45720" rIns="91440"/>
          <a:p>
            <a:pPr algn="l" indent="-228600" marL="228600">
              <a:lnSpc>
                <a:spcPct val="90000"/>
              </a:lnSpc>
              <a:spcBef>
                <a:spcPts val="1000"/>
              </a:spcBef>
              <a:buNone/>
            </a:pPr>
            <a:r>
              <a:rPr lang="zh-CN" b="false" i="false" sz="2800" baseline="0" u="none" altLang="en-US">
                <a:solidFill>
                  <a:schemeClr val="tx1"/>
                </a:solidFill>
              </a:rPr>
              <a:t>单击此处编辑母版文本样式</a:t>
            </a:r>
          </a:p>
          <a:p>
            <a:pPr algn="l" indent="-228600" lvl="1" marL="685800">
              <a:lnSpc>
                <a:spcPct val="90000"/>
              </a:lnSpc>
              <a:spcBef>
                <a:spcPts val="500"/>
              </a:spcBef>
              <a:buNone/>
            </a:pPr>
            <a:r>
              <a:rPr lang="zh-CN" b="false" i="false" sz="2400" baseline="0" u="none" altLang="en-US">
                <a:solidFill>
                  <a:schemeClr val="tx1"/>
                </a:solidFill>
              </a:rPr>
              <a:t>二级</a:t>
            </a:r>
          </a:p>
          <a:p>
            <a:pPr algn="l" indent="-228600" lvl="2" marL="1143000">
              <a:lnSpc>
                <a:spcPct val="90000"/>
              </a:lnSpc>
              <a:spcBef>
                <a:spcPts val="500"/>
              </a:spcBef>
              <a:buNone/>
            </a:pPr>
            <a:r>
              <a:rPr lang="zh-CN" b="false" i="false" sz="2000" baseline="0" u="none" altLang="en-US">
                <a:solidFill>
                  <a:schemeClr val="tx1"/>
                </a:solidFill>
              </a:rPr>
              <a:t>三级</a:t>
            </a:r>
          </a:p>
          <a:p>
            <a:pPr algn="l" indent="-228600" lvl="3" marL="1600200">
              <a:lnSpc>
                <a:spcPct val="90000"/>
              </a:lnSpc>
              <a:spcBef>
                <a:spcPts val="500"/>
              </a:spcBef>
              <a:buNone/>
            </a:pPr>
            <a:r>
              <a:rPr lang="zh-CN" b="false" i="false" sz="1800" baseline="0" u="none" altLang="en-US">
                <a:solidFill>
                  <a:schemeClr val="tx1"/>
                </a:solidFill>
              </a:rPr>
              <a:t>四级</a:t>
            </a:r>
          </a:p>
          <a:p>
            <a:pPr algn="l" indent="-228600" lvl="4" marL="2057400">
              <a:lnSpc>
                <a:spcPct val="90000"/>
              </a:lnSpc>
              <a:spcBef>
                <a:spcPts val="500"/>
              </a:spcBef>
              <a:buNone/>
            </a:pPr>
            <a:r>
              <a:rPr lang="zh-CN" b="false" i="false" sz="1800" baseline="0" u="none" altLang="en-US">
                <a:solidFill>
                  <a:schemeClr val="tx1"/>
                </a:solidFill>
              </a:rPr>
              <a:t>五级</a:t>
            </a:r>
          </a:p>
        </p:txBody>
      </p:sp>
      <p:sp>
        <p:nvSpPr>
          <p:cNvPr name="AutoShape 7" id="7"/>
          <p:cNvSpPr/>
          <p:nvPr>
            <p:ph type="dt" sz="half" idx="10"/>
          </p:nvPr>
        </p:nvSpPr>
        <p:spPr>
          <a:xfrm>
            <a:off x="838200" y="6356350"/>
            <a:ext cx="2743200" cy="365125"/>
          </a:xfrm>
        </p:spPr>
        <p:txBody>
          <a:bodyPr vert="horz" anchor="ctr" tIns="45720" lIns="91440" bIns="45720" rIns="91440"/>
          <a:p>
            <a:pPr algn="l" marL="0">
              <a:buNone/>
            </a:pPr>
            <a:r>
              <a:rPr lang="zh-CN" b="false" i="false" sz="1200" baseline="0" u="none" altLang="en-US">
                <a:solidFill>
                  <a:schemeClr val="tx1">
                    <a:tint val="75000"/>
                  </a:schemeClr>
                </a:solidFill>
                <a:latin typeface="等线"/>
                <a:ea typeface="等线"/>
              </a:rPr>
              <a:t>2026/3/9</a:t>
            </a:r>
          </a:p>
        </p:txBody>
      </p:sp>
      <p:sp>
        <p:nvSpPr>
          <p:cNvPr name="AutoShape 8" id="8"/>
          <p:cNvSpPr/>
          <p:nvPr>
            <p:ph type="ftr" sz="quarter" idx="11"/>
          </p:nvPr>
        </p:nvSpPr>
        <p:spPr>
          <a:xfrm>
            <a:off x="4038600" y="6356350"/>
            <a:ext cx="4114800" cy="365125"/>
          </a:xfrm>
        </p:spPr>
        <p:txBody>
          <a:bodyPr vert="horz" anchor="ctr" tIns="45720" lIns="91440" bIns="45720" rIns="91440"/>
          <a:p>
            <a:pPr algn="ctr" marL="0">
              <a:buNone/>
            </a:pPr>
          </a:p>
        </p:txBody>
      </p:sp>
      <p:sp>
        <p:nvSpPr>
          <p:cNvPr name="AutoShape 9" id="9"/>
          <p:cNvSpPr/>
          <p:nvPr>
            <p:ph type="sldNum" sz="quarter" idx="12"/>
          </p:nvPr>
        </p:nvSpPr>
        <p:spPr>
          <a:xfrm>
            <a:off x="8610600" y="6356350"/>
            <a:ext cx="2743200" cy="365125"/>
          </a:xfrm>
        </p:spPr>
        <p:txBody>
          <a:bodyPr vert="horz" anchor="ctr" tIns="45720" lIns="91440" bIns="45720" rIns="91440"/>
          <a:p>
            <a:pPr algn="r" marL="0">
              <a:buNone/>
            </a:pPr>
            <a:fld type="slidenum" id="{3386411A-70EE-422D-B97C-F56BEE3FF077}">
              <a:rPr lang="zh-CN" b="false" i="false" sz="1200" baseline="0" u="none" altLang="en-US">
                <a:solidFill>
                  <a:schemeClr val="tx1">
                    <a:tint val="75000"/>
                  </a:schemeClr>
                </a:solidFill>
                <a:latin typeface="等线"/>
                <a:ea typeface="等线"/>
              </a:rPr>
              <a:t>‹#›</a:t>
            </a:fld>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type="titleOnly">
  <p:cSld name="仅标题">
    <p:bg>
      <p:bgPr>
        <a:solidFill>
          <a:srgbClr val="FFFFFF"/>
        </a:solidFill>
      </p:bgPr>
    </p:bg>
    <p:spTree>
      <p:nvGrpSpPr>
        <p:cNvPr id="1" name=""/>
        <p:cNvGrpSpPr/>
        <p:nvPr/>
      </p:nvGrpSpPr>
      <p:grpSpPr>
        <a:xfrm>
          <a:off x="0" y="0"/>
          <a:ext cx="0" cy="0"/>
          <a:chOff x="0" y="0"/>
          <a:chExt cx="0" cy="0"/>
        </a:xfrm>
      </p:grpSpPr>
      <p:sp>
        <p:nvSpPr>
          <p:cNvPr name="AutoShape 2" id="2"/>
          <p:cNvSpPr/>
          <p:nvPr>
            <p:ph type="title"/>
          </p:nvPr>
        </p:nvSpPr>
        <p:spPr>
          <a:xfrm>
            <a:off x="838200" y="365125"/>
            <a:ext cx="10515600" cy="1325563"/>
          </a:xfrm>
        </p:spPr>
        <p:txBody>
          <a:bodyPr vert="horz" anchor="ctr" tIns="45720" lIns="91440" bIns="45720" rIns="91440"/>
          <a:p>
            <a:pPr algn="l">
              <a:lnSpc>
                <a:spcPct val="90000"/>
              </a:lnSpc>
              <a:spcBef>
                <a:spcPct val="0"/>
              </a:spcBef>
              <a:buNone/>
            </a:pPr>
            <a:r>
              <a:rPr lang="zh-CN" b="false" i="false" sz="4400" baseline="0" u="none" altLang="en-US">
                <a:solidFill>
                  <a:schemeClr val="tx1"/>
                </a:solidFill>
              </a:rPr>
              <a:t>单击此处编辑母版标题样式</a:t>
            </a:r>
          </a:p>
        </p:txBody>
      </p:sp>
      <p:sp>
        <p:nvSpPr>
          <p:cNvPr name="AutoShape 3" id="3"/>
          <p:cNvSpPr/>
          <p:nvPr>
            <p:ph type="dt" sz="half" idx="10"/>
          </p:nvPr>
        </p:nvSpPr>
        <p:spPr>
          <a:xfrm>
            <a:off x="838200" y="6356350"/>
            <a:ext cx="2743200" cy="365125"/>
          </a:xfrm>
        </p:spPr>
        <p:txBody>
          <a:bodyPr vert="horz" anchor="ctr" tIns="45720" lIns="91440" bIns="45720" rIns="91440"/>
          <a:p>
            <a:pPr algn="l" marL="0">
              <a:buNone/>
            </a:pPr>
            <a:r>
              <a:rPr lang="zh-CN" b="false" i="false" sz="1200" baseline="0" u="none" altLang="en-US">
                <a:solidFill>
                  <a:schemeClr val="tx1">
                    <a:tint val="75000"/>
                  </a:schemeClr>
                </a:solidFill>
                <a:latin typeface="等线"/>
                <a:ea typeface="等线"/>
              </a:rPr>
              <a:t>2026/3/9</a:t>
            </a:r>
          </a:p>
        </p:txBody>
      </p:sp>
      <p:sp>
        <p:nvSpPr>
          <p:cNvPr name="AutoShape 4" id="4"/>
          <p:cNvSpPr/>
          <p:nvPr>
            <p:ph type="ftr" sz="quarter" idx="11"/>
          </p:nvPr>
        </p:nvSpPr>
        <p:spPr>
          <a:xfrm>
            <a:off x="4038600" y="6356350"/>
            <a:ext cx="4114800" cy="365125"/>
          </a:xfrm>
        </p:spPr>
        <p:txBody>
          <a:bodyPr vert="horz" anchor="ctr" tIns="45720" lIns="91440" bIns="45720" rIns="91440"/>
          <a:p>
            <a:pPr algn="ctr" marL="0">
              <a:buNone/>
            </a:pPr>
          </a:p>
        </p:txBody>
      </p:sp>
      <p:sp>
        <p:nvSpPr>
          <p:cNvPr name="AutoShape 5" id="5"/>
          <p:cNvSpPr/>
          <p:nvPr>
            <p:ph type="sldNum" sz="quarter" idx="12"/>
          </p:nvPr>
        </p:nvSpPr>
        <p:spPr>
          <a:xfrm>
            <a:off x="8610600" y="6356350"/>
            <a:ext cx="2743200" cy="365125"/>
          </a:xfrm>
        </p:spPr>
        <p:txBody>
          <a:bodyPr vert="horz" anchor="ctr" tIns="45720" lIns="91440" bIns="45720" rIns="91440"/>
          <a:p>
            <a:pPr algn="r" marL="0">
              <a:buNone/>
            </a:pPr>
            <a:fld type="slidenum" id="{3386411A-70EE-422D-B97C-F56BEE3FF077}">
              <a:rPr lang="zh-CN" b="false" i="false" sz="1200" baseline="0" u="none" altLang="en-US">
                <a:solidFill>
                  <a:schemeClr val="tx1">
                    <a:tint val="75000"/>
                  </a:schemeClr>
                </a:solidFill>
                <a:latin typeface="等线"/>
                <a:ea typeface="等线"/>
              </a:rPr>
              <a:t>‹#›</a:t>
            </a:fld>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type="objTx">
  <p:cSld name="内容与标题">
    <p:bg>
      <p:bgPr>
        <a:solidFill>
          <a:srgbClr val="FFFFFF"/>
        </a:solidFill>
      </p:bgPr>
    </p:bg>
    <p:spTree>
      <p:nvGrpSpPr>
        <p:cNvPr id="1" name=""/>
        <p:cNvGrpSpPr/>
        <p:nvPr/>
      </p:nvGrpSpPr>
      <p:grpSpPr>
        <a:xfrm>
          <a:off x="0" y="0"/>
          <a:ext cx="0" cy="0"/>
          <a:chOff x="0" y="0"/>
          <a:chExt cx="0" cy="0"/>
        </a:xfrm>
      </p:grpSpPr>
      <p:sp>
        <p:nvSpPr>
          <p:cNvPr name="AutoShape 2" id="2"/>
          <p:cNvSpPr/>
          <p:nvPr>
            <p:ph type="title"/>
          </p:nvPr>
        </p:nvSpPr>
        <p:spPr>
          <a:xfrm>
            <a:off x="839788" y="457200"/>
            <a:ext cx="3932237" cy="1600200"/>
          </a:xfrm>
        </p:spPr>
        <p:txBody>
          <a:bodyPr vert="horz" anchor="b" tIns="45720" lIns="91440" bIns="45720" rIns="91440"/>
          <a:p>
            <a:pPr algn="l">
              <a:lnSpc>
                <a:spcPct val="90000"/>
              </a:lnSpc>
              <a:spcBef>
                <a:spcPct val="0"/>
              </a:spcBef>
              <a:buNone/>
            </a:pPr>
            <a:r>
              <a:rPr lang="zh-CN" b="false" i="false" sz="3200" baseline="0" u="none" altLang="en-US">
                <a:solidFill>
                  <a:schemeClr val="tx1"/>
                </a:solidFill>
              </a:rPr>
              <a:t>单击此处编辑母版标题样式</a:t>
            </a:r>
          </a:p>
        </p:txBody>
      </p:sp>
      <p:sp>
        <p:nvSpPr>
          <p:cNvPr name="AutoShape 3" id="3"/>
          <p:cNvSpPr/>
          <p:nvPr>
            <p:ph type="obj" idx="1"/>
          </p:nvPr>
        </p:nvSpPr>
        <p:spPr>
          <a:xfrm>
            <a:off x="5183188" y="987425"/>
            <a:ext cx="6172200" cy="4873625"/>
          </a:xfrm>
        </p:spPr>
        <p:txBody>
          <a:bodyPr vert="horz" anchor="t" tIns="45720" lIns="91440" bIns="45720" rIns="91440"/>
          <a:p>
            <a:pPr algn="l" indent="-228600" marL="228600">
              <a:lnSpc>
                <a:spcPct val="90000"/>
              </a:lnSpc>
              <a:spcBef>
                <a:spcPts val="1000"/>
              </a:spcBef>
              <a:buNone/>
            </a:pPr>
            <a:r>
              <a:rPr lang="zh-CN" b="false" i="false" sz="3200" baseline="0" u="none" altLang="en-US">
                <a:solidFill>
                  <a:schemeClr val="tx1"/>
                </a:solidFill>
              </a:rPr>
              <a:t>单击此处编辑母版文本样式</a:t>
            </a:r>
          </a:p>
          <a:p>
            <a:pPr algn="l" indent="-228600" lvl="1" marL="685800">
              <a:lnSpc>
                <a:spcPct val="90000"/>
              </a:lnSpc>
              <a:spcBef>
                <a:spcPts val="500"/>
              </a:spcBef>
              <a:buNone/>
            </a:pPr>
            <a:r>
              <a:rPr lang="zh-CN" b="false" i="false" sz="2800" baseline="0" u="none" altLang="en-US">
                <a:solidFill>
                  <a:schemeClr val="tx1"/>
                </a:solidFill>
              </a:rPr>
              <a:t>二级</a:t>
            </a:r>
          </a:p>
          <a:p>
            <a:pPr algn="l" indent="-228600" lvl="2" marL="1143000">
              <a:lnSpc>
                <a:spcPct val="90000"/>
              </a:lnSpc>
              <a:spcBef>
                <a:spcPts val="500"/>
              </a:spcBef>
              <a:buNone/>
            </a:pPr>
            <a:r>
              <a:rPr lang="zh-CN" b="false" i="false" sz="2400" baseline="0" u="none" altLang="en-US">
                <a:solidFill>
                  <a:schemeClr val="tx1"/>
                </a:solidFill>
              </a:rPr>
              <a:t>三级</a:t>
            </a:r>
          </a:p>
          <a:p>
            <a:pPr algn="l" indent="-228600" lvl="3" marL="1600200">
              <a:lnSpc>
                <a:spcPct val="90000"/>
              </a:lnSpc>
              <a:spcBef>
                <a:spcPts val="500"/>
              </a:spcBef>
              <a:buNone/>
            </a:pPr>
            <a:r>
              <a:rPr lang="zh-CN" b="false" i="false" sz="2000" baseline="0" u="none" altLang="en-US">
                <a:solidFill>
                  <a:schemeClr val="tx1"/>
                </a:solidFill>
              </a:rPr>
              <a:t>四级</a:t>
            </a:r>
          </a:p>
          <a:p>
            <a:pPr algn="l" indent="-228600" lvl="4" marL="2057400">
              <a:lnSpc>
                <a:spcPct val="90000"/>
              </a:lnSpc>
              <a:spcBef>
                <a:spcPts val="500"/>
              </a:spcBef>
              <a:buNone/>
            </a:pPr>
            <a:r>
              <a:rPr lang="zh-CN" b="false" i="false" sz="2000" baseline="0" u="none" altLang="en-US">
                <a:solidFill>
                  <a:schemeClr val="tx1"/>
                </a:solidFill>
              </a:rPr>
              <a:t>五级</a:t>
            </a:r>
          </a:p>
        </p:txBody>
      </p:sp>
      <p:sp>
        <p:nvSpPr>
          <p:cNvPr name="AutoShape 4" id="4"/>
          <p:cNvSpPr/>
          <p:nvPr>
            <p:ph type="body" sz="half" idx="2"/>
          </p:nvPr>
        </p:nvSpPr>
        <p:spPr>
          <a:xfrm>
            <a:off x="839788" y="2057400"/>
            <a:ext cx="3932237" cy="3811588"/>
          </a:xfrm>
        </p:spPr>
        <p:txBody>
          <a:bodyPr vert="horz" anchor="t" tIns="45720" lIns="91440" bIns="45720" rIns="91440"/>
          <a:p>
            <a:pPr algn="l" indent="0" marL="0">
              <a:lnSpc>
                <a:spcPct val="90000"/>
              </a:lnSpc>
              <a:spcBef>
                <a:spcPts val="1000"/>
              </a:spcBef>
              <a:buNone/>
            </a:pPr>
            <a:r>
              <a:rPr lang="zh-CN" b="false" i="false" sz="1600" baseline="0" u="none" altLang="en-US">
                <a:solidFill>
                  <a:schemeClr val="tx1"/>
                </a:solidFill>
              </a:rPr>
              <a:t>单击此处编辑母版文本样式</a:t>
            </a:r>
          </a:p>
        </p:txBody>
      </p:sp>
      <p:sp>
        <p:nvSpPr>
          <p:cNvPr name="AutoShape 5" id="5"/>
          <p:cNvSpPr/>
          <p:nvPr>
            <p:ph type="dt" sz="half" idx="10"/>
          </p:nvPr>
        </p:nvSpPr>
        <p:spPr>
          <a:xfrm>
            <a:off x="838200" y="6356350"/>
            <a:ext cx="2743200" cy="365125"/>
          </a:xfrm>
        </p:spPr>
        <p:txBody>
          <a:bodyPr vert="horz" anchor="ctr" tIns="45720" lIns="91440" bIns="45720" rIns="91440"/>
          <a:p>
            <a:pPr algn="l" marL="0">
              <a:buNone/>
            </a:pPr>
            <a:r>
              <a:rPr lang="zh-CN" b="false" i="false" sz="1200" baseline="0" u="none" altLang="en-US">
                <a:solidFill>
                  <a:schemeClr val="tx1">
                    <a:tint val="75000"/>
                  </a:schemeClr>
                </a:solidFill>
                <a:latin typeface="等线"/>
                <a:ea typeface="等线"/>
              </a:rPr>
              <a:t>2026/3/9</a:t>
            </a:r>
          </a:p>
        </p:txBody>
      </p:sp>
      <p:sp>
        <p:nvSpPr>
          <p:cNvPr name="AutoShape 6" id="6"/>
          <p:cNvSpPr/>
          <p:nvPr>
            <p:ph type="ftr" sz="quarter" idx="11"/>
          </p:nvPr>
        </p:nvSpPr>
        <p:spPr>
          <a:xfrm>
            <a:off x="4038600" y="6356350"/>
            <a:ext cx="4114800" cy="365125"/>
          </a:xfrm>
        </p:spPr>
        <p:txBody>
          <a:bodyPr vert="horz" anchor="ctr" tIns="45720" lIns="91440" bIns="45720" rIns="91440"/>
          <a:p>
            <a:pPr algn="ctr" marL="0">
              <a:buNone/>
            </a:pPr>
          </a:p>
        </p:txBody>
      </p:sp>
      <p:sp>
        <p:nvSpPr>
          <p:cNvPr name="AutoShape 7" id="7"/>
          <p:cNvSpPr/>
          <p:nvPr>
            <p:ph type="sldNum" sz="quarter" idx="12"/>
          </p:nvPr>
        </p:nvSpPr>
        <p:spPr>
          <a:xfrm>
            <a:off x="8610600" y="6356350"/>
            <a:ext cx="2743200" cy="365125"/>
          </a:xfrm>
        </p:spPr>
        <p:txBody>
          <a:bodyPr vert="horz" anchor="ctr" tIns="45720" lIns="91440" bIns="45720" rIns="91440"/>
          <a:p>
            <a:pPr algn="r" marL="0">
              <a:buNone/>
            </a:pPr>
            <a:fld type="slidenum" id="{3386411A-70EE-422D-B97C-F56BEE3FF077}">
              <a:rPr lang="zh-CN" b="false" i="false" sz="1200" baseline="0" u="none" altLang="en-US">
                <a:solidFill>
                  <a:schemeClr val="tx1">
                    <a:tint val="75000"/>
                  </a:schemeClr>
                </a:solidFill>
                <a:latin typeface="等线"/>
                <a:ea typeface="等线"/>
              </a:rPr>
              <a:t>‹#›</a:t>
            </a:fld>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type="picTx">
  <p:cSld name="图片与标题">
    <p:bg>
      <p:bgPr>
        <a:solidFill>
          <a:srgbClr val="FFFFFF"/>
        </a:solidFill>
      </p:bgPr>
    </p:bg>
    <p:spTree>
      <p:nvGrpSpPr>
        <p:cNvPr id="1" name=""/>
        <p:cNvGrpSpPr/>
        <p:nvPr/>
      </p:nvGrpSpPr>
      <p:grpSpPr>
        <a:xfrm>
          <a:off x="0" y="0"/>
          <a:ext cx="0" cy="0"/>
          <a:chOff x="0" y="0"/>
          <a:chExt cx="0" cy="0"/>
        </a:xfrm>
      </p:grpSpPr>
      <p:sp>
        <p:nvSpPr>
          <p:cNvPr name="AutoShape 2" id="2"/>
          <p:cNvSpPr/>
          <p:nvPr>
            <p:ph type="title"/>
          </p:nvPr>
        </p:nvSpPr>
        <p:spPr>
          <a:xfrm>
            <a:off x="839788" y="457200"/>
            <a:ext cx="3932237" cy="1600200"/>
          </a:xfrm>
        </p:spPr>
        <p:txBody>
          <a:bodyPr vert="horz" anchor="b" tIns="45720" lIns="91440" bIns="45720" rIns="91440"/>
          <a:p>
            <a:pPr algn="l">
              <a:lnSpc>
                <a:spcPct val="90000"/>
              </a:lnSpc>
              <a:spcBef>
                <a:spcPct val="0"/>
              </a:spcBef>
              <a:buNone/>
            </a:pPr>
            <a:r>
              <a:rPr lang="zh-CN" b="false" i="false" sz="3200" baseline="0" u="none" altLang="en-US">
                <a:solidFill>
                  <a:schemeClr val="tx1"/>
                </a:solidFill>
              </a:rPr>
              <a:t>单击此处编辑母版标题样式</a:t>
            </a:r>
          </a:p>
        </p:txBody>
      </p:sp>
      <p:sp>
        <p:nvSpPr>
          <p:cNvPr name="AutoShape 3" id="3"/>
          <p:cNvSpPr/>
          <p:nvPr>
            <p:ph type="pic" idx="1"/>
          </p:nvPr>
        </p:nvSpPr>
        <p:spPr>
          <a:xfrm>
            <a:off x="5183188" y="987425"/>
            <a:ext cx="6172200" cy="4873625"/>
          </a:xfrm>
        </p:spPr>
        <p:txBody>
          <a:bodyPr vert="horz" anchor="t" tIns="45720" lIns="91440" bIns="45720" rIns="91440"/>
          <a:p>
            <a:pPr algn="l" indent="0" marL="0">
              <a:lnSpc>
                <a:spcPct val="90000"/>
              </a:lnSpc>
              <a:spcBef>
                <a:spcPts val="1000"/>
              </a:spcBef>
              <a:buNone/>
            </a:pPr>
          </a:p>
        </p:txBody>
      </p:sp>
      <p:sp>
        <p:nvSpPr>
          <p:cNvPr name="AutoShape 4" id="4"/>
          <p:cNvSpPr/>
          <p:nvPr>
            <p:ph type="body" sz="half" idx="2"/>
          </p:nvPr>
        </p:nvSpPr>
        <p:spPr>
          <a:xfrm>
            <a:off x="839788" y="2057400"/>
            <a:ext cx="3932237" cy="3811588"/>
          </a:xfrm>
        </p:spPr>
        <p:txBody>
          <a:bodyPr vert="horz" anchor="t" tIns="45720" lIns="91440" bIns="45720" rIns="91440"/>
          <a:p>
            <a:pPr algn="l" indent="0" marL="0">
              <a:lnSpc>
                <a:spcPct val="90000"/>
              </a:lnSpc>
              <a:spcBef>
                <a:spcPts val="1000"/>
              </a:spcBef>
              <a:buNone/>
            </a:pPr>
            <a:r>
              <a:rPr lang="zh-CN" b="false" i="false" sz="1600" baseline="0" u="none" altLang="en-US">
                <a:solidFill>
                  <a:schemeClr val="tx1"/>
                </a:solidFill>
              </a:rPr>
              <a:t>单击此处编辑母版文本样式</a:t>
            </a:r>
          </a:p>
        </p:txBody>
      </p:sp>
      <p:sp>
        <p:nvSpPr>
          <p:cNvPr name="AutoShape 5" id="5"/>
          <p:cNvSpPr/>
          <p:nvPr>
            <p:ph type="dt" sz="half" idx="10"/>
          </p:nvPr>
        </p:nvSpPr>
        <p:spPr>
          <a:xfrm>
            <a:off x="838200" y="6356350"/>
            <a:ext cx="2743200" cy="365125"/>
          </a:xfrm>
        </p:spPr>
        <p:txBody>
          <a:bodyPr vert="horz" anchor="ctr" tIns="45720" lIns="91440" bIns="45720" rIns="91440"/>
          <a:p>
            <a:pPr algn="l" marL="0">
              <a:buNone/>
            </a:pPr>
            <a:r>
              <a:rPr lang="zh-CN" b="false" i="false" sz="1200" baseline="0" u="none" altLang="en-US">
                <a:solidFill>
                  <a:schemeClr val="tx1">
                    <a:tint val="75000"/>
                  </a:schemeClr>
                </a:solidFill>
                <a:latin typeface="等线"/>
                <a:ea typeface="等线"/>
              </a:rPr>
              <a:t>2026/3/9</a:t>
            </a:r>
          </a:p>
        </p:txBody>
      </p:sp>
      <p:sp>
        <p:nvSpPr>
          <p:cNvPr name="AutoShape 6" id="6"/>
          <p:cNvSpPr/>
          <p:nvPr>
            <p:ph type="ftr" sz="quarter" idx="11"/>
          </p:nvPr>
        </p:nvSpPr>
        <p:spPr>
          <a:xfrm>
            <a:off x="4038600" y="6356350"/>
            <a:ext cx="4114800" cy="365125"/>
          </a:xfrm>
        </p:spPr>
        <p:txBody>
          <a:bodyPr vert="horz" anchor="ctr" tIns="45720" lIns="91440" bIns="45720" rIns="91440"/>
          <a:p>
            <a:pPr algn="ctr" marL="0">
              <a:buNone/>
            </a:pPr>
          </a:p>
        </p:txBody>
      </p:sp>
      <p:sp>
        <p:nvSpPr>
          <p:cNvPr name="AutoShape 7" id="7"/>
          <p:cNvSpPr/>
          <p:nvPr>
            <p:ph type="sldNum" sz="quarter" idx="12"/>
          </p:nvPr>
        </p:nvSpPr>
        <p:spPr>
          <a:xfrm>
            <a:off x="8610600" y="6356350"/>
            <a:ext cx="2743200" cy="365125"/>
          </a:xfrm>
        </p:spPr>
        <p:txBody>
          <a:bodyPr vert="horz" anchor="ctr" tIns="45720" lIns="91440" bIns="45720" rIns="91440"/>
          <a:p>
            <a:pPr algn="r" marL="0">
              <a:buNone/>
            </a:pPr>
            <a:fld type="slidenum" id="{3386411A-70EE-422D-B97C-F56BEE3FF077}">
              <a:rPr lang="zh-CN" b="false" i="false" sz="1200" baseline="0" u="none" altLang="en-US">
                <a:solidFill>
                  <a:schemeClr val="tx1">
                    <a:tint val="75000"/>
                  </a:schemeClr>
                </a:solidFill>
                <a:latin typeface="等线"/>
                <a:ea typeface="等线"/>
              </a:rPr>
              <a:t>‹#›</a:t>
            </a:fld>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9.xml" Type="http://schemas.openxmlformats.org/officeDocument/2006/relationships/slideLayout"/><Relationship Id="rId11" Target="../slideLayouts/slideLayout10.xml" Type="http://schemas.openxmlformats.org/officeDocument/2006/relationships/slideLayout"/><Relationship Id="rId12" Target="../slideLayouts/slideLayout11.xml" Type="http://schemas.openxmlformats.org/officeDocument/2006/relationships/slideLayout"/><Relationship Id="rId2" Target="../theme/theme1.xml" Type="http://schemas.openxmlformats.org/officeDocument/2006/relationships/theme"/><Relationship Id="rId3" Target="../slideLayouts/slideLayout2.xml" Type="http://schemas.openxmlformats.org/officeDocument/2006/relationships/slideLayout"/><Relationship Id="rId4" Target="../slideLayouts/slideLayout3.xml" Type="http://schemas.openxmlformats.org/officeDocument/2006/relationships/slideLayout"/><Relationship Id="rId5" Target="../slideLayouts/slideLayout4.xml" Type="http://schemas.openxmlformats.org/officeDocument/2006/relationships/slideLayout"/><Relationship Id="rId6" Target="../slideLayouts/slideLayout5.xml" Type="http://schemas.openxmlformats.org/officeDocument/2006/relationships/slideLayout"/><Relationship Id="rId7" Target="../slideLayouts/slideLayout6.xml" Type="http://schemas.openxmlformats.org/officeDocument/2006/relationships/slideLayout"/><Relationship Id="rId8" Target="../slideLayouts/slideLayout7.xml" Type="http://schemas.openxmlformats.org/officeDocument/2006/relationships/slideLayout"/><Relationship Id="rId9" Target="../slideLayouts/slideLayout8.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p:bgPr>
    </p:bg>
    <p:spTree>
      <p:nvGrpSpPr>
        <p:cNvPr id="1" name=""/>
        <p:cNvGrpSpPr/>
        <p:nvPr/>
      </p:nvGrpSpPr>
      <p:grpSpPr>
        <a:xfrm>
          <a:off x="0" y="0"/>
          <a:ext cx="0" cy="0"/>
          <a:chOff x="0" y="0"/>
          <a:chExt cx="0" cy="0"/>
        </a:xfrm>
      </p:grpSpPr>
      <p:sp>
        <p:nvSpPr>
          <p:cNvPr name="AutoShape 2" id="2"/>
          <p:cNvSpPr/>
          <p:nvPr>
            <p:ph type="title"/>
          </p:nvPr>
        </p:nvSpPr>
        <p:spPr>
          <a:xfrm>
            <a:off x="838200" y="365125"/>
            <a:ext cx="10515600" cy="1325563"/>
          </a:xfrm>
          <a:prstGeom prst="rect">
            <a:avLst/>
          </a:prstGeom>
        </p:spPr>
        <p:txBody>
          <a:bodyPr vert="horz" anchor="ctr" tIns="45720" lIns="91440" bIns="45720" rIns="91440">
            <a:normAutofit/>
          </a:bodyPr>
          <a:p>
            <a:pPr algn="l">
              <a:lnSpc>
                <a:spcPct val="90000"/>
              </a:lnSpc>
              <a:spcBef>
                <a:spcPct val="0"/>
              </a:spcBef>
              <a:buNone/>
            </a:pPr>
            <a:r>
              <a:rPr lang="zh-CN" b="false" i="false" sz="4400" baseline="0" u="none" altLang="en-US">
                <a:solidFill>
                  <a:schemeClr val="tx1"/>
                </a:solidFill>
              </a:rPr>
              <a:t>单击此处编辑母版标题样式</a:t>
            </a:r>
          </a:p>
        </p:txBody>
      </p:sp>
      <p:sp>
        <p:nvSpPr>
          <p:cNvPr name="AutoShape 3" id="3"/>
          <p:cNvSpPr/>
          <p:nvPr>
            <p:ph type="body" idx="1"/>
          </p:nvPr>
        </p:nvSpPr>
        <p:spPr>
          <a:xfrm>
            <a:off x="838200" y="1825625"/>
            <a:ext cx="10515600" cy="4351338"/>
          </a:xfrm>
          <a:prstGeom prst="rect">
            <a:avLst/>
          </a:prstGeom>
        </p:spPr>
        <p:txBody>
          <a:bodyPr vert="horz" anchor="t" tIns="45720" lIns="91440" bIns="45720" rIns="91440">
            <a:normAutofit/>
          </a:bodyPr>
          <a:p>
            <a:pPr algn="l" indent="-228600" marL="228600">
              <a:lnSpc>
                <a:spcPct val="90000"/>
              </a:lnSpc>
              <a:spcBef>
                <a:spcPts val="1000"/>
              </a:spcBef>
              <a:buNone/>
            </a:pPr>
            <a:r>
              <a:rPr lang="zh-CN" b="false" i="false" sz="2800" baseline="0" u="none" altLang="en-US">
                <a:solidFill>
                  <a:schemeClr val="tx1"/>
                </a:solidFill>
              </a:rPr>
              <a:t>单击此处编辑母版文本样式</a:t>
            </a:r>
          </a:p>
          <a:p>
            <a:pPr algn="l" indent="-228600" lvl="1" marL="685800">
              <a:lnSpc>
                <a:spcPct val="90000"/>
              </a:lnSpc>
              <a:spcBef>
                <a:spcPts val="500"/>
              </a:spcBef>
              <a:buNone/>
            </a:pPr>
            <a:r>
              <a:rPr lang="zh-CN" b="false" i="false" sz="2400" baseline="0" u="none" altLang="en-US">
                <a:solidFill>
                  <a:schemeClr val="tx1"/>
                </a:solidFill>
              </a:rPr>
              <a:t>二级</a:t>
            </a:r>
          </a:p>
          <a:p>
            <a:pPr algn="l" indent="-228600" lvl="2" marL="1143000">
              <a:lnSpc>
                <a:spcPct val="90000"/>
              </a:lnSpc>
              <a:spcBef>
                <a:spcPts val="500"/>
              </a:spcBef>
              <a:buNone/>
            </a:pPr>
            <a:r>
              <a:rPr lang="zh-CN" b="false" i="false" sz="2000" baseline="0" u="none" altLang="en-US">
                <a:solidFill>
                  <a:schemeClr val="tx1"/>
                </a:solidFill>
              </a:rPr>
              <a:t>三级</a:t>
            </a:r>
          </a:p>
          <a:p>
            <a:pPr algn="l" indent="-228600" lvl="3" marL="1600200">
              <a:lnSpc>
                <a:spcPct val="90000"/>
              </a:lnSpc>
              <a:spcBef>
                <a:spcPts val="500"/>
              </a:spcBef>
              <a:buNone/>
            </a:pPr>
            <a:r>
              <a:rPr lang="zh-CN" b="false" i="false" sz="1800" baseline="0" u="none" altLang="en-US">
                <a:solidFill>
                  <a:schemeClr val="tx1"/>
                </a:solidFill>
              </a:rPr>
              <a:t>四级</a:t>
            </a:r>
          </a:p>
          <a:p>
            <a:pPr algn="l" indent="-228600" lvl="4" marL="2057400">
              <a:lnSpc>
                <a:spcPct val="90000"/>
              </a:lnSpc>
              <a:spcBef>
                <a:spcPts val="500"/>
              </a:spcBef>
              <a:buNone/>
            </a:pPr>
            <a:r>
              <a:rPr lang="zh-CN" b="false" i="false" sz="1800" baseline="0" u="none" altLang="en-US">
                <a:solidFill>
                  <a:schemeClr val="tx1"/>
                </a:solidFill>
              </a:rPr>
              <a:t>五级</a:t>
            </a:r>
          </a:p>
        </p:txBody>
      </p:sp>
      <p:sp>
        <p:nvSpPr>
          <p:cNvPr name="AutoShape 4" id="4"/>
          <p:cNvSpPr/>
          <p:nvPr>
            <p:ph type="dt" sz="half" idx="2"/>
          </p:nvPr>
        </p:nvSpPr>
        <p:spPr>
          <a:xfrm>
            <a:off x="838200" y="6356350"/>
            <a:ext cx="2743200" cy="365125"/>
          </a:xfrm>
          <a:prstGeom prst="rect">
            <a:avLst/>
          </a:prstGeom>
        </p:spPr>
        <p:txBody>
          <a:bodyPr vert="horz" anchor="ctr" tIns="45720" lIns="91440" bIns="45720" rIns="91440"/>
          <a:p>
            <a:pPr algn="l" marL="0">
              <a:buNone/>
            </a:pPr>
            <a:r>
              <a:rPr lang="zh-CN" b="false" i="false" sz="1800" baseline="0" u="none" altLang="en-US">
                <a:solidFill>
                  <a:schemeClr val="tx1"/>
                </a:solidFill>
                <a:latin typeface="等线"/>
                <a:ea typeface="等线"/>
              </a:rPr>
              <a:t>2026/3/9</a:t>
            </a:r>
          </a:p>
        </p:txBody>
      </p:sp>
      <p:sp>
        <p:nvSpPr>
          <p:cNvPr name="AutoShape 5" id="5"/>
          <p:cNvSpPr/>
          <p:nvPr>
            <p:ph type="ftr" sz="quarter" idx="3"/>
          </p:nvPr>
        </p:nvSpPr>
        <p:spPr>
          <a:xfrm>
            <a:off x="4038600" y="6356350"/>
            <a:ext cx="4114800" cy="365125"/>
          </a:xfrm>
          <a:prstGeom prst="rect">
            <a:avLst/>
          </a:prstGeom>
        </p:spPr>
        <p:txBody>
          <a:bodyPr vert="horz" anchor="ctr" tIns="45720" lIns="91440" bIns="45720" rIns="91440"/>
          <a:p>
            <a:pPr algn="l" marL="0">
              <a:buNone/>
            </a:pPr>
          </a:p>
        </p:txBody>
      </p:sp>
      <p:sp>
        <p:nvSpPr>
          <p:cNvPr name="AutoShape 6" id="6"/>
          <p:cNvSpPr/>
          <p:nvPr>
            <p:ph type="sldNum" sz="quarter" idx="4"/>
          </p:nvPr>
        </p:nvSpPr>
        <p:spPr>
          <a:xfrm>
            <a:off x="8610600" y="6356350"/>
            <a:ext cx="2743200" cy="365125"/>
          </a:xfrm>
          <a:prstGeom prst="rect">
            <a:avLst/>
          </a:prstGeom>
        </p:spPr>
        <p:txBody>
          <a:bodyPr vert="horz" anchor="ctr" tIns="45720" lIns="91440" bIns="45720" rIns="91440"/>
          <a:p>
            <a:pPr algn="l" marL="0">
              <a:buNone/>
            </a:pPr>
            <a:fld type="slidenum" id="{3386411A-70EE-422D-B97C-F56BEE3FF077}">
              <a:rPr lang="zh-CN" b="false" i="false" sz="1800" baseline="0" u="none" altLang="en-US">
                <a:solidFill>
                  <a:schemeClr val="tx1"/>
                </a:solidFill>
                <a:latin typeface="等线"/>
                <a:ea typeface="等线"/>
              </a:rPr>
              <a:t>‹#›</a:t>
            </a:fld>
          </a:p>
        </p:txBody>
      </p:sp>
    </p:spTree>
  </p:cSld>
  <p:clrMap bg1="lt1" tx1="dk1" bg2="lt2" tx2="dk2" accent1="accent1" accent2="accent2" accent3="accent3" accent4="accent4" accent5="accent5" accent6="accent6" hlink="hlink" folHlink="folHlink"/>
  <p:sldLayoutIdLst>
    <p:sldLayoutId id="2147483655" r:id="rId1"/>
    <p:sldLayoutId id="2147483656" r:id="rId3"/>
    <p:sldLayoutId id="2147483657" r:id="rId4"/>
    <p:sldLayoutId id="2147483658" r:id="rId5"/>
    <p:sldLayoutId id="2147483659" r:id="rId6"/>
    <p:sldLayoutId id="2147483660" r:id="rId7"/>
    <p:sldLayoutId id="2147483661" r:id="rId8"/>
    <p:sldLayoutId id="2147483662" r:id="rId9"/>
    <p:sldLayoutId id="2147483663" r:id="rId10"/>
    <p:sldLayoutId id="2147483664" r:id="rId11"/>
    <p:sldLayoutId id="2147483665"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1.xml" Type="http://schemas.openxmlformats.org/officeDocument/2006/relationships/slideLayout"/><Relationship Id="rId2" Target="../media/image2.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1.xml" Type="http://schemas.openxmlformats.org/officeDocument/2006/relationships/slideLayout"/><Relationship Id="rId2" Target="../media/image3.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1.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1.xml" Type="http://schemas.openxmlformats.org/officeDocument/2006/relationships/slideLayout"/><Relationship Id="rId2" Target="../charts/chart1.xml" Type="http://schemas.openxmlformats.org/officeDocument/2006/relationships/chart"/></Relationships>
</file>

<file path=ppt/slides/_rels/slide6.xml.rels><?xml version="1.0" encoding="UTF-8" standalone="yes"?><Relationships xmlns="http://schemas.openxmlformats.org/package/2006/relationships"><Relationship Id="rId1" Target="../slideLayouts/slideLayout1.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1.xml" Type="http://schemas.openxmlformats.org/officeDocument/2006/relationships/slideLayout"/><Relationship Id="rId2" Target="../media/image3.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1.xml" Type="http://schemas.openxmlformats.org/officeDocument/2006/relationships/slideLayout"/><Relationship Id="rId2" Target="../media/image4.png" Type="http://schemas.openxmlformats.org/officeDocument/2006/relationships/image"/><Relationship Id="rId3" Target="../media/image5.png" Type="http://schemas.openxmlformats.org/officeDocument/2006/relationships/image"/><Relationship Id="rId4" Target="../media/image6.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1.xml" Type="http://schemas.openxmlformats.org/officeDocument/2006/relationships/slideLayout"/><Relationship Id="rId2" Target="../media/image7.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1.xml" Type="http://schemas.openxmlformats.org/officeDocument/2006/relationships/slideLayout"/></Relationships>
</file>

<file path=ppt/slides/_rels/slide11.xml.rels><?xml version="1.0" encoding="UTF-8" standalone="yes"?><Relationships xmlns="http://schemas.openxmlformats.org/package/2006/relationships"><Relationship Id="rId1" Target="../slideLayouts/slideLayout1.xml" Type="http://schemas.openxmlformats.org/officeDocument/2006/relationships/slideLayout"/></Relationships>
</file>

<file path=ppt/slides/_rels/slide12.xml.rels><?xml version="1.0" encoding="UTF-8" standalone="yes"?><Relationships xmlns="http://schemas.openxmlformats.org/package/2006/relationships"><Relationship Id="rId1" Target="../slideLayouts/slideLayout1.xml" Type="http://schemas.openxmlformats.org/officeDocument/2006/relationships/slideLayout"/><Relationship Id="rId2" Target="../media/image3.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1.xml" Type="http://schemas.openxmlformats.org/officeDocument/2006/relationships/slideLayout"/></Relationships>
</file>

<file path=ppt/slides/_rels/slide14.xml.rels><?xml version="1.0" encoding="UTF-8" standalone="yes"?><Relationships xmlns="http://schemas.openxmlformats.org/package/2006/relationships"><Relationship Id="rId1" Target="../slideLayouts/slideLayout1.xml" Type="http://schemas.openxmlformats.org/officeDocument/2006/relationships/slideLayout"/><Relationship Id="rId2" Target="../media/image8.png" Type="http://schemas.openxmlformats.org/officeDocument/2006/relationships/image"/><Relationship Id="rId3" Target="../media/image9.png" Type="http://schemas.openxmlformats.org/officeDocument/2006/relationships/image"/><Relationship Id="rId4" Target="../media/image10.png" Type="http://schemas.openxmlformats.org/officeDocument/2006/relationships/image"/><Relationship Id="rId5" Target="../media/image11.png" Type="http://schemas.openxmlformats.org/officeDocument/2006/relationships/image"/><Relationship Id="rId6" Target="../media/image12.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1.xml" Type="http://schemas.openxmlformats.org/officeDocument/2006/relationships/slideLayout"/></Relationships>
</file>

<file path=ppt/slides/_rels/slide16.xml.rels><?xml version="1.0" encoding="UTF-8" standalone="yes"?><Relationships xmlns="http://schemas.openxmlformats.org/package/2006/relationships"><Relationship Id="rId1" Target="../slideLayouts/slideLayout1.xml" Type="http://schemas.openxmlformats.org/officeDocument/2006/relationships/slideLayout"/><Relationship Id="rId2" Target="../media/image13.jpe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1.xml" Type="http://schemas.openxmlformats.org/officeDocument/2006/relationships/slideLayout"/><Relationship Id="rId2" Target="../media/image3.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1.xml" Type="http://schemas.openxmlformats.org/officeDocument/2006/relationships/slideLayout"/><Relationship Id="rId2" Target="../media/image14.jpe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1.xml" Type="http://schemas.openxmlformats.org/officeDocument/2006/relationships/slideLayout"/><Relationship Id="rId2" Target="../media/image13.png" Type="http://schemas.openxmlformats.org/officeDocument/2006/relationships/image"/><Relationship Id="rId3" Target="../media/image14.png" Type="http://schemas.openxmlformats.org/officeDocument/2006/relationships/image"/><Relationship Id="rId4" Target="../media/image15.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1.xml" Type="http://schemas.openxmlformats.org/officeDocument/2006/relationships/slideLayout"/><Relationship Id="rId2" Target="../media/image16.jpeg" Type="http://schemas.openxmlformats.org/officeDocument/2006/relationships/image"/><Relationship Id="rId3" Target="../media/image17.jpeg" Type="http://schemas.openxmlformats.org/officeDocument/2006/relationships/image"/><Relationship Id="rId4" Target="../media/image18.png" Type="http://schemas.openxmlformats.org/officeDocument/2006/relationships/image"/><Relationship Id="rId5" Target="../media/image19.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1.xml" Type="http://schemas.openxmlformats.org/officeDocument/2006/relationships/slideLayout"/><Relationship Id="rId2" Target="../media/image20.png" Type="http://schemas.openxmlformats.org/officeDocument/2006/relationships/image"/><Relationship Id="rId3" Target="../media/image21.png" Type="http://schemas.openxmlformats.org/officeDocument/2006/relationships/image"/><Relationship Id="rId4" Target="../media/image22.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1.xml" Type="http://schemas.openxmlformats.org/officeDocument/2006/relationships/slideLayout"/><Relationship Id="rId2" Target="../media/image18.jpeg" Type="http://schemas.openxmlformats.org/officeDocument/2006/relationships/image"/><Relationship Id="rId3" Target="../media/image19.jpeg" Type="http://schemas.openxmlformats.org/officeDocument/2006/relationships/image"/><Relationship Id="rId4" Target="../media/image20.jpe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1.xml" Type="http://schemas.openxmlformats.org/officeDocument/2006/relationships/slideLayout"/><Relationship Id="rId2" Target="../media/image3.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1.xml" Type="http://schemas.openxmlformats.org/officeDocument/2006/relationships/slideLayout"/></Relationships>
</file>

<file path=ppt/slides/_rels/slide25.xml.rels><?xml version="1.0" encoding="UTF-8" standalone="yes"?><Relationships xmlns="http://schemas.openxmlformats.org/package/2006/relationships"><Relationship Id="rId1" Target="../slideLayouts/slideLayout1.xml" Type="http://schemas.openxmlformats.org/officeDocument/2006/relationships/slideLayout"/><Relationship Id="rId2" Target="../media/image21.jpeg" Type="http://schemas.openxmlformats.org/officeDocument/2006/relationships/image"/><Relationship Id="rId3" Target="../media/image22.jpeg" Type="http://schemas.openxmlformats.org/officeDocument/2006/relationships/image"/><Relationship Id="rId4" Target="../media/image23.jpe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1.xml" Type="http://schemas.openxmlformats.org/officeDocument/2006/relationships/slideLayout"/><Relationship Id="rId2" Target="../media/image24.jpeg" Type="http://schemas.openxmlformats.org/officeDocument/2006/relationships/image"/><Relationship Id="rId3" Target="../media/image25.jpeg" Type="http://schemas.openxmlformats.org/officeDocument/2006/relationships/image"/><Relationship Id="rId4" Target="../media/image26.jpe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1.xml" Type="http://schemas.openxmlformats.org/officeDocument/2006/relationships/slideLayout"/><Relationship Id="rId2" Target="../media/image27.jpeg" Type="http://schemas.openxmlformats.org/officeDocument/2006/relationships/image"/><Relationship Id="rId3" Target="../media/image28.jpeg" Type="http://schemas.openxmlformats.org/officeDocument/2006/relationships/image"/><Relationship Id="rId4" Target="../media/image29.jpe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1.xml" Type="http://schemas.openxmlformats.org/officeDocument/2006/relationships/slideLayout"/><Relationship Id="rId2" Target="../media/image3.pn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1.xml" Type="http://schemas.openxmlformats.org/officeDocument/2006/relationships/slideLayout"/><Relationship Id="rId2" Target="../media/image30.jpeg" Type="http://schemas.openxmlformats.org/officeDocument/2006/relationships/image"/><Relationship Id="rId3" Target="../media/image31.jpeg" Type="http://schemas.openxmlformats.org/officeDocument/2006/relationships/image"/><Relationship Id="rId4" Target="../media/image32.jpe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1.xml" Type="http://schemas.openxmlformats.org/officeDocument/2006/relationships/slideLayout"/></Relationships>
</file>

<file path=ppt/slides/_rels/slide31.xml.rels><?xml version="1.0" encoding="UTF-8" standalone="yes"?><Relationships xmlns="http://schemas.openxmlformats.org/package/2006/relationships"><Relationship Id="rId1" Target="../slideLayouts/slideLayout1.xml" Type="http://schemas.openxmlformats.org/officeDocument/2006/relationships/slideLayout"/><Relationship Id="rId2" Target="../media/image33.jpeg" Type="http://schemas.openxmlformats.org/officeDocument/2006/relationships/image"/><Relationship Id="rId3" Target="../media/image34.jpeg" Type="http://schemas.openxmlformats.org/officeDocument/2006/relationships/image"/><Relationship Id="rId4" Target="../media/image35.jpe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1.xml" Type="http://schemas.openxmlformats.org/officeDocument/2006/relationships/slideLayout"/><Relationship Id="rId2" Target="../media/image36.jpeg" Type="http://schemas.openxmlformats.org/officeDocument/2006/relationships/image"/><Relationship Id="rId3" Target="../media/image37.jpeg" Type="http://schemas.openxmlformats.org/officeDocument/2006/relationships/image"/><Relationship Id="rId4" Target="../media/image38.jpe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1.xml" Type="http://schemas.openxmlformats.org/officeDocument/2006/relationships/slideLayout"/><Relationship Id="rId2" Target="../media/image39.jpeg" Type="http://schemas.openxmlformats.org/officeDocument/2006/relationships/image"/><Relationship Id="rId3" Target="../media/image40.jpeg" Type="http://schemas.openxmlformats.org/officeDocument/2006/relationships/image"/><Relationship Id="rId4" Target="../media/image41.jpe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1.xml" Type="http://schemas.openxmlformats.org/officeDocument/2006/relationships/slideLayout"/><Relationship Id="rId2" Target="../media/image3.pn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1.xml" Type="http://schemas.openxmlformats.org/officeDocument/2006/relationships/slideLayout"/><Relationship Id="rId2" Target="../media/image42.jpeg" Type="http://schemas.openxmlformats.org/officeDocument/2006/relationships/image"/><Relationship Id="rId3" Target="../media/image43.jpeg" Type="http://schemas.openxmlformats.org/officeDocument/2006/relationships/image"/><Relationship Id="rId4" Target="../media/image44.jpeg" Type="http://schemas.openxmlformats.org/officeDocument/2006/relationships/image"/></Relationships>
</file>

<file path=ppt/slides/_rels/slide36.xml.rels><?xml version="1.0" encoding="UTF-8" standalone="yes"?><Relationships xmlns="http://schemas.openxmlformats.org/package/2006/relationships"><Relationship Id="rId1" Target="../slideLayouts/slideLayout1.xml" Type="http://schemas.openxmlformats.org/officeDocument/2006/relationships/slideLayout"/><Relationship Id="rId2" Target="../media/image45.jpeg" Type="http://schemas.openxmlformats.org/officeDocument/2006/relationships/image"/><Relationship Id="rId3" Target="../media/image46.jpeg" Type="http://schemas.openxmlformats.org/officeDocument/2006/relationships/image"/><Relationship Id="rId4" Target="../media/image47.jpeg" Type="http://schemas.openxmlformats.org/officeDocument/2006/relationships/image"/></Relationships>
</file>

<file path=ppt/slides/_rels/slide37.xml.rels><?xml version="1.0" encoding="UTF-8" standalone="yes"?><Relationships xmlns="http://schemas.openxmlformats.org/package/2006/relationships"><Relationship Id="rId1" Target="../slideLayouts/slideLayout1.xml" Type="http://schemas.openxmlformats.org/officeDocument/2006/relationships/slideLayout"/><Relationship Id="rId2" Target="../media/image3.png" Type="http://schemas.openxmlformats.org/officeDocument/2006/relationships/image"/><Relationship Id="rId3" Target="../media/image48.png" Type="http://schemas.openxmlformats.org/officeDocument/2006/relationships/image"/><Relationship Id="rId4" Target="../media/image49.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blipFill rotWithShape="true">
          <a:blip r:embed="rId2"/>
          <a:srcRect/>
          <a:stretch>
            <a:fillRect t="0" l="0" b="0" r="0"/>
          </a:stretch>
        </a:blipFill>
      </p:bgPr>
    </p:bg>
    <p:spTree>
      <p:nvGrpSpPr>
        <p:cNvPr id="1" name=""/>
        <p:cNvGrpSpPr/>
        <p:nvPr/>
      </p:nvGrpSpPr>
      <p:grpSpPr>
        <a:xfrm>
          <a:off x="0" y="0"/>
          <a:ext cx="0" cy="0"/>
          <a:chOff x="0" y="0"/>
          <a:chExt cx="0" cy="0"/>
        </a:xfrm>
      </p:grpSpPr>
      <p:sp>
        <p:nvSpPr>
          <p:cNvPr name="AutoShape 2" id="2"/>
          <p:cNvSpPr/>
          <p:nvPr/>
        </p:nvSpPr>
        <p:spPr>
          <a:xfrm>
            <a:off x="0" y="0"/>
            <a:ext cx="12192000" cy="6858000"/>
          </a:xfrm>
          <a:prstGeom prst="rect">
            <a:avLst/>
          </a:prstGeom>
          <a:gradFill rotWithShape="true" flip="none">
            <a:gsLst>
              <a:gs pos="0">
                <a:srgbClr val="318B49"/>
              </a:gs>
              <a:gs pos="100000">
                <a:srgbClr val="318B49">
                  <a:alpha val="0"/>
                </a:srgbClr>
              </a:gs>
            </a:gsLst>
            <a:tileRect/>
          </a:gradFill>
          <a:ln>
            <a:noFill/>
          </a:ln>
        </p:spPr>
        <p:txBody>
          <a:bodyPr vert="horz" anchor="ctr" tIns="45720" lIns="91440" bIns="45720" rIns="91440"/>
          <a:p>
            <a:pPr algn="ctr" marL="0"/>
          </a:p>
        </p:txBody>
      </p:sp>
      <p:sp>
        <p:nvSpPr>
          <p:cNvPr name="TextBox 3" id="3"/>
          <p:cNvSpPr txBox="true"/>
          <p:nvPr/>
        </p:nvSpPr>
        <p:spPr>
          <a:xfrm>
            <a:off x="623888" y="1894452"/>
            <a:ext cx="8245916" cy="830997"/>
          </a:xfrm>
          <a:prstGeom prst="rect">
            <a:avLst/>
          </a:prstGeom>
          <a:noFill/>
        </p:spPr>
        <p:txBody>
          <a:bodyPr anchor="t" rtlCol="false" vert="horz" wrap="square" tIns="45720" lIns="91440" bIns="45720" rIns="91440">
            <a:spAutoFit/>
          </a:bodyPr>
          <a:lstStyle/>
          <a:p>
            <a:pPr algn="l" marL="0">
              <a:defRPr/>
            </a:pPr>
            <a:r>
              <a:rPr lang="zh-CN" b="true" i="false" sz="4800" baseline="0" u="none" altLang="en-US">
                <a:solidFill>
                  <a:schemeClr val="bg1"/>
                </a:solidFill>
                <a:latin typeface="微软雅黑"/>
                <a:ea typeface="微软雅黑"/>
              </a:rPr>
              <a:t>数据结构核心概念与实践</a:t>
            </a:r>
            <a:endParaRPr lang="en-US" sz="1100"/>
          </a:p>
        </p:txBody>
      </p:sp>
      <p:sp>
        <p:nvSpPr>
          <p:cNvPr name="AutoShape 4" id="4"/>
          <p:cNvSpPr/>
          <p:nvPr/>
        </p:nvSpPr>
        <p:spPr>
          <a:xfrm>
            <a:off x="650240" y="4033171"/>
            <a:ext cx="1776730" cy="441949"/>
          </a:xfrm>
          <a:prstGeom prst="roundRect">
            <a:avLst>
              <a:gd name="adj" fmla="val 50000"/>
            </a:avLst>
          </a:prstGeom>
          <a:noFill/>
          <a:ln w="6350">
            <a:solidFill>
              <a:schemeClr val="bg1"/>
            </a:solidFill>
          </a:ln>
        </p:spPr>
        <p:txBody>
          <a:bodyPr vert="horz" anchor="ctr" tIns="45720" lIns="91440" bIns="45720" rIns="91440"/>
          <a:p>
            <a:pPr algn="ctr" marL="0"/>
          </a:p>
        </p:txBody>
      </p:sp>
      <p:sp>
        <p:nvSpPr>
          <p:cNvPr name="AutoShape 5" id="5"/>
          <p:cNvSpPr/>
          <p:nvPr/>
        </p:nvSpPr>
        <p:spPr>
          <a:xfrm>
            <a:off x="2811647" y="4033170"/>
            <a:ext cx="2912110" cy="441949"/>
          </a:xfrm>
          <a:prstGeom prst="roundRect">
            <a:avLst>
              <a:gd name="adj" fmla="val 50000"/>
            </a:avLst>
          </a:prstGeom>
          <a:noFill/>
          <a:ln w="6350">
            <a:solidFill>
              <a:schemeClr val="bg1"/>
            </a:solidFill>
          </a:ln>
        </p:spPr>
        <p:txBody>
          <a:bodyPr vert="horz" anchor="ctr" tIns="45720" lIns="91440" bIns="45720" rIns="91440"/>
          <a:p>
            <a:pPr algn="ctr" marL="0"/>
          </a:p>
        </p:txBody>
      </p:sp>
      <p:sp>
        <p:nvSpPr>
          <p:cNvPr name="TextBox 6" id="6"/>
          <p:cNvSpPr txBox="true"/>
          <p:nvPr/>
        </p:nvSpPr>
        <p:spPr>
          <a:xfrm>
            <a:off x="749617" y="4069478"/>
            <a:ext cx="1577975" cy="369332"/>
          </a:xfrm>
          <a:prstGeom prst="rect">
            <a:avLst/>
          </a:prstGeom>
          <a:noFill/>
        </p:spPr>
        <p:txBody>
          <a:bodyPr anchor="t" rtlCol="false" vert="horz" wrap="square" tIns="45720" lIns="91440" bIns="45720" rIns="91440">
            <a:spAutoFit/>
          </a:bodyPr>
          <a:lstStyle/>
          <a:p>
            <a:pPr algn="l" marL="0">
              <a:defRPr/>
            </a:pPr>
            <a:r>
              <a:rPr lang="zh-CN" b="false" i="false" sz="1800" baseline="0" u="none" altLang="en-US">
                <a:solidFill>
                  <a:schemeClr val="bg1"/>
                </a:solidFill>
                <a:latin typeface="微软雅黑"/>
                <a:ea typeface="微软雅黑"/>
              </a:rPr>
              <a:t>演讲人：</a:t>
            </a:r>
            <a:r>
              <a:rPr lang="en-US" b="false" i="false" sz="1800" baseline="0" u="none">
                <a:solidFill>
                  <a:schemeClr val="bg1"/>
                </a:solidFill>
                <a:latin typeface="微软雅黑"/>
                <a:ea typeface="微软雅黑"/>
              </a:rPr>
              <a:t>XXX</a:t>
            </a:r>
            <a:endParaRPr lang="en-US" sz="1100"/>
          </a:p>
        </p:txBody>
      </p:sp>
      <p:sp>
        <p:nvSpPr>
          <p:cNvPr name="TextBox 7" id="7"/>
          <p:cNvSpPr txBox="true"/>
          <p:nvPr/>
        </p:nvSpPr>
        <p:spPr>
          <a:xfrm>
            <a:off x="2911024" y="4069478"/>
            <a:ext cx="2724150" cy="369332"/>
          </a:xfrm>
          <a:prstGeom prst="rect">
            <a:avLst/>
          </a:prstGeom>
          <a:noFill/>
        </p:spPr>
        <p:txBody>
          <a:bodyPr anchor="t" rtlCol="false" vert="horz" wrap="square" tIns="45720" lIns="91440" bIns="45720" rIns="91440">
            <a:spAutoFit/>
          </a:bodyPr>
          <a:lstStyle/>
          <a:p>
            <a:pPr algn="l" marL="0">
              <a:defRPr/>
            </a:pPr>
            <a:r>
              <a:rPr lang="zh-CN" b="false" i="false" sz="1800" baseline="0" u="none" altLang="en-US">
                <a:solidFill>
                  <a:schemeClr val="bg1"/>
                </a:solidFill>
                <a:latin typeface="微软雅黑"/>
                <a:ea typeface="微软雅黑"/>
              </a:rPr>
              <a:t>日期：2026年06月04日</a:t>
            </a:r>
            <a:endParaRPr lang="en-US" sz="1100"/>
          </a:p>
        </p:txBody>
      </p:sp>
      <p:sp>
        <p:nvSpPr>
          <p:cNvPr name="AutoShape 8" id="8"/>
          <p:cNvSpPr/>
          <p:nvPr/>
        </p:nvSpPr>
        <p:spPr>
          <a:xfrm>
            <a:off x="650240" y="3329622"/>
            <a:ext cx="99377" cy="99377"/>
          </a:xfrm>
          <a:prstGeom prst="ellipse">
            <a:avLst/>
          </a:prstGeom>
          <a:solidFill>
            <a:schemeClr val="bg1"/>
          </a:solidFill>
          <a:ln>
            <a:noFill/>
          </a:ln>
        </p:spPr>
        <p:txBody>
          <a:bodyPr vert="horz" anchor="ctr" tIns="45720" lIns="91440" bIns="45720" rIns="91440"/>
          <a:p>
            <a:pPr algn="ctr" marL="0"/>
          </a:p>
        </p:txBody>
      </p:sp>
      <p:sp>
        <p:nvSpPr>
          <p:cNvPr name="AutoShape 9" id="9"/>
          <p:cNvSpPr/>
          <p:nvPr/>
        </p:nvSpPr>
        <p:spPr>
          <a:xfrm>
            <a:off x="795248" y="3329623"/>
            <a:ext cx="99377" cy="99377"/>
          </a:xfrm>
          <a:prstGeom prst="ellipse">
            <a:avLst/>
          </a:prstGeom>
          <a:solidFill>
            <a:schemeClr val="bg1"/>
          </a:solidFill>
          <a:ln>
            <a:noFill/>
          </a:ln>
        </p:spPr>
        <p:txBody>
          <a:bodyPr vert="horz" anchor="ctr" tIns="45720" lIns="91440" bIns="45720" rIns="91440"/>
          <a:p>
            <a:pPr algn="ctr" marL="0"/>
          </a:p>
        </p:txBody>
      </p:sp>
      <p:sp>
        <p:nvSpPr>
          <p:cNvPr name="AutoShape 10" id="10"/>
          <p:cNvSpPr/>
          <p:nvPr/>
        </p:nvSpPr>
        <p:spPr>
          <a:xfrm>
            <a:off x="940256" y="3329623"/>
            <a:ext cx="99377" cy="99377"/>
          </a:xfrm>
          <a:prstGeom prst="ellipse">
            <a:avLst/>
          </a:prstGeom>
          <a:solidFill>
            <a:schemeClr val="bg1"/>
          </a:solidFill>
          <a:ln>
            <a:noFill/>
          </a:ln>
        </p:spPr>
        <p:txBody>
          <a:bodyPr vert="horz" anchor="ctr" tIns="45720" lIns="91440" bIns="45720" rIns="91440"/>
          <a:p>
            <a:pPr algn="ctr" marL="0"/>
          </a:p>
        </p:txBody>
      </p:sp>
      <p:sp>
        <p:nvSpPr>
          <p:cNvPr name="AutoShape 11" id="11"/>
          <p:cNvSpPr/>
          <p:nvPr/>
        </p:nvSpPr>
        <p:spPr>
          <a:xfrm>
            <a:off x="1085264" y="3329623"/>
            <a:ext cx="99377" cy="99377"/>
          </a:xfrm>
          <a:prstGeom prst="ellipse">
            <a:avLst/>
          </a:prstGeom>
          <a:solidFill>
            <a:schemeClr val="bg1"/>
          </a:solidFill>
          <a:ln>
            <a:noFill/>
          </a:ln>
        </p:spPr>
        <p:txBody>
          <a:bodyPr vert="horz" anchor="ctr" tIns="45720" lIns="91440" bIns="45720" rIns="91440"/>
          <a:p>
            <a:pPr algn="ctr" marL="0"/>
          </a:p>
        </p:txBody>
      </p:sp>
      <p:sp>
        <p:nvSpPr>
          <p:cNvPr name="AutoShape 12" id="12"/>
          <p:cNvSpPr/>
          <p:nvPr/>
        </p:nvSpPr>
        <p:spPr>
          <a:xfrm>
            <a:off x="1230272" y="3329623"/>
            <a:ext cx="99377" cy="99377"/>
          </a:xfrm>
          <a:prstGeom prst="ellipse">
            <a:avLst/>
          </a:prstGeom>
          <a:solidFill>
            <a:schemeClr val="bg1"/>
          </a:solidFill>
          <a:ln>
            <a:noFill/>
          </a:ln>
        </p:spPr>
        <p:txBody>
          <a:bodyPr vert="horz" anchor="ctr" tIns="45720" lIns="91440" bIns="45720" rIns="91440"/>
          <a:p>
            <a:pPr algn="ctr" marL="0"/>
          </a:p>
        </p:txBody>
      </p:sp>
      <p:sp>
        <p:nvSpPr>
          <p:cNvPr name="AutoShape 13" id="13"/>
          <p:cNvSpPr/>
          <p:nvPr/>
        </p:nvSpPr>
        <p:spPr>
          <a:xfrm>
            <a:off x="1375280" y="3329622"/>
            <a:ext cx="99377" cy="99377"/>
          </a:xfrm>
          <a:prstGeom prst="ellipse">
            <a:avLst/>
          </a:prstGeom>
          <a:solidFill>
            <a:schemeClr val="bg1"/>
          </a:solidFill>
          <a:ln>
            <a:noFill/>
          </a:ln>
        </p:spPr>
        <p:txBody>
          <a:bodyPr vert="horz" anchor="ctr" tIns="45720" lIns="91440" bIns="45720" rIns="91440"/>
          <a:p>
            <a:pPr algn="ctr" marL="0"/>
          </a:p>
        </p:txBody>
      </p:sp>
      <p:sp>
        <p:nvSpPr>
          <p:cNvPr name="AutoShape 14" id="14"/>
          <p:cNvSpPr/>
          <p:nvPr/>
        </p:nvSpPr>
        <p:spPr>
          <a:xfrm>
            <a:off x="1520288" y="3329622"/>
            <a:ext cx="99377" cy="99377"/>
          </a:xfrm>
          <a:prstGeom prst="ellipse">
            <a:avLst/>
          </a:prstGeom>
          <a:solidFill>
            <a:schemeClr val="bg1"/>
          </a:solidFill>
          <a:ln>
            <a:noFill/>
          </a:ln>
        </p:spPr>
        <p:txBody>
          <a:bodyPr vert="horz" anchor="ctr" tIns="45720" lIns="91440" bIns="45720" rIns="91440"/>
          <a:p>
            <a:pPr algn="ctr" marL="0"/>
          </a:p>
        </p:txBody>
      </p:sp>
      <p:sp>
        <p:nvSpPr>
          <p:cNvPr name="AutoShape 15" id="15"/>
          <p:cNvSpPr/>
          <p:nvPr/>
        </p:nvSpPr>
        <p:spPr>
          <a:xfrm>
            <a:off x="1665296" y="3329622"/>
            <a:ext cx="99377" cy="99377"/>
          </a:xfrm>
          <a:prstGeom prst="ellipse">
            <a:avLst/>
          </a:prstGeom>
          <a:solidFill>
            <a:schemeClr val="bg1"/>
          </a:solidFill>
          <a:ln>
            <a:noFill/>
          </a:ln>
        </p:spPr>
        <p:txBody>
          <a:bodyPr vert="horz" anchor="ctr" tIns="45720" lIns="91440" bIns="45720" rIns="91440"/>
          <a:p>
            <a:pPr algn="ctr" marL="0"/>
          </a:p>
        </p:txBody>
      </p:sp>
      <p:sp>
        <p:nvSpPr>
          <p:cNvPr name="AutoShape 16" id="16"/>
          <p:cNvSpPr/>
          <p:nvPr/>
        </p:nvSpPr>
        <p:spPr>
          <a:xfrm>
            <a:off x="1810304" y="3329621"/>
            <a:ext cx="99377" cy="99377"/>
          </a:xfrm>
          <a:prstGeom prst="ellipse">
            <a:avLst/>
          </a:prstGeom>
          <a:solidFill>
            <a:schemeClr val="bg1"/>
          </a:solidFill>
          <a:ln>
            <a:noFill/>
          </a:ln>
        </p:spPr>
        <p:txBody>
          <a:bodyPr vert="horz" anchor="ctr" tIns="45720" lIns="91440" bIns="45720" rIns="91440"/>
          <a:p>
            <a:pPr algn="ctr" marL="0"/>
          </a:p>
        </p:txBody>
      </p:sp>
      <p:sp>
        <p:nvSpPr>
          <p:cNvPr name="AutoShape 17" id="17"/>
          <p:cNvSpPr/>
          <p:nvPr/>
        </p:nvSpPr>
        <p:spPr>
          <a:xfrm>
            <a:off x="1955312" y="3329621"/>
            <a:ext cx="99377" cy="99377"/>
          </a:xfrm>
          <a:prstGeom prst="ellipse">
            <a:avLst/>
          </a:prstGeom>
          <a:solidFill>
            <a:schemeClr val="bg1"/>
          </a:solidFill>
          <a:ln>
            <a:noFill/>
          </a:ln>
        </p:spPr>
        <p:txBody>
          <a:bodyPr vert="horz" anchor="ctr" tIns="45720" lIns="91440" bIns="45720" rIns="91440"/>
          <a:p>
            <a:pPr algn="ctr" marL="0"/>
          </a:p>
        </p:txBody>
      </p:sp>
      <p:sp>
        <p:nvSpPr>
          <p:cNvPr name="Freeform 18" id="18"/>
          <p:cNvSpPr/>
          <p:nvPr/>
        </p:nvSpPr>
        <p:spPr>
          <a:xfrm>
            <a:off x="650240" y="893196"/>
            <a:ext cx="378355" cy="378355"/>
          </a:xfrm>
          <a:custGeom>
            <a:avLst/>
            <a:gdLst/>
            <a:ahLst/>
            <a:cxnLst/>
            <a:rect r="r" b="b" t="t" l="l"/>
            <a:pathLst>
              <a:path w="634790" h="634790" stroke="true" fill="norm" extrusionOk="true">
                <a:moveTo>
                  <a:pt x="268240" y="235406"/>
                </a:moveTo>
                <a:lnTo>
                  <a:pt x="268240" y="486178"/>
                </a:lnTo>
                <a:lnTo>
                  <a:pt x="368960" y="486178"/>
                </a:lnTo>
                <a:lnTo>
                  <a:pt x="368960" y="235406"/>
                </a:lnTo>
                <a:close/>
                <a:moveTo>
                  <a:pt x="319337" y="127942"/>
                </a:moveTo>
                <a:cubicBezTo>
                  <a:pt x="305602" y="127942"/>
                  <a:pt x="294063" y="132613"/>
                  <a:pt x="284721" y="141955"/>
                </a:cubicBezTo>
                <a:cubicBezTo>
                  <a:pt x="275379" y="151296"/>
                  <a:pt x="270709" y="162667"/>
                  <a:pt x="270709" y="176066"/>
                </a:cubicBezTo>
                <a:cubicBezTo>
                  <a:pt x="270709" y="189754"/>
                  <a:pt x="275391" y="201281"/>
                  <a:pt x="284757" y="210646"/>
                </a:cubicBezTo>
                <a:cubicBezTo>
                  <a:pt x="294122" y="220012"/>
                  <a:pt x="305649" y="224695"/>
                  <a:pt x="319337" y="224695"/>
                </a:cubicBezTo>
                <a:cubicBezTo>
                  <a:pt x="332973" y="224695"/>
                  <a:pt x="344487" y="219999"/>
                  <a:pt x="353878" y="210607"/>
                </a:cubicBezTo>
                <a:cubicBezTo>
                  <a:pt x="363270" y="201215"/>
                  <a:pt x="367966" y="189701"/>
                  <a:pt x="367966" y="176066"/>
                </a:cubicBezTo>
                <a:cubicBezTo>
                  <a:pt x="367966" y="162719"/>
                  <a:pt x="363282" y="151362"/>
                  <a:pt x="353914" y="141994"/>
                </a:cubicBezTo>
                <a:cubicBezTo>
                  <a:pt x="344546" y="132626"/>
                  <a:pt x="333020" y="127942"/>
                  <a:pt x="319337" y="127942"/>
                </a:cubicBezTo>
                <a:close/>
                <a:moveTo>
                  <a:pt x="317395" y="0"/>
                </a:moveTo>
                <a:cubicBezTo>
                  <a:pt x="492687" y="0"/>
                  <a:pt x="634790" y="142103"/>
                  <a:pt x="634790" y="317395"/>
                </a:cubicBezTo>
                <a:cubicBezTo>
                  <a:pt x="634790" y="492687"/>
                  <a:pt x="492687" y="634790"/>
                  <a:pt x="317395" y="634790"/>
                </a:cubicBezTo>
                <a:cubicBezTo>
                  <a:pt x="142103" y="634790"/>
                  <a:pt x="0" y="492687"/>
                  <a:pt x="0" y="317395"/>
                </a:cubicBezTo>
                <a:cubicBezTo>
                  <a:pt x="0" y="142103"/>
                  <a:pt x="142103" y="0"/>
                  <a:pt x="317395" y="0"/>
                </a:cubicBezTo>
                <a:close/>
              </a:path>
            </a:pathLst>
          </a:custGeom>
          <a:solidFill>
            <a:schemeClr val="bg1"/>
          </a:solidFill>
          <a:ln>
            <a:noFill/>
          </a:ln>
        </p:spPr>
        <p:txBody>
          <a:bodyPr vert="horz" anchor="ctr" wrap="square" tIns="45720" lIns="91440" bIns="45720" rIns="91440">
            <a:noAutofit/>
          </a:bodyPr>
          <a:p>
            <a:pPr algn="ctr" marL="0"/>
          </a:p>
        </p:txBody>
      </p:sp>
      <p:sp>
        <p:nvSpPr>
          <p:cNvPr name="TextBox 19" id="19"/>
          <p:cNvSpPr txBox="true"/>
          <p:nvPr/>
        </p:nvSpPr>
        <p:spPr>
          <a:xfrm>
            <a:off x="1051967" y="890172"/>
            <a:ext cx="2569777" cy="400110"/>
          </a:xfrm>
          <a:prstGeom prst="rect">
            <a:avLst/>
          </a:prstGeom>
          <a:noFill/>
        </p:spPr>
        <p:txBody>
          <a:bodyPr anchor="t" rtlCol="false" vert="horz" wrap="square" tIns="45720" lIns="91440" bIns="45720" rIns="91440">
            <a:spAutoFit/>
          </a:bodyPr>
          <a:lstStyle/>
          <a:p>
            <a:pPr algn="l" marL="0">
              <a:defRPr/>
            </a:pPr>
            <a:r>
              <a:rPr lang="en-US" b="true" i="false" sz="2000" baseline="0" u="none">
                <a:solidFill>
                  <a:schemeClr val="bg1"/>
                </a:solidFill>
                <a:latin typeface="微软雅黑"/>
                <a:ea typeface="微软雅黑"/>
              </a:rPr>
              <a:t>YOUR LOGO</a:t>
            </a:r>
            <a:endParaRPr lang="en-US" sz="1100"/>
          </a:p>
        </p:txBody>
      </p:sp>
      <p:sp>
        <p:nvSpPr>
          <p:cNvPr name="TextBox 20" id="20"/>
          <p:cNvSpPr txBox="true"/>
          <p:nvPr/>
        </p:nvSpPr>
        <p:spPr>
          <a:xfrm>
            <a:off x="550863" y="5598496"/>
            <a:ext cx="5084311" cy="369332"/>
          </a:xfrm>
          <a:prstGeom prst="rect">
            <a:avLst/>
          </a:prstGeom>
          <a:noFill/>
        </p:spPr>
        <p:txBody>
          <a:bodyPr anchor="t" rtlCol="false" vert="horz" wrap="square" tIns="45720" lIns="91440" bIns="45720" rIns="91440">
            <a:spAutoFit/>
          </a:bodyPr>
          <a:lstStyle/>
          <a:p>
            <a:pPr algn="l" marL="0">
              <a:defRPr/>
            </a:pPr>
            <a:r>
              <a:rPr lang="en-US" b="false" i="false" sz="1800" baseline="0" u="none">
                <a:solidFill>
                  <a:schemeClr val="bg1"/>
                </a:solidFill>
                <a:latin typeface="微软雅黑"/>
                <a:ea typeface="微软雅黑"/>
              </a:rPr>
              <a:t>Power point design</a:t>
            </a:r>
            <a:endParaRPr lang="en-US" sz="1100"/>
          </a:p>
        </p:txBody>
      </p:sp>
      <p:cxnSp>
        <p:nvCxnSpPr>
          <p:cNvPr name="Connector 21" id="21"/>
          <p:cNvCxnSpPr/>
          <p:nvPr/>
        </p:nvCxnSpPr>
        <p:spPr>
          <a:xfrm>
            <a:off x="2844865" y="5793461"/>
            <a:ext cx="1260410" cy="0"/>
          </a:xfrm>
          <a:prstGeom prst="line">
            <a:avLst/>
          </a:prstGeom>
          <a:ln w="9525">
            <a:solidFill>
              <a:schemeClr val="bg1"/>
            </a:solidFill>
          </a:ln>
        </p:spPr>
      </p:cxnSp>
      <p:sp>
        <p:nvSpPr>
          <p:cNvPr name="AutoShape 22" id="22"/>
          <p:cNvSpPr/>
          <p:nvPr/>
        </p:nvSpPr>
        <p:spPr>
          <a:xfrm>
            <a:off x="10795000" y="6540500"/>
            <a:ext cx="1270000" cy="190500"/>
          </a:xfrm>
          <a:prstGeom prst="rect">
            <a:avLst/>
          </a:prstGeom>
          <a:solidFill>
            <a:srgbClr val="000000">
              <a:alpha val="0"/>
            </a:srgbClr>
          </a:solidFill>
        </p:spPr>
        <p:txBody>
          <a:bodyPr anchor="t" rtlCol="false"/>
          <a:lstStyle/>
          <a:p>
            <a:pPr algn="r">
              <a:defRPr/>
            </a:pPr>
            <a:r>
              <a:rPr lang="en-US" b="false" i="false" sz="800" baseline="0" u="none">
                <a:solidFill>
                  <a:srgbClr val="808080"/>
                </a:solidFill>
                <a:latin typeface="Microsoft YaHei"/>
                <a:ea typeface="Microsoft YaHei"/>
              </a:rPr>
              <a:t>内容由AI生成</a:t>
            </a:r>
            <a:endParaRPr lang="en-US" sz="1100"/>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blipFill rotWithShape="true">
          <a:blip r:embed="rId2"/>
          <a:srcRect/>
          <a:stretch>
            <a:fillRect t="0" l="-6000" b="0" r="-6000"/>
          </a:stretch>
        </a:blipFill>
      </p:bgPr>
    </p:bg>
    <p:spTree>
      <p:nvGrpSpPr>
        <p:cNvPr id="1" name=""/>
        <p:cNvGrpSpPr/>
        <p:nvPr/>
      </p:nvGrpSpPr>
      <p:grpSpPr>
        <a:xfrm>
          <a:off x="0" y="0"/>
          <a:ext cx="0" cy="0"/>
          <a:chOff x="0" y="0"/>
          <a:chExt cx="0" cy="0"/>
        </a:xfrm>
      </p:grpSpPr>
      <p:sp>
        <p:nvSpPr>
          <p:cNvPr name="TextBox 2" id="2"/>
          <p:cNvSpPr txBox="true"/>
          <p:nvPr/>
        </p:nvSpPr>
        <p:spPr>
          <a:xfrm>
            <a:off x="1159426" y="1096826"/>
            <a:ext cx="7419975" cy="923330"/>
          </a:xfrm>
          <a:prstGeom prst="rect">
            <a:avLst/>
          </a:prstGeom>
          <a:noFill/>
        </p:spPr>
        <p:txBody>
          <a:bodyPr anchor="t" rtlCol="false" vert="horz" wrap="square" tIns="45720" lIns="91440" bIns="45720" rIns="91440">
            <a:spAutoFit/>
          </a:bodyPr>
          <a:lstStyle/>
          <a:p>
            <a:pPr algn="l" marL="0">
              <a:defRPr/>
            </a:pPr>
            <a:r>
              <a:rPr lang="en-US" b="true" i="false" sz="5400" baseline="0" u="none">
                <a:solidFill>
                  <a:schemeClr val="bg1"/>
                </a:solidFill>
                <a:latin typeface="微软雅黑"/>
                <a:ea typeface="微软雅黑"/>
              </a:rPr>
              <a:t>CONTENTS</a:t>
            </a:r>
            <a:endParaRPr lang="en-US" sz="1100"/>
          </a:p>
        </p:txBody>
      </p:sp>
      <p:cxnSp>
        <p:nvCxnSpPr>
          <p:cNvPr name="Connector 3" id="3"/>
          <p:cNvCxnSpPr/>
          <p:nvPr/>
        </p:nvCxnSpPr>
        <p:spPr>
          <a:xfrm>
            <a:off x="1226608" y="3227917"/>
            <a:ext cx="9471660" cy="0"/>
          </a:xfrm>
          <a:prstGeom prst="line">
            <a:avLst/>
          </a:prstGeom>
          <a:ln w="9525">
            <a:solidFill>
              <a:schemeClr val="bg1"/>
            </a:solidFill>
          </a:ln>
        </p:spPr>
      </p:cxnSp>
      <p:cxnSp>
        <p:nvCxnSpPr>
          <p:cNvPr name="Connector 4" id="4"/>
          <p:cNvCxnSpPr/>
          <p:nvPr/>
        </p:nvCxnSpPr>
        <p:spPr>
          <a:xfrm>
            <a:off x="1226608" y="5931416"/>
            <a:ext cx="9471660" cy="0"/>
          </a:xfrm>
          <a:prstGeom prst="line">
            <a:avLst/>
          </a:prstGeom>
          <a:ln w="9525">
            <a:solidFill>
              <a:schemeClr val="bg1"/>
            </a:solidFill>
          </a:ln>
        </p:spPr>
      </p:cxnSp>
      <p:sp>
        <p:nvSpPr>
          <p:cNvPr name="TextBox 5" id="5"/>
          <p:cNvSpPr txBox="true"/>
          <p:nvPr/>
        </p:nvSpPr>
        <p:spPr>
          <a:xfrm>
            <a:off x="1100382" y="3525581"/>
            <a:ext cx="4391351" cy="369332"/>
          </a:xfrm>
          <a:prstGeom prst="rect">
            <a:avLst/>
          </a:prstGeom>
          <a:noFill/>
        </p:spPr>
        <p:txBody>
          <a:bodyPr anchor="t" rtlCol="false" vert="horz" wrap="square" tIns="45720" lIns="91440" bIns="45720" rIns="91440">
            <a:spAutoFit/>
          </a:bodyPr>
          <a:lstStyle/>
          <a:p>
            <a:pPr algn="ctr" marL="0">
              <a:defRPr/>
            </a:pPr>
            <a:r>
              <a:rPr lang="zh-CN" b="false" i="false" sz="1800" baseline="0" u="none" altLang="en-US">
                <a:solidFill>
                  <a:schemeClr val="bg1"/>
                </a:solidFill>
                <a:latin typeface="微软雅黑"/>
                <a:ea typeface="微软雅黑"/>
              </a:rPr>
              <a:t>数据结构概述</a:t>
            </a:r>
            <a:endParaRPr lang="en-US" sz="1100"/>
          </a:p>
        </p:txBody>
      </p:sp>
      <p:sp>
        <p:nvSpPr>
          <p:cNvPr name="TextBox 6" id="6"/>
          <p:cNvSpPr txBox="true"/>
          <p:nvPr/>
        </p:nvSpPr>
        <p:spPr>
          <a:xfrm>
            <a:off x="1226608" y="2020156"/>
            <a:ext cx="1636699" cy="369332"/>
          </a:xfrm>
          <a:prstGeom prst="rect">
            <a:avLst/>
          </a:prstGeom>
          <a:noFill/>
        </p:spPr>
        <p:txBody>
          <a:bodyPr anchor="t" rtlCol="false" vert="horz" wrap="square" tIns="45720" lIns="91440" bIns="45720" rIns="91440">
            <a:spAutoFit/>
          </a:bodyPr>
          <a:lstStyle/>
          <a:p>
            <a:pPr algn="l" marL="0">
              <a:defRPr/>
            </a:pPr>
            <a:r>
              <a:rPr lang="en-US" b="true" i="false" sz="1800" baseline="0" u="none">
                <a:solidFill>
                  <a:schemeClr val="bg1"/>
                </a:solidFill>
                <a:latin typeface="等线"/>
                <a:ea typeface="等线"/>
              </a:rPr>
              <a:t>YOUR LOGO</a:t>
            </a:r>
            <a:endParaRPr lang="en-US" sz="1100"/>
          </a:p>
        </p:txBody>
      </p:sp>
      <p:sp>
        <p:nvSpPr>
          <p:cNvPr name="TextBox 7" id="7"/>
          <p:cNvSpPr txBox="true"/>
          <p:nvPr/>
        </p:nvSpPr>
        <p:spPr>
          <a:xfrm>
            <a:off x="6471825" y="3780966"/>
            <a:ext cx="4391351" cy="369332"/>
          </a:xfrm>
          <a:prstGeom prst="rect">
            <a:avLst/>
          </a:prstGeom>
          <a:noFill/>
        </p:spPr>
        <p:txBody>
          <a:bodyPr anchor="t" rtlCol="false" vert="horz" wrap="square" tIns="45720" lIns="91440" bIns="45720" rIns="91440">
            <a:spAutoFit/>
          </a:bodyPr>
          <a:lstStyle/>
          <a:p>
            <a:pPr algn="ctr" marL="0">
              <a:defRPr/>
            </a:pPr>
            <a:r>
              <a:rPr lang="zh-CN" b="false" i="false" sz="1800" baseline="0" u="none" altLang="en-US">
                <a:solidFill>
                  <a:schemeClr val="bg1"/>
                </a:solidFill>
                <a:latin typeface="微软雅黑"/>
                <a:ea typeface="微软雅黑"/>
              </a:rPr>
              <a:t>线性表</a:t>
            </a:r>
            <a:endParaRPr lang="en-US" sz="1100"/>
          </a:p>
        </p:txBody>
      </p:sp>
      <p:sp>
        <p:nvSpPr>
          <p:cNvPr name="TextBox 8" id="8"/>
          <p:cNvSpPr txBox="true"/>
          <p:nvPr/>
        </p:nvSpPr>
        <p:spPr>
          <a:xfrm>
            <a:off x="1090985" y="4105194"/>
            <a:ext cx="4391351" cy="369332"/>
          </a:xfrm>
          <a:prstGeom prst="rect">
            <a:avLst/>
          </a:prstGeom>
          <a:noFill/>
        </p:spPr>
        <p:txBody>
          <a:bodyPr anchor="t" rtlCol="false" vert="horz" wrap="square" tIns="45720" lIns="91440" bIns="45720" rIns="91440">
            <a:spAutoFit/>
          </a:bodyPr>
          <a:lstStyle/>
          <a:p>
            <a:pPr algn="ctr" marL="0">
              <a:defRPr/>
            </a:pPr>
            <a:r>
              <a:rPr lang="zh-CN" b="false" i="false" sz="1800" baseline="0" u="none" altLang="en-US">
                <a:solidFill>
                  <a:schemeClr val="bg1"/>
                </a:solidFill>
                <a:latin typeface="微软雅黑"/>
                <a:ea typeface="微软雅黑"/>
              </a:rPr>
              <a:t>栈和队列</a:t>
            </a:r>
            <a:endParaRPr lang="en-US" sz="1100"/>
          </a:p>
        </p:txBody>
      </p:sp>
      <p:sp>
        <p:nvSpPr>
          <p:cNvPr name="TextBox 9" id="9"/>
          <p:cNvSpPr txBox="true"/>
          <p:nvPr/>
        </p:nvSpPr>
        <p:spPr>
          <a:xfrm>
            <a:off x="6471825" y="4360579"/>
            <a:ext cx="4391351" cy="369332"/>
          </a:xfrm>
          <a:prstGeom prst="rect">
            <a:avLst/>
          </a:prstGeom>
          <a:noFill/>
        </p:spPr>
        <p:txBody>
          <a:bodyPr anchor="t" rtlCol="false" vert="horz" wrap="square" tIns="45720" lIns="91440" bIns="45720" rIns="91440">
            <a:spAutoFit/>
          </a:bodyPr>
          <a:lstStyle/>
          <a:p>
            <a:pPr algn="ctr" marL="0">
              <a:defRPr/>
            </a:pPr>
            <a:r>
              <a:rPr lang="zh-CN" b="false" i="false" sz="1800" baseline="0" u="none" altLang="en-US">
                <a:solidFill>
                  <a:schemeClr val="bg1"/>
                </a:solidFill>
                <a:latin typeface="微软雅黑"/>
                <a:ea typeface="微软雅黑"/>
              </a:rPr>
              <a:t>树和二叉树</a:t>
            </a:r>
            <a:endParaRPr lang="en-US" sz="1100"/>
          </a:p>
        </p:txBody>
      </p:sp>
      <p:sp>
        <p:nvSpPr>
          <p:cNvPr name="TextBox 10" id="10"/>
          <p:cNvSpPr txBox="true"/>
          <p:nvPr/>
        </p:nvSpPr>
        <p:spPr>
          <a:xfrm>
            <a:off x="1090985" y="4684807"/>
            <a:ext cx="4391351" cy="369332"/>
          </a:xfrm>
          <a:prstGeom prst="rect">
            <a:avLst/>
          </a:prstGeom>
          <a:noFill/>
        </p:spPr>
        <p:txBody>
          <a:bodyPr anchor="t" rtlCol="false" vert="horz" wrap="square" tIns="45720" lIns="91440" bIns="45720" rIns="91440">
            <a:spAutoFit/>
          </a:bodyPr>
          <a:lstStyle/>
          <a:p>
            <a:pPr algn="ctr" marL="0">
              <a:defRPr/>
            </a:pPr>
            <a:r>
              <a:rPr lang="zh-CN" b="false" i="false" sz="1800" baseline="0" u="none" altLang="en-US">
                <a:solidFill>
                  <a:schemeClr val="bg1"/>
                </a:solidFill>
                <a:latin typeface="微软雅黑"/>
                <a:ea typeface="微软雅黑"/>
              </a:rPr>
              <a:t>图</a:t>
            </a:r>
            <a:endParaRPr lang="en-US" sz="1100"/>
          </a:p>
        </p:txBody>
      </p:sp>
      <p:sp>
        <p:nvSpPr>
          <p:cNvPr name="TextBox 11" id="11"/>
          <p:cNvSpPr txBox="true"/>
          <p:nvPr/>
        </p:nvSpPr>
        <p:spPr>
          <a:xfrm>
            <a:off x="6471825" y="4937368"/>
            <a:ext cx="4391351" cy="369332"/>
          </a:xfrm>
          <a:prstGeom prst="rect">
            <a:avLst/>
          </a:prstGeom>
          <a:noFill/>
        </p:spPr>
        <p:txBody>
          <a:bodyPr anchor="t" rtlCol="false" vert="horz" wrap="square" tIns="45720" lIns="91440" bIns="45720" rIns="91440">
            <a:spAutoFit/>
          </a:bodyPr>
          <a:lstStyle/>
          <a:p>
            <a:pPr algn="ctr" marL="0">
              <a:defRPr/>
            </a:pPr>
            <a:r>
              <a:rPr lang="zh-CN" b="false" i="false" sz="1800" baseline="0" u="none" altLang="en-US">
                <a:solidFill>
                  <a:schemeClr val="bg1"/>
                </a:solidFill>
                <a:latin typeface="微软雅黑"/>
                <a:ea typeface="微软雅黑"/>
              </a:rPr>
              <a:t>查找与排序</a:t>
            </a:r>
            <a:endParaRPr lang="en-US" sz="1100"/>
          </a:p>
        </p:txBody>
      </p:sp>
      <p:sp>
        <p:nvSpPr>
          <p:cNvPr name="TextBox 12" id="12"/>
          <p:cNvSpPr txBox="true"/>
          <p:nvPr/>
        </p:nvSpPr>
        <p:spPr>
          <a:xfrm>
            <a:off x="1090985" y="5264420"/>
            <a:ext cx="4391351" cy="369332"/>
          </a:xfrm>
          <a:prstGeom prst="rect">
            <a:avLst/>
          </a:prstGeom>
          <a:noFill/>
        </p:spPr>
        <p:txBody>
          <a:bodyPr anchor="t" rtlCol="false" vert="horz" wrap="square" tIns="45720" lIns="91440" bIns="45720" rIns="91440">
            <a:spAutoFit/>
          </a:bodyPr>
          <a:lstStyle/>
          <a:p>
            <a:pPr algn="ctr" marL="0">
              <a:defRPr/>
            </a:pPr>
            <a:r>
              <a:rPr lang="zh-CN" b="false" i="false" sz="1800" baseline="0" u="none" altLang="en-US">
                <a:solidFill>
                  <a:schemeClr val="bg1"/>
                </a:solidFill>
                <a:latin typeface="微软雅黑"/>
                <a:ea typeface="微软雅黑"/>
              </a:rPr>
              <a:t>总结与展望</a:t>
            </a:r>
            <a:endParaRPr lang="en-US" sz="1100"/>
          </a:p>
        </p:txBody>
      </p:sp>
      <p:sp>
        <p:nvSpPr>
          <p:cNvPr name="AutoShape 13" id="13"/>
          <p:cNvSpPr/>
          <p:nvPr/>
        </p:nvSpPr>
        <p:spPr>
          <a:xfrm>
            <a:off x="0" y="0"/>
            <a:ext cx="12191999" cy="478530"/>
          </a:xfrm>
          <a:prstGeom prst="rect">
            <a:avLst/>
          </a:prstGeom>
          <a:solidFill>
            <a:schemeClr val="bg1"/>
          </a:solidFill>
          <a:ln>
            <a:noFill/>
          </a:ln>
        </p:spPr>
        <p:txBody>
          <a:bodyPr vert="horz" anchor="ctr" tIns="45720" lIns="91440" bIns="45720" rIns="91440"/>
          <a:p>
            <a:pPr algn="ctr" marL="0"/>
          </a:p>
        </p:txBody>
      </p:sp>
      <p:sp>
        <p:nvSpPr>
          <p:cNvPr name="AutoShape 14" id="14"/>
          <p:cNvSpPr/>
          <p:nvPr/>
        </p:nvSpPr>
        <p:spPr>
          <a:xfrm>
            <a:off x="10795000" y="6540500"/>
            <a:ext cx="1270000" cy="190500"/>
          </a:xfrm>
          <a:prstGeom prst="rect">
            <a:avLst/>
          </a:prstGeom>
          <a:solidFill>
            <a:srgbClr val="000000">
              <a:alpha val="0"/>
            </a:srgbClr>
          </a:solidFill>
        </p:spPr>
        <p:txBody>
          <a:bodyPr anchor="t" rtlCol="false"/>
          <a:lstStyle/>
          <a:p>
            <a:pPr algn="r">
              <a:defRPr/>
            </a:pPr>
            <a:r>
              <a:rPr lang="en-US" b="false" i="false" sz="800" baseline="0" u="none">
                <a:solidFill>
                  <a:srgbClr val="808080"/>
                </a:solidFill>
                <a:latin typeface="Microsoft YaHei"/>
                <a:ea typeface="Microsoft YaHei"/>
              </a:rPr>
              <a:t>内容由AI生成</a:t>
            </a:r>
            <a:endParaRPr lang="en-US" sz="1100"/>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blipFill rotWithShape="true">
          <a:blip r:embed="rId2"/>
          <a:srcRect/>
          <a:stretch>
            <a:fillRect t="0" l="0" b="0" r="0"/>
          </a:stretch>
        </a:blipFill>
      </p:bgPr>
    </p:bg>
    <p:spTree>
      <p:nvGrpSpPr>
        <p:cNvPr id="1" name=""/>
        <p:cNvGrpSpPr/>
        <p:nvPr/>
      </p:nvGrpSpPr>
      <p:grpSpPr>
        <a:xfrm>
          <a:off x="0" y="0"/>
          <a:ext cx="0" cy="0"/>
          <a:chOff x="0" y="0"/>
          <a:chExt cx="0" cy="0"/>
        </a:xfrm>
      </p:grpSpPr>
      <p:sp>
        <p:nvSpPr>
          <p:cNvPr name="AutoShape 2" id="2"/>
          <p:cNvSpPr/>
          <p:nvPr/>
        </p:nvSpPr>
        <p:spPr>
          <a:xfrm>
            <a:off x="0" y="0"/>
            <a:ext cx="12192000" cy="6858000"/>
          </a:xfrm>
          <a:prstGeom prst="rect">
            <a:avLst/>
          </a:prstGeom>
          <a:gradFill rotWithShape="true" flip="none">
            <a:gsLst>
              <a:gs pos="0">
                <a:srgbClr val="0A854D"/>
              </a:gs>
              <a:gs pos="100000">
                <a:srgbClr val="318B49">
                  <a:alpha val="0"/>
                </a:srgbClr>
              </a:gs>
            </a:gsLst>
            <a:lin ang="5400000"/>
            <a:tileRect/>
          </a:gradFill>
          <a:ln>
            <a:noFill/>
          </a:ln>
        </p:spPr>
        <p:txBody>
          <a:bodyPr vert="horz" anchor="ctr" tIns="45720" lIns="91440" bIns="45720" rIns="91440"/>
          <a:p>
            <a:pPr algn="ctr" marL="0"/>
          </a:p>
        </p:txBody>
      </p:sp>
      <p:sp>
        <p:nvSpPr>
          <p:cNvPr name="TextBox 3" id="3"/>
          <p:cNvSpPr txBox="true"/>
          <p:nvPr/>
        </p:nvSpPr>
        <p:spPr>
          <a:xfrm>
            <a:off x="1665296" y="2971817"/>
            <a:ext cx="8861408" cy="830997"/>
          </a:xfrm>
          <a:prstGeom prst="rect">
            <a:avLst/>
          </a:prstGeom>
          <a:noFill/>
        </p:spPr>
        <p:txBody>
          <a:bodyPr anchor="t" rtlCol="false" vert="horz" wrap="square" tIns="45720" lIns="91440" bIns="45720" rIns="91440">
            <a:spAutoFit/>
          </a:bodyPr>
          <a:lstStyle/>
          <a:p>
            <a:pPr algn="ctr" marL="0">
              <a:defRPr/>
            </a:pPr>
            <a:r>
              <a:rPr lang="zh-CN" b="true" i="false" sz="4800" baseline="0" u="none" altLang="en-US">
                <a:solidFill>
                  <a:schemeClr val="bg1"/>
                </a:solidFill>
                <a:latin typeface="微软雅黑"/>
                <a:ea typeface="微软雅黑"/>
              </a:rPr>
              <a:t>数据结构概述</a:t>
            </a:r>
            <a:endParaRPr lang="en-US" sz="1100"/>
          </a:p>
        </p:txBody>
      </p:sp>
      <p:sp>
        <p:nvSpPr>
          <p:cNvPr name="Freeform 4" id="4"/>
          <p:cNvSpPr/>
          <p:nvPr/>
        </p:nvSpPr>
        <p:spPr>
          <a:xfrm>
            <a:off x="650240" y="893196"/>
            <a:ext cx="378355" cy="378355"/>
          </a:xfrm>
          <a:custGeom>
            <a:avLst/>
            <a:gdLst/>
            <a:ahLst/>
            <a:cxnLst/>
            <a:rect r="r" b="b" t="t" l="l"/>
            <a:pathLst>
              <a:path w="634790" h="634790" stroke="true" fill="norm" extrusionOk="true">
                <a:moveTo>
                  <a:pt x="268240" y="235406"/>
                </a:moveTo>
                <a:lnTo>
                  <a:pt x="268240" y="486178"/>
                </a:lnTo>
                <a:lnTo>
                  <a:pt x="368960" y="486178"/>
                </a:lnTo>
                <a:lnTo>
                  <a:pt x="368960" y="235406"/>
                </a:lnTo>
                <a:close/>
                <a:moveTo>
                  <a:pt x="319337" y="127942"/>
                </a:moveTo>
                <a:cubicBezTo>
                  <a:pt x="305602" y="127942"/>
                  <a:pt x="294063" y="132613"/>
                  <a:pt x="284721" y="141955"/>
                </a:cubicBezTo>
                <a:cubicBezTo>
                  <a:pt x="275379" y="151296"/>
                  <a:pt x="270709" y="162667"/>
                  <a:pt x="270709" y="176066"/>
                </a:cubicBezTo>
                <a:cubicBezTo>
                  <a:pt x="270709" y="189754"/>
                  <a:pt x="275391" y="201281"/>
                  <a:pt x="284757" y="210646"/>
                </a:cubicBezTo>
                <a:cubicBezTo>
                  <a:pt x="294122" y="220012"/>
                  <a:pt x="305649" y="224695"/>
                  <a:pt x="319337" y="224695"/>
                </a:cubicBezTo>
                <a:cubicBezTo>
                  <a:pt x="332973" y="224695"/>
                  <a:pt x="344487" y="219999"/>
                  <a:pt x="353878" y="210607"/>
                </a:cubicBezTo>
                <a:cubicBezTo>
                  <a:pt x="363270" y="201215"/>
                  <a:pt x="367966" y="189701"/>
                  <a:pt x="367966" y="176066"/>
                </a:cubicBezTo>
                <a:cubicBezTo>
                  <a:pt x="367966" y="162719"/>
                  <a:pt x="363282" y="151362"/>
                  <a:pt x="353914" y="141994"/>
                </a:cubicBezTo>
                <a:cubicBezTo>
                  <a:pt x="344546" y="132626"/>
                  <a:pt x="333020" y="127942"/>
                  <a:pt x="319337" y="127942"/>
                </a:cubicBezTo>
                <a:close/>
                <a:moveTo>
                  <a:pt x="317395" y="0"/>
                </a:moveTo>
                <a:cubicBezTo>
                  <a:pt x="492687" y="0"/>
                  <a:pt x="634790" y="142103"/>
                  <a:pt x="634790" y="317395"/>
                </a:cubicBezTo>
                <a:cubicBezTo>
                  <a:pt x="634790" y="492687"/>
                  <a:pt x="492687" y="634790"/>
                  <a:pt x="317395" y="634790"/>
                </a:cubicBezTo>
                <a:cubicBezTo>
                  <a:pt x="142103" y="634790"/>
                  <a:pt x="0" y="492687"/>
                  <a:pt x="0" y="317395"/>
                </a:cubicBezTo>
                <a:cubicBezTo>
                  <a:pt x="0" y="142103"/>
                  <a:pt x="142103" y="0"/>
                  <a:pt x="317395" y="0"/>
                </a:cubicBezTo>
                <a:close/>
              </a:path>
            </a:pathLst>
          </a:custGeom>
          <a:solidFill>
            <a:schemeClr val="bg1"/>
          </a:solidFill>
          <a:ln>
            <a:noFill/>
          </a:ln>
        </p:spPr>
        <p:txBody>
          <a:bodyPr vert="horz" anchor="ctr" wrap="square" tIns="45720" lIns="91440" bIns="45720" rIns="91440">
            <a:noAutofit/>
          </a:bodyPr>
          <a:p>
            <a:pPr algn="ctr" marL="0"/>
          </a:p>
        </p:txBody>
      </p:sp>
      <p:sp>
        <p:nvSpPr>
          <p:cNvPr name="TextBox 5" id="5"/>
          <p:cNvSpPr txBox="true"/>
          <p:nvPr/>
        </p:nvSpPr>
        <p:spPr>
          <a:xfrm>
            <a:off x="1051967" y="890172"/>
            <a:ext cx="2569777" cy="400110"/>
          </a:xfrm>
          <a:prstGeom prst="rect">
            <a:avLst/>
          </a:prstGeom>
          <a:noFill/>
        </p:spPr>
        <p:txBody>
          <a:bodyPr anchor="t" rtlCol="false" vert="horz" wrap="square" tIns="45720" lIns="91440" bIns="45720" rIns="91440">
            <a:spAutoFit/>
          </a:bodyPr>
          <a:lstStyle/>
          <a:p>
            <a:pPr algn="l" marL="0">
              <a:defRPr/>
            </a:pPr>
            <a:r>
              <a:rPr lang="en-US" b="true" i="false" sz="2000" baseline="0" u="none">
                <a:solidFill>
                  <a:schemeClr val="bg1"/>
                </a:solidFill>
                <a:latin typeface="微软雅黑"/>
                <a:ea typeface="微软雅黑"/>
              </a:rPr>
              <a:t>YOUR LOGO</a:t>
            </a:r>
            <a:endParaRPr lang="en-US" sz="1100"/>
          </a:p>
        </p:txBody>
      </p:sp>
      <p:sp>
        <p:nvSpPr>
          <p:cNvPr name="TextBox 6" id="6"/>
          <p:cNvSpPr txBox="true"/>
          <p:nvPr/>
        </p:nvSpPr>
        <p:spPr>
          <a:xfrm>
            <a:off x="4283777" y="4106376"/>
            <a:ext cx="3624446" cy="369332"/>
          </a:xfrm>
          <a:prstGeom prst="rect">
            <a:avLst/>
          </a:prstGeom>
          <a:noFill/>
        </p:spPr>
        <p:txBody>
          <a:bodyPr anchor="t" rtlCol="false" vert="horz" wrap="square" tIns="45720" lIns="91440" bIns="45720" rIns="91440">
            <a:spAutoFit/>
          </a:bodyPr>
          <a:lstStyle/>
          <a:p>
            <a:pPr algn="l" marL="0">
              <a:defRPr/>
            </a:pPr>
            <a:r>
              <a:rPr lang="en-US" b="false" i="false" sz="1800" baseline="0" u="none">
                <a:solidFill>
                  <a:schemeClr val="bg1"/>
                </a:solidFill>
                <a:latin typeface="微软雅黑"/>
                <a:ea typeface="微软雅黑"/>
              </a:rPr>
              <a:t>Power point design</a:t>
            </a:r>
            <a:endParaRPr lang="en-US" sz="1100"/>
          </a:p>
        </p:txBody>
      </p:sp>
      <p:cxnSp>
        <p:nvCxnSpPr>
          <p:cNvPr name="Connector 7" id="7"/>
          <p:cNvCxnSpPr/>
          <p:nvPr/>
        </p:nvCxnSpPr>
        <p:spPr>
          <a:xfrm>
            <a:off x="6647813" y="4291042"/>
            <a:ext cx="1260410" cy="0"/>
          </a:xfrm>
          <a:prstGeom prst="line">
            <a:avLst/>
          </a:prstGeom>
          <a:ln w="9525">
            <a:solidFill>
              <a:schemeClr val="bg1"/>
            </a:solidFill>
          </a:ln>
        </p:spPr>
      </p:cxnSp>
      <p:grpSp>
        <p:nvGrpSpPr>
          <p:cNvPr name="Group 8" id="8"/>
          <p:cNvGrpSpPr/>
          <p:nvPr/>
        </p:nvGrpSpPr>
        <p:grpSpPr>
          <a:xfrm>
            <a:off x="4682966" y="1963176"/>
            <a:ext cx="2826067" cy="858555"/>
            <a:chOff x="4263846" y="2243095"/>
            <a:chExt cx="2826067" cy="858555"/>
          </a:xfrm>
        </p:grpSpPr>
        <p:sp>
          <p:nvSpPr>
            <p:cNvPr name="TextBox 9" id="9"/>
            <p:cNvSpPr txBox="true"/>
            <p:nvPr/>
          </p:nvSpPr>
          <p:spPr>
            <a:xfrm>
              <a:off x="4263846" y="2270653"/>
              <a:ext cx="1988820" cy="830997"/>
            </a:xfrm>
            <a:prstGeom prst="rect">
              <a:avLst/>
            </a:prstGeom>
            <a:noFill/>
          </p:spPr>
          <p:txBody>
            <a:bodyPr anchor="t" rtlCol="false" vert="horz" wrap="square" tIns="45720" lIns="91440" bIns="45720" rIns="91440">
              <a:spAutoFit/>
            </a:bodyPr>
            <a:lstStyle/>
            <a:p>
              <a:pPr algn="l" marL="0">
                <a:defRPr/>
              </a:pPr>
              <a:r>
                <a:rPr lang="en-US" b="false" i="false" sz="4800" baseline="0" u="none">
                  <a:solidFill>
                    <a:schemeClr val="bg1"/>
                  </a:solidFill>
                  <a:latin typeface="微软雅黑"/>
                  <a:ea typeface="微软雅黑"/>
                </a:rPr>
                <a:t>PART</a:t>
              </a:r>
              <a:endParaRPr lang="en-US" sz="1100"/>
            </a:p>
          </p:txBody>
        </p:sp>
        <p:sp>
          <p:nvSpPr>
            <p:cNvPr name="TextBox 10" id="10"/>
            <p:cNvSpPr txBox="true"/>
            <p:nvPr/>
          </p:nvSpPr>
          <p:spPr>
            <a:xfrm>
              <a:off x="6008599" y="2243095"/>
              <a:ext cx="1081314" cy="830997"/>
            </a:xfrm>
            <a:prstGeom prst="rect">
              <a:avLst/>
            </a:prstGeom>
            <a:noFill/>
          </p:spPr>
          <p:txBody>
            <a:bodyPr anchor="t" rtlCol="false" vert="horz" wrap="square" tIns="45720" lIns="91440" bIns="45720" rIns="91440">
              <a:spAutoFit/>
            </a:bodyPr>
            <a:lstStyle/>
            <a:p>
              <a:pPr algn="l" marL="0">
                <a:defRPr/>
              </a:pPr>
              <a:r>
                <a:rPr lang="en-US" b="false" i="false" sz="4800" baseline="0" u="none">
                  <a:solidFill>
                    <a:schemeClr val="bg1"/>
                  </a:solidFill>
                  <a:latin typeface="微软雅黑"/>
                  <a:ea typeface="微软雅黑"/>
                </a:rPr>
                <a:t>01</a:t>
              </a:r>
              <a:endParaRPr lang="en-US" sz="1100"/>
            </a:p>
          </p:txBody>
        </p:sp>
      </p:grpSp>
      <p:sp>
        <p:nvSpPr>
          <p:cNvPr name="AutoShape 11" id="11"/>
          <p:cNvSpPr/>
          <p:nvPr/>
        </p:nvSpPr>
        <p:spPr>
          <a:xfrm>
            <a:off x="10795000" y="6540500"/>
            <a:ext cx="1270000" cy="190500"/>
          </a:xfrm>
          <a:prstGeom prst="rect">
            <a:avLst/>
          </a:prstGeom>
          <a:solidFill>
            <a:srgbClr val="000000">
              <a:alpha val="0"/>
            </a:srgbClr>
          </a:solidFill>
        </p:spPr>
        <p:txBody>
          <a:bodyPr anchor="t" rtlCol="false"/>
          <a:lstStyle/>
          <a:p>
            <a:pPr algn="r">
              <a:defRPr/>
            </a:pPr>
            <a:r>
              <a:rPr lang="en-US" b="false" i="false" sz="800" baseline="0" u="none">
                <a:solidFill>
                  <a:srgbClr val="808080"/>
                </a:solidFill>
                <a:latin typeface="Microsoft YaHei"/>
                <a:ea typeface="Microsoft YaHei"/>
              </a:rPr>
              <a:t>内容由AI生成</a:t>
            </a:r>
            <a:endParaRPr lang="en-US" sz="1100"/>
          </a:p>
        </p:txBody>
      </p:sp>
    </p:spTree>
  </p:cSld>
  <p:clrMapOvr>
    <a:masterClrMapping/>
  </p:clrMapOvr>
</p:sld>
</file>

<file path=ppt/slides/slide4.xml><?xml version="1.0" encoding="utf-8"?>
<p:sld xmlns:p="http://schemas.openxmlformats.org/presentationml/2006/main" xmlns:a="http://schemas.openxmlformats.org/drawingml/2006/main">
  <p:cSld>
    <p:bg>
      <p:bgPr>
        <a:solidFill>
          <a:schemeClr val="bg1"/>
        </a:solidFill>
      </p:bgPr>
    </p:bg>
    <p:spTree>
      <p:nvGrpSpPr>
        <p:cNvPr id="1" name=""/>
        <p:cNvGrpSpPr/>
        <p:nvPr/>
      </p:nvGrpSpPr>
      <p:grpSpPr>
        <a:xfrm>
          <a:off x="0" y="0"/>
          <a:ext cx="0" cy="0"/>
          <a:chOff x="0" y="0"/>
          <a:chExt cx="0" cy="0"/>
        </a:xfrm>
      </p:grpSpPr>
      <p:grpSp>
        <p:nvGrpSpPr>
          <p:cNvPr name="Group 2" id="2"/>
          <p:cNvGrpSpPr/>
          <p:nvPr/>
        </p:nvGrpSpPr>
        <p:grpSpPr>
          <a:xfrm>
            <a:off x="6990113" y="1493703"/>
            <a:ext cx="4666080" cy="3870594"/>
            <a:chOff x="4517221" y="2682505"/>
            <a:chExt cx="7100888" cy="5891212"/>
          </a:xfrm>
        </p:grpSpPr>
        <p:sp>
          <p:nvSpPr>
            <p:cNvPr name="Freeform 3" id="3"/>
            <p:cNvSpPr/>
            <p:nvPr/>
          </p:nvSpPr>
          <p:spPr>
            <a:xfrm>
              <a:off x="4679146" y="2884117"/>
              <a:ext cx="6938963" cy="5689600"/>
            </a:xfrm>
            <a:custGeom>
              <a:avLst/>
              <a:gdLst/>
              <a:ahLst/>
              <a:cxnLst/>
              <a:rect r="r" b="b" t="t" l="l"/>
              <a:pathLst>
                <a:path w="1847" h="1514" stroke="true" fill="norm" extrusionOk="true">
                  <a:moveTo>
                    <a:pt x="1735" y="757"/>
                  </a:moveTo>
                  <a:cubicBezTo>
                    <a:pt x="1623" y="1175"/>
                    <a:pt x="1169" y="1514"/>
                    <a:pt x="721" y="1514"/>
                  </a:cubicBezTo>
                  <a:cubicBezTo>
                    <a:pt x="273" y="1514"/>
                    <a:pt x="0" y="1175"/>
                    <a:pt x="112" y="757"/>
                  </a:cubicBezTo>
                  <a:cubicBezTo>
                    <a:pt x="224" y="339"/>
                    <a:pt x="679" y="0"/>
                    <a:pt x="1127" y="0"/>
                  </a:cubicBezTo>
                  <a:cubicBezTo>
                    <a:pt x="1575" y="0"/>
                    <a:pt x="1847" y="339"/>
                    <a:pt x="1735" y="757"/>
                  </a:cubicBezTo>
                  <a:close/>
                </a:path>
              </a:pathLst>
            </a:custGeom>
            <a:solidFill>
              <a:srgbClr val="878787">
                <a:lumMod val="50000"/>
              </a:srgbClr>
            </a:solidFill>
            <a:ln>
              <a:noFill/>
            </a:ln>
          </p:spPr>
          <p:txBody>
            <a:bodyPr vert="horz" anchor="t" wrap="square" tIns="45720" lIns="91440" bIns="45720" rIns="91440">
              <a:prstTxWarp prst="textNoShape">
                <a:avLst/>
              </a:prstTxWarp>
            </a:bodyPr>
            <a:p>
              <a:pPr fontAlgn="auto" algn="l" indent="0" marR="0" marL="0">
                <a:lnSpc>
                  <a:spcPct val="100000"/>
                </a:lnSpc>
                <a:spcBef>
                  <a:spcPct val="0"/>
                </a:spcBef>
                <a:spcAft>
                  <a:spcPct val="0"/>
                </a:spcAft>
                <a:buNone/>
              </a:pPr>
            </a:p>
          </p:txBody>
        </p:sp>
        <p:sp>
          <p:nvSpPr>
            <p:cNvPr name="Freeform 4" id="4"/>
            <p:cNvSpPr/>
            <p:nvPr/>
          </p:nvSpPr>
          <p:spPr>
            <a:xfrm>
              <a:off x="4607708" y="2795217"/>
              <a:ext cx="6938963" cy="5689600"/>
            </a:xfrm>
            <a:custGeom>
              <a:avLst/>
              <a:gdLst/>
              <a:ahLst/>
              <a:cxnLst/>
              <a:rect r="r" b="b" t="t" l="l"/>
              <a:pathLst>
                <a:path w="1847" h="1514" stroke="true" fill="norm" extrusionOk="true">
                  <a:moveTo>
                    <a:pt x="1735" y="757"/>
                  </a:moveTo>
                  <a:cubicBezTo>
                    <a:pt x="1623" y="1175"/>
                    <a:pt x="1169" y="1514"/>
                    <a:pt x="721" y="1514"/>
                  </a:cubicBezTo>
                  <a:cubicBezTo>
                    <a:pt x="273" y="1514"/>
                    <a:pt x="0" y="1175"/>
                    <a:pt x="112" y="757"/>
                  </a:cubicBezTo>
                  <a:cubicBezTo>
                    <a:pt x="224" y="339"/>
                    <a:pt x="678" y="0"/>
                    <a:pt x="1126" y="0"/>
                  </a:cubicBezTo>
                  <a:cubicBezTo>
                    <a:pt x="1574" y="0"/>
                    <a:pt x="1847" y="339"/>
                    <a:pt x="1735" y="757"/>
                  </a:cubicBezTo>
                  <a:close/>
                </a:path>
              </a:pathLst>
            </a:custGeom>
            <a:solidFill>
              <a:srgbClr val="878787">
                <a:lumMod val="75000"/>
              </a:srgbClr>
            </a:solidFill>
            <a:ln>
              <a:noFill/>
            </a:ln>
          </p:spPr>
          <p:txBody>
            <a:bodyPr vert="horz" anchor="t" wrap="square" tIns="45720" lIns="91440" bIns="45720" rIns="91440">
              <a:prstTxWarp prst="textNoShape">
                <a:avLst/>
              </a:prstTxWarp>
            </a:bodyPr>
            <a:p>
              <a:pPr fontAlgn="auto" algn="l" indent="0" marR="0" marL="0">
                <a:lnSpc>
                  <a:spcPct val="100000"/>
                </a:lnSpc>
                <a:spcBef>
                  <a:spcPct val="0"/>
                </a:spcBef>
                <a:spcAft>
                  <a:spcPct val="0"/>
                </a:spcAft>
                <a:buNone/>
              </a:pPr>
            </a:p>
          </p:txBody>
        </p:sp>
        <p:sp>
          <p:nvSpPr>
            <p:cNvPr name="Freeform 5" id="5"/>
            <p:cNvSpPr/>
            <p:nvPr/>
          </p:nvSpPr>
          <p:spPr>
            <a:xfrm>
              <a:off x="4517221" y="2682505"/>
              <a:ext cx="6938963" cy="5689600"/>
            </a:xfrm>
            <a:custGeom>
              <a:avLst/>
              <a:gdLst/>
              <a:ahLst/>
              <a:cxnLst/>
              <a:rect r="r" b="b" t="t" l="l"/>
              <a:pathLst>
                <a:path w="1847" h="1514" stroke="true" fill="norm" extrusionOk="true">
                  <a:moveTo>
                    <a:pt x="1735" y="757"/>
                  </a:moveTo>
                  <a:cubicBezTo>
                    <a:pt x="1623" y="1175"/>
                    <a:pt x="1169" y="1514"/>
                    <a:pt x="721" y="1514"/>
                  </a:cubicBezTo>
                  <a:cubicBezTo>
                    <a:pt x="273" y="1514"/>
                    <a:pt x="0" y="1175"/>
                    <a:pt x="112" y="757"/>
                  </a:cubicBezTo>
                  <a:cubicBezTo>
                    <a:pt x="224" y="339"/>
                    <a:pt x="678" y="0"/>
                    <a:pt x="1126" y="0"/>
                  </a:cubicBezTo>
                  <a:cubicBezTo>
                    <a:pt x="1574" y="0"/>
                    <a:pt x="1847" y="339"/>
                    <a:pt x="1735" y="757"/>
                  </a:cubicBezTo>
                  <a:close/>
                </a:path>
              </a:pathLst>
            </a:custGeom>
            <a:solidFill>
              <a:srgbClr val="878787">
                <a:lumMod val="50000"/>
              </a:srgbClr>
            </a:solidFill>
            <a:ln>
              <a:noFill/>
            </a:ln>
          </p:spPr>
          <p:txBody>
            <a:bodyPr vert="horz" anchor="t" wrap="square" tIns="45720" lIns="91440" bIns="45720" rIns="91440">
              <a:prstTxWarp prst="textNoShape">
                <a:avLst/>
              </a:prstTxWarp>
            </a:bodyPr>
            <a:p>
              <a:pPr fontAlgn="auto" algn="l" indent="0" marR="0" marL="0">
                <a:lnSpc>
                  <a:spcPct val="100000"/>
                </a:lnSpc>
                <a:spcBef>
                  <a:spcPct val="0"/>
                </a:spcBef>
                <a:spcAft>
                  <a:spcPct val="0"/>
                </a:spcAft>
                <a:buNone/>
              </a:pPr>
            </a:p>
          </p:txBody>
        </p:sp>
        <p:sp>
          <p:nvSpPr>
            <p:cNvPr name="Freeform 6" id="6"/>
            <p:cNvSpPr/>
            <p:nvPr/>
          </p:nvSpPr>
          <p:spPr>
            <a:xfrm>
              <a:off x="5174446" y="3222255"/>
              <a:ext cx="5624513" cy="4611687"/>
            </a:xfrm>
            <a:custGeom>
              <a:avLst/>
              <a:gdLst/>
              <a:ahLst/>
              <a:cxnLst/>
              <a:rect r="r" b="b" t="t" l="l"/>
              <a:pathLst>
                <a:path w="1497" h="1227" stroke="true" fill="norm" extrusionOk="true">
                  <a:moveTo>
                    <a:pt x="1406" y="613"/>
                  </a:moveTo>
                  <a:cubicBezTo>
                    <a:pt x="1315" y="952"/>
                    <a:pt x="947" y="1227"/>
                    <a:pt x="584" y="1227"/>
                  </a:cubicBezTo>
                  <a:cubicBezTo>
                    <a:pt x="221" y="1227"/>
                    <a:pt x="0" y="952"/>
                    <a:pt x="91" y="613"/>
                  </a:cubicBezTo>
                  <a:cubicBezTo>
                    <a:pt x="182" y="274"/>
                    <a:pt x="550" y="0"/>
                    <a:pt x="913" y="0"/>
                  </a:cubicBezTo>
                  <a:cubicBezTo>
                    <a:pt x="1276" y="0"/>
                    <a:pt x="1497" y="274"/>
                    <a:pt x="1406" y="613"/>
                  </a:cubicBezTo>
                  <a:close/>
                </a:path>
              </a:pathLst>
            </a:custGeom>
            <a:solidFill>
              <a:srgbClr val="FFFFFF">
                <a:lumMod val="95000"/>
              </a:srgbClr>
            </a:solidFill>
            <a:ln>
              <a:noFill/>
            </a:ln>
          </p:spPr>
          <p:txBody>
            <a:bodyPr vert="horz" anchor="t" wrap="square" tIns="45720" lIns="91440" bIns="45720" rIns="91440">
              <a:prstTxWarp prst="textNoShape">
                <a:avLst/>
              </a:prstTxWarp>
            </a:bodyPr>
            <a:p>
              <a:pPr fontAlgn="auto" algn="l" indent="0" marR="0" marL="0">
                <a:lnSpc>
                  <a:spcPct val="100000"/>
                </a:lnSpc>
                <a:spcBef>
                  <a:spcPct val="0"/>
                </a:spcBef>
                <a:spcAft>
                  <a:spcPct val="0"/>
                </a:spcAft>
                <a:buNone/>
              </a:pPr>
            </a:p>
          </p:txBody>
        </p:sp>
        <p:sp>
          <p:nvSpPr>
            <p:cNvPr name="Freeform 7" id="7"/>
            <p:cNvSpPr/>
            <p:nvPr/>
          </p:nvSpPr>
          <p:spPr>
            <a:xfrm>
              <a:off x="5542746" y="3523880"/>
              <a:ext cx="4887913" cy="4005262"/>
            </a:xfrm>
            <a:custGeom>
              <a:avLst/>
              <a:gdLst/>
              <a:ahLst/>
              <a:cxnLst/>
              <a:rect r="r" b="b" t="t" l="l"/>
              <a:pathLst>
                <a:path w="1301" h="1066" stroke="true" fill="norm" extrusionOk="true">
                  <a:moveTo>
                    <a:pt x="1222" y="533"/>
                  </a:moveTo>
                  <a:cubicBezTo>
                    <a:pt x="1143" y="828"/>
                    <a:pt x="823" y="1066"/>
                    <a:pt x="508" y="1066"/>
                  </a:cubicBezTo>
                  <a:cubicBezTo>
                    <a:pt x="192" y="1066"/>
                    <a:pt x="0" y="828"/>
                    <a:pt x="79" y="533"/>
                  </a:cubicBezTo>
                  <a:cubicBezTo>
                    <a:pt x="158" y="239"/>
                    <a:pt x="478" y="0"/>
                    <a:pt x="793" y="0"/>
                  </a:cubicBezTo>
                  <a:cubicBezTo>
                    <a:pt x="1109" y="0"/>
                    <a:pt x="1301" y="239"/>
                    <a:pt x="1222" y="533"/>
                  </a:cubicBezTo>
                  <a:close/>
                </a:path>
              </a:pathLst>
            </a:custGeom>
            <a:solidFill>
              <a:srgbClr val="878787">
                <a:lumMod val="50000"/>
              </a:srgbClr>
            </a:solidFill>
            <a:ln>
              <a:noFill/>
            </a:ln>
          </p:spPr>
          <p:txBody>
            <a:bodyPr vert="horz" anchor="t" wrap="square" tIns="45720" lIns="91440" bIns="45720" rIns="91440">
              <a:prstTxWarp prst="textNoShape">
                <a:avLst/>
              </a:prstTxWarp>
            </a:bodyPr>
            <a:p>
              <a:pPr fontAlgn="auto" algn="l" indent="0" marR="0" marL="0">
                <a:lnSpc>
                  <a:spcPct val="100000"/>
                </a:lnSpc>
                <a:spcBef>
                  <a:spcPct val="0"/>
                </a:spcBef>
                <a:spcAft>
                  <a:spcPct val="0"/>
                </a:spcAft>
                <a:buNone/>
              </a:pPr>
            </a:p>
          </p:txBody>
        </p:sp>
        <p:sp>
          <p:nvSpPr>
            <p:cNvPr name="Freeform 8" id="8"/>
            <p:cNvSpPr/>
            <p:nvPr/>
          </p:nvSpPr>
          <p:spPr>
            <a:xfrm>
              <a:off x="6049159" y="3933455"/>
              <a:ext cx="3873500" cy="3186112"/>
            </a:xfrm>
            <a:custGeom>
              <a:avLst/>
              <a:gdLst/>
              <a:ahLst/>
              <a:cxnLst/>
              <a:rect r="r" b="b" t="t" l="l"/>
              <a:pathLst>
                <a:path w="1031" h="848" stroke="true" fill="norm" extrusionOk="true">
                  <a:moveTo>
                    <a:pt x="968" y="424"/>
                  </a:moveTo>
                  <a:cubicBezTo>
                    <a:pt x="905" y="658"/>
                    <a:pt x="652" y="848"/>
                    <a:pt x="402" y="848"/>
                  </a:cubicBezTo>
                  <a:cubicBezTo>
                    <a:pt x="152" y="848"/>
                    <a:pt x="0" y="658"/>
                    <a:pt x="63" y="424"/>
                  </a:cubicBezTo>
                  <a:cubicBezTo>
                    <a:pt x="126" y="190"/>
                    <a:pt x="379" y="0"/>
                    <a:pt x="629" y="0"/>
                  </a:cubicBezTo>
                  <a:cubicBezTo>
                    <a:pt x="879" y="0"/>
                    <a:pt x="1031" y="190"/>
                    <a:pt x="968" y="424"/>
                  </a:cubicBezTo>
                  <a:close/>
                </a:path>
              </a:pathLst>
            </a:custGeom>
            <a:solidFill>
              <a:srgbClr val="FFFFFF">
                <a:lumMod val="95000"/>
              </a:srgbClr>
            </a:solidFill>
            <a:ln>
              <a:noFill/>
            </a:ln>
          </p:spPr>
          <p:txBody>
            <a:bodyPr vert="horz" anchor="t" wrap="square" tIns="45720" lIns="91440" bIns="45720" rIns="91440">
              <a:prstTxWarp prst="textNoShape">
                <a:avLst/>
              </a:prstTxWarp>
            </a:bodyPr>
            <a:p>
              <a:pPr fontAlgn="auto" algn="l" indent="0" marR="0" marL="0">
                <a:lnSpc>
                  <a:spcPct val="100000"/>
                </a:lnSpc>
                <a:spcBef>
                  <a:spcPct val="0"/>
                </a:spcBef>
                <a:spcAft>
                  <a:spcPct val="0"/>
                </a:spcAft>
                <a:buNone/>
              </a:pPr>
            </a:p>
          </p:txBody>
        </p:sp>
        <p:sp>
          <p:nvSpPr>
            <p:cNvPr name="Freeform 9" id="9"/>
            <p:cNvSpPr/>
            <p:nvPr/>
          </p:nvSpPr>
          <p:spPr>
            <a:xfrm>
              <a:off x="6466671" y="4268417"/>
              <a:ext cx="3040063" cy="2517775"/>
            </a:xfrm>
            <a:custGeom>
              <a:avLst/>
              <a:gdLst/>
              <a:ahLst/>
              <a:cxnLst/>
              <a:rect r="r" b="b" t="t" l="l"/>
              <a:pathLst>
                <a:path w="809" h="670" stroke="true" fill="norm" extrusionOk="true">
                  <a:moveTo>
                    <a:pt x="759" y="335"/>
                  </a:moveTo>
                  <a:cubicBezTo>
                    <a:pt x="710" y="520"/>
                    <a:pt x="511" y="670"/>
                    <a:pt x="315" y="670"/>
                  </a:cubicBezTo>
                  <a:cubicBezTo>
                    <a:pt x="119" y="670"/>
                    <a:pt x="0" y="520"/>
                    <a:pt x="50" y="335"/>
                  </a:cubicBezTo>
                  <a:cubicBezTo>
                    <a:pt x="99" y="150"/>
                    <a:pt x="298" y="0"/>
                    <a:pt x="494" y="0"/>
                  </a:cubicBezTo>
                  <a:cubicBezTo>
                    <a:pt x="690" y="0"/>
                    <a:pt x="809" y="150"/>
                    <a:pt x="759" y="335"/>
                  </a:cubicBezTo>
                  <a:close/>
                </a:path>
              </a:pathLst>
            </a:custGeom>
            <a:solidFill>
              <a:srgbClr val="878787">
                <a:lumMod val="50000"/>
              </a:srgbClr>
            </a:solidFill>
            <a:ln>
              <a:noFill/>
            </a:ln>
          </p:spPr>
          <p:txBody>
            <a:bodyPr vert="horz" anchor="t" wrap="square" tIns="45720" lIns="91440" bIns="45720" rIns="91440">
              <a:prstTxWarp prst="textNoShape">
                <a:avLst/>
              </a:prstTxWarp>
            </a:bodyPr>
            <a:p>
              <a:pPr fontAlgn="auto" algn="l" indent="0" marR="0" marL="0">
                <a:lnSpc>
                  <a:spcPct val="100000"/>
                </a:lnSpc>
                <a:spcBef>
                  <a:spcPct val="0"/>
                </a:spcBef>
                <a:spcAft>
                  <a:spcPct val="0"/>
                </a:spcAft>
                <a:buNone/>
              </a:pPr>
            </a:p>
          </p:txBody>
        </p:sp>
        <p:sp>
          <p:nvSpPr>
            <p:cNvPr name="Freeform 10" id="10"/>
            <p:cNvSpPr/>
            <p:nvPr/>
          </p:nvSpPr>
          <p:spPr>
            <a:xfrm>
              <a:off x="6876246" y="4595442"/>
              <a:ext cx="2220913" cy="1863725"/>
            </a:xfrm>
            <a:custGeom>
              <a:avLst/>
              <a:gdLst/>
              <a:ahLst/>
              <a:cxnLst/>
              <a:rect r="r" b="b" t="t" l="l"/>
              <a:pathLst>
                <a:path w="591" h="496" stroke="true" fill="norm" extrusionOk="true">
                  <a:moveTo>
                    <a:pt x="555" y="248"/>
                  </a:moveTo>
                  <a:cubicBezTo>
                    <a:pt x="518" y="385"/>
                    <a:pt x="372" y="496"/>
                    <a:pt x="229" y="496"/>
                  </a:cubicBezTo>
                  <a:cubicBezTo>
                    <a:pt x="86" y="496"/>
                    <a:pt x="0" y="385"/>
                    <a:pt x="36" y="248"/>
                  </a:cubicBezTo>
                  <a:cubicBezTo>
                    <a:pt x="73" y="111"/>
                    <a:pt x="219" y="0"/>
                    <a:pt x="362" y="0"/>
                  </a:cubicBezTo>
                  <a:cubicBezTo>
                    <a:pt x="505" y="0"/>
                    <a:pt x="591" y="111"/>
                    <a:pt x="555" y="248"/>
                  </a:cubicBezTo>
                  <a:close/>
                </a:path>
              </a:pathLst>
            </a:custGeom>
            <a:solidFill>
              <a:srgbClr val="FFFFFF">
                <a:lumMod val="95000"/>
              </a:srgbClr>
            </a:solidFill>
            <a:ln>
              <a:noFill/>
            </a:ln>
          </p:spPr>
          <p:txBody>
            <a:bodyPr vert="horz" anchor="t" wrap="square" tIns="45720" lIns="91440" bIns="45720" rIns="91440">
              <a:prstTxWarp prst="textNoShape">
                <a:avLst/>
              </a:prstTxWarp>
            </a:bodyPr>
            <a:p>
              <a:pPr fontAlgn="auto" algn="l" indent="0" marR="0" marL="0">
                <a:lnSpc>
                  <a:spcPct val="100000"/>
                </a:lnSpc>
                <a:spcBef>
                  <a:spcPct val="0"/>
                </a:spcBef>
                <a:spcAft>
                  <a:spcPct val="0"/>
                </a:spcAft>
                <a:buNone/>
              </a:pPr>
            </a:p>
          </p:txBody>
        </p:sp>
        <p:sp>
          <p:nvSpPr>
            <p:cNvPr name="Freeform 11" id="11"/>
            <p:cNvSpPr/>
            <p:nvPr/>
          </p:nvSpPr>
          <p:spPr>
            <a:xfrm>
              <a:off x="7454096" y="5090742"/>
              <a:ext cx="1068388" cy="876300"/>
            </a:xfrm>
            <a:custGeom>
              <a:avLst/>
              <a:gdLst/>
              <a:ahLst/>
              <a:cxnLst/>
              <a:rect r="r" b="b" t="t" l="l"/>
              <a:pathLst>
                <a:path w="284" h="233" stroke="true" fill="norm" extrusionOk="true">
                  <a:moveTo>
                    <a:pt x="266" y="116"/>
                  </a:moveTo>
                  <a:cubicBezTo>
                    <a:pt x="249" y="180"/>
                    <a:pt x="179" y="233"/>
                    <a:pt x="110" y="233"/>
                  </a:cubicBezTo>
                  <a:cubicBezTo>
                    <a:pt x="41" y="233"/>
                    <a:pt x="0" y="180"/>
                    <a:pt x="17" y="116"/>
                  </a:cubicBezTo>
                  <a:cubicBezTo>
                    <a:pt x="34" y="52"/>
                    <a:pt x="104" y="0"/>
                    <a:pt x="173" y="0"/>
                  </a:cubicBezTo>
                  <a:cubicBezTo>
                    <a:pt x="242" y="0"/>
                    <a:pt x="284" y="52"/>
                    <a:pt x="266" y="116"/>
                  </a:cubicBezTo>
                  <a:close/>
                </a:path>
              </a:pathLst>
            </a:custGeom>
            <a:solidFill>
              <a:srgbClr val="878787">
                <a:lumMod val="50000"/>
              </a:srgbClr>
            </a:solidFill>
            <a:ln>
              <a:noFill/>
            </a:ln>
          </p:spPr>
          <p:txBody>
            <a:bodyPr vert="horz" anchor="t" wrap="square" tIns="45720" lIns="91440" bIns="45720" rIns="91440">
              <a:prstTxWarp prst="textNoShape">
                <a:avLst/>
              </a:prstTxWarp>
            </a:bodyPr>
            <a:p>
              <a:pPr fontAlgn="auto" algn="l" indent="0" marR="0" marL="0">
                <a:lnSpc>
                  <a:spcPct val="100000"/>
                </a:lnSpc>
                <a:spcBef>
                  <a:spcPct val="0"/>
                </a:spcBef>
                <a:spcAft>
                  <a:spcPct val="0"/>
                </a:spcAft>
                <a:buNone/>
              </a:pPr>
            </a:p>
          </p:txBody>
        </p:sp>
      </p:grpSp>
      <p:grpSp>
        <p:nvGrpSpPr>
          <p:cNvPr name="Group 12" id="12"/>
          <p:cNvGrpSpPr/>
          <p:nvPr/>
        </p:nvGrpSpPr>
        <p:grpSpPr>
          <a:xfrm>
            <a:off x="8635302" y="777276"/>
            <a:ext cx="1466733" cy="1498290"/>
            <a:chOff x="6076950" y="2555876"/>
            <a:chExt cx="3076576" cy="3143249"/>
          </a:xfrm>
          <a:effectLst>
            <a:outerShdw algn="bl" blurRad="177800" dir="18900000" rotWithShape="false" sy="23000">
              <a:srgbClr val="000000">
                <a:alpha val="29000"/>
              </a:srgbClr>
            </a:outerShdw>
          </a:effectLst>
        </p:grpSpPr>
        <p:sp>
          <p:nvSpPr>
            <p:cNvPr name="Freeform 13" id="13"/>
            <p:cNvSpPr/>
            <p:nvPr/>
          </p:nvSpPr>
          <p:spPr>
            <a:xfrm>
              <a:off x="8840788" y="5375275"/>
              <a:ext cx="312738" cy="323850"/>
            </a:xfrm>
            <a:custGeom>
              <a:avLst/>
              <a:gdLst/>
              <a:ahLst/>
              <a:cxnLst/>
              <a:rect r="r" b="b" t="t" l="l"/>
              <a:pathLst>
                <a:path w="83" h="86" stroke="true" fill="norm" extrusionOk="true">
                  <a:moveTo>
                    <a:pt x="68" y="68"/>
                  </a:moveTo>
                  <a:cubicBezTo>
                    <a:pt x="59" y="57"/>
                    <a:pt x="46" y="44"/>
                    <a:pt x="34" y="30"/>
                  </a:cubicBezTo>
                  <a:cubicBezTo>
                    <a:pt x="28" y="23"/>
                    <a:pt x="22" y="16"/>
                    <a:pt x="16" y="10"/>
                  </a:cubicBezTo>
                  <a:cubicBezTo>
                    <a:pt x="13" y="6"/>
                    <a:pt x="9" y="3"/>
                    <a:pt x="6" y="0"/>
                  </a:cubicBezTo>
                  <a:cubicBezTo>
                    <a:pt x="5" y="2"/>
                    <a:pt x="4" y="4"/>
                    <a:pt x="3" y="5"/>
                  </a:cubicBezTo>
                  <a:cubicBezTo>
                    <a:pt x="2" y="7"/>
                    <a:pt x="1" y="9"/>
                    <a:pt x="0" y="11"/>
                  </a:cubicBezTo>
                  <a:cubicBezTo>
                    <a:pt x="3" y="14"/>
                    <a:pt x="6" y="18"/>
                    <a:pt x="9" y="21"/>
                  </a:cubicBezTo>
                  <a:cubicBezTo>
                    <a:pt x="15" y="27"/>
                    <a:pt x="22" y="33"/>
                    <a:pt x="29" y="39"/>
                  </a:cubicBezTo>
                  <a:cubicBezTo>
                    <a:pt x="42" y="51"/>
                    <a:pt x="56" y="63"/>
                    <a:pt x="66" y="72"/>
                  </a:cubicBezTo>
                  <a:cubicBezTo>
                    <a:pt x="76" y="81"/>
                    <a:pt x="83" y="86"/>
                    <a:pt x="83" y="86"/>
                  </a:cubicBezTo>
                  <a:cubicBezTo>
                    <a:pt x="83" y="85"/>
                    <a:pt x="83" y="85"/>
                    <a:pt x="83" y="85"/>
                  </a:cubicBezTo>
                  <a:cubicBezTo>
                    <a:pt x="83" y="85"/>
                    <a:pt x="77" y="78"/>
                    <a:pt x="68" y="68"/>
                  </a:cubicBezTo>
                  <a:close/>
                </a:path>
              </a:pathLst>
            </a:custGeom>
            <a:solidFill>
              <a:srgbClr val="B1B1B1"/>
            </a:solidFill>
            <a:ln>
              <a:noFill/>
            </a:ln>
          </p:spPr>
          <p:txBody>
            <a:bodyPr vert="horz" anchor="t" wrap="square" tIns="45720" lIns="91440" bIns="45720" rIns="91440">
              <a:prstTxWarp prst="textNoShape">
                <a:avLst/>
              </a:prstTxWarp>
            </a:bodyPr>
            <a:p>
              <a:pPr fontAlgn="auto" algn="l" indent="0" marR="0" marL="0">
                <a:lnSpc>
                  <a:spcPct val="100000"/>
                </a:lnSpc>
                <a:spcBef>
                  <a:spcPct val="0"/>
                </a:spcBef>
                <a:spcAft>
                  <a:spcPct val="0"/>
                </a:spcAft>
                <a:buNone/>
              </a:pPr>
            </a:p>
          </p:txBody>
        </p:sp>
        <p:sp>
          <p:nvSpPr>
            <p:cNvPr name="Freeform 14" id="14"/>
            <p:cNvSpPr/>
            <p:nvPr/>
          </p:nvSpPr>
          <p:spPr>
            <a:xfrm>
              <a:off x="8129588" y="4606925"/>
              <a:ext cx="782638" cy="903287"/>
            </a:xfrm>
            <a:custGeom>
              <a:avLst/>
              <a:gdLst/>
              <a:ahLst/>
              <a:cxnLst/>
              <a:rect r="r" b="b" t="t" l="l"/>
              <a:pathLst>
                <a:path w="208" h="240" stroke="true" fill="norm" extrusionOk="true">
                  <a:moveTo>
                    <a:pt x="204" y="156"/>
                  </a:moveTo>
                  <a:cubicBezTo>
                    <a:pt x="48" y="0"/>
                    <a:pt x="48" y="0"/>
                    <a:pt x="48" y="0"/>
                  </a:cubicBezTo>
                  <a:cubicBezTo>
                    <a:pt x="48" y="0"/>
                    <a:pt x="48" y="0"/>
                    <a:pt x="48" y="0"/>
                  </a:cubicBezTo>
                  <a:cubicBezTo>
                    <a:pt x="54" y="6"/>
                    <a:pt x="48" y="30"/>
                    <a:pt x="35" y="53"/>
                  </a:cubicBezTo>
                  <a:cubicBezTo>
                    <a:pt x="22" y="75"/>
                    <a:pt x="7" y="89"/>
                    <a:pt x="0" y="84"/>
                  </a:cubicBezTo>
                  <a:cubicBezTo>
                    <a:pt x="156" y="240"/>
                    <a:pt x="156" y="240"/>
                    <a:pt x="156" y="240"/>
                  </a:cubicBezTo>
                  <a:cubicBezTo>
                    <a:pt x="156" y="240"/>
                    <a:pt x="173" y="237"/>
                    <a:pt x="189" y="215"/>
                  </a:cubicBezTo>
                  <a:cubicBezTo>
                    <a:pt x="190" y="213"/>
                    <a:pt x="191" y="211"/>
                    <a:pt x="192" y="209"/>
                  </a:cubicBezTo>
                  <a:cubicBezTo>
                    <a:pt x="193" y="208"/>
                    <a:pt x="194" y="206"/>
                    <a:pt x="195" y="204"/>
                  </a:cubicBezTo>
                  <a:cubicBezTo>
                    <a:pt x="208" y="179"/>
                    <a:pt x="204" y="156"/>
                    <a:pt x="204" y="156"/>
                  </a:cubicBezTo>
                  <a:close/>
                </a:path>
              </a:pathLst>
            </a:custGeom>
            <a:solidFill>
              <a:srgbClr val="C5C5C5"/>
            </a:solidFill>
            <a:ln>
              <a:noFill/>
            </a:ln>
          </p:spPr>
          <p:txBody>
            <a:bodyPr vert="horz" anchor="t" wrap="square" tIns="45720" lIns="91440" bIns="45720" rIns="91440">
              <a:prstTxWarp prst="textNoShape">
                <a:avLst/>
              </a:prstTxWarp>
            </a:bodyPr>
            <a:p>
              <a:pPr fontAlgn="auto" algn="l" indent="0" marR="0" marL="0">
                <a:lnSpc>
                  <a:spcPct val="100000"/>
                </a:lnSpc>
                <a:spcBef>
                  <a:spcPct val="0"/>
                </a:spcBef>
                <a:spcAft>
                  <a:spcPct val="0"/>
                </a:spcAft>
                <a:buNone/>
              </a:pPr>
            </a:p>
          </p:txBody>
        </p:sp>
        <p:sp>
          <p:nvSpPr>
            <p:cNvPr name="Freeform 15" id="15"/>
            <p:cNvSpPr/>
            <p:nvPr/>
          </p:nvSpPr>
          <p:spPr>
            <a:xfrm>
              <a:off x="8113713" y="4592638"/>
              <a:ext cx="219075" cy="349250"/>
            </a:xfrm>
            <a:custGeom>
              <a:avLst/>
              <a:gdLst/>
              <a:ahLst/>
              <a:cxnLst/>
              <a:rect r="r" b="b" t="t" l="l"/>
              <a:pathLst>
                <a:path w="58" h="93" stroke="true" fill="norm" extrusionOk="true">
                  <a:moveTo>
                    <a:pt x="52" y="4"/>
                  </a:moveTo>
                  <a:cubicBezTo>
                    <a:pt x="48" y="0"/>
                    <a:pt x="40" y="4"/>
                    <a:pt x="32" y="13"/>
                  </a:cubicBezTo>
                  <a:cubicBezTo>
                    <a:pt x="37" y="18"/>
                    <a:pt x="39" y="21"/>
                    <a:pt x="39" y="21"/>
                  </a:cubicBezTo>
                  <a:cubicBezTo>
                    <a:pt x="39" y="21"/>
                    <a:pt x="40" y="23"/>
                    <a:pt x="39" y="26"/>
                  </a:cubicBezTo>
                  <a:cubicBezTo>
                    <a:pt x="39" y="31"/>
                    <a:pt x="38" y="40"/>
                    <a:pt x="32" y="51"/>
                  </a:cubicBezTo>
                  <a:cubicBezTo>
                    <a:pt x="25" y="61"/>
                    <a:pt x="20" y="65"/>
                    <a:pt x="16" y="66"/>
                  </a:cubicBezTo>
                  <a:cubicBezTo>
                    <a:pt x="14" y="67"/>
                    <a:pt x="13" y="67"/>
                    <a:pt x="13" y="67"/>
                  </a:cubicBezTo>
                  <a:cubicBezTo>
                    <a:pt x="13" y="67"/>
                    <a:pt x="10" y="64"/>
                    <a:pt x="5" y="59"/>
                  </a:cubicBezTo>
                  <a:cubicBezTo>
                    <a:pt x="1" y="72"/>
                    <a:pt x="0" y="83"/>
                    <a:pt x="4" y="87"/>
                  </a:cubicBezTo>
                  <a:cubicBezTo>
                    <a:pt x="4" y="88"/>
                    <a:pt x="4" y="88"/>
                    <a:pt x="4" y="88"/>
                  </a:cubicBezTo>
                  <a:cubicBezTo>
                    <a:pt x="11" y="93"/>
                    <a:pt x="26" y="79"/>
                    <a:pt x="39" y="57"/>
                  </a:cubicBezTo>
                  <a:cubicBezTo>
                    <a:pt x="52" y="34"/>
                    <a:pt x="58" y="10"/>
                    <a:pt x="52" y="4"/>
                  </a:cubicBezTo>
                  <a:close/>
                </a:path>
              </a:pathLst>
            </a:custGeom>
            <a:solidFill>
              <a:srgbClr val="B1B1B1"/>
            </a:solidFill>
            <a:ln>
              <a:noFill/>
            </a:ln>
          </p:spPr>
          <p:txBody>
            <a:bodyPr vert="horz" anchor="t" wrap="square" tIns="45720" lIns="91440" bIns="45720" rIns="91440">
              <a:prstTxWarp prst="textNoShape">
                <a:avLst/>
              </a:prstTxWarp>
            </a:bodyPr>
            <a:p>
              <a:pPr fontAlgn="auto" algn="l" indent="0" marR="0" marL="0">
                <a:lnSpc>
                  <a:spcPct val="100000"/>
                </a:lnSpc>
                <a:spcBef>
                  <a:spcPct val="0"/>
                </a:spcBef>
                <a:spcAft>
                  <a:spcPct val="0"/>
                </a:spcAft>
                <a:buNone/>
              </a:pPr>
            </a:p>
          </p:txBody>
        </p:sp>
        <p:sp>
          <p:nvSpPr>
            <p:cNvPr name="Freeform 16" id="16"/>
            <p:cNvSpPr/>
            <p:nvPr/>
          </p:nvSpPr>
          <p:spPr>
            <a:xfrm>
              <a:off x="6076950" y="3233738"/>
              <a:ext cx="754063" cy="647700"/>
            </a:xfrm>
            <a:custGeom>
              <a:avLst/>
              <a:gdLst/>
              <a:ahLst/>
              <a:cxnLst/>
              <a:rect r="r" b="b" t="t" l="l"/>
              <a:pathLst>
                <a:path w="200" h="172" stroke="true" fill="norm" extrusionOk="true">
                  <a:moveTo>
                    <a:pt x="82" y="64"/>
                  </a:moveTo>
                  <a:cubicBezTo>
                    <a:pt x="105" y="25"/>
                    <a:pt x="156" y="22"/>
                    <a:pt x="200" y="38"/>
                  </a:cubicBezTo>
                  <a:cubicBezTo>
                    <a:pt x="200" y="37"/>
                    <a:pt x="199" y="36"/>
                    <a:pt x="200" y="36"/>
                  </a:cubicBezTo>
                  <a:cubicBezTo>
                    <a:pt x="159" y="13"/>
                    <a:pt x="108" y="0"/>
                    <a:pt x="73" y="14"/>
                  </a:cubicBezTo>
                  <a:cubicBezTo>
                    <a:pt x="5" y="41"/>
                    <a:pt x="0" y="80"/>
                    <a:pt x="8" y="126"/>
                  </a:cubicBezTo>
                  <a:cubicBezTo>
                    <a:pt x="13" y="151"/>
                    <a:pt x="34" y="167"/>
                    <a:pt x="63" y="172"/>
                  </a:cubicBezTo>
                  <a:cubicBezTo>
                    <a:pt x="57" y="136"/>
                    <a:pt x="63" y="96"/>
                    <a:pt x="82" y="64"/>
                  </a:cubicBezTo>
                  <a:close/>
                </a:path>
              </a:pathLst>
            </a:custGeom>
            <a:solidFill>
              <a:srgbClr val="878787"/>
            </a:solidFill>
            <a:ln>
              <a:noFill/>
            </a:ln>
          </p:spPr>
          <p:txBody>
            <a:bodyPr vert="horz" anchor="t" wrap="square" tIns="45720" lIns="91440" bIns="45720" rIns="91440">
              <a:prstTxWarp prst="textNoShape">
                <a:avLst/>
              </a:prstTxWarp>
            </a:bodyPr>
            <a:p>
              <a:pPr fontAlgn="auto" algn="l" indent="0" marR="0" marL="0">
                <a:lnSpc>
                  <a:spcPct val="100000"/>
                </a:lnSpc>
                <a:spcBef>
                  <a:spcPct val="0"/>
                </a:spcBef>
                <a:spcAft>
                  <a:spcPct val="0"/>
                </a:spcAft>
                <a:buNone/>
              </a:pPr>
            </a:p>
          </p:txBody>
        </p:sp>
        <p:sp>
          <p:nvSpPr>
            <p:cNvPr name="Freeform 17" id="17"/>
            <p:cNvSpPr/>
            <p:nvPr/>
          </p:nvSpPr>
          <p:spPr>
            <a:xfrm>
              <a:off x="6634163" y="2638425"/>
              <a:ext cx="279400" cy="730250"/>
            </a:xfrm>
            <a:custGeom>
              <a:avLst/>
              <a:gdLst/>
              <a:ahLst/>
              <a:cxnLst/>
              <a:rect r="r" b="b" t="t" l="l"/>
              <a:pathLst>
                <a:path w="74" h="194" stroke="true" fill="norm" extrusionOk="true">
                  <a:moveTo>
                    <a:pt x="40" y="38"/>
                  </a:moveTo>
                  <a:cubicBezTo>
                    <a:pt x="50" y="21"/>
                    <a:pt x="62" y="9"/>
                    <a:pt x="74" y="0"/>
                  </a:cubicBezTo>
                  <a:cubicBezTo>
                    <a:pt x="32" y="10"/>
                    <a:pt x="0" y="31"/>
                    <a:pt x="1" y="100"/>
                  </a:cubicBezTo>
                  <a:cubicBezTo>
                    <a:pt x="1" y="132"/>
                    <a:pt x="23" y="166"/>
                    <a:pt x="52" y="194"/>
                  </a:cubicBezTo>
                  <a:cubicBezTo>
                    <a:pt x="52" y="194"/>
                    <a:pt x="52" y="194"/>
                    <a:pt x="52" y="194"/>
                  </a:cubicBezTo>
                  <a:cubicBezTo>
                    <a:pt x="29" y="143"/>
                    <a:pt x="18" y="77"/>
                    <a:pt x="40" y="38"/>
                  </a:cubicBezTo>
                  <a:close/>
                </a:path>
              </a:pathLst>
            </a:custGeom>
            <a:solidFill>
              <a:srgbClr val="878787"/>
            </a:solidFill>
            <a:ln>
              <a:noFill/>
            </a:ln>
          </p:spPr>
          <p:txBody>
            <a:bodyPr vert="horz" anchor="t" wrap="square" tIns="45720" lIns="91440" bIns="45720" rIns="91440">
              <a:prstTxWarp prst="textNoShape">
                <a:avLst/>
              </a:prstTxWarp>
            </a:bodyPr>
            <a:p>
              <a:pPr fontAlgn="auto" algn="l" indent="0" marR="0" marL="0">
                <a:lnSpc>
                  <a:spcPct val="100000"/>
                </a:lnSpc>
                <a:spcBef>
                  <a:spcPct val="0"/>
                </a:spcBef>
                <a:spcAft>
                  <a:spcPct val="0"/>
                </a:spcAft>
                <a:buNone/>
              </a:pPr>
            </a:p>
          </p:txBody>
        </p:sp>
        <p:sp>
          <p:nvSpPr>
            <p:cNvPr name="Freeform 18" id="18"/>
            <p:cNvSpPr/>
            <p:nvPr/>
          </p:nvSpPr>
          <p:spPr>
            <a:xfrm>
              <a:off x="6291263" y="3316288"/>
              <a:ext cx="803275" cy="974725"/>
            </a:xfrm>
            <a:custGeom>
              <a:avLst/>
              <a:gdLst/>
              <a:ahLst/>
              <a:cxnLst/>
              <a:rect r="r" b="b" t="t" l="l"/>
              <a:pathLst>
                <a:path w="213" h="259" stroke="true" fill="norm" extrusionOk="true">
                  <a:moveTo>
                    <a:pt x="199" y="83"/>
                  </a:moveTo>
                  <a:cubicBezTo>
                    <a:pt x="173" y="54"/>
                    <a:pt x="145" y="23"/>
                    <a:pt x="143" y="16"/>
                  </a:cubicBezTo>
                  <a:cubicBezTo>
                    <a:pt x="99" y="0"/>
                    <a:pt x="48" y="3"/>
                    <a:pt x="25" y="42"/>
                  </a:cubicBezTo>
                  <a:cubicBezTo>
                    <a:pt x="6" y="74"/>
                    <a:pt x="0" y="114"/>
                    <a:pt x="6" y="150"/>
                  </a:cubicBezTo>
                  <a:cubicBezTo>
                    <a:pt x="11" y="176"/>
                    <a:pt x="22" y="201"/>
                    <a:pt x="39" y="218"/>
                  </a:cubicBezTo>
                  <a:cubicBezTo>
                    <a:pt x="80" y="259"/>
                    <a:pt x="140" y="246"/>
                    <a:pt x="172" y="190"/>
                  </a:cubicBezTo>
                  <a:cubicBezTo>
                    <a:pt x="191" y="158"/>
                    <a:pt x="207" y="130"/>
                    <a:pt x="211" y="104"/>
                  </a:cubicBezTo>
                  <a:cubicBezTo>
                    <a:pt x="212" y="102"/>
                    <a:pt x="213" y="101"/>
                    <a:pt x="213" y="99"/>
                  </a:cubicBezTo>
                  <a:cubicBezTo>
                    <a:pt x="213" y="99"/>
                    <a:pt x="213" y="98"/>
                    <a:pt x="212" y="98"/>
                  </a:cubicBezTo>
                  <a:cubicBezTo>
                    <a:pt x="207" y="92"/>
                    <a:pt x="203" y="87"/>
                    <a:pt x="199" y="83"/>
                  </a:cubicBezTo>
                  <a:close/>
                </a:path>
              </a:pathLst>
            </a:custGeom>
            <a:solidFill>
              <a:srgbClr val="878787">
                <a:lumMod val="60000"/>
                <a:lumOff val="40000"/>
              </a:srgbClr>
            </a:solidFill>
            <a:ln>
              <a:noFill/>
            </a:ln>
          </p:spPr>
          <p:txBody>
            <a:bodyPr vert="horz" anchor="t" wrap="square" tIns="45720" lIns="91440" bIns="45720" rIns="91440">
              <a:prstTxWarp prst="textNoShape">
                <a:avLst/>
              </a:prstTxWarp>
            </a:bodyPr>
            <a:p>
              <a:pPr fontAlgn="auto" algn="l" indent="0" marR="0" marL="0">
                <a:lnSpc>
                  <a:spcPct val="100000"/>
                </a:lnSpc>
                <a:spcBef>
                  <a:spcPct val="0"/>
                </a:spcBef>
                <a:spcAft>
                  <a:spcPct val="0"/>
                </a:spcAft>
                <a:buNone/>
              </a:pPr>
            </a:p>
          </p:txBody>
        </p:sp>
        <p:sp>
          <p:nvSpPr>
            <p:cNvPr name="Freeform 19" id="19"/>
            <p:cNvSpPr/>
            <p:nvPr/>
          </p:nvSpPr>
          <p:spPr>
            <a:xfrm>
              <a:off x="6702425" y="2555876"/>
              <a:ext cx="763588" cy="1065212"/>
            </a:xfrm>
            <a:custGeom>
              <a:avLst/>
              <a:gdLst/>
              <a:ahLst/>
              <a:cxnLst/>
              <a:rect r="r" b="b" t="t" l="l"/>
              <a:pathLst>
                <a:path w="203" h="283" stroke="true" fill="norm" extrusionOk="true">
                  <a:moveTo>
                    <a:pt x="22" y="60"/>
                  </a:moveTo>
                  <a:cubicBezTo>
                    <a:pt x="0" y="99"/>
                    <a:pt x="11" y="165"/>
                    <a:pt x="34" y="216"/>
                  </a:cubicBezTo>
                  <a:cubicBezTo>
                    <a:pt x="37" y="216"/>
                    <a:pt x="55" y="231"/>
                    <a:pt x="72" y="246"/>
                  </a:cubicBezTo>
                  <a:cubicBezTo>
                    <a:pt x="79" y="252"/>
                    <a:pt x="87" y="259"/>
                    <a:pt x="95" y="267"/>
                  </a:cubicBezTo>
                  <a:cubicBezTo>
                    <a:pt x="97" y="268"/>
                    <a:pt x="98" y="269"/>
                    <a:pt x="99" y="270"/>
                  </a:cubicBezTo>
                  <a:cubicBezTo>
                    <a:pt x="103" y="274"/>
                    <a:pt x="108" y="278"/>
                    <a:pt x="113" y="283"/>
                  </a:cubicBezTo>
                  <a:cubicBezTo>
                    <a:pt x="133" y="272"/>
                    <a:pt x="150" y="241"/>
                    <a:pt x="170" y="207"/>
                  </a:cubicBezTo>
                  <a:cubicBezTo>
                    <a:pt x="203" y="151"/>
                    <a:pt x="196" y="72"/>
                    <a:pt x="155" y="31"/>
                  </a:cubicBezTo>
                  <a:cubicBezTo>
                    <a:pt x="126" y="2"/>
                    <a:pt x="88" y="0"/>
                    <a:pt x="56" y="22"/>
                  </a:cubicBezTo>
                  <a:cubicBezTo>
                    <a:pt x="44" y="31"/>
                    <a:pt x="32" y="43"/>
                    <a:pt x="22" y="60"/>
                  </a:cubicBezTo>
                  <a:close/>
                </a:path>
              </a:pathLst>
            </a:custGeom>
            <a:solidFill>
              <a:srgbClr val="878787">
                <a:lumMod val="60000"/>
                <a:lumOff val="40000"/>
              </a:srgbClr>
            </a:solidFill>
            <a:ln>
              <a:noFill/>
            </a:ln>
          </p:spPr>
          <p:txBody>
            <a:bodyPr vert="horz" anchor="t" wrap="square" tIns="45720" lIns="91440" bIns="45720" rIns="91440">
              <a:prstTxWarp prst="textNoShape">
                <a:avLst/>
              </a:prstTxWarp>
            </a:bodyPr>
            <a:p>
              <a:pPr fontAlgn="auto" algn="l" indent="0" marR="0" marL="0">
                <a:lnSpc>
                  <a:spcPct val="100000"/>
                </a:lnSpc>
                <a:spcBef>
                  <a:spcPct val="0"/>
                </a:spcBef>
                <a:spcAft>
                  <a:spcPct val="0"/>
                </a:spcAft>
                <a:buNone/>
              </a:pPr>
            </a:p>
          </p:txBody>
        </p:sp>
        <p:sp>
          <p:nvSpPr>
            <p:cNvPr name="Freeform 20" id="20"/>
            <p:cNvSpPr/>
            <p:nvPr/>
          </p:nvSpPr>
          <p:spPr>
            <a:xfrm>
              <a:off x="6826250" y="3368675"/>
              <a:ext cx="1438275" cy="1476375"/>
            </a:xfrm>
            <a:custGeom>
              <a:avLst/>
              <a:gdLst/>
              <a:ahLst/>
              <a:cxnLst/>
              <a:rect r="r" b="b" t="t" l="l"/>
              <a:pathLst>
                <a:path w="382" h="392" stroke="true" fill="norm" extrusionOk="true">
                  <a:moveTo>
                    <a:pt x="381" y="346"/>
                  </a:moveTo>
                  <a:cubicBezTo>
                    <a:pt x="381" y="346"/>
                    <a:pt x="379" y="343"/>
                    <a:pt x="374" y="338"/>
                  </a:cubicBezTo>
                  <a:cubicBezTo>
                    <a:pt x="337" y="304"/>
                    <a:pt x="177" y="154"/>
                    <a:pt x="80" y="67"/>
                  </a:cubicBezTo>
                  <a:cubicBezTo>
                    <a:pt x="75" y="62"/>
                    <a:pt x="70" y="58"/>
                    <a:pt x="66" y="54"/>
                  </a:cubicBezTo>
                  <a:cubicBezTo>
                    <a:pt x="65" y="53"/>
                    <a:pt x="64" y="52"/>
                    <a:pt x="62" y="51"/>
                  </a:cubicBezTo>
                  <a:cubicBezTo>
                    <a:pt x="54" y="43"/>
                    <a:pt x="46" y="36"/>
                    <a:pt x="39" y="30"/>
                  </a:cubicBezTo>
                  <a:cubicBezTo>
                    <a:pt x="22" y="15"/>
                    <a:pt x="4" y="0"/>
                    <a:pt x="1" y="0"/>
                  </a:cubicBezTo>
                  <a:cubicBezTo>
                    <a:pt x="1" y="0"/>
                    <a:pt x="1" y="0"/>
                    <a:pt x="1" y="0"/>
                  </a:cubicBezTo>
                  <a:cubicBezTo>
                    <a:pt x="1" y="0"/>
                    <a:pt x="1" y="0"/>
                    <a:pt x="1" y="0"/>
                  </a:cubicBezTo>
                  <a:cubicBezTo>
                    <a:pt x="1" y="0"/>
                    <a:pt x="1" y="0"/>
                    <a:pt x="1" y="0"/>
                  </a:cubicBezTo>
                  <a:cubicBezTo>
                    <a:pt x="0" y="0"/>
                    <a:pt x="1" y="1"/>
                    <a:pt x="1" y="2"/>
                  </a:cubicBezTo>
                  <a:cubicBezTo>
                    <a:pt x="3" y="9"/>
                    <a:pt x="31" y="40"/>
                    <a:pt x="57" y="69"/>
                  </a:cubicBezTo>
                  <a:cubicBezTo>
                    <a:pt x="61" y="73"/>
                    <a:pt x="65" y="78"/>
                    <a:pt x="70" y="84"/>
                  </a:cubicBezTo>
                  <a:cubicBezTo>
                    <a:pt x="71" y="84"/>
                    <a:pt x="71" y="85"/>
                    <a:pt x="71" y="85"/>
                  </a:cubicBezTo>
                  <a:cubicBezTo>
                    <a:pt x="162" y="186"/>
                    <a:pt x="312" y="347"/>
                    <a:pt x="347" y="384"/>
                  </a:cubicBezTo>
                  <a:cubicBezTo>
                    <a:pt x="352" y="389"/>
                    <a:pt x="355" y="392"/>
                    <a:pt x="355" y="392"/>
                  </a:cubicBezTo>
                  <a:cubicBezTo>
                    <a:pt x="355" y="392"/>
                    <a:pt x="356" y="392"/>
                    <a:pt x="358" y="391"/>
                  </a:cubicBezTo>
                  <a:cubicBezTo>
                    <a:pt x="362" y="390"/>
                    <a:pt x="367" y="386"/>
                    <a:pt x="374" y="376"/>
                  </a:cubicBezTo>
                  <a:cubicBezTo>
                    <a:pt x="380" y="365"/>
                    <a:pt x="381" y="356"/>
                    <a:pt x="381" y="351"/>
                  </a:cubicBezTo>
                  <a:cubicBezTo>
                    <a:pt x="382" y="348"/>
                    <a:pt x="381" y="346"/>
                    <a:pt x="381" y="346"/>
                  </a:cubicBezTo>
                  <a:close/>
                </a:path>
              </a:pathLst>
            </a:custGeom>
            <a:solidFill>
              <a:srgbClr val="878787"/>
            </a:solidFill>
            <a:ln>
              <a:noFill/>
            </a:ln>
          </p:spPr>
          <p:txBody>
            <a:bodyPr vert="horz" anchor="t" wrap="square" tIns="45720" lIns="91440" bIns="45720" rIns="91440">
              <a:prstTxWarp prst="textNoShape">
                <a:avLst/>
              </a:prstTxWarp>
            </a:bodyPr>
            <a:p>
              <a:pPr fontAlgn="auto" algn="l" indent="0" marR="0" marL="0">
                <a:lnSpc>
                  <a:spcPct val="100000"/>
                </a:lnSpc>
                <a:spcBef>
                  <a:spcPct val="0"/>
                </a:spcBef>
                <a:spcAft>
                  <a:spcPct val="0"/>
                </a:spcAft>
                <a:buNone/>
              </a:pPr>
            </a:p>
          </p:txBody>
        </p:sp>
      </p:grpSp>
      <p:grpSp>
        <p:nvGrpSpPr>
          <p:cNvPr name="Group 21" id="21"/>
          <p:cNvGrpSpPr/>
          <p:nvPr/>
        </p:nvGrpSpPr>
        <p:grpSpPr>
          <a:xfrm>
            <a:off x="7593909" y="1613056"/>
            <a:ext cx="1736965" cy="1774337"/>
            <a:chOff x="5920323" y="2302554"/>
            <a:chExt cx="2180669" cy="2227927"/>
          </a:xfrm>
          <a:effectLst>
            <a:outerShdw algn="bl" blurRad="177800" dir="18900000" rotWithShape="false" sy="23000">
              <a:srgbClr val="000000">
                <a:alpha val="29000"/>
              </a:srgbClr>
            </a:outerShdw>
          </a:effectLst>
        </p:grpSpPr>
        <p:sp>
          <p:nvSpPr>
            <p:cNvPr name="Freeform 22" id="22"/>
            <p:cNvSpPr/>
            <p:nvPr/>
          </p:nvSpPr>
          <p:spPr>
            <a:xfrm>
              <a:off x="7879324" y="4300937"/>
              <a:ext cx="221668" cy="229544"/>
            </a:xfrm>
            <a:custGeom>
              <a:avLst/>
              <a:gdLst/>
              <a:ahLst/>
              <a:cxnLst/>
              <a:rect r="r" b="b" t="t" l="l"/>
              <a:pathLst>
                <a:path w="83" h="86" stroke="true" fill="norm" extrusionOk="true">
                  <a:moveTo>
                    <a:pt x="68" y="68"/>
                  </a:moveTo>
                  <a:cubicBezTo>
                    <a:pt x="59" y="57"/>
                    <a:pt x="46" y="44"/>
                    <a:pt x="34" y="30"/>
                  </a:cubicBezTo>
                  <a:cubicBezTo>
                    <a:pt x="28" y="23"/>
                    <a:pt x="22" y="16"/>
                    <a:pt x="16" y="10"/>
                  </a:cubicBezTo>
                  <a:cubicBezTo>
                    <a:pt x="13" y="6"/>
                    <a:pt x="9" y="3"/>
                    <a:pt x="6" y="0"/>
                  </a:cubicBezTo>
                  <a:cubicBezTo>
                    <a:pt x="5" y="2"/>
                    <a:pt x="4" y="4"/>
                    <a:pt x="3" y="5"/>
                  </a:cubicBezTo>
                  <a:cubicBezTo>
                    <a:pt x="2" y="7"/>
                    <a:pt x="1" y="9"/>
                    <a:pt x="0" y="11"/>
                  </a:cubicBezTo>
                  <a:cubicBezTo>
                    <a:pt x="3" y="14"/>
                    <a:pt x="6" y="18"/>
                    <a:pt x="9" y="21"/>
                  </a:cubicBezTo>
                  <a:cubicBezTo>
                    <a:pt x="15" y="27"/>
                    <a:pt x="22" y="33"/>
                    <a:pt x="29" y="39"/>
                  </a:cubicBezTo>
                  <a:cubicBezTo>
                    <a:pt x="42" y="51"/>
                    <a:pt x="56" y="63"/>
                    <a:pt x="66" y="72"/>
                  </a:cubicBezTo>
                  <a:cubicBezTo>
                    <a:pt x="76" y="81"/>
                    <a:pt x="83" y="86"/>
                    <a:pt x="83" y="86"/>
                  </a:cubicBezTo>
                  <a:cubicBezTo>
                    <a:pt x="83" y="85"/>
                    <a:pt x="83" y="85"/>
                    <a:pt x="83" y="85"/>
                  </a:cubicBezTo>
                  <a:cubicBezTo>
                    <a:pt x="83" y="85"/>
                    <a:pt x="77" y="78"/>
                    <a:pt x="68" y="68"/>
                  </a:cubicBezTo>
                  <a:close/>
                </a:path>
              </a:pathLst>
            </a:custGeom>
            <a:solidFill>
              <a:srgbClr val="B1B1B1"/>
            </a:solidFill>
            <a:ln>
              <a:noFill/>
            </a:ln>
          </p:spPr>
          <p:txBody>
            <a:bodyPr vert="horz" anchor="t" wrap="square" tIns="45720" lIns="91440" bIns="45720" rIns="91440">
              <a:prstTxWarp prst="textNoShape">
                <a:avLst/>
              </a:prstTxWarp>
            </a:bodyPr>
            <a:p>
              <a:pPr fontAlgn="auto" algn="l" indent="0" marR="0" marL="0">
                <a:lnSpc>
                  <a:spcPct val="100000"/>
                </a:lnSpc>
                <a:spcBef>
                  <a:spcPct val="0"/>
                </a:spcBef>
                <a:spcAft>
                  <a:spcPct val="0"/>
                </a:spcAft>
                <a:buNone/>
              </a:pPr>
            </a:p>
          </p:txBody>
        </p:sp>
        <p:sp>
          <p:nvSpPr>
            <p:cNvPr name="Freeform 23" id="23"/>
            <p:cNvSpPr/>
            <p:nvPr/>
          </p:nvSpPr>
          <p:spPr>
            <a:xfrm>
              <a:off x="7375227" y="3756332"/>
              <a:ext cx="554732" cy="640248"/>
            </a:xfrm>
            <a:custGeom>
              <a:avLst/>
              <a:gdLst/>
              <a:ahLst/>
              <a:cxnLst/>
              <a:rect r="r" b="b" t="t" l="l"/>
              <a:pathLst>
                <a:path w="208" h="240" stroke="true" fill="norm" extrusionOk="true">
                  <a:moveTo>
                    <a:pt x="204" y="156"/>
                  </a:moveTo>
                  <a:cubicBezTo>
                    <a:pt x="48" y="0"/>
                    <a:pt x="48" y="0"/>
                    <a:pt x="48" y="0"/>
                  </a:cubicBezTo>
                  <a:cubicBezTo>
                    <a:pt x="48" y="0"/>
                    <a:pt x="48" y="0"/>
                    <a:pt x="48" y="0"/>
                  </a:cubicBezTo>
                  <a:cubicBezTo>
                    <a:pt x="54" y="6"/>
                    <a:pt x="48" y="30"/>
                    <a:pt x="35" y="53"/>
                  </a:cubicBezTo>
                  <a:cubicBezTo>
                    <a:pt x="22" y="75"/>
                    <a:pt x="7" y="89"/>
                    <a:pt x="0" y="84"/>
                  </a:cubicBezTo>
                  <a:cubicBezTo>
                    <a:pt x="156" y="240"/>
                    <a:pt x="156" y="240"/>
                    <a:pt x="156" y="240"/>
                  </a:cubicBezTo>
                  <a:cubicBezTo>
                    <a:pt x="156" y="240"/>
                    <a:pt x="173" y="237"/>
                    <a:pt x="189" y="215"/>
                  </a:cubicBezTo>
                  <a:cubicBezTo>
                    <a:pt x="190" y="213"/>
                    <a:pt x="191" y="211"/>
                    <a:pt x="192" y="209"/>
                  </a:cubicBezTo>
                  <a:cubicBezTo>
                    <a:pt x="193" y="208"/>
                    <a:pt x="194" y="206"/>
                    <a:pt x="195" y="204"/>
                  </a:cubicBezTo>
                  <a:cubicBezTo>
                    <a:pt x="208" y="179"/>
                    <a:pt x="204" y="156"/>
                    <a:pt x="204" y="156"/>
                  </a:cubicBezTo>
                  <a:close/>
                </a:path>
              </a:pathLst>
            </a:custGeom>
            <a:solidFill>
              <a:srgbClr val="C5C5C5"/>
            </a:solidFill>
            <a:ln>
              <a:noFill/>
            </a:ln>
          </p:spPr>
          <p:txBody>
            <a:bodyPr vert="horz" anchor="t" wrap="square" tIns="45720" lIns="91440" bIns="45720" rIns="91440">
              <a:prstTxWarp prst="textNoShape">
                <a:avLst/>
              </a:prstTxWarp>
            </a:bodyPr>
            <a:p>
              <a:pPr fontAlgn="auto" algn="l" indent="0" marR="0" marL="0">
                <a:lnSpc>
                  <a:spcPct val="100000"/>
                </a:lnSpc>
                <a:spcBef>
                  <a:spcPct val="0"/>
                </a:spcBef>
                <a:spcAft>
                  <a:spcPct val="0"/>
                </a:spcAft>
                <a:buNone/>
              </a:pPr>
            </a:p>
          </p:txBody>
        </p:sp>
        <p:sp>
          <p:nvSpPr>
            <p:cNvPr name="Freeform 24" id="24"/>
            <p:cNvSpPr/>
            <p:nvPr/>
          </p:nvSpPr>
          <p:spPr>
            <a:xfrm>
              <a:off x="7363975" y="3746206"/>
              <a:ext cx="155280" cy="247548"/>
            </a:xfrm>
            <a:custGeom>
              <a:avLst/>
              <a:gdLst/>
              <a:ahLst/>
              <a:cxnLst/>
              <a:rect r="r" b="b" t="t" l="l"/>
              <a:pathLst>
                <a:path w="58" h="93" stroke="true" fill="norm" extrusionOk="true">
                  <a:moveTo>
                    <a:pt x="52" y="4"/>
                  </a:moveTo>
                  <a:cubicBezTo>
                    <a:pt x="48" y="0"/>
                    <a:pt x="40" y="4"/>
                    <a:pt x="32" y="13"/>
                  </a:cubicBezTo>
                  <a:cubicBezTo>
                    <a:pt x="37" y="18"/>
                    <a:pt x="39" y="21"/>
                    <a:pt x="39" y="21"/>
                  </a:cubicBezTo>
                  <a:cubicBezTo>
                    <a:pt x="39" y="21"/>
                    <a:pt x="40" y="23"/>
                    <a:pt x="39" y="26"/>
                  </a:cubicBezTo>
                  <a:cubicBezTo>
                    <a:pt x="39" y="31"/>
                    <a:pt x="38" y="40"/>
                    <a:pt x="32" y="51"/>
                  </a:cubicBezTo>
                  <a:cubicBezTo>
                    <a:pt x="25" y="61"/>
                    <a:pt x="20" y="65"/>
                    <a:pt x="16" y="66"/>
                  </a:cubicBezTo>
                  <a:cubicBezTo>
                    <a:pt x="14" y="67"/>
                    <a:pt x="13" y="67"/>
                    <a:pt x="13" y="67"/>
                  </a:cubicBezTo>
                  <a:cubicBezTo>
                    <a:pt x="13" y="67"/>
                    <a:pt x="10" y="64"/>
                    <a:pt x="5" y="59"/>
                  </a:cubicBezTo>
                  <a:cubicBezTo>
                    <a:pt x="1" y="72"/>
                    <a:pt x="0" y="83"/>
                    <a:pt x="4" y="87"/>
                  </a:cubicBezTo>
                  <a:cubicBezTo>
                    <a:pt x="4" y="88"/>
                    <a:pt x="4" y="88"/>
                    <a:pt x="4" y="88"/>
                  </a:cubicBezTo>
                  <a:cubicBezTo>
                    <a:pt x="11" y="93"/>
                    <a:pt x="26" y="79"/>
                    <a:pt x="39" y="57"/>
                  </a:cubicBezTo>
                  <a:cubicBezTo>
                    <a:pt x="52" y="34"/>
                    <a:pt x="58" y="10"/>
                    <a:pt x="52" y="4"/>
                  </a:cubicBezTo>
                  <a:close/>
                </a:path>
              </a:pathLst>
            </a:custGeom>
            <a:solidFill>
              <a:srgbClr val="B1B1B1"/>
            </a:solidFill>
            <a:ln>
              <a:noFill/>
            </a:ln>
          </p:spPr>
          <p:txBody>
            <a:bodyPr vert="horz" anchor="t" wrap="square" tIns="45720" lIns="91440" bIns="45720" rIns="91440">
              <a:prstTxWarp prst="textNoShape">
                <a:avLst/>
              </a:prstTxWarp>
            </a:bodyPr>
            <a:p>
              <a:pPr fontAlgn="auto" algn="l" indent="0" marR="0" marL="0">
                <a:lnSpc>
                  <a:spcPct val="100000"/>
                </a:lnSpc>
                <a:spcBef>
                  <a:spcPct val="0"/>
                </a:spcBef>
                <a:spcAft>
                  <a:spcPct val="0"/>
                </a:spcAft>
                <a:buNone/>
              </a:pPr>
            </a:p>
          </p:txBody>
        </p:sp>
        <p:sp>
          <p:nvSpPr>
            <p:cNvPr name="Freeform 25" id="25"/>
            <p:cNvSpPr/>
            <p:nvPr/>
          </p:nvSpPr>
          <p:spPr>
            <a:xfrm>
              <a:off x="5920323" y="2783021"/>
              <a:ext cx="534478" cy="459088"/>
            </a:xfrm>
            <a:custGeom>
              <a:avLst/>
              <a:gdLst/>
              <a:ahLst/>
              <a:cxnLst/>
              <a:rect r="r" b="b" t="t" l="l"/>
              <a:pathLst>
                <a:path w="200" h="172" stroke="true" fill="norm" extrusionOk="true">
                  <a:moveTo>
                    <a:pt x="82" y="64"/>
                  </a:moveTo>
                  <a:cubicBezTo>
                    <a:pt x="105" y="25"/>
                    <a:pt x="156" y="22"/>
                    <a:pt x="200" y="38"/>
                  </a:cubicBezTo>
                  <a:cubicBezTo>
                    <a:pt x="200" y="37"/>
                    <a:pt x="199" y="36"/>
                    <a:pt x="200" y="36"/>
                  </a:cubicBezTo>
                  <a:cubicBezTo>
                    <a:pt x="159" y="13"/>
                    <a:pt x="108" y="0"/>
                    <a:pt x="73" y="14"/>
                  </a:cubicBezTo>
                  <a:cubicBezTo>
                    <a:pt x="5" y="41"/>
                    <a:pt x="0" y="80"/>
                    <a:pt x="8" y="126"/>
                  </a:cubicBezTo>
                  <a:cubicBezTo>
                    <a:pt x="13" y="151"/>
                    <a:pt x="34" y="167"/>
                    <a:pt x="63" y="172"/>
                  </a:cubicBezTo>
                  <a:cubicBezTo>
                    <a:pt x="57" y="136"/>
                    <a:pt x="63" y="96"/>
                    <a:pt x="82" y="64"/>
                  </a:cubicBezTo>
                  <a:close/>
                </a:path>
              </a:pathLst>
            </a:custGeom>
            <a:solidFill>
              <a:srgbClr val="007448"/>
            </a:solidFill>
            <a:ln>
              <a:noFill/>
            </a:ln>
          </p:spPr>
          <p:txBody>
            <a:bodyPr vert="horz" anchor="t" wrap="square" tIns="45720" lIns="91440" bIns="45720" rIns="91440">
              <a:prstTxWarp prst="textNoShape">
                <a:avLst/>
              </a:prstTxWarp>
            </a:bodyPr>
            <a:p>
              <a:pPr fontAlgn="auto" algn="l" indent="0" marR="0" marL="0">
                <a:lnSpc>
                  <a:spcPct val="100000"/>
                </a:lnSpc>
                <a:spcBef>
                  <a:spcPct val="0"/>
                </a:spcBef>
                <a:spcAft>
                  <a:spcPct val="0"/>
                </a:spcAft>
                <a:buNone/>
              </a:pPr>
            </a:p>
          </p:txBody>
        </p:sp>
        <p:sp>
          <p:nvSpPr>
            <p:cNvPr name="Freeform 26" id="26"/>
            <p:cNvSpPr/>
            <p:nvPr/>
          </p:nvSpPr>
          <p:spPr>
            <a:xfrm>
              <a:off x="6315274" y="2361065"/>
              <a:ext cx="198038" cy="517599"/>
            </a:xfrm>
            <a:custGeom>
              <a:avLst/>
              <a:gdLst/>
              <a:ahLst/>
              <a:cxnLst/>
              <a:rect r="r" b="b" t="t" l="l"/>
              <a:pathLst>
                <a:path w="74" h="194" stroke="true" fill="norm" extrusionOk="true">
                  <a:moveTo>
                    <a:pt x="40" y="38"/>
                  </a:moveTo>
                  <a:cubicBezTo>
                    <a:pt x="50" y="21"/>
                    <a:pt x="62" y="9"/>
                    <a:pt x="74" y="0"/>
                  </a:cubicBezTo>
                  <a:cubicBezTo>
                    <a:pt x="32" y="10"/>
                    <a:pt x="0" y="31"/>
                    <a:pt x="1" y="100"/>
                  </a:cubicBezTo>
                  <a:cubicBezTo>
                    <a:pt x="1" y="132"/>
                    <a:pt x="23" y="166"/>
                    <a:pt x="52" y="194"/>
                  </a:cubicBezTo>
                  <a:cubicBezTo>
                    <a:pt x="52" y="194"/>
                    <a:pt x="52" y="194"/>
                    <a:pt x="52" y="194"/>
                  </a:cubicBezTo>
                  <a:cubicBezTo>
                    <a:pt x="29" y="143"/>
                    <a:pt x="18" y="77"/>
                    <a:pt x="40" y="38"/>
                  </a:cubicBezTo>
                  <a:close/>
                </a:path>
              </a:pathLst>
            </a:custGeom>
            <a:solidFill>
              <a:srgbClr val="007448"/>
            </a:solidFill>
            <a:ln>
              <a:noFill/>
            </a:ln>
          </p:spPr>
          <p:txBody>
            <a:bodyPr vert="horz" anchor="t" wrap="square" tIns="45720" lIns="91440" bIns="45720" rIns="91440">
              <a:prstTxWarp prst="textNoShape">
                <a:avLst/>
              </a:prstTxWarp>
            </a:bodyPr>
            <a:p>
              <a:pPr fontAlgn="auto" algn="l" indent="0" marR="0" marL="0">
                <a:lnSpc>
                  <a:spcPct val="100000"/>
                </a:lnSpc>
                <a:spcBef>
                  <a:spcPct val="0"/>
                </a:spcBef>
                <a:spcAft>
                  <a:spcPct val="0"/>
                </a:spcAft>
                <a:buNone/>
              </a:pPr>
            </a:p>
          </p:txBody>
        </p:sp>
        <p:sp>
          <p:nvSpPr>
            <p:cNvPr name="Freeform 27" id="27"/>
            <p:cNvSpPr/>
            <p:nvPr/>
          </p:nvSpPr>
          <p:spPr>
            <a:xfrm>
              <a:off x="6072227" y="2841532"/>
              <a:ext cx="569359" cy="690883"/>
            </a:xfrm>
            <a:custGeom>
              <a:avLst/>
              <a:gdLst/>
              <a:ahLst/>
              <a:cxnLst/>
              <a:rect r="r" b="b" t="t" l="l"/>
              <a:pathLst>
                <a:path w="213" h="259" stroke="true" fill="norm" extrusionOk="true">
                  <a:moveTo>
                    <a:pt x="199" y="83"/>
                  </a:moveTo>
                  <a:cubicBezTo>
                    <a:pt x="173" y="54"/>
                    <a:pt x="145" y="23"/>
                    <a:pt x="143" y="16"/>
                  </a:cubicBezTo>
                  <a:cubicBezTo>
                    <a:pt x="99" y="0"/>
                    <a:pt x="48" y="3"/>
                    <a:pt x="25" y="42"/>
                  </a:cubicBezTo>
                  <a:cubicBezTo>
                    <a:pt x="6" y="74"/>
                    <a:pt x="0" y="114"/>
                    <a:pt x="6" y="150"/>
                  </a:cubicBezTo>
                  <a:cubicBezTo>
                    <a:pt x="11" y="176"/>
                    <a:pt x="22" y="201"/>
                    <a:pt x="39" y="218"/>
                  </a:cubicBezTo>
                  <a:cubicBezTo>
                    <a:pt x="80" y="259"/>
                    <a:pt x="140" y="246"/>
                    <a:pt x="172" y="190"/>
                  </a:cubicBezTo>
                  <a:cubicBezTo>
                    <a:pt x="191" y="158"/>
                    <a:pt x="207" y="130"/>
                    <a:pt x="211" y="104"/>
                  </a:cubicBezTo>
                  <a:cubicBezTo>
                    <a:pt x="212" y="102"/>
                    <a:pt x="213" y="101"/>
                    <a:pt x="213" y="99"/>
                  </a:cubicBezTo>
                  <a:cubicBezTo>
                    <a:pt x="213" y="99"/>
                    <a:pt x="213" y="98"/>
                    <a:pt x="212" y="98"/>
                  </a:cubicBezTo>
                  <a:cubicBezTo>
                    <a:pt x="207" y="92"/>
                    <a:pt x="203" y="87"/>
                    <a:pt x="199" y="83"/>
                  </a:cubicBezTo>
                  <a:close/>
                </a:path>
              </a:pathLst>
            </a:custGeom>
            <a:solidFill>
              <a:schemeClr val="accent6">
                <a:lumMod val="60000"/>
                <a:lumOff val="40000"/>
              </a:schemeClr>
            </a:solidFill>
            <a:ln>
              <a:noFill/>
            </a:ln>
          </p:spPr>
          <p:txBody>
            <a:bodyPr vert="horz" anchor="t" wrap="square" tIns="45720" lIns="91440" bIns="45720" rIns="91440">
              <a:prstTxWarp prst="textNoShape">
                <a:avLst/>
              </a:prstTxWarp>
            </a:bodyPr>
            <a:p>
              <a:pPr fontAlgn="auto" algn="l" indent="0" marR="0" marL="0">
                <a:lnSpc>
                  <a:spcPct val="100000"/>
                </a:lnSpc>
                <a:spcBef>
                  <a:spcPct val="0"/>
                </a:spcBef>
                <a:spcAft>
                  <a:spcPct val="0"/>
                </a:spcAft>
                <a:buNone/>
              </a:pPr>
            </a:p>
          </p:txBody>
        </p:sp>
        <p:sp>
          <p:nvSpPr>
            <p:cNvPr name="Freeform 28" id="28"/>
            <p:cNvSpPr/>
            <p:nvPr/>
          </p:nvSpPr>
          <p:spPr>
            <a:xfrm>
              <a:off x="6363658" y="2302554"/>
              <a:ext cx="541229" cy="755020"/>
            </a:xfrm>
            <a:custGeom>
              <a:avLst/>
              <a:gdLst/>
              <a:ahLst/>
              <a:cxnLst/>
              <a:rect r="r" b="b" t="t" l="l"/>
              <a:pathLst>
                <a:path w="203" h="283" stroke="true" fill="norm" extrusionOk="true">
                  <a:moveTo>
                    <a:pt x="22" y="60"/>
                  </a:moveTo>
                  <a:cubicBezTo>
                    <a:pt x="0" y="99"/>
                    <a:pt x="11" y="165"/>
                    <a:pt x="34" y="216"/>
                  </a:cubicBezTo>
                  <a:cubicBezTo>
                    <a:pt x="37" y="216"/>
                    <a:pt x="55" y="231"/>
                    <a:pt x="72" y="246"/>
                  </a:cubicBezTo>
                  <a:cubicBezTo>
                    <a:pt x="79" y="252"/>
                    <a:pt x="87" y="259"/>
                    <a:pt x="95" y="267"/>
                  </a:cubicBezTo>
                  <a:cubicBezTo>
                    <a:pt x="97" y="268"/>
                    <a:pt x="98" y="269"/>
                    <a:pt x="99" y="270"/>
                  </a:cubicBezTo>
                  <a:cubicBezTo>
                    <a:pt x="103" y="274"/>
                    <a:pt x="108" y="278"/>
                    <a:pt x="113" y="283"/>
                  </a:cubicBezTo>
                  <a:cubicBezTo>
                    <a:pt x="133" y="272"/>
                    <a:pt x="150" y="241"/>
                    <a:pt x="170" y="207"/>
                  </a:cubicBezTo>
                  <a:cubicBezTo>
                    <a:pt x="203" y="151"/>
                    <a:pt x="196" y="72"/>
                    <a:pt x="155" y="31"/>
                  </a:cubicBezTo>
                  <a:cubicBezTo>
                    <a:pt x="126" y="2"/>
                    <a:pt x="88" y="0"/>
                    <a:pt x="56" y="22"/>
                  </a:cubicBezTo>
                  <a:cubicBezTo>
                    <a:pt x="44" y="31"/>
                    <a:pt x="32" y="43"/>
                    <a:pt x="22" y="60"/>
                  </a:cubicBezTo>
                  <a:close/>
                </a:path>
              </a:pathLst>
            </a:custGeom>
            <a:solidFill>
              <a:schemeClr val="accent6">
                <a:lumMod val="60000"/>
                <a:lumOff val="40000"/>
              </a:schemeClr>
            </a:solidFill>
            <a:ln>
              <a:noFill/>
            </a:ln>
          </p:spPr>
          <p:txBody>
            <a:bodyPr vert="horz" anchor="t" wrap="square" tIns="45720" lIns="91440" bIns="45720" rIns="91440">
              <a:prstTxWarp prst="textNoShape">
                <a:avLst/>
              </a:prstTxWarp>
            </a:bodyPr>
            <a:p>
              <a:pPr fontAlgn="auto" algn="l" indent="0" marR="0" marL="0">
                <a:lnSpc>
                  <a:spcPct val="100000"/>
                </a:lnSpc>
                <a:spcBef>
                  <a:spcPct val="0"/>
                </a:spcBef>
                <a:spcAft>
                  <a:spcPct val="0"/>
                </a:spcAft>
                <a:buNone/>
              </a:pPr>
            </a:p>
          </p:txBody>
        </p:sp>
        <p:sp>
          <p:nvSpPr>
            <p:cNvPr name="Freeform 29" id="29"/>
            <p:cNvSpPr/>
            <p:nvPr/>
          </p:nvSpPr>
          <p:spPr>
            <a:xfrm>
              <a:off x="6451425" y="2878664"/>
              <a:ext cx="1019446" cy="1046451"/>
            </a:xfrm>
            <a:custGeom>
              <a:avLst/>
              <a:gdLst/>
              <a:ahLst/>
              <a:cxnLst/>
              <a:rect r="r" b="b" t="t" l="l"/>
              <a:pathLst>
                <a:path w="382" h="392" stroke="true" fill="norm" extrusionOk="true">
                  <a:moveTo>
                    <a:pt x="381" y="346"/>
                  </a:moveTo>
                  <a:cubicBezTo>
                    <a:pt x="381" y="346"/>
                    <a:pt x="379" y="343"/>
                    <a:pt x="374" y="338"/>
                  </a:cubicBezTo>
                  <a:cubicBezTo>
                    <a:pt x="337" y="304"/>
                    <a:pt x="177" y="154"/>
                    <a:pt x="80" y="67"/>
                  </a:cubicBezTo>
                  <a:cubicBezTo>
                    <a:pt x="75" y="62"/>
                    <a:pt x="70" y="58"/>
                    <a:pt x="66" y="54"/>
                  </a:cubicBezTo>
                  <a:cubicBezTo>
                    <a:pt x="65" y="53"/>
                    <a:pt x="64" y="52"/>
                    <a:pt x="62" y="51"/>
                  </a:cubicBezTo>
                  <a:cubicBezTo>
                    <a:pt x="54" y="43"/>
                    <a:pt x="46" y="36"/>
                    <a:pt x="39" y="30"/>
                  </a:cubicBezTo>
                  <a:cubicBezTo>
                    <a:pt x="22" y="15"/>
                    <a:pt x="4" y="0"/>
                    <a:pt x="1" y="0"/>
                  </a:cubicBezTo>
                  <a:cubicBezTo>
                    <a:pt x="1" y="0"/>
                    <a:pt x="1" y="0"/>
                    <a:pt x="1" y="0"/>
                  </a:cubicBezTo>
                  <a:cubicBezTo>
                    <a:pt x="1" y="0"/>
                    <a:pt x="1" y="0"/>
                    <a:pt x="1" y="0"/>
                  </a:cubicBezTo>
                  <a:cubicBezTo>
                    <a:pt x="1" y="0"/>
                    <a:pt x="1" y="0"/>
                    <a:pt x="1" y="0"/>
                  </a:cubicBezTo>
                  <a:cubicBezTo>
                    <a:pt x="0" y="0"/>
                    <a:pt x="1" y="1"/>
                    <a:pt x="1" y="2"/>
                  </a:cubicBezTo>
                  <a:cubicBezTo>
                    <a:pt x="3" y="9"/>
                    <a:pt x="31" y="40"/>
                    <a:pt x="57" y="69"/>
                  </a:cubicBezTo>
                  <a:cubicBezTo>
                    <a:pt x="61" y="73"/>
                    <a:pt x="65" y="78"/>
                    <a:pt x="70" y="84"/>
                  </a:cubicBezTo>
                  <a:cubicBezTo>
                    <a:pt x="71" y="84"/>
                    <a:pt x="71" y="85"/>
                    <a:pt x="71" y="85"/>
                  </a:cubicBezTo>
                  <a:cubicBezTo>
                    <a:pt x="162" y="186"/>
                    <a:pt x="312" y="347"/>
                    <a:pt x="347" y="384"/>
                  </a:cubicBezTo>
                  <a:cubicBezTo>
                    <a:pt x="352" y="389"/>
                    <a:pt x="355" y="392"/>
                    <a:pt x="355" y="392"/>
                  </a:cubicBezTo>
                  <a:cubicBezTo>
                    <a:pt x="355" y="392"/>
                    <a:pt x="356" y="392"/>
                    <a:pt x="358" y="391"/>
                  </a:cubicBezTo>
                  <a:cubicBezTo>
                    <a:pt x="362" y="390"/>
                    <a:pt x="367" y="386"/>
                    <a:pt x="374" y="376"/>
                  </a:cubicBezTo>
                  <a:cubicBezTo>
                    <a:pt x="380" y="365"/>
                    <a:pt x="381" y="356"/>
                    <a:pt x="381" y="351"/>
                  </a:cubicBezTo>
                  <a:cubicBezTo>
                    <a:pt x="382" y="348"/>
                    <a:pt x="381" y="346"/>
                    <a:pt x="381" y="346"/>
                  </a:cubicBezTo>
                  <a:close/>
                </a:path>
              </a:pathLst>
            </a:custGeom>
            <a:solidFill>
              <a:srgbClr val="007448"/>
            </a:solidFill>
            <a:ln>
              <a:noFill/>
            </a:ln>
          </p:spPr>
          <p:txBody>
            <a:bodyPr vert="horz" anchor="t" wrap="square" tIns="45720" lIns="91440" bIns="45720" rIns="91440">
              <a:prstTxWarp prst="textNoShape">
                <a:avLst/>
              </a:prstTxWarp>
            </a:bodyPr>
            <a:p>
              <a:pPr fontAlgn="auto" algn="l" indent="0" marR="0" marL="0">
                <a:lnSpc>
                  <a:spcPct val="100000"/>
                </a:lnSpc>
                <a:spcBef>
                  <a:spcPct val="0"/>
                </a:spcBef>
                <a:spcAft>
                  <a:spcPct val="0"/>
                </a:spcAft>
                <a:buNone/>
              </a:pPr>
            </a:p>
          </p:txBody>
        </p:sp>
      </p:grpSp>
      <p:grpSp>
        <p:nvGrpSpPr>
          <p:cNvPr name="Group 30" id="30"/>
          <p:cNvGrpSpPr/>
          <p:nvPr/>
        </p:nvGrpSpPr>
        <p:grpSpPr>
          <a:xfrm>
            <a:off x="8513803" y="1582130"/>
            <a:ext cx="2145625" cy="2184728"/>
            <a:chOff x="6076950" y="2566001"/>
            <a:chExt cx="3076576" cy="3133124"/>
          </a:xfrm>
          <a:effectLst>
            <a:outerShdw algn="bl" blurRad="177800" dir="18900000" rotWithShape="false" sy="23000">
              <a:srgbClr val="000000">
                <a:alpha val="29000"/>
              </a:srgbClr>
            </a:outerShdw>
          </a:effectLst>
        </p:grpSpPr>
        <p:sp>
          <p:nvSpPr>
            <p:cNvPr name="Freeform 31" id="31"/>
            <p:cNvSpPr/>
            <p:nvPr/>
          </p:nvSpPr>
          <p:spPr>
            <a:xfrm>
              <a:off x="8840788" y="5375275"/>
              <a:ext cx="312738" cy="323850"/>
            </a:xfrm>
            <a:custGeom>
              <a:avLst/>
              <a:gdLst/>
              <a:ahLst/>
              <a:cxnLst/>
              <a:rect r="r" b="b" t="t" l="l"/>
              <a:pathLst>
                <a:path w="83" h="86" stroke="true" fill="norm" extrusionOk="true">
                  <a:moveTo>
                    <a:pt x="68" y="68"/>
                  </a:moveTo>
                  <a:cubicBezTo>
                    <a:pt x="59" y="57"/>
                    <a:pt x="46" y="44"/>
                    <a:pt x="34" y="30"/>
                  </a:cubicBezTo>
                  <a:cubicBezTo>
                    <a:pt x="28" y="23"/>
                    <a:pt x="22" y="16"/>
                    <a:pt x="16" y="10"/>
                  </a:cubicBezTo>
                  <a:cubicBezTo>
                    <a:pt x="13" y="6"/>
                    <a:pt x="9" y="3"/>
                    <a:pt x="6" y="0"/>
                  </a:cubicBezTo>
                  <a:cubicBezTo>
                    <a:pt x="5" y="2"/>
                    <a:pt x="4" y="4"/>
                    <a:pt x="3" y="5"/>
                  </a:cubicBezTo>
                  <a:cubicBezTo>
                    <a:pt x="2" y="7"/>
                    <a:pt x="1" y="9"/>
                    <a:pt x="0" y="11"/>
                  </a:cubicBezTo>
                  <a:cubicBezTo>
                    <a:pt x="3" y="14"/>
                    <a:pt x="6" y="18"/>
                    <a:pt x="9" y="21"/>
                  </a:cubicBezTo>
                  <a:cubicBezTo>
                    <a:pt x="15" y="27"/>
                    <a:pt x="22" y="33"/>
                    <a:pt x="29" y="39"/>
                  </a:cubicBezTo>
                  <a:cubicBezTo>
                    <a:pt x="42" y="51"/>
                    <a:pt x="56" y="63"/>
                    <a:pt x="66" y="72"/>
                  </a:cubicBezTo>
                  <a:cubicBezTo>
                    <a:pt x="76" y="81"/>
                    <a:pt x="83" y="86"/>
                    <a:pt x="83" y="86"/>
                  </a:cubicBezTo>
                  <a:cubicBezTo>
                    <a:pt x="83" y="85"/>
                    <a:pt x="83" y="85"/>
                    <a:pt x="83" y="85"/>
                  </a:cubicBezTo>
                  <a:cubicBezTo>
                    <a:pt x="83" y="85"/>
                    <a:pt x="77" y="78"/>
                    <a:pt x="68" y="68"/>
                  </a:cubicBezTo>
                  <a:close/>
                </a:path>
              </a:pathLst>
            </a:custGeom>
            <a:solidFill>
              <a:srgbClr val="B1B1B1"/>
            </a:solidFill>
            <a:ln>
              <a:noFill/>
            </a:ln>
          </p:spPr>
          <p:txBody>
            <a:bodyPr vert="horz" anchor="t" wrap="square" tIns="45720" lIns="91440" bIns="45720" rIns="91440">
              <a:prstTxWarp prst="textNoShape">
                <a:avLst/>
              </a:prstTxWarp>
            </a:bodyPr>
            <a:p>
              <a:pPr fontAlgn="auto" algn="l" indent="0" marR="0" marL="0">
                <a:lnSpc>
                  <a:spcPct val="100000"/>
                </a:lnSpc>
                <a:spcBef>
                  <a:spcPct val="0"/>
                </a:spcBef>
                <a:spcAft>
                  <a:spcPct val="0"/>
                </a:spcAft>
                <a:buNone/>
              </a:pPr>
            </a:p>
          </p:txBody>
        </p:sp>
        <p:sp>
          <p:nvSpPr>
            <p:cNvPr name="Freeform 32" id="32"/>
            <p:cNvSpPr/>
            <p:nvPr/>
          </p:nvSpPr>
          <p:spPr>
            <a:xfrm>
              <a:off x="8129588" y="4606925"/>
              <a:ext cx="782638" cy="903287"/>
            </a:xfrm>
            <a:custGeom>
              <a:avLst/>
              <a:gdLst/>
              <a:ahLst/>
              <a:cxnLst/>
              <a:rect r="r" b="b" t="t" l="l"/>
              <a:pathLst>
                <a:path w="208" h="240" stroke="true" fill="norm" extrusionOk="true">
                  <a:moveTo>
                    <a:pt x="204" y="156"/>
                  </a:moveTo>
                  <a:cubicBezTo>
                    <a:pt x="48" y="0"/>
                    <a:pt x="48" y="0"/>
                    <a:pt x="48" y="0"/>
                  </a:cubicBezTo>
                  <a:cubicBezTo>
                    <a:pt x="48" y="0"/>
                    <a:pt x="48" y="0"/>
                    <a:pt x="48" y="0"/>
                  </a:cubicBezTo>
                  <a:cubicBezTo>
                    <a:pt x="54" y="6"/>
                    <a:pt x="48" y="30"/>
                    <a:pt x="35" y="53"/>
                  </a:cubicBezTo>
                  <a:cubicBezTo>
                    <a:pt x="22" y="75"/>
                    <a:pt x="7" y="89"/>
                    <a:pt x="0" y="84"/>
                  </a:cubicBezTo>
                  <a:cubicBezTo>
                    <a:pt x="156" y="240"/>
                    <a:pt x="156" y="240"/>
                    <a:pt x="156" y="240"/>
                  </a:cubicBezTo>
                  <a:cubicBezTo>
                    <a:pt x="156" y="240"/>
                    <a:pt x="173" y="237"/>
                    <a:pt x="189" y="215"/>
                  </a:cubicBezTo>
                  <a:cubicBezTo>
                    <a:pt x="190" y="213"/>
                    <a:pt x="191" y="211"/>
                    <a:pt x="192" y="209"/>
                  </a:cubicBezTo>
                  <a:cubicBezTo>
                    <a:pt x="193" y="208"/>
                    <a:pt x="194" y="206"/>
                    <a:pt x="195" y="204"/>
                  </a:cubicBezTo>
                  <a:cubicBezTo>
                    <a:pt x="208" y="179"/>
                    <a:pt x="204" y="156"/>
                    <a:pt x="204" y="156"/>
                  </a:cubicBezTo>
                  <a:close/>
                </a:path>
              </a:pathLst>
            </a:custGeom>
            <a:solidFill>
              <a:srgbClr val="C5C5C5"/>
            </a:solidFill>
            <a:ln>
              <a:noFill/>
            </a:ln>
          </p:spPr>
          <p:txBody>
            <a:bodyPr vert="horz" anchor="t" wrap="square" tIns="45720" lIns="91440" bIns="45720" rIns="91440">
              <a:prstTxWarp prst="textNoShape">
                <a:avLst/>
              </a:prstTxWarp>
            </a:bodyPr>
            <a:p>
              <a:pPr fontAlgn="auto" algn="l" indent="0" marR="0" marL="0">
                <a:lnSpc>
                  <a:spcPct val="100000"/>
                </a:lnSpc>
                <a:spcBef>
                  <a:spcPct val="0"/>
                </a:spcBef>
                <a:spcAft>
                  <a:spcPct val="0"/>
                </a:spcAft>
                <a:buNone/>
              </a:pPr>
            </a:p>
          </p:txBody>
        </p:sp>
        <p:sp>
          <p:nvSpPr>
            <p:cNvPr name="Freeform 33" id="33"/>
            <p:cNvSpPr/>
            <p:nvPr/>
          </p:nvSpPr>
          <p:spPr>
            <a:xfrm>
              <a:off x="8113713" y="4592638"/>
              <a:ext cx="219075" cy="349250"/>
            </a:xfrm>
            <a:custGeom>
              <a:avLst/>
              <a:gdLst/>
              <a:ahLst/>
              <a:cxnLst/>
              <a:rect r="r" b="b" t="t" l="l"/>
              <a:pathLst>
                <a:path w="58" h="93" stroke="true" fill="norm" extrusionOk="true">
                  <a:moveTo>
                    <a:pt x="52" y="4"/>
                  </a:moveTo>
                  <a:cubicBezTo>
                    <a:pt x="48" y="0"/>
                    <a:pt x="40" y="4"/>
                    <a:pt x="32" y="13"/>
                  </a:cubicBezTo>
                  <a:cubicBezTo>
                    <a:pt x="37" y="18"/>
                    <a:pt x="39" y="21"/>
                    <a:pt x="39" y="21"/>
                  </a:cubicBezTo>
                  <a:cubicBezTo>
                    <a:pt x="39" y="21"/>
                    <a:pt x="40" y="23"/>
                    <a:pt x="39" y="26"/>
                  </a:cubicBezTo>
                  <a:cubicBezTo>
                    <a:pt x="39" y="31"/>
                    <a:pt x="38" y="40"/>
                    <a:pt x="32" y="51"/>
                  </a:cubicBezTo>
                  <a:cubicBezTo>
                    <a:pt x="25" y="61"/>
                    <a:pt x="20" y="65"/>
                    <a:pt x="16" y="66"/>
                  </a:cubicBezTo>
                  <a:cubicBezTo>
                    <a:pt x="14" y="67"/>
                    <a:pt x="13" y="67"/>
                    <a:pt x="13" y="67"/>
                  </a:cubicBezTo>
                  <a:cubicBezTo>
                    <a:pt x="13" y="67"/>
                    <a:pt x="10" y="64"/>
                    <a:pt x="5" y="59"/>
                  </a:cubicBezTo>
                  <a:cubicBezTo>
                    <a:pt x="1" y="72"/>
                    <a:pt x="0" y="83"/>
                    <a:pt x="4" y="87"/>
                  </a:cubicBezTo>
                  <a:cubicBezTo>
                    <a:pt x="4" y="88"/>
                    <a:pt x="4" y="88"/>
                    <a:pt x="4" y="88"/>
                  </a:cubicBezTo>
                  <a:cubicBezTo>
                    <a:pt x="11" y="93"/>
                    <a:pt x="26" y="79"/>
                    <a:pt x="39" y="57"/>
                  </a:cubicBezTo>
                  <a:cubicBezTo>
                    <a:pt x="52" y="34"/>
                    <a:pt x="58" y="10"/>
                    <a:pt x="52" y="4"/>
                  </a:cubicBezTo>
                  <a:close/>
                </a:path>
              </a:pathLst>
            </a:custGeom>
            <a:solidFill>
              <a:srgbClr val="B1B1B1"/>
            </a:solidFill>
            <a:ln>
              <a:noFill/>
            </a:ln>
          </p:spPr>
          <p:txBody>
            <a:bodyPr vert="horz" anchor="t" wrap="square" tIns="45720" lIns="91440" bIns="45720" rIns="91440">
              <a:prstTxWarp prst="textNoShape">
                <a:avLst/>
              </a:prstTxWarp>
            </a:bodyPr>
            <a:p>
              <a:pPr fontAlgn="auto" algn="l" indent="0" marR="0" marL="0">
                <a:lnSpc>
                  <a:spcPct val="100000"/>
                </a:lnSpc>
                <a:spcBef>
                  <a:spcPct val="0"/>
                </a:spcBef>
                <a:spcAft>
                  <a:spcPct val="0"/>
                </a:spcAft>
                <a:buNone/>
              </a:pPr>
            </a:p>
          </p:txBody>
        </p:sp>
        <p:sp>
          <p:nvSpPr>
            <p:cNvPr name="Freeform 34" id="34"/>
            <p:cNvSpPr/>
            <p:nvPr/>
          </p:nvSpPr>
          <p:spPr>
            <a:xfrm>
              <a:off x="6076950" y="3233738"/>
              <a:ext cx="754063" cy="647700"/>
            </a:xfrm>
            <a:custGeom>
              <a:avLst/>
              <a:gdLst/>
              <a:ahLst/>
              <a:cxnLst/>
              <a:rect r="r" b="b" t="t" l="l"/>
              <a:pathLst>
                <a:path w="200" h="172" stroke="true" fill="norm" extrusionOk="true">
                  <a:moveTo>
                    <a:pt x="82" y="64"/>
                  </a:moveTo>
                  <a:cubicBezTo>
                    <a:pt x="105" y="25"/>
                    <a:pt x="156" y="22"/>
                    <a:pt x="200" y="38"/>
                  </a:cubicBezTo>
                  <a:cubicBezTo>
                    <a:pt x="200" y="37"/>
                    <a:pt x="199" y="36"/>
                    <a:pt x="200" y="36"/>
                  </a:cubicBezTo>
                  <a:cubicBezTo>
                    <a:pt x="159" y="13"/>
                    <a:pt x="108" y="0"/>
                    <a:pt x="73" y="14"/>
                  </a:cubicBezTo>
                  <a:cubicBezTo>
                    <a:pt x="5" y="41"/>
                    <a:pt x="0" y="80"/>
                    <a:pt x="8" y="126"/>
                  </a:cubicBezTo>
                  <a:cubicBezTo>
                    <a:pt x="13" y="151"/>
                    <a:pt x="34" y="167"/>
                    <a:pt x="63" y="172"/>
                  </a:cubicBezTo>
                  <a:cubicBezTo>
                    <a:pt x="57" y="136"/>
                    <a:pt x="63" y="96"/>
                    <a:pt x="82" y="64"/>
                  </a:cubicBezTo>
                  <a:close/>
                </a:path>
              </a:pathLst>
            </a:custGeom>
            <a:solidFill>
              <a:srgbClr val="FA5F00"/>
            </a:solidFill>
            <a:ln>
              <a:noFill/>
            </a:ln>
          </p:spPr>
          <p:txBody>
            <a:bodyPr vert="horz" anchor="t" wrap="square" tIns="45720" lIns="91440" bIns="45720" rIns="91440">
              <a:prstTxWarp prst="textNoShape">
                <a:avLst/>
              </a:prstTxWarp>
            </a:bodyPr>
            <a:p>
              <a:pPr fontAlgn="auto" algn="l" indent="0" marR="0" marL="0">
                <a:lnSpc>
                  <a:spcPct val="100000"/>
                </a:lnSpc>
                <a:spcBef>
                  <a:spcPct val="0"/>
                </a:spcBef>
                <a:spcAft>
                  <a:spcPct val="0"/>
                </a:spcAft>
                <a:buNone/>
              </a:pPr>
            </a:p>
          </p:txBody>
        </p:sp>
        <p:sp>
          <p:nvSpPr>
            <p:cNvPr name="Freeform 35" id="35"/>
            <p:cNvSpPr/>
            <p:nvPr/>
          </p:nvSpPr>
          <p:spPr>
            <a:xfrm>
              <a:off x="6634163" y="2638425"/>
              <a:ext cx="279400" cy="730250"/>
            </a:xfrm>
            <a:custGeom>
              <a:avLst/>
              <a:gdLst/>
              <a:ahLst/>
              <a:cxnLst/>
              <a:rect r="r" b="b" t="t" l="l"/>
              <a:pathLst>
                <a:path w="74" h="194" stroke="true" fill="norm" extrusionOk="true">
                  <a:moveTo>
                    <a:pt x="40" y="38"/>
                  </a:moveTo>
                  <a:cubicBezTo>
                    <a:pt x="50" y="21"/>
                    <a:pt x="62" y="9"/>
                    <a:pt x="74" y="0"/>
                  </a:cubicBezTo>
                  <a:cubicBezTo>
                    <a:pt x="32" y="10"/>
                    <a:pt x="0" y="31"/>
                    <a:pt x="1" y="100"/>
                  </a:cubicBezTo>
                  <a:cubicBezTo>
                    <a:pt x="1" y="132"/>
                    <a:pt x="23" y="166"/>
                    <a:pt x="52" y="194"/>
                  </a:cubicBezTo>
                  <a:cubicBezTo>
                    <a:pt x="52" y="194"/>
                    <a:pt x="52" y="194"/>
                    <a:pt x="52" y="194"/>
                  </a:cubicBezTo>
                  <a:cubicBezTo>
                    <a:pt x="29" y="143"/>
                    <a:pt x="18" y="77"/>
                    <a:pt x="40" y="38"/>
                  </a:cubicBezTo>
                  <a:close/>
                </a:path>
              </a:pathLst>
            </a:custGeom>
            <a:solidFill>
              <a:srgbClr val="FA5F00"/>
            </a:solidFill>
            <a:ln>
              <a:noFill/>
            </a:ln>
          </p:spPr>
          <p:txBody>
            <a:bodyPr vert="horz" anchor="t" wrap="square" tIns="45720" lIns="91440" bIns="45720" rIns="91440">
              <a:prstTxWarp prst="textNoShape">
                <a:avLst/>
              </a:prstTxWarp>
            </a:bodyPr>
            <a:p>
              <a:pPr fontAlgn="auto" algn="l" indent="0" marR="0" marL="0">
                <a:lnSpc>
                  <a:spcPct val="100000"/>
                </a:lnSpc>
                <a:spcBef>
                  <a:spcPct val="0"/>
                </a:spcBef>
                <a:spcAft>
                  <a:spcPct val="0"/>
                </a:spcAft>
                <a:buNone/>
              </a:pPr>
            </a:p>
          </p:txBody>
        </p:sp>
        <p:sp>
          <p:nvSpPr>
            <p:cNvPr name="Freeform 36" id="36"/>
            <p:cNvSpPr/>
            <p:nvPr/>
          </p:nvSpPr>
          <p:spPr>
            <a:xfrm>
              <a:off x="6291263" y="3296039"/>
              <a:ext cx="803275" cy="974725"/>
            </a:xfrm>
            <a:custGeom>
              <a:avLst/>
              <a:gdLst/>
              <a:ahLst/>
              <a:cxnLst/>
              <a:rect r="r" b="b" t="t" l="l"/>
              <a:pathLst>
                <a:path w="213" h="259" stroke="true" fill="norm" extrusionOk="true">
                  <a:moveTo>
                    <a:pt x="199" y="83"/>
                  </a:moveTo>
                  <a:cubicBezTo>
                    <a:pt x="173" y="54"/>
                    <a:pt x="145" y="23"/>
                    <a:pt x="143" y="16"/>
                  </a:cubicBezTo>
                  <a:cubicBezTo>
                    <a:pt x="99" y="0"/>
                    <a:pt x="48" y="3"/>
                    <a:pt x="25" y="42"/>
                  </a:cubicBezTo>
                  <a:cubicBezTo>
                    <a:pt x="6" y="74"/>
                    <a:pt x="0" y="114"/>
                    <a:pt x="6" y="150"/>
                  </a:cubicBezTo>
                  <a:cubicBezTo>
                    <a:pt x="11" y="176"/>
                    <a:pt x="22" y="201"/>
                    <a:pt x="39" y="218"/>
                  </a:cubicBezTo>
                  <a:cubicBezTo>
                    <a:pt x="80" y="259"/>
                    <a:pt x="140" y="246"/>
                    <a:pt x="172" y="190"/>
                  </a:cubicBezTo>
                  <a:cubicBezTo>
                    <a:pt x="191" y="158"/>
                    <a:pt x="207" y="130"/>
                    <a:pt x="211" y="104"/>
                  </a:cubicBezTo>
                  <a:cubicBezTo>
                    <a:pt x="212" y="102"/>
                    <a:pt x="213" y="101"/>
                    <a:pt x="213" y="99"/>
                  </a:cubicBezTo>
                  <a:cubicBezTo>
                    <a:pt x="213" y="99"/>
                    <a:pt x="213" y="98"/>
                    <a:pt x="212" y="98"/>
                  </a:cubicBezTo>
                  <a:cubicBezTo>
                    <a:pt x="207" y="92"/>
                    <a:pt x="203" y="87"/>
                    <a:pt x="199" y="83"/>
                  </a:cubicBezTo>
                  <a:close/>
                </a:path>
              </a:pathLst>
            </a:custGeom>
            <a:solidFill>
              <a:srgbClr val="FEB80A"/>
            </a:solidFill>
            <a:ln>
              <a:noFill/>
            </a:ln>
          </p:spPr>
          <p:txBody>
            <a:bodyPr vert="horz" anchor="t" wrap="square" tIns="45720" lIns="91440" bIns="45720" rIns="91440">
              <a:prstTxWarp prst="textNoShape">
                <a:avLst/>
              </a:prstTxWarp>
            </a:bodyPr>
            <a:p>
              <a:pPr fontAlgn="auto" algn="l" indent="0" marR="0" marL="0">
                <a:lnSpc>
                  <a:spcPct val="100000"/>
                </a:lnSpc>
                <a:spcBef>
                  <a:spcPct val="0"/>
                </a:spcBef>
                <a:spcAft>
                  <a:spcPct val="0"/>
                </a:spcAft>
                <a:buNone/>
              </a:pPr>
            </a:p>
          </p:txBody>
        </p:sp>
        <p:sp>
          <p:nvSpPr>
            <p:cNvPr name="Freeform 37" id="37"/>
            <p:cNvSpPr/>
            <p:nvPr/>
          </p:nvSpPr>
          <p:spPr>
            <a:xfrm>
              <a:off x="6692301" y="2566001"/>
              <a:ext cx="763588" cy="1065212"/>
            </a:xfrm>
            <a:custGeom>
              <a:avLst/>
              <a:gdLst/>
              <a:ahLst/>
              <a:cxnLst/>
              <a:rect r="r" b="b" t="t" l="l"/>
              <a:pathLst>
                <a:path w="203" h="283" stroke="true" fill="norm" extrusionOk="true">
                  <a:moveTo>
                    <a:pt x="22" y="60"/>
                  </a:moveTo>
                  <a:cubicBezTo>
                    <a:pt x="0" y="99"/>
                    <a:pt x="11" y="165"/>
                    <a:pt x="34" y="216"/>
                  </a:cubicBezTo>
                  <a:cubicBezTo>
                    <a:pt x="37" y="216"/>
                    <a:pt x="55" y="231"/>
                    <a:pt x="72" y="246"/>
                  </a:cubicBezTo>
                  <a:cubicBezTo>
                    <a:pt x="79" y="252"/>
                    <a:pt x="87" y="259"/>
                    <a:pt x="95" y="267"/>
                  </a:cubicBezTo>
                  <a:cubicBezTo>
                    <a:pt x="97" y="268"/>
                    <a:pt x="98" y="269"/>
                    <a:pt x="99" y="270"/>
                  </a:cubicBezTo>
                  <a:cubicBezTo>
                    <a:pt x="103" y="274"/>
                    <a:pt x="108" y="278"/>
                    <a:pt x="113" y="283"/>
                  </a:cubicBezTo>
                  <a:cubicBezTo>
                    <a:pt x="133" y="272"/>
                    <a:pt x="150" y="241"/>
                    <a:pt x="170" y="207"/>
                  </a:cubicBezTo>
                  <a:cubicBezTo>
                    <a:pt x="203" y="151"/>
                    <a:pt x="196" y="72"/>
                    <a:pt x="155" y="31"/>
                  </a:cubicBezTo>
                  <a:cubicBezTo>
                    <a:pt x="126" y="2"/>
                    <a:pt x="88" y="0"/>
                    <a:pt x="56" y="22"/>
                  </a:cubicBezTo>
                  <a:cubicBezTo>
                    <a:pt x="44" y="31"/>
                    <a:pt x="32" y="43"/>
                    <a:pt x="22" y="60"/>
                  </a:cubicBezTo>
                  <a:close/>
                </a:path>
              </a:pathLst>
            </a:custGeom>
            <a:solidFill>
              <a:srgbClr val="FEB80A"/>
            </a:solidFill>
            <a:ln>
              <a:noFill/>
            </a:ln>
          </p:spPr>
          <p:txBody>
            <a:bodyPr vert="horz" anchor="t" wrap="square" tIns="45720" lIns="91440" bIns="45720" rIns="91440">
              <a:prstTxWarp prst="textNoShape">
                <a:avLst/>
              </a:prstTxWarp>
            </a:bodyPr>
            <a:p>
              <a:pPr fontAlgn="auto" algn="l" indent="0" marR="0" marL="0">
                <a:lnSpc>
                  <a:spcPct val="100000"/>
                </a:lnSpc>
                <a:spcBef>
                  <a:spcPct val="0"/>
                </a:spcBef>
                <a:spcAft>
                  <a:spcPct val="0"/>
                </a:spcAft>
                <a:buNone/>
              </a:pPr>
            </a:p>
          </p:txBody>
        </p:sp>
        <p:sp>
          <p:nvSpPr>
            <p:cNvPr name="Freeform 38" id="38"/>
            <p:cNvSpPr/>
            <p:nvPr/>
          </p:nvSpPr>
          <p:spPr>
            <a:xfrm>
              <a:off x="6826250" y="3368675"/>
              <a:ext cx="1438275" cy="1476375"/>
            </a:xfrm>
            <a:custGeom>
              <a:avLst/>
              <a:gdLst/>
              <a:ahLst/>
              <a:cxnLst/>
              <a:rect r="r" b="b" t="t" l="l"/>
              <a:pathLst>
                <a:path w="382" h="392" stroke="true" fill="norm" extrusionOk="true">
                  <a:moveTo>
                    <a:pt x="381" y="346"/>
                  </a:moveTo>
                  <a:cubicBezTo>
                    <a:pt x="381" y="346"/>
                    <a:pt x="379" y="343"/>
                    <a:pt x="374" y="338"/>
                  </a:cubicBezTo>
                  <a:cubicBezTo>
                    <a:pt x="337" y="304"/>
                    <a:pt x="177" y="154"/>
                    <a:pt x="80" y="67"/>
                  </a:cubicBezTo>
                  <a:cubicBezTo>
                    <a:pt x="75" y="62"/>
                    <a:pt x="70" y="58"/>
                    <a:pt x="66" y="54"/>
                  </a:cubicBezTo>
                  <a:cubicBezTo>
                    <a:pt x="65" y="53"/>
                    <a:pt x="64" y="52"/>
                    <a:pt x="62" y="51"/>
                  </a:cubicBezTo>
                  <a:cubicBezTo>
                    <a:pt x="54" y="43"/>
                    <a:pt x="46" y="36"/>
                    <a:pt x="39" y="30"/>
                  </a:cubicBezTo>
                  <a:cubicBezTo>
                    <a:pt x="22" y="15"/>
                    <a:pt x="4" y="0"/>
                    <a:pt x="1" y="0"/>
                  </a:cubicBezTo>
                  <a:cubicBezTo>
                    <a:pt x="1" y="0"/>
                    <a:pt x="1" y="0"/>
                    <a:pt x="1" y="0"/>
                  </a:cubicBezTo>
                  <a:cubicBezTo>
                    <a:pt x="1" y="0"/>
                    <a:pt x="1" y="0"/>
                    <a:pt x="1" y="0"/>
                  </a:cubicBezTo>
                  <a:cubicBezTo>
                    <a:pt x="1" y="0"/>
                    <a:pt x="1" y="0"/>
                    <a:pt x="1" y="0"/>
                  </a:cubicBezTo>
                  <a:cubicBezTo>
                    <a:pt x="0" y="0"/>
                    <a:pt x="1" y="1"/>
                    <a:pt x="1" y="2"/>
                  </a:cubicBezTo>
                  <a:cubicBezTo>
                    <a:pt x="3" y="9"/>
                    <a:pt x="31" y="40"/>
                    <a:pt x="57" y="69"/>
                  </a:cubicBezTo>
                  <a:cubicBezTo>
                    <a:pt x="61" y="73"/>
                    <a:pt x="65" y="78"/>
                    <a:pt x="70" y="84"/>
                  </a:cubicBezTo>
                  <a:cubicBezTo>
                    <a:pt x="71" y="84"/>
                    <a:pt x="71" y="85"/>
                    <a:pt x="71" y="85"/>
                  </a:cubicBezTo>
                  <a:cubicBezTo>
                    <a:pt x="162" y="186"/>
                    <a:pt x="312" y="347"/>
                    <a:pt x="347" y="384"/>
                  </a:cubicBezTo>
                  <a:cubicBezTo>
                    <a:pt x="352" y="389"/>
                    <a:pt x="355" y="392"/>
                    <a:pt x="355" y="392"/>
                  </a:cubicBezTo>
                  <a:cubicBezTo>
                    <a:pt x="355" y="392"/>
                    <a:pt x="356" y="392"/>
                    <a:pt x="358" y="391"/>
                  </a:cubicBezTo>
                  <a:cubicBezTo>
                    <a:pt x="362" y="390"/>
                    <a:pt x="367" y="386"/>
                    <a:pt x="374" y="376"/>
                  </a:cubicBezTo>
                  <a:cubicBezTo>
                    <a:pt x="380" y="365"/>
                    <a:pt x="381" y="356"/>
                    <a:pt x="381" y="351"/>
                  </a:cubicBezTo>
                  <a:cubicBezTo>
                    <a:pt x="382" y="348"/>
                    <a:pt x="381" y="346"/>
                    <a:pt x="381" y="346"/>
                  </a:cubicBezTo>
                  <a:close/>
                </a:path>
              </a:pathLst>
            </a:custGeom>
            <a:solidFill>
              <a:srgbClr val="FA5F00"/>
            </a:solidFill>
            <a:ln>
              <a:noFill/>
            </a:ln>
          </p:spPr>
          <p:txBody>
            <a:bodyPr vert="horz" anchor="t" wrap="square" tIns="45720" lIns="91440" bIns="45720" rIns="91440">
              <a:prstTxWarp prst="textNoShape">
                <a:avLst/>
              </a:prstTxWarp>
            </a:bodyPr>
            <a:p>
              <a:pPr fontAlgn="auto" algn="l" indent="0" marR="0" marL="0">
                <a:lnSpc>
                  <a:spcPct val="100000"/>
                </a:lnSpc>
                <a:spcBef>
                  <a:spcPct val="0"/>
                </a:spcBef>
                <a:spcAft>
                  <a:spcPct val="0"/>
                </a:spcAft>
                <a:buNone/>
              </a:pPr>
            </a:p>
          </p:txBody>
        </p:sp>
      </p:grpSp>
      <p:sp>
        <p:nvSpPr>
          <p:cNvPr name="TextBox 39" id="39"/>
          <p:cNvSpPr txBox="true"/>
          <p:nvPr/>
        </p:nvSpPr>
        <p:spPr>
          <a:xfrm>
            <a:off x="725170" y="1145634"/>
            <a:ext cx="5688330" cy="867930"/>
          </a:xfrm>
          <a:prstGeom prst="rect">
            <a:avLst/>
          </a:prstGeom>
        </p:spPr>
        <p:txBody>
          <a:bodyPr anchor="ctr" rtlCol="false" vert="horz" wrap="square" tIns="45720" lIns="91440" bIns="45720" rIns="91440">
            <a:spAutoFit/>
          </a:bodyPr>
          <a:lstStyle/>
          <a:p>
            <a:pPr algn="l" marL="0">
              <a:lnSpc>
                <a:spcPct val="90000"/>
              </a:lnSpc>
              <a:spcBef>
                <a:spcPct val="0"/>
              </a:spcBef>
              <a:defRPr/>
            </a:pPr>
            <a:r>
              <a:rPr lang="zh-CN" b="true" i="false" sz="2800" baseline="0" u="none" altLang="en-US">
                <a:solidFill>
                  <a:schemeClr val="tx1"/>
                </a:solidFill>
                <a:latin typeface="微软雅黑"/>
                <a:ea typeface="微软雅黑"/>
              </a:rPr>
              <a:t>什么是数据结构</a:t>
            </a:r>
            <a:endParaRPr lang="en-US" sz="1100"/>
          </a:p>
        </p:txBody>
      </p:sp>
      <p:sp>
        <p:nvSpPr>
          <p:cNvPr name="TextBox 40" id="40"/>
          <p:cNvSpPr txBox="true"/>
          <p:nvPr/>
        </p:nvSpPr>
        <p:spPr>
          <a:xfrm>
            <a:off x="725169" y="2747621"/>
            <a:ext cx="6110173" cy="890693"/>
          </a:xfrm>
          <a:prstGeom prst="rect">
            <a:avLst/>
          </a:prstGeom>
          <a:noFill/>
        </p:spPr>
        <p:txBody>
          <a:bodyPr anchor="t" rtlCol="false" vert="horz" wrap="square" tIns="45720" lIns="91440" bIns="45720" rIns="91440">
            <a:spAutoFit/>
          </a:bodyPr>
          <a:lstStyle/>
          <a:p>
            <a:pPr algn="l" marL="0">
              <a:lnSpc>
                <a:spcPct val="150000"/>
              </a:lnSpc>
              <a:defRPr/>
            </a:pPr>
            <a:r>
              <a:rPr lang="zh-CN" b="false" i="false" sz="1200" baseline="0" u="none" altLang="en-US">
                <a:solidFill>
                  <a:schemeClr val="tx1"/>
                </a:solidFill>
                <a:latin typeface="微软雅黑"/>
                <a:ea typeface="微软雅黑"/>
              </a:rPr>
              <a:t>数据结构是计算机存储、组织数据的方式。它研究数据的逻辑结构、物理结构以及二者之间的关系，并定义针对这些数据的基本操作。良好的数据结构能够提高算法效率，降低程序复杂度，是程序设计的基础。</a:t>
            </a:r>
            <a:endParaRPr lang="en-US" sz="1100"/>
          </a:p>
        </p:txBody>
      </p:sp>
      <p:sp>
        <p:nvSpPr>
          <p:cNvPr name="TextBox 41" id="41"/>
          <p:cNvSpPr txBox="true"/>
          <p:nvPr/>
        </p:nvSpPr>
        <p:spPr>
          <a:xfrm>
            <a:off x="725170" y="2397628"/>
            <a:ext cx="5370830" cy="307777"/>
          </a:xfrm>
          <a:prstGeom prst="rect">
            <a:avLst/>
          </a:prstGeom>
          <a:noFill/>
        </p:spPr>
        <p:txBody>
          <a:bodyPr anchor="t" rtlCol="false" vert="horz" wrap="square" tIns="45720" lIns="91440" bIns="45720" rIns="91440">
            <a:spAutoFit/>
          </a:bodyPr>
          <a:lstStyle/>
          <a:p>
            <a:pPr algn="l" marL="0">
              <a:defRPr/>
            </a:pPr>
            <a:r>
              <a:rPr lang="zh-CN" b="true" i="false" sz="1400" baseline="0" u="none" altLang="en-US">
                <a:solidFill>
                  <a:schemeClr val="tx1"/>
                </a:solidFill>
                <a:latin typeface="微软雅黑"/>
                <a:ea typeface="微软雅黑"/>
              </a:rPr>
              <a:t>数据结构的定义</a:t>
            </a:r>
            <a:endParaRPr lang="en-US" sz="1100"/>
          </a:p>
        </p:txBody>
      </p:sp>
      <p:sp>
        <p:nvSpPr>
          <p:cNvPr name="AutoShape 42" id="42"/>
          <p:cNvSpPr/>
          <p:nvPr/>
        </p:nvSpPr>
        <p:spPr>
          <a:xfrm>
            <a:off x="816162" y="631900"/>
            <a:ext cx="219075" cy="219075"/>
          </a:xfrm>
          <a:prstGeom prst="ellipse">
            <a:avLst/>
          </a:prstGeom>
          <a:solidFill>
            <a:schemeClr val="accent6">
              <a:lumMod val="40000"/>
              <a:lumOff val="60000"/>
            </a:schemeClr>
          </a:solidFill>
          <a:ln>
            <a:noFill/>
          </a:ln>
        </p:spPr>
        <p:txBody>
          <a:bodyPr vert="horz" anchor="ctr" tIns="45720" lIns="91440" bIns="45720" rIns="91440"/>
          <a:p>
            <a:pPr algn="ctr" marL="0"/>
          </a:p>
        </p:txBody>
      </p:sp>
      <p:sp>
        <p:nvSpPr>
          <p:cNvPr name="AutoShape 43" id="43"/>
          <p:cNvSpPr/>
          <p:nvPr/>
        </p:nvSpPr>
        <p:spPr>
          <a:xfrm>
            <a:off x="1120962" y="631899"/>
            <a:ext cx="219075" cy="219075"/>
          </a:xfrm>
          <a:prstGeom prst="ellipse">
            <a:avLst/>
          </a:prstGeom>
          <a:solidFill>
            <a:schemeClr val="accent6">
              <a:lumMod val="75000"/>
            </a:schemeClr>
          </a:solidFill>
          <a:ln>
            <a:noFill/>
          </a:ln>
        </p:spPr>
        <p:txBody>
          <a:bodyPr vert="horz" anchor="ctr" tIns="45720" lIns="91440" bIns="45720" rIns="91440"/>
          <a:p>
            <a:pPr algn="ctr" marL="0"/>
          </a:p>
        </p:txBody>
      </p:sp>
      <p:sp>
        <p:nvSpPr>
          <p:cNvPr name="AutoShape 44" id="44"/>
          <p:cNvSpPr/>
          <p:nvPr/>
        </p:nvSpPr>
        <p:spPr>
          <a:xfrm>
            <a:off x="1425762" y="631898"/>
            <a:ext cx="219075" cy="219075"/>
          </a:xfrm>
          <a:prstGeom prst="ellipse">
            <a:avLst/>
          </a:prstGeom>
          <a:solidFill>
            <a:srgbClr val="009E17"/>
          </a:solidFill>
          <a:ln>
            <a:noFill/>
          </a:ln>
        </p:spPr>
        <p:txBody>
          <a:bodyPr vert="horz" anchor="ctr" tIns="45720" lIns="91440" bIns="45720" rIns="91440"/>
          <a:p>
            <a:pPr algn="ctr" marL="0"/>
          </a:p>
        </p:txBody>
      </p:sp>
      <p:sp>
        <p:nvSpPr>
          <p:cNvPr name="AutoShape 45" id="45"/>
          <p:cNvSpPr/>
          <p:nvPr/>
        </p:nvSpPr>
        <p:spPr>
          <a:xfrm>
            <a:off x="1730562" y="631898"/>
            <a:ext cx="219075" cy="219075"/>
          </a:xfrm>
          <a:prstGeom prst="ellipse">
            <a:avLst/>
          </a:prstGeom>
          <a:solidFill>
            <a:srgbClr val="007448"/>
          </a:solidFill>
          <a:ln>
            <a:noFill/>
          </a:ln>
        </p:spPr>
        <p:txBody>
          <a:bodyPr vert="horz" anchor="ctr" tIns="45720" lIns="91440" bIns="45720" rIns="91440"/>
          <a:p>
            <a:pPr algn="ctr" marL="0"/>
          </a:p>
        </p:txBody>
      </p:sp>
      <p:sp>
        <p:nvSpPr>
          <p:cNvPr name="TextBox 46" id="46"/>
          <p:cNvSpPr txBox="true"/>
          <p:nvPr/>
        </p:nvSpPr>
        <p:spPr>
          <a:xfrm>
            <a:off x="725169" y="4250143"/>
            <a:ext cx="6110173" cy="890693"/>
          </a:xfrm>
          <a:prstGeom prst="rect">
            <a:avLst/>
          </a:prstGeom>
          <a:noFill/>
        </p:spPr>
        <p:txBody>
          <a:bodyPr anchor="t" rtlCol="false" vert="horz" wrap="square" tIns="45720" lIns="91440" bIns="45720" rIns="91440">
            <a:spAutoFit/>
          </a:bodyPr>
          <a:lstStyle/>
          <a:p>
            <a:pPr algn="l" marL="0">
              <a:lnSpc>
                <a:spcPct val="150000"/>
              </a:lnSpc>
              <a:defRPr/>
            </a:pPr>
            <a:r>
              <a:rPr lang="zh-CN" b="false" i="false" sz="1200" baseline="0" u="none" altLang="en-US">
                <a:solidFill>
                  <a:schemeClr val="tx1"/>
                </a:solidFill>
                <a:latin typeface="微软雅黑"/>
                <a:ea typeface="微软雅黑"/>
              </a:rPr>
              <a:t>逻辑结构描述数据元素之间的逻辑关系，包括集合、线性、树形和图状结构；物理结构（存储结构）则是数据在计算机内存中的实际存储方式，主要有顺序存储和链式存储两种。二者相互独立又紧密关联。</a:t>
            </a:r>
            <a:endParaRPr lang="en-US" sz="1100"/>
          </a:p>
        </p:txBody>
      </p:sp>
      <p:sp>
        <p:nvSpPr>
          <p:cNvPr name="TextBox 47" id="47"/>
          <p:cNvSpPr txBox="true"/>
          <p:nvPr/>
        </p:nvSpPr>
        <p:spPr>
          <a:xfrm>
            <a:off x="725170" y="3900150"/>
            <a:ext cx="5370830" cy="307777"/>
          </a:xfrm>
          <a:prstGeom prst="rect">
            <a:avLst/>
          </a:prstGeom>
          <a:noFill/>
        </p:spPr>
        <p:txBody>
          <a:bodyPr anchor="t" rtlCol="false" vert="horz" wrap="square" tIns="45720" lIns="91440" bIns="45720" rIns="91440">
            <a:spAutoFit/>
          </a:bodyPr>
          <a:lstStyle/>
          <a:p>
            <a:pPr algn="l" marL="0">
              <a:defRPr/>
            </a:pPr>
            <a:r>
              <a:rPr lang="zh-CN" b="true" i="false" sz="1400" baseline="0" u="none" altLang="en-US">
                <a:solidFill>
                  <a:schemeClr val="tx1"/>
                </a:solidFill>
                <a:latin typeface="微软雅黑"/>
                <a:ea typeface="微软雅黑"/>
              </a:rPr>
              <a:t>逻辑结构与物理结构</a:t>
            </a:r>
            <a:endParaRPr lang="en-US" sz="1100"/>
          </a:p>
        </p:txBody>
      </p:sp>
      <p:sp>
        <p:nvSpPr>
          <p:cNvPr name="TextBox 48" id="48"/>
          <p:cNvSpPr txBox="true"/>
          <p:nvPr/>
        </p:nvSpPr>
        <p:spPr>
          <a:xfrm>
            <a:off x="725168" y="5754582"/>
            <a:ext cx="9476237" cy="613694"/>
          </a:xfrm>
          <a:prstGeom prst="rect">
            <a:avLst/>
          </a:prstGeom>
          <a:noFill/>
        </p:spPr>
        <p:txBody>
          <a:bodyPr anchor="t" rtlCol="false" vert="horz" wrap="square" tIns="45720" lIns="91440" bIns="45720" rIns="91440">
            <a:spAutoFit/>
          </a:bodyPr>
          <a:lstStyle/>
          <a:p>
            <a:pPr algn="l" marL="0">
              <a:lnSpc>
                <a:spcPct val="150000"/>
              </a:lnSpc>
              <a:defRPr/>
            </a:pPr>
            <a:r>
              <a:rPr lang="zh-CN" b="false" i="false" sz="1200" baseline="0" u="none" altLang="en-US">
                <a:solidFill>
                  <a:schemeClr val="tx1"/>
                </a:solidFill>
                <a:latin typeface="微软雅黑"/>
                <a:ea typeface="微软雅黑"/>
              </a:rPr>
              <a:t>数据结构是算法的载体，算法是数据结构的应用。具体来说，数据结构决定了算法能够解决问题的规模和效率，而算法的设计依赖于数据结构的特性。学习数据结构的核心在于理解如何为特定问题选择最合适的数据结构。</a:t>
            </a:r>
            <a:endParaRPr lang="en-US" sz="1100"/>
          </a:p>
        </p:txBody>
      </p:sp>
      <p:sp>
        <p:nvSpPr>
          <p:cNvPr name="TextBox 49" id="49"/>
          <p:cNvSpPr txBox="true"/>
          <p:nvPr/>
        </p:nvSpPr>
        <p:spPr>
          <a:xfrm>
            <a:off x="725169" y="5404589"/>
            <a:ext cx="5370830" cy="307777"/>
          </a:xfrm>
          <a:prstGeom prst="rect">
            <a:avLst/>
          </a:prstGeom>
          <a:noFill/>
        </p:spPr>
        <p:txBody>
          <a:bodyPr anchor="t" rtlCol="false" vert="horz" wrap="square" tIns="45720" lIns="91440" bIns="45720" rIns="91440">
            <a:spAutoFit/>
          </a:bodyPr>
          <a:lstStyle/>
          <a:p>
            <a:pPr algn="l" marL="0">
              <a:defRPr/>
            </a:pPr>
            <a:r>
              <a:rPr lang="zh-CN" b="true" i="false" sz="1400" baseline="0" u="none" altLang="en-US">
                <a:solidFill>
                  <a:schemeClr val="tx1"/>
                </a:solidFill>
                <a:latin typeface="微软雅黑"/>
                <a:ea typeface="微软雅黑"/>
              </a:rPr>
              <a:t>数据结构与算法关系</a:t>
            </a:r>
            <a:endParaRPr lang="en-US" sz="1100"/>
          </a:p>
        </p:txBody>
      </p:sp>
      <p:sp>
        <p:nvSpPr>
          <p:cNvPr name="AutoShape 50" id="50"/>
          <p:cNvSpPr/>
          <p:nvPr/>
        </p:nvSpPr>
        <p:spPr>
          <a:xfrm>
            <a:off x="10795000" y="6540500"/>
            <a:ext cx="1270000" cy="190500"/>
          </a:xfrm>
          <a:prstGeom prst="rect">
            <a:avLst/>
          </a:prstGeom>
          <a:solidFill>
            <a:srgbClr val="000000">
              <a:alpha val="0"/>
            </a:srgbClr>
          </a:solidFill>
        </p:spPr>
        <p:txBody>
          <a:bodyPr anchor="t" rtlCol="false"/>
          <a:lstStyle/>
          <a:p>
            <a:pPr algn="r">
              <a:defRPr/>
            </a:pPr>
            <a:r>
              <a:rPr lang="en-US" b="false" i="false" sz="800" baseline="0" u="none">
                <a:solidFill>
                  <a:srgbClr val="808080"/>
                </a:solidFill>
                <a:latin typeface="Microsoft YaHei"/>
                <a:ea typeface="Microsoft YaHei"/>
              </a:rPr>
              <a:t>内容由AI生成</a:t>
            </a:r>
            <a:endParaRPr lang="en-US" sz="1100"/>
          </a:p>
        </p:txBody>
      </p:sp>
    </p:spTree>
  </p:cSld>
  <p:clrMapOvr>
    <a:masterClrMapping/>
  </p:clrMapOvr>
</p:sld>
</file>

<file path=ppt/slides/slide5.xml><?xml version="1.0" encoding="utf-8"?>
<p:sld xmlns:p="http://schemas.openxmlformats.org/presentationml/2006/main" xmlns:a="http://schemas.openxmlformats.org/drawingml/2006/main" xmlns:c="http://schemas.openxmlformats.org/drawingml/2006/chart" xmlns:r="http://schemas.openxmlformats.org/officeDocument/2006/relationships">
  <p:cSld>
    <p:bg>
      <p:bgPr>
        <a:solidFill>
          <a:schemeClr val="bg1"/>
        </a:solidFill>
      </p:bgPr>
    </p:bg>
    <p:spTree>
      <p:nvGrpSpPr>
        <p:cNvPr id="1" name=""/>
        <p:cNvGrpSpPr/>
        <p:nvPr/>
      </p:nvGrpSpPr>
      <p:grpSpPr>
        <a:xfrm>
          <a:off x="0" y="0"/>
          <a:ext cx="0" cy="0"/>
          <a:chOff x="0" y="0"/>
          <a:chExt cx="0" cy="0"/>
        </a:xfrm>
      </p:grpSpPr>
      <p:graphicFrame>
        <p:nvGraphicFramePr>
          <p:cNvPr name="Chart 2" id="2"/>
          <p:cNvGraphicFramePr>
            <a:graphicFrameLocks noGrp="true"/>
          </p:cNvGraphicFramePr>
          <p:nvPr/>
        </p:nvGraphicFramePr>
        <p:xfrm>
          <a:off x="590867" y="1698729"/>
          <a:ext cx="5691692" cy="4397533"/>
        </p:xfrm>
        <a:graphic>
          <a:graphicData uri="http://schemas.openxmlformats.org/drawingml/2006/chart">
            <c:chart r:id="rId2"/>
          </a:graphicData>
        </a:graphic>
      </p:graphicFrame>
      <p:sp>
        <p:nvSpPr>
          <p:cNvPr name="TextBox 3" id="3"/>
          <p:cNvSpPr txBox="true"/>
          <p:nvPr/>
        </p:nvSpPr>
        <p:spPr>
          <a:xfrm>
            <a:off x="1521997" y="761737"/>
            <a:ext cx="9148005" cy="480131"/>
          </a:xfrm>
          <a:prstGeom prst="rect">
            <a:avLst/>
          </a:prstGeom>
        </p:spPr>
        <p:txBody>
          <a:bodyPr anchor="ctr" rtlCol="false" vert="horz" wrap="square" tIns="45720" lIns="91440" bIns="45720" rIns="91440">
            <a:spAutoFit/>
          </a:bodyPr>
          <a:lstStyle/>
          <a:p>
            <a:pPr algn="ctr" marL="0">
              <a:lnSpc>
                <a:spcPct val="90000"/>
              </a:lnSpc>
              <a:spcBef>
                <a:spcPct val="0"/>
              </a:spcBef>
              <a:defRPr/>
            </a:pPr>
            <a:r>
              <a:rPr lang="zh-CN" b="true" i="false" sz="2800" baseline="0" u="none" altLang="en-US">
                <a:solidFill>
                  <a:srgbClr val="000000"/>
                </a:solidFill>
                <a:latin typeface="微软雅黑"/>
                <a:ea typeface="微软雅黑"/>
              </a:rPr>
              <a:t>数据结构的分类</a:t>
            </a:r>
            <a:endParaRPr lang="en-US" sz="1100"/>
          </a:p>
        </p:txBody>
      </p:sp>
      <p:sp>
        <p:nvSpPr>
          <p:cNvPr name="TextBox 4" id="4"/>
          <p:cNvSpPr txBox="true"/>
          <p:nvPr/>
        </p:nvSpPr>
        <p:spPr>
          <a:xfrm>
            <a:off x="6410326" y="1666507"/>
            <a:ext cx="4717397" cy="307777"/>
          </a:xfrm>
          <a:prstGeom prst="rect">
            <a:avLst/>
          </a:prstGeom>
          <a:noFill/>
        </p:spPr>
        <p:txBody>
          <a:bodyPr anchor="t" rtlCol="false" vert="horz" wrap="square" tIns="45720" lIns="91440" bIns="45720" rIns="91440">
            <a:spAutoFit/>
          </a:bodyPr>
          <a:lstStyle/>
          <a:p>
            <a:pPr algn="l" marL="0">
              <a:defRPr/>
            </a:pPr>
            <a:r>
              <a:rPr lang="zh-CN" b="true" i="false" sz="1400" baseline="0" u="none" altLang="en-US">
                <a:solidFill>
                  <a:schemeClr val="tx1"/>
                </a:solidFill>
                <a:latin typeface="微软雅黑"/>
                <a:ea typeface="微软雅黑"/>
              </a:rPr>
              <a:t>线性结构</a:t>
            </a:r>
            <a:endParaRPr lang="en-US" sz="1100"/>
          </a:p>
        </p:txBody>
      </p:sp>
      <p:sp>
        <p:nvSpPr>
          <p:cNvPr name="TextBox 5" id="5"/>
          <p:cNvSpPr txBox="true"/>
          <p:nvPr/>
        </p:nvSpPr>
        <p:spPr>
          <a:xfrm>
            <a:off x="6423043" y="1904031"/>
            <a:ext cx="5321281" cy="1167692"/>
          </a:xfrm>
          <a:prstGeom prst="rect">
            <a:avLst/>
          </a:prstGeom>
          <a:noFill/>
        </p:spPr>
        <p:txBody>
          <a:bodyPr anchor="t" rtlCol="false" vert="horz" wrap="square" tIns="45720" lIns="91440" bIns="45720" rIns="91440">
            <a:spAutoFit/>
          </a:bodyPr>
          <a:lstStyle/>
          <a:p>
            <a:pPr algn="l" marL="0">
              <a:lnSpc>
                <a:spcPct val="150000"/>
              </a:lnSpc>
              <a:defRPr/>
            </a:pPr>
            <a:r>
              <a:rPr lang="zh-CN" b="false" i="false" sz="1200" baseline="0" u="none" altLang="en-US">
                <a:solidFill>
                  <a:schemeClr val="tx1"/>
                </a:solidFill>
                <a:latin typeface="微软雅黑"/>
                <a:ea typeface="微软雅黑"/>
              </a:rPr>
              <a:t>线性结构中的数据元素之间存在一对一的关系，包括线性表、栈、队列、串、数组等。其特点是除了第一个和最后一个元素外，每个元素都有唯一的前驱和后继。</a:t>
            </a:r>
            <a:endParaRPr lang="en-US" sz="1100"/>
          </a:p>
        </p:txBody>
      </p:sp>
      <p:sp>
        <p:nvSpPr>
          <p:cNvPr name="TextBox 6" id="6"/>
          <p:cNvSpPr txBox="true"/>
          <p:nvPr/>
        </p:nvSpPr>
        <p:spPr>
          <a:xfrm>
            <a:off x="6410326" y="3191476"/>
            <a:ext cx="4717397" cy="307777"/>
          </a:xfrm>
          <a:prstGeom prst="rect">
            <a:avLst/>
          </a:prstGeom>
          <a:noFill/>
        </p:spPr>
        <p:txBody>
          <a:bodyPr anchor="t" rtlCol="false" vert="horz" wrap="square" tIns="45720" lIns="91440" bIns="45720" rIns="91440">
            <a:spAutoFit/>
          </a:bodyPr>
          <a:lstStyle/>
          <a:p>
            <a:pPr algn="l" marL="0">
              <a:defRPr/>
            </a:pPr>
            <a:r>
              <a:rPr lang="zh-CN" b="true" i="false" sz="1400" baseline="0" u="none" altLang="en-US">
                <a:solidFill>
                  <a:schemeClr val="tx1"/>
                </a:solidFill>
                <a:latin typeface="微软雅黑"/>
                <a:ea typeface="微软雅黑"/>
              </a:rPr>
              <a:t>非线性结构</a:t>
            </a:r>
            <a:endParaRPr lang="en-US" sz="1100"/>
          </a:p>
        </p:txBody>
      </p:sp>
      <p:sp>
        <p:nvSpPr>
          <p:cNvPr name="TextBox 7" id="7"/>
          <p:cNvSpPr txBox="true"/>
          <p:nvPr/>
        </p:nvSpPr>
        <p:spPr>
          <a:xfrm>
            <a:off x="6423043" y="3429000"/>
            <a:ext cx="5321281" cy="1167692"/>
          </a:xfrm>
          <a:prstGeom prst="rect">
            <a:avLst/>
          </a:prstGeom>
          <a:noFill/>
        </p:spPr>
        <p:txBody>
          <a:bodyPr anchor="t" rtlCol="false" vert="horz" wrap="square" tIns="45720" lIns="91440" bIns="45720" rIns="91440">
            <a:spAutoFit/>
          </a:bodyPr>
          <a:lstStyle/>
          <a:p>
            <a:pPr algn="l" marL="0">
              <a:lnSpc>
                <a:spcPct val="150000"/>
              </a:lnSpc>
              <a:defRPr/>
            </a:pPr>
            <a:r>
              <a:rPr lang="zh-CN" b="false" i="false" sz="1200" baseline="0" u="none" altLang="en-US">
                <a:solidFill>
                  <a:schemeClr val="tx1"/>
                </a:solidFill>
                <a:latin typeface="微软雅黑"/>
                <a:ea typeface="微软雅黑"/>
              </a:rPr>
              <a:t>非线性结构中的数据元素之间存在一对多或多对多的关系，包括树形结构（如二叉树）、图状结构（如图）。树结构中每个节点可有多个子节点，图结构则允许任意两个节点之间建立连接。</a:t>
            </a:r>
            <a:endParaRPr lang="en-US" sz="1100"/>
          </a:p>
        </p:txBody>
      </p:sp>
      <p:sp>
        <p:nvSpPr>
          <p:cNvPr name="TextBox 8" id="8"/>
          <p:cNvSpPr txBox="true"/>
          <p:nvPr/>
        </p:nvSpPr>
        <p:spPr>
          <a:xfrm>
            <a:off x="6410326" y="4716445"/>
            <a:ext cx="4717397" cy="307777"/>
          </a:xfrm>
          <a:prstGeom prst="rect">
            <a:avLst/>
          </a:prstGeom>
          <a:noFill/>
        </p:spPr>
        <p:txBody>
          <a:bodyPr anchor="t" rtlCol="false" vert="horz" wrap="square" tIns="45720" lIns="91440" bIns="45720" rIns="91440">
            <a:spAutoFit/>
          </a:bodyPr>
          <a:lstStyle/>
          <a:p>
            <a:pPr algn="l" marL="0">
              <a:defRPr/>
            </a:pPr>
            <a:r>
              <a:rPr lang="zh-CN" b="true" i="false" sz="1400" baseline="0" u="none" altLang="en-US">
                <a:solidFill>
                  <a:schemeClr val="tx1"/>
                </a:solidFill>
                <a:latin typeface="微软雅黑"/>
                <a:ea typeface="微软雅黑"/>
              </a:rPr>
              <a:t>集合结构</a:t>
            </a:r>
            <a:endParaRPr lang="en-US" sz="1100"/>
          </a:p>
        </p:txBody>
      </p:sp>
      <p:sp>
        <p:nvSpPr>
          <p:cNvPr name="TextBox 9" id="9"/>
          <p:cNvSpPr txBox="true"/>
          <p:nvPr/>
        </p:nvSpPr>
        <p:spPr>
          <a:xfrm>
            <a:off x="6423043" y="4953969"/>
            <a:ext cx="5321281" cy="1167692"/>
          </a:xfrm>
          <a:prstGeom prst="rect">
            <a:avLst/>
          </a:prstGeom>
          <a:noFill/>
        </p:spPr>
        <p:txBody>
          <a:bodyPr anchor="t" rtlCol="false" vert="horz" wrap="square" tIns="45720" lIns="91440" bIns="45720" rIns="91440">
            <a:spAutoFit/>
          </a:bodyPr>
          <a:lstStyle/>
          <a:p>
            <a:pPr algn="l" marL="0">
              <a:lnSpc>
                <a:spcPct val="150000"/>
              </a:lnSpc>
              <a:defRPr/>
            </a:pPr>
            <a:r>
              <a:rPr lang="zh-CN" b="false" i="false" sz="1200" baseline="0" u="none" altLang="en-US">
                <a:solidFill>
                  <a:schemeClr val="tx1"/>
                </a:solidFill>
                <a:latin typeface="微软雅黑"/>
                <a:ea typeface="微软雅黑"/>
              </a:rPr>
              <a:t>集合结构中的数据元素之间除了“同属于一个集合”的关系外，没有其他关系。集合中的元素无序且唯一，常用于去重、统计等场景，例如哈希表实现的集合。</a:t>
            </a:r>
            <a:endParaRPr lang="en-US" sz="1100"/>
          </a:p>
        </p:txBody>
      </p:sp>
      <p:sp>
        <p:nvSpPr>
          <p:cNvPr name="AutoShape 10" id="10"/>
          <p:cNvSpPr/>
          <p:nvPr/>
        </p:nvSpPr>
        <p:spPr>
          <a:xfrm>
            <a:off x="0" y="0"/>
            <a:ext cx="12192000" cy="6858000"/>
          </a:xfrm>
          <a:prstGeom prst="frame">
            <a:avLst>
              <a:gd name="adj1" fmla="val 2731"/>
            </a:avLst>
          </a:prstGeom>
          <a:solidFill>
            <a:srgbClr val="007448"/>
          </a:solidFill>
          <a:ln>
            <a:noFill/>
          </a:ln>
        </p:spPr>
        <p:txBody>
          <a:bodyPr vert="horz" anchor="ctr" tIns="45720" lIns="91440" bIns="45720" rIns="91440"/>
          <a:p>
            <a:pPr algn="ctr" marL="0"/>
          </a:p>
        </p:txBody>
      </p:sp>
      <p:sp>
        <p:nvSpPr>
          <p:cNvPr name="AutoShape 11" id="11"/>
          <p:cNvSpPr/>
          <p:nvPr/>
        </p:nvSpPr>
        <p:spPr>
          <a:xfrm>
            <a:off x="10795000" y="6540500"/>
            <a:ext cx="1270000" cy="190500"/>
          </a:xfrm>
          <a:prstGeom prst="rect">
            <a:avLst/>
          </a:prstGeom>
          <a:solidFill>
            <a:srgbClr val="000000">
              <a:alpha val="0"/>
            </a:srgbClr>
          </a:solidFill>
        </p:spPr>
        <p:txBody>
          <a:bodyPr anchor="t" rtlCol="false"/>
          <a:lstStyle/>
          <a:p>
            <a:pPr algn="r">
              <a:defRPr/>
            </a:pPr>
            <a:r>
              <a:rPr lang="en-US" b="false" i="false" sz="800" baseline="0" u="none">
                <a:solidFill>
                  <a:srgbClr val="808080"/>
                </a:solidFill>
                <a:latin typeface="Microsoft YaHei"/>
                <a:ea typeface="Microsoft YaHei"/>
              </a:rPr>
              <a:t>内容由AI生成</a:t>
            </a:r>
            <a:endParaRPr lang="en-US" sz="1100"/>
          </a:p>
        </p:txBody>
      </p:sp>
    </p:spTree>
  </p:cSld>
  <p:clrMapOvr>
    <a:masterClrMapping/>
  </p:clrMapOvr>
</p:sld>
</file>

<file path=ppt/slides/slide6.xml><?xml version="1.0" encoding="utf-8"?>
<p:sld xmlns:p="http://schemas.openxmlformats.org/presentationml/2006/main"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name="Freeform 2" id="2"/>
          <p:cNvSpPr/>
          <p:nvPr/>
        </p:nvSpPr>
        <p:spPr>
          <a:xfrm flipV="true" rot="16200000">
            <a:off x="1836018" y="4179770"/>
            <a:ext cx="842212" cy="4514248"/>
          </a:xfrm>
          <a:custGeom>
            <a:avLst/>
            <a:gdLst/>
            <a:ahLst/>
            <a:cxnLst/>
            <a:rect r="r" b="b" t="t" l="l"/>
            <a:pathLst>
              <a:path w="1354667" h="2912533" stroke="true" fill="norm" extrusionOk="true">
                <a:moveTo>
                  <a:pt x="0" y="2912533"/>
                </a:moveTo>
                <a:lnTo>
                  <a:pt x="0" y="18237"/>
                </a:lnTo>
                <a:lnTo>
                  <a:pt x="8848" y="0"/>
                </a:lnTo>
                <a:lnTo>
                  <a:pt x="1354667" y="2912533"/>
                </a:lnTo>
                <a:close/>
              </a:path>
            </a:pathLst>
          </a:custGeom>
          <a:solidFill>
            <a:schemeClr val="accent6">
              <a:alpha val="20000"/>
              <a:lumMod val="40000"/>
              <a:lumOff val="60000"/>
            </a:schemeClr>
          </a:solidFill>
          <a:ln>
            <a:noFill/>
          </a:ln>
        </p:spPr>
        <p:txBody>
          <a:bodyPr vert="horz" anchor="ctr" wrap="square" tIns="45720" lIns="91440" bIns="45720" rIns="91440">
            <a:noAutofit/>
          </a:bodyPr>
          <a:p>
            <a:pPr algn="ctr" marL="0"/>
          </a:p>
        </p:txBody>
      </p:sp>
      <p:grpSp>
        <p:nvGrpSpPr>
          <p:cNvPr name="Group 3" id="3"/>
          <p:cNvGrpSpPr/>
          <p:nvPr/>
        </p:nvGrpSpPr>
        <p:grpSpPr>
          <a:xfrm>
            <a:off x="1442283" y="1879189"/>
            <a:ext cx="2087789" cy="2085454"/>
            <a:chOff x="836160" y="2511886"/>
            <a:chExt cx="2087789" cy="2085454"/>
          </a:xfrm>
        </p:grpSpPr>
        <p:grpSp>
          <p:nvGrpSpPr>
            <p:cNvPr name="Group 4" id="4"/>
            <p:cNvGrpSpPr/>
            <p:nvPr/>
          </p:nvGrpSpPr>
          <p:grpSpPr>
            <a:xfrm>
              <a:off x="836160" y="2511886"/>
              <a:ext cx="2087789" cy="2085454"/>
              <a:chOff x="117293" y="2232824"/>
              <a:chExt cx="2087789" cy="2085454"/>
            </a:xfrm>
          </p:grpSpPr>
          <p:sp>
            <p:nvSpPr>
              <p:cNvPr name="AutoShape 5" id="5"/>
              <p:cNvSpPr/>
              <p:nvPr/>
            </p:nvSpPr>
            <p:spPr>
              <a:xfrm>
                <a:off x="121338" y="2239027"/>
                <a:ext cx="2079251" cy="2079251"/>
              </a:xfrm>
              <a:prstGeom prst="donut">
                <a:avLst>
                  <a:gd name="adj" fmla="val 10299"/>
                </a:avLst>
              </a:prstGeom>
              <a:solidFill>
                <a:schemeClr val="bg2">
                  <a:alpha val="75000"/>
                  <a:lumMod val="90000"/>
                </a:schemeClr>
              </a:solidFill>
              <a:ln>
                <a:noFill/>
              </a:ln>
            </p:spPr>
            <p:txBody>
              <a:bodyPr vert="horz" anchor="ctr" tIns="45720" lIns="91440" bIns="45720" rIns="91440"/>
              <a:p>
                <a:pPr algn="ctr" marL="0"/>
              </a:p>
            </p:txBody>
          </p:sp>
          <p:sp>
            <p:nvSpPr>
              <p:cNvPr name="AutoShape 6" id="6"/>
              <p:cNvSpPr/>
              <p:nvPr/>
            </p:nvSpPr>
            <p:spPr>
              <a:xfrm rot="13566670">
                <a:off x="120035" y="2230082"/>
                <a:ext cx="2082305" cy="2087789"/>
              </a:xfrm>
              <a:prstGeom prst="blockArc">
                <a:avLst>
                  <a:gd name="adj1" fmla="val 2713268"/>
                  <a:gd name="adj2" fmla="val 21519410"/>
                  <a:gd name="adj3" fmla="val 10631"/>
                </a:avLst>
              </a:prstGeom>
              <a:solidFill>
                <a:srgbClr val="00680F"/>
              </a:solidFill>
              <a:ln>
                <a:noFill/>
              </a:ln>
            </p:spPr>
            <p:txBody>
              <a:bodyPr vert="horz" anchor="ctr" tIns="45720" lIns="91440" bIns="45720" rIns="91440"/>
              <a:p>
                <a:pPr algn="ctr" marL="0"/>
              </a:p>
            </p:txBody>
          </p:sp>
        </p:grpSp>
        <p:sp>
          <p:nvSpPr>
            <p:cNvPr name="TextBox 7" id="7"/>
            <p:cNvSpPr txBox="true"/>
            <p:nvPr/>
          </p:nvSpPr>
          <p:spPr>
            <a:xfrm>
              <a:off x="1508845" y="3332430"/>
              <a:ext cx="923651" cy="523220"/>
            </a:xfrm>
            <a:prstGeom prst="rect">
              <a:avLst/>
            </a:prstGeom>
            <a:noFill/>
          </p:spPr>
          <p:txBody>
            <a:bodyPr anchor="t" rtlCol="false" vert="horz" wrap="none" tIns="45720" lIns="91440" bIns="45720" rIns="91440">
              <a:spAutoFit/>
            </a:bodyPr>
            <a:lstStyle/>
            <a:p>
              <a:pPr algn="l" marL="0">
                <a:defRPr/>
              </a:pPr>
              <a:r>
                <a:rPr lang="en-US" b="false" i="false" sz="2800" baseline="0" u="none">
                  <a:solidFill>
                    <a:srgbClr val="000000"/>
                  </a:solidFill>
                  <a:latin typeface="微软雅黑"/>
                  <a:ea typeface="微软雅黑"/>
                </a:rPr>
                <a:t>87%</a:t>
              </a:r>
              <a:endParaRPr lang="en-US" sz="1100"/>
            </a:p>
          </p:txBody>
        </p:sp>
      </p:grpSp>
      <p:grpSp>
        <p:nvGrpSpPr>
          <p:cNvPr name="Group 8" id="8"/>
          <p:cNvGrpSpPr/>
          <p:nvPr/>
        </p:nvGrpSpPr>
        <p:grpSpPr>
          <a:xfrm>
            <a:off x="5055389" y="1893145"/>
            <a:ext cx="2081221" cy="2080123"/>
            <a:chOff x="3653837" y="2525205"/>
            <a:chExt cx="2081221" cy="2080123"/>
          </a:xfrm>
        </p:grpSpPr>
        <p:grpSp>
          <p:nvGrpSpPr>
            <p:cNvPr name="Group 9" id="9"/>
            <p:cNvGrpSpPr/>
            <p:nvPr/>
          </p:nvGrpSpPr>
          <p:grpSpPr>
            <a:xfrm>
              <a:off x="3653837" y="2525205"/>
              <a:ext cx="2081221" cy="2080123"/>
              <a:chOff x="3653837" y="2240392"/>
              <a:chExt cx="2081221" cy="2080123"/>
            </a:xfrm>
          </p:grpSpPr>
          <p:sp>
            <p:nvSpPr>
              <p:cNvPr name="AutoShape 10" id="10"/>
              <p:cNvSpPr/>
              <p:nvPr/>
            </p:nvSpPr>
            <p:spPr>
              <a:xfrm>
                <a:off x="3655807" y="2240614"/>
                <a:ext cx="2079251" cy="2079251"/>
              </a:xfrm>
              <a:prstGeom prst="donut">
                <a:avLst>
                  <a:gd name="adj" fmla="val 10299"/>
                </a:avLst>
              </a:prstGeom>
              <a:solidFill>
                <a:schemeClr val="bg2">
                  <a:alpha val="41000"/>
                  <a:lumMod val="75000"/>
                </a:schemeClr>
              </a:solidFill>
              <a:ln>
                <a:noFill/>
              </a:ln>
            </p:spPr>
            <p:txBody>
              <a:bodyPr vert="horz" anchor="ctr" tIns="45720" lIns="91440" bIns="45720" rIns="91440"/>
              <a:p>
                <a:pPr algn="ctr" marL="0"/>
              </a:p>
            </p:txBody>
          </p:sp>
          <p:sp>
            <p:nvSpPr>
              <p:cNvPr name="AutoShape 11" id="11"/>
              <p:cNvSpPr/>
              <p:nvPr/>
            </p:nvSpPr>
            <p:spPr>
              <a:xfrm flipH="true" rot="5238483">
                <a:off x="3653837" y="2240392"/>
                <a:ext cx="2080123" cy="2080123"/>
              </a:xfrm>
              <a:prstGeom prst="blockArc">
                <a:avLst>
                  <a:gd name="adj1" fmla="val 9620024"/>
                  <a:gd name="adj2" fmla="val 21471216"/>
                  <a:gd name="adj3" fmla="val 10346"/>
                </a:avLst>
              </a:prstGeom>
              <a:solidFill>
                <a:srgbClr val="FECA48"/>
              </a:solidFill>
              <a:ln>
                <a:noFill/>
              </a:ln>
            </p:spPr>
            <p:txBody>
              <a:bodyPr vert="horz" anchor="ctr" tIns="45720" lIns="91440" bIns="45720" rIns="91440"/>
              <a:p>
                <a:pPr algn="ctr" marL="0"/>
              </a:p>
            </p:txBody>
          </p:sp>
        </p:grpSp>
        <p:sp>
          <p:nvSpPr>
            <p:cNvPr name="TextBox 12" id="12"/>
            <p:cNvSpPr txBox="true"/>
            <p:nvPr/>
          </p:nvSpPr>
          <p:spPr>
            <a:xfrm>
              <a:off x="4318204" y="3332430"/>
              <a:ext cx="923651" cy="523220"/>
            </a:xfrm>
            <a:prstGeom prst="rect">
              <a:avLst/>
            </a:prstGeom>
            <a:noFill/>
          </p:spPr>
          <p:txBody>
            <a:bodyPr anchor="t" rtlCol="false" vert="horz" wrap="none" tIns="45720" lIns="91440" bIns="45720" rIns="91440">
              <a:spAutoFit/>
            </a:bodyPr>
            <a:lstStyle/>
            <a:p>
              <a:pPr algn="l" marL="0">
                <a:defRPr/>
              </a:pPr>
              <a:r>
                <a:rPr lang="en-US" b="false" i="false" sz="2800" baseline="0" u="none">
                  <a:solidFill>
                    <a:srgbClr val="000000"/>
                  </a:solidFill>
                  <a:latin typeface="微软雅黑"/>
                  <a:ea typeface="微软雅黑"/>
                </a:rPr>
                <a:t>43%</a:t>
              </a:r>
              <a:endParaRPr lang="en-US" sz="1100"/>
            </a:p>
          </p:txBody>
        </p:sp>
      </p:grpSp>
      <p:grpSp>
        <p:nvGrpSpPr>
          <p:cNvPr name="Group 13" id="13"/>
          <p:cNvGrpSpPr/>
          <p:nvPr/>
        </p:nvGrpSpPr>
        <p:grpSpPr>
          <a:xfrm>
            <a:off x="8635674" y="1845445"/>
            <a:ext cx="2085885" cy="2085885"/>
            <a:chOff x="6450201" y="2522957"/>
            <a:chExt cx="2085885" cy="2085885"/>
          </a:xfrm>
        </p:grpSpPr>
        <p:grpSp>
          <p:nvGrpSpPr>
            <p:cNvPr name="Group 14" id="14"/>
            <p:cNvGrpSpPr/>
            <p:nvPr/>
          </p:nvGrpSpPr>
          <p:grpSpPr>
            <a:xfrm>
              <a:off x="6450201" y="2522957"/>
              <a:ext cx="2085885" cy="2085885"/>
              <a:chOff x="3652573" y="2238144"/>
              <a:chExt cx="2085885" cy="2085885"/>
            </a:xfrm>
          </p:grpSpPr>
          <p:sp>
            <p:nvSpPr>
              <p:cNvPr name="AutoShape 15" id="15"/>
              <p:cNvSpPr/>
              <p:nvPr/>
            </p:nvSpPr>
            <p:spPr>
              <a:xfrm>
                <a:off x="3655807" y="2240614"/>
                <a:ext cx="2079251" cy="2079251"/>
              </a:xfrm>
              <a:prstGeom prst="donut">
                <a:avLst>
                  <a:gd name="adj" fmla="val 10299"/>
                </a:avLst>
              </a:prstGeom>
              <a:solidFill>
                <a:schemeClr val="bg2">
                  <a:alpha val="94000"/>
                  <a:lumMod val="90000"/>
                </a:schemeClr>
              </a:solidFill>
              <a:ln>
                <a:noFill/>
              </a:ln>
            </p:spPr>
            <p:txBody>
              <a:bodyPr vert="horz" anchor="ctr" tIns="45720" lIns="91440" bIns="45720" rIns="91440"/>
              <a:p>
                <a:pPr algn="ctr" marL="0"/>
              </a:p>
            </p:txBody>
          </p:sp>
          <p:sp>
            <p:nvSpPr>
              <p:cNvPr name="AutoShape 16" id="16"/>
              <p:cNvSpPr/>
              <p:nvPr/>
            </p:nvSpPr>
            <p:spPr>
              <a:xfrm flipH="true" rot="5238483">
                <a:off x="3652573" y="2238144"/>
                <a:ext cx="2085885" cy="2085885"/>
              </a:xfrm>
              <a:prstGeom prst="blockArc">
                <a:avLst>
                  <a:gd name="adj1" fmla="val 7440712"/>
                  <a:gd name="adj2" fmla="val 21461385"/>
                  <a:gd name="adj3" fmla="val 10461"/>
                </a:avLst>
              </a:prstGeom>
              <a:solidFill>
                <a:srgbClr val="007611">
                  <a:alpha val="68235"/>
                </a:srgbClr>
              </a:solidFill>
              <a:ln>
                <a:noFill/>
              </a:ln>
            </p:spPr>
            <p:txBody>
              <a:bodyPr vert="horz" anchor="ctr" tIns="45720" lIns="91440" bIns="45720" rIns="91440"/>
              <a:p>
                <a:pPr algn="ctr" marL="0"/>
              </a:p>
            </p:txBody>
          </p:sp>
        </p:grpSp>
        <p:sp>
          <p:nvSpPr>
            <p:cNvPr name="TextBox 17" id="17"/>
            <p:cNvSpPr txBox="true"/>
            <p:nvPr/>
          </p:nvSpPr>
          <p:spPr>
            <a:xfrm>
              <a:off x="7125874" y="3332430"/>
              <a:ext cx="923651" cy="523220"/>
            </a:xfrm>
            <a:prstGeom prst="rect">
              <a:avLst/>
            </a:prstGeom>
            <a:noFill/>
          </p:spPr>
          <p:txBody>
            <a:bodyPr anchor="t" rtlCol="false" vert="horz" wrap="none" tIns="45720" lIns="91440" bIns="45720" rIns="91440">
              <a:spAutoFit/>
            </a:bodyPr>
            <a:lstStyle/>
            <a:p>
              <a:pPr algn="l" marL="0">
                <a:defRPr/>
              </a:pPr>
              <a:r>
                <a:rPr lang="en-US" b="false" i="false" sz="2800" baseline="0" u="none">
                  <a:solidFill>
                    <a:srgbClr val="000000"/>
                  </a:solidFill>
                  <a:latin typeface="微软雅黑"/>
                  <a:ea typeface="微软雅黑"/>
                </a:rPr>
                <a:t>65%</a:t>
              </a:r>
              <a:endParaRPr lang="en-US" sz="1100"/>
            </a:p>
          </p:txBody>
        </p:sp>
      </p:grpSp>
      <p:sp>
        <p:nvSpPr>
          <p:cNvPr name="TextBox 18" id="18"/>
          <p:cNvSpPr txBox="true"/>
          <p:nvPr/>
        </p:nvSpPr>
        <p:spPr>
          <a:xfrm>
            <a:off x="918417" y="4514237"/>
            <a:ext cx="3139930" cy="1721690"/>
          </a:xfrm>
          <a:prstGeom prst="rect">
            <a:avLst/>
          </a:prstGeom>
          <a:noFill/>
        </p:spPr>
        <p:txBody>
          <a:bodyPr anchor="t" rtlCol="false" vert="horz" wrap="square" tIns="45720" lIns="91440" bIns="45720" rIns="91440">
            <a:spAutoFit/>
          </a:bodyPr>
          <a:lstStyle/>
          <a:p>
            <a:pPr algn="l" marL="0">
              <a:lnSpc>
                <a:spcPct val="150000"/>
              </a:lnSpc>
              <a:defRPr/>
            </a:pPr>
            <a:r>
              <a:rPr lang="zh-CN" b="false" i="false" sz="1200" baseline="0" u="none" altLang="en-US">
                <a:solidFill>
                  <a:schemeClr val="tx1"/>
                </a:solidFill>
                <a:latin typeface="微软雅黑"/>
                <a:ea typeface="微软雅黑"/>
              </a:rPr>
              <a:t>许多高级算法（如最短路径、动态规划）都建立在特定数据结构之上。理解数据结构的性能特征（时间复杂度、空间复杂度）是进行算法优化和系统性能调优的前提。</a:t>
            </a:r>
            <a:endParaRPr lang="en-US" sz="1100"/>
          </a:p>
        </p:txBody>
      </p:sp>
      <p:sp>
        <p:nvSpPr>
          <p:cNvPr name="TextBox 19" id="19"/>
          <p:cNvSpPr txBox="true"/>
          <p:nvPr/>
        </p:nvSpPr>
        <p:spPr>
          <a:xfrm>
            <a:off x="1040343" y="4201062"/>
            <a:ext cx="2891670" cy="307777"/>
          </a:xfrm>
          <a:prstGeom prst="rect">
            <a:avLst/>
          </a:prstGeom>
          <a:noFill/>
        </p:spPr>
        <p:txBody>
          <a:bodyPr anchor="t" rtlCol="false" vert="horz" wrap="square" tIns="45720" lIns="91440" bIns="45720" rIns="91440">
            <a:spAutoFit/>
          </a:bodyPr>
          <a:lstStyle/>
          <a:p>
            <a:pPr algn="ctr" marL="0">
              <a:defRPr/>
            </a:pPr>
            <a:r>
              <a:rPr lang="zh-CN" b="true" i="false" sz="1400" baseline="0" u="none" altLang="en-US">
                <a:solidFill>
                  <a:schemeClr val="tx1"/>
                </a:solidFill>
                <a:latin typeface="微软雅黑"/>
                <a:ea typeface="微软雅黑"/>
              </a:rPr>
              <a:t>为算法优化奠基</a:t>
            </a:r>
            <a:endParaRPr lang="en-US" sz="1100"/>
          </a:p>
        </p:txBody>
      </p:sp>
      <p:sp>
        <p:nvSpPr>
          <p:cNvPr name="TextBox 20" id="20"/>
          <p:cNvSpPr txBox="true"/>
          <p:nvPr/>
        </p:nvSpPr>
        <p:spPr>
          <a:xfrm>
            <a:off x="4588070" y="4508839"/>
            <a:ext cx="3139930" cy="1721690"/>
          </a:xfrm>
          <a:prstGeom prst="rect">
            <a:avLst/>
          </a:prstGeom>
          <a:noFill/>
        </p:spPr>
        <p:txBody>
          <a:bodyPr anchor="t" rtlCol="false" vert="horz" wrap="square" tIns="45720" lIns="91440" bIns="45720" rIns="91440">
            <a:spAutoFit/>
          </a:bodyPr>
          <a:lstStyle/>
          <a:p>
            <a:pPr algn="l" marL="0">
              <a:lnSpc>
                <a:spcPct val="150000"/>
              </a:lnSpc>
              <a:defRPr/>
            </a:pPr>
            <a:r>
              <a:rPr lang="zh-CN" b="false" i="false" sz="1200" baseline="0" u="none" altLang="en-US">
                <a:solidFill>
                  <a:schemeClr val="tx1"/>
                </a:solidFill>
                <a:latin typeface="微软雅黑"/>
                <a:ea typeface="微软雅黑"/>
              </a:rPr>
              <a:t>掌握数据结构有助于培养抽象思维和模块化设计能力，学会将复杂问题分解为基本数据结构及其操作，从而写出更清晰、可维护的代码。</a:t>
            </a:r>
            <a:endParaRPr lang="en-US" sz="1100"/>
          </a:p>
        </p:txBody>
      </p:sp>
      <p:sp>
        <p:nvSpPr>
          <p:cNvPr name="TextBox 21" id="21"/>
          <p:cNvSpPr txBox="true"/>
          <p:nvPr/>
        </p:nvSpPr>
        <p:spPr>
          <a:xfrm>
            <a:off x="4649033" y="4204187"/>
            <a:ext cx="2891670" cy="307777"/>
          </a:xfrm>
          <a:prstGeom prst="rect">
            <a:avLst/>
          </a:prstGeom>
          <a:noFill/>
        </p:spPr>
        <p:txBody>
          <a:bodyPr anchor="t" rtlCol="false" vert="horz" wrap="square" tIns="45720" lIns="91440" bIns="45720" rIns="91440">
            <a:spAutoFit/>
          </a:bodyPr>
          <a:lstStyle/>
          <a:p>
            <a:pPr algn="ctr" marL="0">
              <a:defRPr/>
            </a:pPr>
            <a:r>
              <a:rPr lang="zh-CN" b="true" i="false" sz="1400" baseline="0" u="none" altLang="en-US">
                <a:solidFill>
                  <a:schemeClr val="tx1"/>
                </a:solidFill>
                <a:latin typeface="微软雅黑"/>
                <a:ea typeface="微软雅黑"/>
              </a:rPr>
              <a:t>提升编程思维</a:t>
            </a:r>
            <a:endParaRPr lang="en-US" sz="1100"/>
          </a:p>
        </p:txBody>
      </p:sp>
      <p:sp>
        <p:nvSpPr>
          <p:cNvPr name="TextBox 22" id="22"/>
          <p:cNvSpPr txBox="true"/>
          <p:nvPr/>
        </p:nvSpPr>
        <p:spPr>
          <a:xfrm>
            <a:off x="8257723" y="4508839"/>
            <a:ext cx="3139930" cy="1721690"/>
          </a:xfrm>
          <a:prstGeom prst="rect">
            <a:avLst/>
          </a:prstGeom>
          <a:noFill/>
        </p:spPr>
        <p:txBody>
          <a:bodyPr anchor="t" rtlCol="false" vert="horz" wrap="square" tIns="45720" lIns="91440" bIns="45720" rIns="91440">
            <a:spAutoFit/>
          </a:bodyPr>
          <a:lstStyle/>
          <a:p>
            <a:pPr algn="l" marL="0">
              <a:lnSpc>
                <a:spcPct val="150000"/>
              </a:lnSpc>
              <a:defRPr/>
            </a:pPr>
            <a:r>
              <a:rPr lang="zh-CN" b="false" i="false" sz="1200" baseline="0" u="none" altLang="en-US">
                <a:solidFill>
                  <a:schemeClr val="tx1"/>
                </a:solidFill>
                <a:latin typeface="微软雅黑"/>
                <a:ea typeface="微软雅黑"/>
              </a:rPr>
              <a:t>数据结构是各大互联网公司技术面试的必考内容，常见的算法题多基于栈、队列、树、哈希表等数据结构。扎实的数据结构功底是获得理想 Offer 的关键。</a:t>
            </a:r>
            <a:endParaRPr lang="en-US" sz="1100"/>
          </a:p>
        </p:txBody>
      </p:sp>
      <p:sp>
        <p:nvSpPr>
          <p:cNvPr name="TextBox 23" id="23"/>
          <p:cNvSpPr txBox="true"/>
          <p:nvPr/>
        </p:nvSpPr>
        <p:spPr>
          <a:xfrm>
            <a:off x="8318686" y="4204187"/>
            <a:ext cx="2891670" cy="307777"/>
          </a:xfrm>
          <a:prstGeom prst="rect">
            <a:avLst/>
          </a:prstGeom>
          <a:noFill/>
        </p:spPr>
        <p:txBody>
          <a:bodyPr anchor="t" rtlCol="false" vert="horz" wrap="square" tIns="45720" lIns="91440" bIns="45720" rIns="91440">
            <a:spAutoFit/>
          </a:bodyPr>
          <a:lstStyle/>
          <a:p>
            <a:pPr algn="ctr" marL="0">
              <a:defRPr/>
            </a:pPr>
            <a:r>
              <a:rPr lang="zh-CN" b="true" i="false" sz="1400" baseline="0" u="none" altLang="en-US">
                <a:solidFill>
                  <a:schemeClr val="tx1"/>
                </a:solidFill>
                <a:latin typeface="微软雅黑"/>
                <a:ea typeface="微软雅黑"/>
              </a:rPr>
              <a:t>应对企业面试</a:t>
            </a:r>
            <a:endParaRPr lang="en-US" sz="1100"/>
          </a:p>
        </p:txBody>
      </p:sp>
      <p:sp>
        <p:nvSpPr>
          <p:cNvPr name="TextBox 24" id="24"/>
          <p:cNvSpPr txBox="true"/>
          <p:nvPr/>
        </p:nvSpPr>
        <p:spPr>
          <a:xfrm>
            <a:off x="1520865" y="677445"/>
            <a:ext cx="9148005" cy="480131"/>
          </a:xfrm>
          <a:prstGeom prst="rect">
            <a:avLst/>
          </a:prstGeom>
        </p:spPr>
        <p:txBody>
          <a:bodyPr anchor="ctr" rtlCol="false" vert="horz" wrap="square" tIns="45720" lIns="91440" bIns="45720" rIns="91440">
            <a:spAutoFit/>
          </a:bodyPr>
          <a:lstStyle/>
          <a:p>
            <a:pPr algn="ctr" marL="0">
              <a:lnSpc>
                <a:spcPct val="90000"/>
              </a:lnSpc>
              <a:spcBef>
                <a:spcPct val="0"/>
              </a:spcBef>
              <a:defRPr/>
            </a:pPr>
            <a:r>
              <a:rPr lang="zh-CN" b="true" i="false" sz="2800" baseline="0" u="none" altLang="en-US">
                <a:solidFill>
                  <a:srgbClr val="000000"/>
                </a:solidFill>
                <a:latin typeface="微软雅黑"/>
                <a:ea typeface="微软雅黑"/>
              </a:rPr>
              <a:t>学习数据结构的意义</a:t>
            </a:r>
            <a:endParaRPr lang="en-US" sz="1100"/>
          </a:p>
        </p:txBody>
      </p:sp>
      <p:sp>
        <p:nvSpPr>
          <p:cNvPr name="AutoShape 25" id="25"/>
          <p:cNvSpPr/>
          <p:nvPr/>
        </p:nvSpPr>
        <p:spPr>
          <a:xfrm flipH="true">
            <a:off x="1667226" y="1218591"/>
            <a:ext cx="3720743" cy="307777"/>
          </a:xfrm>
          <a:prstGeom prst="leftArrow">
            <a:avLst/>
          </a:prstGeom>
          <a:gradFill rotWithShape="true" flip="none">
            <a:gsLst>
              <a:gs pos="0">
                <a:schemeClr val="accent6">
                  <a:lumMod val="50000"/>
                </a:schemeClr>
              </a:gs>
              <a:gs pos="100000">
                <a:schemeClr val="accent6">
                  <a:alpha val="0"/>
                  <a:lumMod val="50000"/>
                </a:schemeClr>
              </a:gs>
            </a:gsLst>
            <a:tileRect/>
          </a:gradFill>
          <a:ln>
            <a:noFill/>
          </a:ln>
        </p:spPr>
        <p:txBody>
          <a:bodyPr vert="horz" anchor="ctr" tIns="45720" lIns="91440" bIns="45720" rIns="91440"/>
          <a:p>
            <a:pPr algn="ctr" marL="0"/>
          </a:p>
        </p:txBody>
      </p:sp>
      <p:sp>
        <p:nvSpPr>
          <p:cNvPr name="AutoShape 26" id="26"/>
          <p:cNvSpPr/>
          <p:nvPr/>
        </p:nvSpPr>
        <p:spPr>
          <a:xfrm>
            <a:off x="6761177" y="1218590"/>
            <a:ext cx="3720743" cy="307777"/>
          </a:xfrm>
          <a:prstGeom prst="leftArrow">
            <a:avLst/>
          </a:prstGeom>
          <a:gradFill rotWithShape="true" flip="none">
            <a:gsLst>
              <a:gs pos="0">
                <a:schemeClr val="accent6">
                  <a:lumMod val="50000"/>
                </a:schemeClr>
              </a:gs>
              <a:gs pos="100000">
                <a:schemeClr val="accent6">
                  <a:alpha val="0"/>
                  <a:lumMod val="50000"/>
                </a:schemeClr>
              </a:gs>
            </a:gsLst>
            <a:tileRect/>
          </a:gradFill>
          <a:ln>
            <a:noFill/>
          </a:ln>
        </p:spPr>
        <p:txBody>
          <a:bodyPr vert="horz" anchor="ctr" tIns="45720" lIns="91440" bIns="45720" rIns="91440"/>
          <a:p>
            <a:pPr algn="ctr" marL="0"/>
          </a:p>
        </p:txBody>
      </p:sp>
      <p:sp>
        <p:nvSpPr>
          <p:cNvPr name="Freeform 27" id="27"/>
          <p:cNvSpPr/>
          <p:nvPr/>
        </p:nvSpPr>
        <p:spPr>
          <a:xfrm flipH="true" rot="16200000">
            <a:off x="9891163" y="-1252254"/>
            <a:ext cx="1048584" cy="3553093"/>
          </a:xfrm>
          <a:custGeom>
            <a:avLst/>
            <a:gdLst/>
            <a:ahLst/>
            <a:cxnLst/>
            <a:rect r="r" b="b" t="t" l="l"/>
            <a:pathLst>
              <a:path w="1354667" h="2912533" stroke="true" fill="norm" extrusionOk="true">
                <a:moveTo>
                  <a:pt x="0" y="2912533"/>
                </a:moveTo>
                <a:lnTo>
                  <a:pt x="0" y="18237"/>
                </a:lnTo>
                <a:lnTo>
                  <a:pt x="8848" y="0"/>
                </a:lnTo>
                <a:lnTo>
                  <a:pt x="1354667" y="2912533"/>
                </a:lnTo>
                <a:close/>
              </a:path>
            </a:pathLst>
          </a:custGeom>
          <a:solidFill>
            <a:srgbClr val="9BFFD9">
              <a:alpha val="20000"/>
            </a:srgbClr>
          </a:solidFill>
          <a:ln>
            <a:noFill/>
          </a:ln>
        </p:spPr>
        <p:txBody>
          <a:bodyPr vert="horz" anchor="ctr" wrap="square" tIns="45720" lIns="91440" bIns="45720" rIns="91440">
            <a:noAutofit/>
          </a:bodyPr>
          <a:p>
            <a:pPr algn="ctr" marL="0"/>
          </a:p>
        </p:txBody>
      </p:sp>
      <p:sp>
        <p:nvSpPr>
          <p:cNvPr name="AutoShape 28" id="28"/>
          <p:cNvSpPr/>
          <p:nvPr/>
        </p:nvSpPr>
        <p:spPr>
          <a:xfrm>
            <a:off x="10795000" y="6540500"/>
            <a:ext cx="1270000" cy="190500"/>
          </a:xfrm>
          <a:prstGeom prst="rect">
            <a:avLst/>
          </a:prstGeom>
          <a:solidFill>
            <a:srgbClr val="000000">
              <a:alpha val="0"/>
            </a:srgbClr>
          </a:solidFill>
        </p:spPr>
        <p:txBody>
          <a:bodyPr anchor="t" rtlCol="false"/>
          <a:lstStyle/>
          <a:p>
            <a:pPr algn="r">
              <a:defRPr/>
            </a:pPr>
            <a:r>
              <a:rPr lang="en-US" b="false" i="false" sz="800" baseline="0" u="none">
                <a:solidFill>
                  <a:srgbClr val="808080"/>
                </a:solidFill>
                <a:latin typeface="Microsoft YaHei"/>
                <a:ea typeface="Microsoft YaHei"/>
              </a:rPr>
              <a:t>内容由AI生成</a:t>
            </a:r>
            <a:endParaRPr lang="en-US" sz="1100"/>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blipFill rotWithShape="true">
          <a:blip r:embed="rId2"/>
          <a:srcRect/>
          <a:stretch>
            <a:fillRect t="0" l="0" b="0" r="0"/>
          </a:stretch>
        </a:blipFill>
      </p:bgPr>
    </p:bg>
    <p:spTree>
      <p:nvGrpSpPr>
        <p:cNvPr id="1" name=""/>
        <p:cNvGrpSpPr/>
        <p:nvPr/>
      </p:nvGrpSpPr>
      <p:grpSpPr>
        <a:xfrm>
          <a:off x="0" y="0"/>
          <a:ext cx="0" cy="0"/>
          <a:chOff x="0" y="0"/>
          <a:chExt cx="0" cy="0"/>
        </a:xfrm>
      </p:grpSpPr>
      <p:sp>
        <p:nvSpPr>
          <p:cNvPr name="AutoShape 2" id="2"/>
          <p:cNvSpPr/>
          <p:nvPr/>
        </p:nvSpPr>
        <p:spPr>
          <a:xfrm>
            <a:off x="0" y="0"/>
            <a:ext cx="12192000" cy="6858000"/>
          </a:xfrm>
          <a:prstGeom prst="rect">
            <a:avLst/>
          </a:prstGeom>
          <a:gradFill rotWithShape="true" flip="none">
            <a:gsLst>
              <a:gs pos="0">
                <a:srgbClr val="0A854D"/>
              </a:gs>
              <a:gs pos="100000">
                <a:srgbClr val="318B49">
                  <a:alpha val="0"/>
                </a:srgbClr>
              </a:gs>
            </a:gsLst>
            <a:lin ang="5400000"/>
            <a:tileRect/>
          </a:gradFill>
          <a:ln>
            <a:noFill/>
          </a:ln>
        </p:spPr>
        <p:txBody>
          <a:bodyPr vert="horz" anchor="ctr" tIns="45720" lIns="91440" bIns="45720" rIns="91440"/>
          <a:p>
            <a:pPr algn="ctr" marL="0"/>
          </a:p>
        </p:txBody>
      </p:sp>
      <p:sp>
        <p:nvSpPr>
          <p:cNvPr name="TextBox 3" id="3"/>
          <p:cNvSpPr txBox="true"/>
          <p:nvPr/>
        </p:nvSpPr>
        <p:spPr>
          <a:xfrm>
            <a:off x="1665296" y="2971817"/>
            <a:ext cx="8861408" cy="830997"/>
          </a:xfrm>
          <a:prstGeom prst="rect">
            <a:avLst/>
          </a:prstGeom>
          <a:noFill/>
        </p:spPr>
        <p:txBody>
          <a:bodyPr anchor="t" rtlCol="false" vert="horz" wrap="square" tIns="45720" lIns="91440" bIns="45720" rIns="91440">
            <a:spAutoFit/>
          </a:bodyPr>
          <a:lstStyle/>
          <a:p>
            <a:pPr algn="ctr" marL="0">
              <a:defRPr/>
            </a:pPr>
            <a:r>
              <a:rPr lang="zh-CN" b="true" i="false" sz="4800" baseline="0" u="none" altLang="en-US">
                <a:solidFill>
                  <a:schemeClr val="bg1"/>
                </a:solidFill>
                <a:latin typeface="微软雅黑"/>
                <a:ea typeface="微软雅黑"/>
              </a:rPr>
              <a:t>线性表</a:t>
            </a:r>
            <a:endParaRPr lang="en-US" sz="1100"/>
          </a:p>
        </p:txBody>
      </p:sp>
      <p:sp>
        <p:nvSpPr>
          <p:cNvPr name="Freeform 4" id="4"/>
          <p:cNvSpPr/>
          <p:nvPr/>
        </p:nvSpPr>
        <p:spPr>
          <a:xfrm>
            <a:off x="650240" y="893196"/>
            <a:ext cx="378355" cy="378355"/>
          </a:xfrm>
          <a:custGeom>
            <a:avLst/>
            <a:gdLst/>
            <a:ahLst/>
            <a:cxnLst/>
            <a:rect r="r" b="b" t="t" l="l"/>
            <a:pathLst>
              <a:path w="634790" h="634790" stroke="true" fill="norm" extrusionOk="true">
                <a:moveTo>
                  <a:pt x="268240" y="235406"/>
                </a:moveTo>
                <a:lnTo>
                  <a:pt x="268240" y="486178"/>
                </a:lnTo>
                <a:lnTo>
                  <a:pt x="368960" y="486178"/>
                </a:lnTo>
                <a:lnTo>
                  <a:pt x="368960" y="235406"/>
                </a:lnTo>
                <a:close/>
                <a:moveTo>
                  <a:pt x="319337" y="127942"/>
                </a:moveTo>
                <a:cubicBezTo>
                  <a:pt x="305602" y="127942"/>
                  <a:pt x="294063" y="132613"/>
                  <a:pt x="284721" y="141955"/>
                </a:cubicBezTo>
                <a:cubicBezTo>
                  <a:pt x="275379" y="151296"/>
                  <a:pt x="270709" y="162667"/>
                  <a:pt x="270709" y="176066"/>
                </a:cubicBezTo>
                <a:cubicBezTo>
                  <a:pt x="270709" y="189754"/>
                  <a:pt x="275391" y="201281"/>
                  <a:pt x="284757" y="210646"/>
                </a:cubicBezTo>
                <a:cubicBezTo>
                  <a:pt x="294122" y="220012"/>
                  <a:pt x="305649" y="224695"/>
                  <a:pt x="319337" y="224695"/>
                </a:cubicBezTo>
                <a:cubicBezTo>
                  <a:pt x="332973" y="224695"/>
                  <a:pt x="344487" y="219999"/>
                  <a:pt x="353878" y="210607"/>
                </a:cubicBezTo>
                <a:cubicBezTo>
                  <a:pt x="363270" y="201215"/>
                  <a:pt x="367966" y="189701"/>
                  <a:pt x="367966" y="176066"/>
                </a:cubicBezTo>
                <a:cubicBezTo>
                  <a:pt x="367966" y="162719"/>
                  <a:pt x="363282" y="151362"/>
                  <a:pt x="353914" y="141994"/>
                </a:cubicBezTo>
                <a:cubicBezTo>
                  <a:pt x="344546" y="132626"/>
                  <a:pt x="333020" y="127942"/>
                  <a:pt x="319337" y="127942"/>
                </a:cubicBezTo>
                <a:close/>
                <a:moveTo>
                  <a:pt x="317395" y="0"/>
                </a:moveTo>
                <a:cubicBezTo>
                  <a:pt x="492687" y="0"/>
                  <a:pt x="634790" y="142103"/>
                  <a:pt x="634790" y="317395"/>
                </a:cubicBezTo>
                <a:cubicBezTo>
                  <a:pt x="634790" y="492687"/>
                  <a:pt x="492687" y="634790"/>
                  <a:pt x="317395" y="634790"/>
                </a:cubicBezTo>
                <a:cubicBezTo>
                  <a:pt x="142103" y="634790"/>
                  <a:pt x="0" y="492687"/>
                  <a:pt x="0" y="317395"/>
                </a:cubicBezTo>
                <a:cubicBezTo>
                  <a:pt x="0" y="142103"/>
                  <a:pt x="142103" y="0"/>
                  <a:pt x="317395" y="0"/>
                </a:cubicBezTo>
                <a:close/>
              </a:path>
            </a:pathLst>
          </a:custGeom>
          <a:solidFill>
            <a:schemeClr val="bg1"/>
          </a:solidFill>
          <a:ln>
            <a:noFill/>
          </a:ln>
        </p:spPr>
        <p:txBody>
          <a:bodyPr vert="horz" anchor="ctr" wrap="square" tIns="45720" lIns="91440" bIns="45720" rIns="91440">
            <a:noAutofit/>
          </a:bodyPr>
          <a:p>
            <a:pPr algn="ctr" marL="0"/>
          </a:p>
        </p:txBody>
      </p:sp>
      <p:sp>
        <p:nvSpPr>
          <p:cNvPr name="TextBox 5" id="5"/>
          <p:cNvSpPr txBox="true"/>
          <p:nvPr/>
        </p:nvSpPr>
        <p:spPr>
          <a:xfrm>
            <a:off x="1051967" y="890172"/>
            <a:ext cx="2569777" cy="400110"/>
          </a:xfrm>
          <a:prstGeom prst="rect">
            <a:avLst/>
          </a:prstGeom>
          <a:noFill/>
        </p:spPr>
        <p:txBody>
          <a:bodyPr anchor="t" rtlCol="false" vert="horz" wrap="square" tIns="45720" lIns="91440" bIns="45720" rIns="91440">
            <a:spAutoFit/>
          </a:bodyPr>
          <a:lstStyle/>
          <a:p>
            <a:pPr algn="l" marL="0">
              <a:defRPr/>
            </a:pPr>
            <a:r>
              <a:rPr lang="en-US" b="true" i="false" sz="2000" baseline="0" u="none">
                <a:solidFill>
                  <a:schemeClr val="bg1"/>
                </a:solidFill>
                <a:latin typeface="微软雅黑"/>
                <a:ea typeface="微软雅黑"/>
              </a:rPr>
              <a:t>YOUR LOGO</a:t>
            </a:r>
            <a:endParaRPr lang="en-US" sz="1100"/>
          </a:p>
        </p:txBody>
      </p:sp>
      <p:sp>
        <p:nvSpPr>
          <p:cNvPr name="TextBox 6" id="6"/>
          <p:cNvSpPr txBox="true"/>
          <p:nvPr/>
        </p:nvSpPr>
        <p:spPr>
          <a:xfrm>
            <a:off x="4283777" y="4106376"/>
            <a:ext cx="3624446" cy="369332"/>
          </a:xfrm>
          <a:prstGeom prst="rect">
            <a:avLst/>
          </a:prstGeom>
          <a:noFill/>
        </p:spPr>
        <p:txBody>
          <a:bodyPr anchor="t" rtlCol="false" vert="horz" wrap="square" tIns="45720" lIns="91440" bIns="45720" rIns="91440">
            <a:spAutoFit/>
          </a:bodyPr>
          <a:lstStyle/>
          <a:p>
            <a:pPr algn="l" marL="0">
              <a:defRPr/>
            </a:pPr>
            <a:r>
              <a:rPr lang="en-US" b="false" i="false" sz="1800" baseline="0" u="none">
                <a:solidFill>
                  <a:schemeClr val="bg1"/>
                </a:solidFill>
                <a:latin typeface="微软雅黑"/>
                <a:ea typeface="微软雅黑"/>
              </a:rPr>
              <a:t>Power point design</a:t>
            </a:r>
            <a:endParaRPr lang="en-US" sz="1100"/>
          </a:p>
        </p:txBody>
      </p:sp>
      <p:cxnSp>
        <p:nvCxnSpPr>
          <p:cNvPr name="Connector 7" id="7"/>
          <p:cNvCxnSpPr/>
          <p:nvPr/>
        </p:nvCxnSpPr>
        <p:spPr>
          <a:xfrm>
            <a:off x="6647813" y="4291042"/>
            <a:ext cx="1260410" cy="0"/>
          </a:xfrm>
          <a:prstGeom prst="line">
            <a:avLst/>
          </a:prstGeom>
          <a:ln w="9525">
            <a:solidFill>
              <a:schemeClr val="bg1"/>
            </a:solidFill>
          </a:ln>
        </p:spPr>
      </p:cxnSp>
      <p:grpSp>
        <p:nvGrpSpPr>
          <p:cNvPr name="Group 8" id="8"/>
          <p:cNvGrpSpPr/>
          <p:nvPr/>
        </p:nvGrpSpPr>
        <p:grpSpPr>
          <a:xfrm>
            <a:off x="4682966" y="1963176"/>
            <a:ext cx="2826067" cy="858555"/>
            <a:chOff x="4263846" y="2243095"/>
            <a:chExt cx="2826067" cy="858555"/>
          </a:xfrm>
        </p:grpSpPr>
        <p:sp>
          <p:nvSpPr>
            <p:cNvPr name="TextBox 9" id="9"/>
            <p:cNvSpPr txBox="true"/>
            <p:nvPr/>
          </p:nvSpPr>
          <p:spPr>
            <a:xfrm>
              <a:off x="4263846" y="2270653"/>
              <a:ext cx="1988820" cy="830997"/>
            </a:xfrm>
            <a:prstGeom prst="rect">
              <a:avLst/>
            </a:prstGeom>
            <a:noFill/>
          </p:spPr>
          <p:txBody>
            <a:bodyPr anchor="t" rtlCol="false" vert="horz" wrap="square" tIns="45720" lIns="91440" bIns="45720" rIns="91440">
              <a:spAutoFit/>
            </a:bodyPr>
            <a:lstStyle/>
            <a:p>
              <a:pPr algn="l" marL="0">
                <a:defRPr/>
              </a:pPr>
              <a:r>
                <a:rPr lang="en-US" b="false" i="false" sz="4800" baseline="0" u="none">
                  <a:solidFill>
                    <a:schemeClr val="bg1"/>
                  </a:solidFill>
                  <a:latin typeface="微软雅黑"/>
                  <a:ea typeface="微软雅黑"/>
                </a:rPr>
                <a:t>PART</a:t>
              </a:r>
              <a:endParaRPr lang="en-US" sz="1100"/>
            </a:p>
          </p:txBody>
        </p:sp>
        <p:sp>
          <p:nvSpPr>
            <p:cNvPr name="TextBox 10" id="10"/>
            <p:cNvSpPr txBox="true"/>
            <p:nvPr/>
          </p:nvSpPr>
          <p:spPr>
            <a:xfrm>
              <a:off x="6008599" y="2243095"/>
              <a:ext cx="1081314" cy="830997"/>
            </a:xfrm>
            <a:prstGeom prst="rect">
              <a:avLst/>
            </a:prstGeom>
            <a:noFill/>
          </p:spPr>
          <p:txBody>
            <a:bodyPr anchor="t" rtlCol="false" vert="horz" wrap="square" tIns="45720" lIns="91440" bIns="45720" rIns="91440">
              <a:spAutoFit/>
            </a:bodyPr>
            <a:lstStyle/>
            <a:p>
              <a:pPr algn="l" marL="0">
                <a:defRPr/>
              </a:pPr>
              <a:r>
                <a:rPr lang="en-US" b="false" i="false" sz="4800" baseline="0" u="none">
                  <a:solidFill>
                    <a:schemeClr val="bg1"/>
                  </a:solidFill>
                  <a:latin typeface="微软雅黑"/>
                  <a:ea typeface="微软雅黑"/>
                </a:rPr>
                <a:t>02</a:t>
              </a:r>
              <a:endParaRPr lang="en-US" sz="1100"/>
            </a:p>
          </p:txBody>
        </p:sp>
      </p:grpSp>
      <p:sp>
        <p:nvSpPr>
          <p:cNvPr name="AutoShape 11" id="11"/>
          <p:cNvSpPr/>
          <p:nvPr/>
        </p:nvSpPr>
        <p:spPr>
          <a:xfrm>
            <a:off x="10795000" y="6540500"/>
            <a:ext cx="1270000" cy="190500"/>
          </a:xfrm>
          <a:prstGeom prst="rect">
            <a:avLst/>
          </a:prstGeom>
          <a:solidFill>
            <a:srgbClr val="000000">
              <a:alpha val="0"/>
            </a:srgbClr>
          </a:solidFill>
        </p:spPr>
        <p:txBody>
          <a:bodyPr anchor="t" rtlCol="false"/>
          <a:lstStyle/>
          <a:p>
            <a:pPr algn="r">
              <a:defRPr/>
            </a:pPr>
            <a:r>
              <a:rPr lang="en-US" b="false" i="false" sz="800" baseline="0" u="none">
                <a:solidFill>
                  <a:srgbClr val="808080"/>
                </a:solidFill>
                <a:latin typeface="Microsoft YaHei"/>
                <a:ea typeface="Microsoft YaHei"/>
              </a:rPr>
              <a:t>内容由AI生成</a:t>
            </a:r>
            <a:endParaRPr lang="en-US" sz="1100"/>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chemeClr val="bg1"/>
        </a:solidFill>
      </p:bgPr>
    </p:bg>
    <p:spTree>
      <p:nvGrpSpPr>
        <p:cNvPr id="1" name=""/>
        <p:cNvGrpSpPr/>
        <p:nvPr/>
      </p:nvGrpSpPr>
      <p:grpSpPr>
        <a:xfrm>
          <a:off x="0" y="0"/>
          <a:ext cx="0" cy="0"/>
          <a:chOff x="0" y="0"/>
          <a:chExt cx="0" cy="0"/>
        </a:xfrm>
      </p:grpSpPr>
      <p:sp>
        <p:nvSpPr>
          <p:cNvPr name="Freeform 2" id="2"/>
          <p:cNvSpPr/>
          <p:nvPr/>
        </p:nvSpPr>
        <p:spPr>
          <a:xfrm flipH="true" flipV="true" rot="5400000">
            <a:off x="9900158" y="4601506"/>
            <a:ext cx="916062" cy="3667624"/>
          </a:xfrm>
          <a:custGeom>
            <a:avLst/>
            <a:gdLst/>
            <a:ahLst/>
            <a:cxnLst/>
            <a:rect r="r" b="b" t="t" l="l"/>
            <a:pathLst>
              <a:path w="1354667" h="2912533" stroke="true" fill="norm" extrusionOk="true">
                <a:moveTo>
                  <a:pt x="0" y="2912533"/>
                </a:moveTo>
                <a:lnTo>
                  <a:pt x="0" y="18237"/>
                </a:lnTo>
                <a:lnTo>
                  <a:pt x="8848" y="0"/>
                </a:lnTo>
                <a:lnTo>
                  <a:pt x="1354667" y="2912533"/>
                </a:lnTo>
                <a:close/>
              </a:path>
            </a:pathLst>
          </a:custGeom>
          <a:solidFill>
            <a:srgbClr val="00680F"/>
          </a:solidFill>
          <a:ln>
            <a:noFill/>
          </a:ln>
        </p:spPr>
        <p:txBody>
          <a:bodyPr vert="horz" anchor="ctr" wrap="square" tIns="45720" lIns="91440" bIns="45720" rIns="91440">
            <a:noAutofit/>
          </a:bodyPr>
          <a:p>
            <a:pPr algn="ctr" marL="0"/>
          </a:p>
        </p:txBody>
      </p:sp>
      <p:sp>
        <p:nvSpPr>
          <p:cNvPr name="AutoShape 3" id="3"/>
          <p:cNvSpPr/>
          <p:nvPr/>
        </p:nvSpPr>
        <p:spPr>
          <a:xfrm>
            <a:off x="523875" y="2263786"/>
            <a:ext cx="3360557" cy="3591680"/>
          </a:xfrm>
          <a:prstGeom prst="roundRect">
            <a:avLst>
              <a:gd name="adj" fmla="val 8754"/>
            </a:avLst>
          </a:prstGeom>
          <a:solidFill>
            <a:schemeClr val="accent6">
              <a:lumMod val="50000"/>
            </a:schemeClr>
          </a:solidFill>
          <a:ln>
            <a:noFill/>
          </a:ln>
        </p:spPr>
        <p:txBody>
          <a:bodyPr vert="horz" anchor="ctr" tIns="45720" lIns="91440" bIns="45720" rIns="91440"/>
          <a:p>
            <a:pPr algn="ctr" marL="0"/>
          </a:p>
        </p:txBody>
      </p:sp>
      <p:sp>
        <p:nvSpPr>
          <p:cNvPr name="AutoShape 4" id="4"/>
          <p:cNvSpPr/>
          <p:nvPr/>
        </p:nvSpPr>
        <p:spPr>
          <a:xfrm>
            <a:off x="4191659" y="1781933"/>
            <a:ext cx="3741085" cy="4273206"/>
          </a:xfrm>
          <a:prstGeom prst="roundRect">
            <a:avLst>
              <a:gd name="adj" fmla="val 9215"/>
            </a:avLst>
          </a:prstGeom>
          <a:solidFill>
            <a:srgbClr val="007448"/>
          </a:solidFill>
          <a:ln>
            <a:noFill/>
          </a:ln>
          <a:effectLst>
            <a:outerShdw algn="tl" blurRad="254000" dir="2700000" dist="127000" rotWithShape="false">
              <a:srgbClr val="000000">
                <a:alpha val="8000"/>
              </a:srgbClr>
            </a:outerShdw>
          </a:effectLst>
        </p:spPr>
        <p:txBody>
          <a:bodyPr vert="horz" anchor="ctr" tIns="45720" lIns="91440" bIns="45720" rIns="91440"/>
          <a:p>
            <a:pPr algn="ctr" marL="0"/>
          </a:p>
        </p:txBody>
      </p:sp>
      <p:sp>
        <p:nvSpPr>
          <p:cNvPr name="AutoShape 5" id="5"/>
          <p:cNvSpPr/>
          <p:nvPr/>
        </p:nvSpPr>
        <p:spPr>
          <a:xfrm>
            <a:off x="8239971" y="2263785"/>
            <a:ext cx="3360557" cy="3591681"/>
          </a:xfrm>
          <a:prstGeom prst="roundRect">
            <a:avLst>
              <a:gd name="adj" fmla="val 8981"/>
            </a:avLst>
          </a:prstGeom>
          <a:solidFill>
            <a:srgbClr val="F5AF01"/>
          </a:solidFill>
          <a:ln>
            <a:noFill/>
          </a:ln>
        </p:spPr>
        <p:txBody>
          <a:bodyPr vert="horz" anchor="ctr" tIns="45720" lIns="91440" bIns="45720" rIns="91440"/>
          <a:p>
            <a:pPr algn="ctr" marL="0"/>
          </a:p>
        </p:txBody>
      </p:sp>
      <p:sp>
        <p:nvSpPr>
          <p:cNvPr name="TextBox 6" id="6"/>
          <p:cNvSpPr txBox="true"/>
          <p:nvPr/>
        </p:nvSpPr>
        <p:spPr>
          <a:xfrm>
            <a:off x="651824" y="3237023"/>
            <a:ext cx="3139930" cy="1721690"/>
          </a:xfrm>
          <a:prstGeom prst="rect">
            <a:avLst/>
          </a:prstGeom>
          <a:noFill/>
        </p:spPr>
        <p:txBody>
          <a:bodyPr anchor="t" rtlCol="false" vert="horz" wrap="square" tIns="45720" lIns="91440" bIns="45720" rIns="91440">
            <a:spAutoFit/>
          </a:bodyPr>
          <a:lstStyle/>
          <a:p>
            <a:pPr algn="l" marL="0">
              <a:lnSpc>
                <a:spcPct val="150000"/>
              </a:lnSpc>
              <a:defRPr/>
            </a:pPr>
            <a:r>
              <a:rPr lang="zh-CN" b="false" i="false" sz="1200" baseline="0" u="none" altLang="en-US">
                <a:solidFill>
                  <a:schemeClr val="bg1"/>
                </a:solidFill>
                <a:latin typeface="微软雅黑"/>
                <a:ea typeface="微软雅黑"/>
              </a:rPr>
              <a:t>顺序表使用一组地址连续的存储单元依次存储线性表元素，借助数组实现。其特点是支持随机访问（O(1)），但插入和删除操作平均需要移动约一半元素，时间复杂度为O(n)。</a:t>
            </a:r>
            <a:endParaRPr lang="en-US" sz="1100"/>
          </a:p>
        </p:txBody>
      </p:sp>
      <p:sp>
        <p:nvSpPr>
          <p:cNvPr name="TextBox 7" id="7"/>
          <p:cNvSpPr txBox="true"/>
          <p:nvPr/>
        </p:nvSpPr>
        <p:spPr>
          <a:xfrm>
            <a:off x="758318" y="2982345"/>
            <a:ext cx="2891670" cy="307777"/>
          </a:xfrm>
          <a:prstGeom prst="rect">
            <a:avLst/>
          </a:prstGeom>
          <a:noFill/>
        </p:spPr>
        <p:txBody>
          <a:bodyPr anchor="t" rtlCol="false" vert="horz" wrap="square" tIns="45720" lIns="91440" bIns="45720" rIns="91440">
            <a:spAutoFit/>
          </a:bodyPr>
          <a:lstStyle/>
          <a:p>
            <a:pPr algn="ctr" marL="0">
              <a:defRPr/>
            </a:pPr>
            <a:r>
              <a:rPr lang="zh-CN" b="true" i="false" sz="1400" baseline="0" u="none" altLang="en-US">
                <a:solidFill>
                  <a:schemeClr val="bg1"/>
                </a:solidFill>
                <a:latin typeface="微软雅黑"/>
                <a:ea typeface="微软雅黑"/>
              </a:rPr>
              <a:t>顺序存储实现</a:t>
            </a:r>
            <a:endParaRPr lang="en-US" sz="1100"/>
          </a:p>
        </p:txBody>
      </p:sp>
      <p:sp>
        <p:nvSpPr>
          <p:cNvPr name="TextBox 8" id="8"/>
          <p:cNvSpPr txBox="true"/>
          <p:nvPr/>
        </p:nvSpPr>
        <p:spPr>
          <a:xfrm>
            <a:off x="8400246" y="3237023"/>
            <a:ext cx="3139930" cy="1721690"/>
          </a:xfrm>
          <a:prstGeom prst="rect">
            <a:avLst/>
          </a:prstGeom>
          <a:noFill/>
        </p:spPr>
        <p:txBody>
          <a:bodyPr anchor="t" rtlCol="false" vert="horz" wrap="square" tIns="45720" lIns="91440" bIns="45720" rIns="91440">
            <a:spAutoFit/>
          </a:bodyPr>
          <a:lstStyle/>
          <a:p>
            <a:pPr algn="l" marL="0">
              <a:lnSpc>
                <a:spcPct val="150000"/>
              </a:lnSpc>
              <a:defRPr/>
            </a:pPr>
            <a:r>
              <a:rPr lang="zh-CN" b="false" i="false" sz="1200" baseline="0" u="none" altLang="en-US">
                <a:solidFill>
                  <a:schemeClr val="bg1"/>
                </a:solidFill>
                <a:latin typeface="微软雅黑"/>
                <a:ea typeface="微软雅黑"/>
              </a:rPr>
              <a:t>链表通过指针链接分散的存储单元，每个节点包含数据域和指针域。单向链表、双向链表和循环链表是常见形式。链表插入和删除仅需修改指针（O(1)），但查找需遍历（O(n)）。</a:t>
            </a:r>
            <a:endParaRPr lang="en-US" sz="1100"/>
          </a:p>
        </p:txBody>
      </p:sp>
      <p:sp>
        <p:nvSpPr>
          <p:cNvPr name="TextBox 9" id="9"/>
          <p:cNvSpPr txBox="true"/>
          <p:nvPr/>
        </p:nvSpPr>
        <p:spPr>
          <a:xfrm>
            <a:off x="8524376" y="2982345"/>
            <a:ext cx="2891670" cy="307777"/>
          </a:xfrm>
          <a:prstGeom prst="rect">
            <a:avLst/>
          </a:prstGeom>
          <a:noFill/>
        </p:spPr>
        <p:txBody>
          <a:bodyPr anchor="t" rtlCol="false" vert="horz" wrap="square" tIns="45720" lIns="91440" bIns="45720" rIns="91440">
            <a:spAutoFit/>
          </a:bodyPr>
          <a:lstStyle/>
          <a:p>
            <a:pPr algn="ctr" marL="0">
              <a:defRPr/>
            </a:pPr>
            <a:r>
              <a:rPr lang="zh-CN" b="true" i="false" sz="1400" baseline="0" u="none" altLang="en-US">
                <a:solidFill>
                  <a:schemeClr val="bg1"/>
                </a:solidFill>
                <a:latin typeface="微软雅黑"/>
                <a:ea typeface="微软雅黑"/>
              </a:rPr>
              <a:t>链式存储实现</a:t>
            </a:r>
            <a:endParaRPr lang="en-US" sz="1100"/>
          </a:p>
        </p:txBody>
      </p:sp>
      <p:sp>
        <p:nvSpPr>
          <p:cNvPr name="TextBox 10" id="10"/>
          <p:cNvSpPr txBox="true"/>
          <p:nvPr/>
        </p:nvSpPr>
        <p:spPr>
          <a:xfrm>
            <a:off x="4430910" y="2901423"/>
            <a:ext cx="3355577" cy="2316403"/>
          </a:xfrm>
          <a:prstGeom prst="rect">
            <a:avLst/>
          </a:prstGeom>
          <a:noFill/>
        </p:spPr>
        <p:txBody>
          <a:bodyPr anchor="t" rtlCol="false" vert="horz" wrap="square" tIns="45720" lIns="91440" bIns="45720" rIns="91440">
            <a:spAutoFit/>
          </a:bodyPr>
          <a:lstStyle/>
          <a:p>
            <a:pPr algn="l" marL="0">
              <a:lnSpc>
                <a:spcPct val="150000"/>
              </a:lnSpc>
              <a:defRPr/>
            </a:pPr>
            <a:r>
              <a:rPr lang="zh-CN" b="false" i="false" sz="1400" baseline="0" u="none" altLang="en-US">
                <a:solidFill>
                  <a:schemeClr val="bg1"/>
                </a:solidFill>
                <a:latin typeface="微软雅黑"/>
                <a:ea typeface="微软雅黑"/>
              </a:rPr>
              <a:t>线性表是由n（n≥0）个相同类型数据元素构成的有限序列。除首尾元素外，每个元素有唯一的前驱和后继。基本操作包括初始化、求长度、获取元素、插入、删除、查找等。</a:t>
            </a:r>
            <a:endParaRPr lang="en-US" sz="1100"/>
          </a:p>
        </p:txBody>
      </p:sp>
      <p:sp>
        <p:nvSpPr>
          <p:cNvPr name="TextBox 11" id="11"/>
          <p:cNvSpPr txBox="true"/>
          <p:nvPr/>
        </p:nvSpPr>
        <p:spPr>
          <a:xfrm>
            <a:off x="4479387" y="2527753"/>
            <a:ext cx="3233213" cy="338554"/>
          </a:xfrm>
          <a:prstGeom prst="rect">
            <a:avLst/>
          </a:prstGeom>
          <a:noFill/>
        </p:spPr>
        <p:txBody>
          <a:bodyPr anchor="t" rtlCol="false" vert="horz" wrap="square" tIns="45720" lIns="91440" bIns="45720" rIns="91440">
            <a:spAutoFit/>
          </a:bodyPr>
          <a:lstStyle/>
          <a:p>
            <a:pPr algn="ctr" marL="0">
              <a:defRPr/>
            </a:pPr>
            <a:r>
              <a:rPr lang="zh-CN" b="true" i="false" sz="1600" baseline="0" u="none" altLang="en-US">
                <a:solidFill>
                  <a:schemeClr val="bg1"/>
                </a:solidFill>
                <a:latin typeface="微软雅黑"/>
                <a:ea typeface="微软雅黑"/>
              </a:rPr>
              <a:t>线性表基本概念</a:t>
            </a:r>
            <a:endParaRPr lang="en-US" sz="1100"/>
          </a:p>
        </p:txBody>
      </p:sp>
      <p:sp>
        <p:nvSpPr>
          <p:cNvPr name="TextBox 12" id="12"/>
          <p:cNvSpPr txBox="true"/>
          <p:nvPr/>
        </p:nvSpPr>
        <p:spPr>
          <a:xfrm>
            <a:off x="1521997" y="969889"/>
            <a:ext cx="9148005" cy="480131"/>
          </a:xfrm>
          <a:prstGeom prst="rect">
            <a:avLst/>
          </a:prstGeom>
        </p:spPr>
        <p:txBody>
          <a:bodyPr anchor="ctr" rtlCol="false" vert="horz" wrap="square" tIns="45720" lIns="91440" bIns="45720" rIns="91440">
            <a:spAutoFit/>
          </a:bodyPr>
          <a:lstStyle/>
          <a:p>
            <a:pPr algn="ctr" marL="0">
              <a:lnSpc>
                <a:spcPct val="90000"/>
              </a:lnSpc>
              <a:spcBef>
                <a:spcPct val="0"/>
              </a:spcBef>
              <a:defRPr/>
            </a:pPr>
            <a:r>
              <a:rPr lang="zh-CN" b="true" i="false" sz="2800" baseline="0" u="none" altLang="en-US">
                <a:solidFill>
                  <a:srgbClr val="000000"/>
                </a:solidFill>
                <a:latin typeface="微软雅黑"/>
                <a:ea typeface="微软雅黑"/>
              </a:rPr>
              <a:t>线性表定义与操作</a:t>
            </a:r>
            <a:endParaRPr lang="en-US" sz="1100"/>
          </a:p>
        </p:txBody>
      </p:sp>
      <p:pic>
        <p:nvPicPr>
          <p:cNvPr name="image22.png" id="13"/>
          <p:cNvPicPr>
            <a:picLocks noChangeAspect="true"/>
          </p:cNvPicPr>
          <p:nvPr/>
        </p:nvPicPr>
        <p:blipFill>
          <a:blip r:embed="rId2"/>
          <a:stretch>
            <a:fillRect t="0" l="0" b="0" r="0"/>
          </a:stretch>
        </p:blipFill>
        <p:spPr>
          <a:xfrm>
            <a:off x="4538876" y="1988437"/>
            <a:ext cx="391319" cy="347839"/>
          </a:xfrm>
          <a:prstGeom prst="rect">
            <a:avLst/>
          </a:prstGeom>
        </p:spPr>
      </p:pic>
      <p:pic>
        <p:nvPicPr>
          <p:cNvPr name="image23.png" id="14"/>
          <p:cNvPicPr>
            <a:picLocks noChangeAspect="true"/>
          </p:cNvPicPr>
          <p:nvPr/>
        </p:nvPicPr>
        <p:blipFill>
          <a:blip r:embed="rId3"/>
          <a:stretch>
            <a:fillRect t="0" l="0" b="0" r="0"/>
          </a:stretch>
        </p:blipFill>
        <p:spPr>
          <a:xfrm>
            <a:off x="8527506" y="2424909"/>
            <a:ext cx="391235" cy="347764"/>
          </a:xfrm>
          <a:prstGeom prst="rect">
            <a:avLst/>
          </a:prstGeom>
        </p:spPr>
      </p:pic>
      <p:pic>
        <p:nvPicPr>
          <p:cNvPr name="image24.png" id="15"/>
          <p:cNvPicPr>
            <a:picLocks noChangeAspect="true"/>
          </p:cNvPicPr>
          <p:nvPr/>
        </p:nvPicPr>
        <p:blipFill>
          <a:blip r:embed="rId4"/>
          <a:stretch>
            <a:fillRect t="0" l="0" b="0" r="0"/>
          </a:stretch>
        </p:blipFill>
        <p:spPr>
          <a:xfrm>
            <a:off x="831396" y="2402382"/>
            <a:ext cx="347763" cy="347763"/>
          </a:xfrm>
          <a:prstGeom prst="rect">
            <a:avLst/>
          </a:prstGeom>
        </p:spPr>
      </p:pic>
      <p:grpSp>
        <p:nvGrpSpPr>
          <p:cNvPr name="Group 16" id="16"/>
          <p:cNvGrpSpPr/>
          <p:nvPr/>
        </p:nvGrpSpPr>
        <p:grpSpPr>
          <a:xfrm rot="5400000">
            <a:off x="3405085" y="2519750"/>
            <a:ext cx="45719" cy="191769"/>
            <a:chOff x="10644588" y="5117465"/>
            <a:chExt cx="45719" cy="191769"/>
          </a:xfrm>
          <a:solidFill>
            <a:schemeClr val="bg1"/>
          </a:solidFill>
        </p:grpSpPr>
        <p:sp>
          <p:nvSpPr>
            <p:cNvPr name="AutoShape 17" id="17"/>
            <p:cNvSpPr/>
            <p:nvPr/>
          </p:nvSpPr>
          <p:spPr>
            <a:xfrm>
              <a:off x="10644588" y="5117465"/>
              <a:ext cx="45719" cy="45719"/>
            </a:xfrm>
            <a:prstGeom prst="ellipse">
              <a:avLst/>
            </a:prstGeom>
            <a:grpFill/>
            <a:ln>
              <a:noFill/>
            </a:ln>
          </p:spPr>
          <p:txBody>
            <a:bodyPr vert="horz" anchor="ctr" tIns="45720" lIns="91440" bIns="45720" rIns="91440"/>
            <a:p>
              <a:pPr algn="ctr" marL="0"/>
            </a:p>
          </p:txBody>
        </p:sp>
        <p:sp>
          <p:nvSpPr>
            <p:cNvPr name="AutoShape 18" id="18"/>
            <p:cNvSpPr/>
            <p:nvPr/>
          </p:nvSpPr>
          <p:spPr>
            <a:xfrm>
              <a:off x="10644588" y="5190490"/>
              <a:ext cx="45719" cy="45719"/>
            </a:xfrm>
            <a:prstGeom prst="ellipse">
              <a:avLst/>
            </a:prstGeom>
            <a:grpFill/>
            <a:ln>
              <a:noFill/>
            </a:ln>
          </p:spPr>
          <p:txBody>
            <a:bodyPr vert="horz" anchor="ctr" tIns="45720" lIns="91440" bIns="45720" rIns="91440"/>
            <a:p>
              <a:pPr algn="ctr" marL="0"/>
            </a:p>
          </p:txBody>
        </p:sp>
        <p:sp>
          <p:nvSpPr>
            <p:cNvPr name="AutoShape 19" id="19"/>
            <p:cNvSpPr/>
            <p:nvPr/>
          </p:nvSpPr>
          <p:spPr>
            <a:xfrm>
              <a:off x="10644588" y="5263515"/>
              <a:ext cx="45719" cy="45719"/>
            </a:xfrm>
            <a:prstGeom prst="ellipse">
              <a:avLst/>
            </a:prstGeom>
            <a:grpFill/>
            <a:ln>
              <a:noFill/>
            </a:ln>
          </p:spPr>
          <p:txBody>
            <a:bodyPr vert="horz" anchor="ctr" tIns="45720" lIns="91440" bIns="45720" rIns="91440"/>
            <a:p>
              <a:pPr algn="ctr" marL="0"/>
            </a:p>
          </p:txBody>
        </p:sp>
      </p:grpSp>
      <p:grpSp>
        <p:nvGrpSpPr>
          <p:cNvPr name="Group 20" id="20"/>
          <p:cNvGrpSpPr/>
          <p:nvPr/>
        </p:nvGrpSpPr>
        <p:grpSpPr>
          <a:xfrm rot="5400000">
            <a:off x="11060110" y="2512688"/>
            <a:ext cx="45719" cy="191769"/>
            <a:chOff x="10644588" y="5117465"/>
            <a:chExt cx="45719" cy="191769"/>
          </a:xfrm>
          <a:solidFill>
            <a:schemeClr val="bg1"/>
          </a:solidFill>
        </p:grpSpPr>
        <p:sp>
          <p:nvSpPr>
            <p:cNvPr name="AutoShape 21" id="21"/>
            <p:cNvSpPr/>
            <p:nvPr/>
          </p:nvSpPr>
          <p:spPr>
            <a:xfrm>
              <a:off x="10644588" y="5117465"/>
              <a:ext cx="45719" cy="45719"/>
            </a:xfrm>
            <a:prstGeom prst="ellipse">
              <a:avLst/>
            </a:prstGeom>
            <a:grpFill/>
            <a:ln>
              <a:noFill/>
            </a:ln>
          </p:spPr>
          <p:txBody>
            <a:bodyPr vert="horz" anchor="ctr" tIns="45720" lIns="91440" bIns="45720" rIns="91440"/>
            <a:p>
              <a:pPr algn="ctr" marL="0"/>
            </a:p>
          </p:txBody>
        </p:sp>
        <p:sp>
          <p:nvSpPr>
            <p:cNvPr name="AutoShape 22" id="22"/>
            <p:cNvSpPr/>
            <p:nvPr/>
          </p:nvSpPr>
          <p:spPr>
            <a:xfrm>
              <a:off x="10644588" y="5190490"/>
              <a:ext cx="45719" cy="45719"/>
            </a:xfrm>
            <a:prstGeom prst="ellipse">
              <a:avLst/>
            </a:prstGeom>
            <a:grpFill/>
            <a:ln>
              <a:noFill/>
            </a:ln>
          </p:spPr>
          <p:txBody>
            <a:bodyPr vert="horz" anchor="ctr" tIns="45720" lIns="91440" bIns="45720" rIns="91440"/>
            <a:p>
              <a:pPr algn="ctr" marL="0"/>
            </a:p>
          </p:txBody>
        </p:sp>
        <p:sp>
          <p:nvSpPr>
            <p:cNvPr name="AutoShape 23" id="23"/>
            <p:cNvSpPr/>
            <p:nvPr/>
          </p:nvSpPr>
          <p:spPr>
            <a:xfrm>
              <a:off x="10644588" y="5263515"/>
              <a:ext cx="45719" cy="45719"/>
            </a:xfrm>
            <a:prstGeom prst="ellipse">
              <a:avLst/>
            </a:prstGeom>
            <a:grpFill/>
            <a:ln>
              <a:noFill/>
            </a:ln>
          </p:spPr>
          <p:txBody>
            <a:bodyPr vert="horz" anchor="ctr" tIns="45720" lIns="91440" bIns="45720" rIns="91440"/>
            <a:p>
              <a:pPr algn="ctr" marL="0"/>
            </a:p>
          </p:txBody>
        </p:sp>
      </p:grpSp>
      <p:grpSp>
        <p:nvGrpSpPr>
          <p:cNvPr name="Group 24" id="24"/>
          <p:cNvGrpSpPr/>
          <p:nvPr/>
        </p:nvGrpSpPr>
        <p:grpSpPr>
          <a:xfrm rot="5400000">
            <a:off x="7375571" y="2012979"/>
            <a:ext cx="71225" cy="298754"/>
            <a:chOff x="10644588" y="5117465"/>
            <a:chExt cx="45719" cy="191769"/>
          </a:xfrm>
          <a:solidFill>
            <a:schemeClr val="bg1"/>
          </a:solidFill>
        </p:grpSpPr>
        <p:sp>
          <p:nvSpPr>
            <p:cNvPr name="AutoShape 25" id="25"/>
            <p:cNvSpPr/>
            <p:nvPr/>
          </p:nvSpPr>
          <p:spPr>
            <a:xfrm>
              <a:off x="10644588" y="5117465"/>
              <a:ext cx="45719" cy="45719"/>
            </a:xfrm>
            <a:prstGeom prst="ellipse">
              <a:avLst/>
            </a:prstGeom>
            <a:grpFill/>
            <a:ln>
              <a:noFill/>
            </a:ln>
          </p:spPr>
          <p:txBody>
            <a:bodyPr vert="horz" anchor="ctr" tIns="45720" lIns="91440" bIns="45720" rIns="91440"/>
            <a:p>
              <a:pPr algn="ctr" marL="0"/>
            </a:p>
          </p:txBody>
        </p:sp>
        <p:sp>
          <p:nvSpPr>
            <p:cNvPr name="AutoShape 26" id="26"/>
            <p:cNvSpPr/>
            <p:nvPr/>
          </p:nvSpPr>
          <p:spPr>
            <a:xfrm>
              <a:off x="10644588" y="5190490"/>
              <a:ext cx="45719" cy="45719"/>
            </a:xfrm>
            <a:prstGeom prst="ellipse">
              <a:avLst/>
            </a:prstGeom>
            <a:grpFill/>
            <a:ln>
              <a:noFill/>
            </a:ln>
          </p:spPr>
          <p:txBody>
            <a:bodyPr vert="horz" anchor="ctr" tIns="45720" lIns="91440" bIns="45720" rIns="91440"/>
            <a:p>
              <a:pPr algn="ctr" marL="0"/>
            </a:p>
          </p:txBody>
        </p:sp>
        <p:sp>
          <p:nvSpPr>
            <p:cNvPr name="AutoShape 27" id="27"/>
            <p:cNvSpPr/>
            <p:nvPr/>
          </p:nvSpPr>
          <p:spPr>
            <a:xfrm>
              <a:off x="10644588" y="5263515"/>
              <a:ext cx="45719" cy="45719"/>
            </a:xfrm>
            <a:prstGeom prst="ellipse">
              <a:avLst/>
            </a:prstGeom>
            <a:grpFill/>
            <a:ln>
              <a:noFill/>
            </a:ln>
          </p:spPr>
          <p:txBody>
            <a:bodyPr vert="horz" anchor="ctr" tIns="45720" lIns="91440" bIns="45720" rIns="91440"/>
            <a:p>
              <a:pPr algn="ctr" marL="0"/>
            </a:p>
          </p:txBody>
        </p:sp>
      </p:grpSp>
      <p:sp>
        <p:nvSpPr>
          <p:cNvPr name="Freeform 28" id="28"/>
          <p:cNvSpPr/>
          <p:nvPr/>
        </p:nvSpPr>
        <p:spPr>
          <a:xfrm rot="5400000">
            <a:off x="778932" y="-778933"/>
            <a:ext cx="1354667" cy="2912533"/>
          </a:xfrm>
          <a:custGeom>
            <a:avLst/>
            <a:gdLst/>
            <a:ahLst/>
            <a:cxnLst/>
            <a:rect r="r" b="b" t="t" l="l"/>
            <a:pathLst>
              <a:path w="1354667" h="2912533" stroke="true" fill="norm" extrusionOk="true">
                <a:moveTo>
                  <a:pt x="0" y="2912533"/>
                </a:moveTo>
                <a:lnTo>
                  <a:pt x="0" y="18237"/>
                </a:lnTo>
                <a:lnTo>
                  <a:pt x="8848" y="0"/>
                </a:lnTo>
                <a:lnTo>
                  <a:pt x="1354667" y="2912533"/>
                </a:lnTo>
                <a:close/>
              </a:path>
            </a:pathLst>
          </a:custGeom>
          <a:solidFill>
            <a:srgbClr val="68A042"/>
          </a:solidFill>
          <a:ln>
            <a:noFill/>
          </a:ln>
        </p:spPr>
        <p:txBody>
          <a:bodyPr vert="horz" anchor="ctr" wrap="square" tIns="45720" lIns="91440" bIns="45720" rIns="91440">
            <a:noAutofit/>
          </a:bodyPr>
          <a:p>
            <a:pPr algn="ctr" marL="0"/>
          </a:p>
        </p:txBody>
      </p:sp>
      <p:sp>
        <p:nvSpPr>
          <p:cNvPr name="AutoShape 29" id="29"/>
          <p:cNvSpPr/>
          <p:nvPr/>
        </p:nvSpPr>
        <p:spPr>
          <a:xfrm>
            <a:off x="10795000" y="6540500"/>
            <a:ext cx="1270000" cy="190500"/>
          </a:xfrm>
          <a:prstGeom prst="rect">
            <a:avLst/>
          </a:prstGeom>
          <a:solidFill>
            <a:srgbClr val="000000">
              <a:alpha val="0"/>
            </a:srgbClr>
          </a:solidFill>
        </p:spPr>
        <p:txBody>
          <a:bodyPr anchor="t" rtlCol="false"/>
          <a:lstStyle/>
          <a:p>
            <a:pPr algn="r">
              <a:defRPr/>
            </a:pPr>
            <a:r>
              <a:rPr lang="en-US" b="false" i="false" sz="800" baseline="0" u="none">
                <a:solidFill>
                  <a:srgbClr val="808080"/>
                </a:solidFill>
                <a:latin typeface="Microsoft YaHei"/>
                <a:ea typeface="Microsoft YaHei"/>
              </a:rPr>
              <a:t>内容由AI生成</a:t>
            </a:r>
            <a:endParaRPr lang="en-US" sz="1100"/>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chemeClr val="bg1"/>
        </a:solidFill>
      </p:bgPr>
    </p:bg>
    <p:spTree>
      <p:nvGrpSpPr>
        <p:cNvPr id="1" name=""/>
        <p:cNvGrpSpPr/>
        <p:nvPr/>
      </p:nvGrpSpPr>
      <p:grpSpPr>
        <a:xfrm>
          <a:off x="0" y="0"/>
          <a:ext cx="0" cy="0"/>
          <a:chOff x="0" y="0"/>
          <a:chExt cx="0" cy="0"/>
        </a:xfrm>
      </p:grpSpPr>
      <p:pic>
        <p:nvPicPr>
          <p:cNvPr name="image32.jpeg" id="2"/>
          <p:cNvPicPr>
            <a:picLocks noChangeAspect="true"/>
          </p:cNvPicPr>
          <p:nvPr/>
        </p:nvPicPr>
        <p:blipFill>
          <a:blip r:embed="rId2"/>
          <a:srcRect/>
          <a:stretch>
            <a:fillRect/>
          </a:stretch>
        </p:blipFill>
        <p:spPr>
          <a:xfrm>
            <a:off x="798536" y="2073332"/>
            <a:ext cx="3859841" cy="2826831"/>
          </a:xfrm>
          <a:custGeom>
            <a:pathLst>
              <a:path w="5453453" h="2685143" stroke="true" fill="norm" extrusionOk="true">
                <a:moveTo>
                  <a:pt x="0" y="0"/>
                </a:moveTo>
                <a:lnTo>
                  <a:pt x="5453453" y="0"/>
                </a:lnTo>
                <a:lnTo>
                  <a:pt x="5453453" y="2685143"/>
                </a:lnTo>
                <a:lnTo>
                  <a:pt x="0" y="2685143"/>
                </a:lnTo>
                <a:close/>
              </a:path>
            </a:pathLst>
          </a:custGeom>
        </p:spPr>
      </p:pic>
      <p:grpSp>
        <p:nvGrpSpPr>
          <p:cNvPr name="Group 3" id="3"/>
          <p:cNvGrpSpPr/>
          <p:nvPr/>
        </p:nvGrpSpPr>
        <p:grpSpPr>
          <a:xfrm>
            <a:off x="5439458" y="3855462"/>
            <a:ext cx="2991098" cy="466305"/>
            <a:chOff x="5188898" y="2467428"/>
            <a:chExt cx="2991098" cy="466305"/>
          </a:xfrm>
        </p:grpSpPr>
        <p:sp>
          <p:nvSpPr>
            <p:cNvPr name="AutoShape 4" id="4"/>
            <p:cNvSpPr/>
            <p:nvPr/>
          </p:nvSpPr>
          <p:spPr>
            <a:xfrm>
              <a:off x="5188898" y="2467428"/>
              <a:ext cx="76869" cy="466305"/>
            </a:xfrm>
            <a:prstGeom prst="rect">
              <a:avLst/>
            </a:prstGeom>
            <a:solidFill>
              <a:srgbClr val="007611"/>
            </a:solidFill>
            <a:ln>
              <a:noFill/>
            </a:ln>
            <a:effectLst>
              <a:outerShdw algn="tl" blurRad="50800" dir="2700000" dist="38100" rotWithShape="false">
                <a:schemeClr val="accent4">
                  <a:alpha val="40000"/>
                  <a:lumMod val="20000"/>
                  <a:lumOff val="80000"/>
                </a:schemeClr>
              </a:outerShdw>
            </a:effectLst>
          </p:spPr>
          <p:txBody>
            <a:bodyPr vert="horz" anchor="ctr" wrap="square" tIns="45720" lIns="91440" bIns="45720" rIns="91440">
              <a:noAutofit/>
            </a:bodyPr>
            <a:p>
              <a:pPr algn="ctr" marL="0"/>
            </a:p>
          </p:txBody>
        </p:sp>
        <p:cxnSp>
          <p:nvCxnSpPr>
            <p:cNvPr name="Connector 5" id="5"/>
            <p:cNvCxnSpPr/>
            <p:nvPr/>
          </p:nvCxnSpPr>
          <p:spPr>
            <a:xfrm>
              <a:off x="5352235" y="2876614"/>
              <a:ext cx="2827761" cy="0"/>
            </a:xfrm>
            <a:prstGeom prst="line">
              <a:avLst/>
            </a:prstGeom>
            <a:ln w="3175">
              <a:solidFill>
                <a:schemeClr val="accent6">
                  <a:lumMod val="50000"/>
                </a:schemeClr>
              </a:solidFill>
            </a:ln>
          </p:spPr>
        </p:cxnSp>
      </p:grpSp>
      <p:grpSp>
        <p:nvGrpSpPr>
          <p:cNvPr name="Group 6" id="6"/>
          <p:cNvGrpSpPr/>
          <p:nvPr/>
        </p:nvGrpSpPr>
        <p:grpSpPr>
          <a:xfrm>
            <a:off x="8508511" y="3855462"/>
            <a:ext cx="2983546" cy="466305"/>
            <a:chOff x="5042991" y="2467428"/>
            <a:chExt cx="2983546" cy="466305"/>
          </a:xfrm>
        </p:grpSpPr>
        <p:sp>
          <p:nvSpPr>
            <p:cNvPr name="AutoShape 7" id="7"/>
            <p:cNvSpPr/>
            <p:nvPr/>
          </p:nvSpPr>
          <p:spPr>
            <a:xfrm>
              <a:off x="5042991" y="2467428"/>
              <a:ext cx="76869" cy="466305"/>
            </a:xfrm>
            <a:prstGeom prst="rect">
              <a:avLst/>
            </a:prstGeom>
            <a:solidFill>
              <a:srgbClr val="007611"/>
            </a:solidFill>
            <a:ln>
              <a:noFill/>
            </a:ln>
            <a:effectLst>
              <a:outerShdw algn="tl" blurRad="50800" dir="2700000" dist="38100" rotWithShape="false">
                <a:schemeClr val="accent4">
                  <a:alpha val="40000"/>
                  <a:lumMod val="20000"/>
                  <a:lumOff val="80000"/>
                </a:schemeClr>
              </a:outerShdw>
            </a:effectLst>
          </p:spPr>
          <p:txBody>
            <a:bodyPr vert="horz" anchor="ctr" wrap="square" tIns="45720" lIns="91440" bIns="45720" rIns="91440">
              <a:noAutofit/>
            </a:bodyPr>
            <a:p>
              <a:pPr algn="ctr" marL="0"/>
            </a:p>
          </p:txBody>
        </p:sp>
        <p:cxnSp>
          <p:nvCxnSpPr>
            <p:cNvPr name="Connector 8" id="8"/>
            <p:cNvCxnSpPr/>
            <p:nvPr/>
          </p:nvCxnSpPr>
          <p:spPr>
            <a:xfrm>
              <a:off x="5151582" y="2876614"/>
              <a:ext cx="2874955" cy="0"/>
            </a:xfrm>
            <a:prstGeom prst="line">
              <a:avLst/>
            </a:prstGeom>
            <a:ln w="3175">
              <a:solidFill>
                <a:schemeClr val="accent6">
                  <a:lumMod val="50000"/>
                </a:schemeClr>
              </a:solidFill>
            </a:ln>
          </p:spPr>
        </p:cxnSp>
      </p:grpSp>
      <p:grpSp>
        <p:nvGrpSpPr>
          <p:cNvPr name="Group 9" id="9"/>
          <p:cNvGrpSpPr/>
          <p:nvPr/>
        </p:nvGrpSpPr>
        <p:grpSpPr>
          <a:xfrm>
            <a:off x="5407769" y="1759844"/>
            <a:ext cx="6084288" cy="1919993"/>
            <a:chOff x="4702361" y="4004130"/>
            <a:chExt cx="7356675" cy="1835014"/>
          </a:xfrm>
        </p:grpSpPr>
        <p:sp>
          <p:nvSpPr>
            <p:cNvPr name="AutoShape 10" id="10"/>
            <p:cNvSpPr/>
            <p:nvPr/>
          </p:nvSpPr>
          <p:spPr>
            <a:xfrm>
              <a:off x="4740677" y="4226328"/>
              <a:ext cx="7309127" cy="1612816"/>
            </a:xfrm>
            <a:prstGeom prst="rect">
              <a:avLst/>
            </a:prstGeom>
            <a:solidFill>
              <a:schemeClr val="accent6">
                <a:lumMod val="20000"/>
                <a:lumOff val="80000"/>
              </a:schemeClr>
            </a:solidFill>
            <a:ln>
              <a:noFill/>
            </a:ln>
            <a:effectLst>
              <a:outerShdw algn="tl" blurRad="50800" dir="2700000" dist="38100" rotWithShape="false">
                <a:schemeClr val="accent4">
                  <a:alpha val="40000"/>
                  <a:lumMod val="20000"/>
                  <a:lumOff val="80000"/>
                </a:schemeClr>
              </a:outerShdw>
            </a:effectLst>
          </p:spPr>
          <p:txBody>
            <a:bodyPr vert="horz" anchor="ctr" tIns="45720" lIns="91440" bIns="45720" rIns="91440"/>
            <a:p>
              <a:pPr algn="ctr" marL="0"/>
            </a:p>
          </p:txBody>
        </p:sp>
        <p:sp>
          <p:nvSpPr>
            <p:cNvPr name="AutoShape 11" id="11"/>
            <p:cNvSpPr/>
            <p:nvPr/>
          </p:nvSpPr>
          <p:spPr>
            <a:xfrm>
              <a:off x="4702361" y="4004130"/>
              <a:ext cx="7356675" cy="468975"/>
            </a:xfrm>
            <a:prstGeom prst="roundRect">
              <a:avLst>
                <a:gd name="adj" fmla="val 50000"/>
              </a:avLst>
            </a:prstGeom>
            <a:gradFill rotWithShape="true" flip="none">
              <a:gsLst>
                <a:gs pos="0">
                  <a:schemeClr val="accent6">
                    <a:lumMod val="75000"/>
                  </a:schemeClr>
                </a:gs>
                <a:gs pos="100000">
                  <a:schemeClr val="accent6">
                    <a:lumMod val="50000"/>
                  </a:schemeClr>
                </a:gs>
              </a:gsLst>
              <a:lin ang="2700000"/>
              <a:tileRect/>
            </a:gradFill>
            <a:ln>
              <a:noFill/>
            </a:ln>
            <a:effectLst>
              <a:outerShdw algn="bl" blurRad="101600" dir="18900000" dist="38100" rotWithShape="false">
                <a:schemeClr val="accent6">
                  <a:alpha val="40000"/>
                  <a:lumMod val="20000"/>
                  <a:lumOff val="80000"/>
                </a:schemeClr>
              </a:outerShdw>
            </a:effectLst>
          </p:spPr>
          <p:txBody>
            <a:bodyPr vert="horz" anchor="ctr" wrap="square" tIns="45720" lIns="91440" bIns="45720" rIns="91440">
              <a:noAutofit/>
            </a:bodyPr>
            <a:p>
              <a:pPr algn="ctr" marL="0"/>
            </a:p>
          </p:txBody>
        </p:sp>
      </p:grpSp>
      <p:sp>
        <p:nvSpPr>
          <p:cNvPr name="TextBox 12" id="12"/>
          <p:cNvSpPr txBox="true"/>
          <p:nvPr/>
        </p:nvSpPr>
        <p:spPr>
          <a:xfrm>
            <a:off x="5748482" y="1813450"/>
            <a:ext cx="5370830" cy="337185"/>
          </a:xfrm>
          <a:prstGeom prst="rect">
            <a:avLst/>
          </a:prstGeom>
          <a:noFill/>
        </p:spPr>
        <p:txBody>
          <a:bodyPr anchor="t" rtlCol="false" vert="horz" wrap="square" tIns="45720" lIns="91440" bIns="45720" rIns="91440">
            <a:spAutoFit/>
          </a:bodyPr>
          <a:lstStyle/>
          <a:p>
            <a:pPr algn="l" marL="0">
              <a:defRPr/>
            </a:pPr>
            <a:r>
              <a:rPr lang="zh-CN" b="true" i="false" sz="1600" baseline="0" u="none" altLang="en-US">
                <a:solidFill>
                  <a:schemeClr val="bg1"/>
                </a:solidFill>
                <a:latin typeface="微软雅黑"/>
                <a:ea typeface="微软雅黑"/>
              </a:rPr>
              <a:t>空间性能比较</a:t>
            </a:r>
            <a:endParaRPr lang="en-US" sz="1100"/>
          </a:p>
        </p:txBody>
      </p:sp>
      <p:sp>
        <p:nvSpPr>
          <p:cNvPr name="TextBox 13" id="13"/>
          <p:cNvSpPr txBox="true"/>
          <p:nvPr/>
        </p:nvSpPr>
        <p:spPr>
          <a:xfrm>
            <a:off x="5562109" y="2304816"/>
            <a:ext cx="5743575" cy="1346907"/>
          </a:xfrm>
          <a:prstGeom prst="rect">
            <a:avLst/>
          </a:prstGeom>
          <a:noFill/>
        </p:spPr>
        <p:txBody>
          <a:bodyPr anchor="t" rtlCol="false" vert="horz" wrap="square" tIns="45720" lIns="91440" bIns="45720" rIns="91440">
            <a:spAutoFit/>
          </a:bodyPr>
          <a:lstStyle/>
          <a:p>
            <a:pPr algn="l" marL="0">
              <a:lnSpc>
                <a:spcPct val="150000"/>
              </a:lnSpc>
              <a:defRPr/>
            </a:pPr>
            <a:r>
              <a:rPr lang="zh-CN" b="false" i="false" sz="1400" baseline="0" u="none" altLang="en-US">
                <a:solidFill>
                  <a:schemeClr val="tx1"/>
                </a:solidFill>
                <a:latin typeface="微软雅黑"/>
                <a:ea typeface="微软雅黑"/>
              </a:rPr>
              <a:t>顺序表需要预先分配固定大小的连续空间，可能造成空间浪费或溢出；链表动态分配，按需使用，但每个节点需额外存储指针，空间开销更大。</a:t>
            </a:r>
            <a:endParaRPr lang="en-US" sz="1100"/>
          </a:p>
        </p:txBody>
      </p:sp>
      <p:sp>
        <p:nvSpPr>
          <p:cNvPr name="TextBox 14" id="14"/>
          <p:cNvSpPr txBox="true"/>
          <p:nvPr/>
        </p:nvSpPr>
        <p:spPr>
          <a:xfrm>
            <a:off x="5445450" y="4321767"/>
            <a:ext cx="3139930" cy="1721690"/>
          </a:xfrm>
          <a:prstGeom prst="rect">
            <a:avLst/>
          </a:prstGeom>
          <a:noFill/>
        </p:spPr>
        <p:txBody>
          <a:bodyPr anchor="t" rtlCol="false" vert="horz" wrap="square" tIns="45720" lIns="91440" bIns="45720" rIns="91440">
            <a:spAutoFit/>
          </a:bodyPr>
          <a:lstStyle/>
          <a:p>
            <a:pPr algn="l" marL="0">
              <a:lnSpc>
                <a:spcPct val="150000"/>
              </a:lnSpc>
              <a:defRPr/>
            </a:pPr>
            <a:r>
              <a:rPr lang="zh-CN" b="false" i="false" sz="1200" baseline="0" u="none" altLang="en-US">
                <a:solidFill>
                  <a:schemeClr val="tx1"/>
                </a:solidFill>
                <a:latin typeface="微软雅黑"/>
                <a:ea typeface="微软雅黑"/>
              </a:rPr>
              <a:t>顺序表在随机访问、尾插尾删场景下高效（O(1)），适合查询多、增删少的应用；链表在任意位置插入和删除时更优（O(1)），适合频繁增删的场景。</a:t>
            </a:r>
            <a:endParaRPr lang="en-US" sz="1100"/>
          </a:p>
        </p:txBody>
      </p:sp>
      <p:sp>
        <p:nvSpPr>
          <p:cNvPr name="TextBox 15" id="15"/>
          <p:cNvSpPr txBox="true"/>
          <p:nvPr/>
        </p:nvSpPr>
        <p:spPr>
          <a:xfrm>
            <a:off x="5621131" y="3912326"/>
            <a:ext cx="2946440" cy="307777"/>
          </a:xfrm>
          <a:prstGeom prst="rect">
            <a:avLst/>
          </a:prstGeom>
          <a:noFill/>
        </p:spPr>
        <p:txBody>
          <a:bodyPr anchor="t" rtlCol="false" vert="horz" wrap="square" tIns="45720" lIns="91440" bIns="45720" rIns="91440">
            <a:spAutoFit/>
          </a:bodyPr>
          <a:lstStyle/>
          <a:p>
            <a:pPr algn="ctr" marL="0">
              <a:defRPr/>
            </a:pPr>
            <a:r>
              <a:rPr lang="zh-CN" b="true" i="false" sz="1400" baseline="0" u="none" altLang="en-US">
                <a:solidFill>
                  <a:schemeClr val="tx1"/>
                </a:solidFill>
                <a:latin typeface="微软雅黑"/>
                <a:ea typeface="微软雅黑"/>
              </a:rPr>
              <a:t>时间性能比较</a:t>
            </a:r>
            <a:endParaRPr lang="en-US" sz="1100"/>
          </a:p>
        </p:txBody>
      </p:sp>
      <p:sp>
        <p:nvSpPr>
          <p:cNvPr name="TextBox 16" id="16"/>
          <p:cNvSpPr txBox="true"/>
          <p:nvPr/>
        </p:nvSpPr>
        <p:spPr>
          <a:xfrm>
            <a:off x="8570741" y="4321767"/>
            <a:ext cx="3139930" cy="1721690"/>
          </a:xfrm>
          <a:prstGeom prst="rect">
            <a:avLst/>
          </a:prstGeom>
          <a:noFill/>
        </p:spPr>
        <p:txBody>
          <a:bodyPr anchor="t" rtlCol="false" vert="horz" wrap="square" tIns="45720" lIns="91440" bIns="45720" rIns="91440">
            <a:spAutoFit/>
          </a:bodyPr>
          <a:lstStyle/>
          <a:p>
            <a:pPr algn="l" marL="0">
              <a:lnSpc>
                <a:spcPct val="150000"/>
              </a:lnSpc>
              <a:defRPr/>
            </a:pPr>
            <a:r>
              <a:rPr lang="zh-CN" b="false" i="false" sz="1200" baseline="0" u="none" altLang="en-US">
                <a:solidFill>
                  <a:schemeClr val="tx1"/>
                </a:solidFill>
                <a:latin typeface="微软雅黑"/>
                <a:ea typeface="微软雅黑"/>
              </a:rPr>
              <a:t>若数据量稳定且主要操作为按序号访问，选择顺序表；若数据量动态变化且频繁插入删除，选择链表。实际开发中常结合二者优势设计混合结构。</a:t>
            </a:r>
            <a:endParaRPr lang="en-US" sz="1100"/>
          </a:p>
        </p:txBody>
      </p:sp>
      <p:sp>
        <p:nvSpPr>
          <p:cNvPr name="TextBox 17" id="17"/>
          <p:cNvSpPr txBox="true"/>
          <p:nvPr/>
        </p:nvSpPr>
        <p:spPr>
          <a:xfrm>
            <a:off x="8707885" y="3912325"/>
            <a:ext cx="2865643" cy="307777"/>
          </a:xfrm>
          <a:prstGeom prst="rect">
            <a:avLst/>
          </a:prstGeom>
          <a:noFill/>
        </p:spPr>
        <p:txBody>
          <a:bodyPr anchor="t" rtlCol="false" vert="horz" wrap="square" tIns="45720" lIns="91440" bIns="45720" rIns="91440">
            <a:spAutoFit/>
          </a:bodyPr>
          <a:lstStyle/>
          <a:p>
            <a:pPr algn="ctr" marL="0">
              <a:defRPr/>
            </a:pPr>
            <a:r>
              <a:rPr lang="zh-CN" b="true" i="false" sz="1400" baseline="0" u="none" altLang="en-US">
                <a:solidFill>
                  <a:schemeClr val="tx1"/>
                </a:solidFill>
                <a:latin typeface="微软雅黑"/>
                <a:ea typeface="微软雅黑"/>
              </a:rPr>
              <a:t>应用场景选择</a:t>
            </a:r>
            <a:endParaRPr lang="en-US" sz="1100"/>
          </a:p>
        </p:txBody>
      </p:sp>
      <p:sp>
        <p:nvSpPr>
          <p:cNvPr name="TextBox 18" id="18"/>
          <p:cNvSpPr txBox="true"/>
          <p:nvPr/>
        </p:nvSpPr>
        <p:spPr>
          <a:xfrm>
            <a:off x="1521997" y="814543"/>
            <a:ext cx="9148005" cy="480131"/>
          </a:xfrm>
          <a:prstGeom prst="rect">
            <a:avLst/>
          </a:prstGeom>
        </p:spPr>
        <p:txBody>
          <a:bodyPr anchor="ctr" rtlCol="false" vert="horz" wrap="square" tIns="45720" lIns="91440" bIns="45720" rIns="91440">
            <a:spAutoFit/>
          </a:bodyPr>
          <a:lstStyle/>
          <a:p>
            <a:pPr algn="ctr" marL="0">
              <a:lnSpc>
                <a:spcPct val="90000"/>
              </a:lnSpc>
              <a:spcBef>
                <a:spcPct val="0"/>
              </a:spcBef>
              <a:defRPr/>
            </a:pPr>
            <a:r>
              <a:rPr lang="zh-CN" b="true" i="false" sz="2800" baseline="0" u="none" altLang="en-US">
                <a:solidFill>
                  <a:srgbClr val="000000"/>
                </a:solidFill>
                <a:latin typeface="微软雅黑"/>
                <a:ea typeface="微软雅黑"/>
              </a:rPr>
              <a:t>顺序表与链表对比</a:t>
            </a:r>
            <a:endParaRPr lang="en-US" sz="1100"/>
          </a:p>
        </p:txBody>
      </p:sp>
      <p:sp>
        <p:nvSpPr>
          <p:cNvPr name="AutoShape 19" id="19"/>
          <p:cNvSpPr/>
          <p:nvPr/>
        </p:nvSpPr>
        <p:spPr>
          <a:xfrm>
            <a:off x="0" y="0"/>
            <a:ext cx="12192000" cy="193442"/>
          </a:xfrm>
          <a:prstGeom prst="rect">
            <a:avLst/>
          </a:prstGeom>
          <a:solidFill>
            <a:schemeClr val="accent6">
              <a:lumMod val="75000"/>
            </a:schemeClr>
          </a:solidFill>
          <a:ln>
            <a:noFill/>
          </a:ln>
        </p:spPr>
        <p:txBody>
          <a:bodyPr vert="horz" anchor="ctr" tIns="45720" lIns="91440" bIns="45720" rIns="91440"/>
          <a:p>
            <a:pPr algn="ctr" marL="0"/>
          </a:p>
        </p:txBody>
      </p:sp>
      <p:sp>
        <p:nvSpPr>
          <p:cNvPr name="AutoShape 20" id="20"/>
          <p:cNvSpPr/>
          <p:nvPr/>
        </p:nvSpPr>
        <p:spPr>
          <a:xfrm>
            <a:off x="0" y="6678531"/>
            <a:ext cx="12192000" cy="193442"/>
          </a:xfrm>
          <a:prstGeom prst="rect">
            <a:avLst/>
          </a:prstGeom>
          <a:solidFill>
            <a:schemeClr val="accent6">
              <a:lumMod val="75000"/>
            </a:schemeClr>
          </a:solidFill>
          <a:ln>
            <a:noFill/>
          </a:ln>
        </p:spPr>
        <p:txBody>
          <a:bodyPr vert="horz" anchor="ctr" tIns="45720" lIns="91440" bIns="45720" rIns="91440"/>
          <a:p>
            <a:pPr algn="ctr" marL="0"/>
          </a:p>
        </p:txBody>
      </p:sp>
      <p:sp>
        <p:nvSpPr>
          <p:cNvPr name="AutoShape 21" id="21"/>
          <p:cNvSpPr/>
          <p:nvPr/>
        </p:nvSpPr>
        <p:spPr>
          <a:xfrm>
            <a:off x="10795000" y="6540500"/>
            <a:ext cx="1270000" cy="190500"/>
          </a:xfrm>
          <a:prstGeom prst="rect">
            <a:avLst/>
          </a:prstGeom>
          <a:solidFill>
            <a:srgbClr val="000000">
              <a:alpha val="0"/>
            </a:srgbClr>
          </a:solidFill>
        </p:spPr>
        <p:txBody>
          <a:bodyPr anchor="t" rtlCol="false"/>
          <a:lstStyle/>
          <a:p>
            <a:pPr algn="r">
              <a:defRPr/>
            </a:pPr>
            <a:r>
              <a:rPr lang="en-US" b="false" i="false" sz="800" baseline="0" u="none">
                <a:solidFill>
                  <a:srgbClr val="808080"/>
                </a:solidFill>
                <a:latin typeface="Microsoft YaHei"/>
                <a:ea typeface="Microsoft YaHei"/>
              </a:rPr>
              <a:t>内容由AI生成</a:t>
            </a:r>
            <a:endParaRPr lang="en-US" sz="1100"/>
          </a:p>
        </p:txBody>
      </p:sp>
    </p:spTree>
  </p:cSld>
  <p:clrMapOvr>
    <a:masterClrMapping/>
  </p:clrMapOvr>
</p:sld>
</file>

<file path=ppt/slides/slide10.xml><?xml version="1.0" encoding="utf-8"?>
<p:sld xmlns:p="http://schemas.openxmlformats.org/presentationml/2006/main"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name="Freeform 2" id="2"/>
          <p:cNvSpPr/>
          <p:nvPr/>
        </p:nvSpPr>
        <p:spPr>
          <a:xfrm>
            <a:off x="9126220" y="2874322"/>
            <a:ext cx="2252133" cy="2252133"/>
          </a:xfrm>
          <a:custGeom>
            <a:avLst/>
            <a:gdLst/>
            <a:ahLst/>
            <a:cxnLst/>
            <a:rect r="r" b="b" t="t" l="l"/>
            <a:pathLst>
              <a:path w="1624223" h="1624223" stroke="true" fill="norm" extrusionOk="true">
                <a:moveTo>
                  <a:pt x="1152880" y="258964"/>
                </a:moveTo>
                <a:lnTo>
                  <a:pt x="1279219" y="152947"/>
                </a:lnTo>
                <a:lnTo>
                  <a:pt x="1380149" y="237638"/>
                </a:lnTo>
                <a:lnTo>
                  <a:pt x="1297682" y="380466"/>
                </a:lnTo>
                <a:cubicBezTo>
                  <a:pt x="1356321" y="446431"/>
                  <a:pt x="1400905" y="523652"/>
                  <a:pt x="1428712" y="607417"/>
                </a:cubicBezTo>
                <a:lnTo>
                  <a:pt x="1593639" y="607413"/>
                </a:lnTo>
                <a:lnTo>
                  <a:pt x="1616518" y="737167"/>
                </a:lnTo>
                <a:lnTo>
                  <a:pt x="1461536" y="793571"/>
                </a:lnTo>
                <a:cubicBezTo>
                  <a:pt x="1464055" y="881795"/>
                  <a:pt x="1448571" y="969608"/>
                  <a:pt x="1416030" y="1051650"/>
                </a:cubicBezTo>
                <a:lnTo>
                  <a:pt x="1542374" y="1157660"/>
                </a:lnTo>
                <a:lnTo>
                  <a:pt x="1476497" y="1271763"/>
                </a:lnTo>
                <a:lnTo>
                  <a:pt x="1321517" y="1215351"/>
                </a:lnTo>
                <a:cubicBezTo>
                  <a:pt x="1266737" y="1284554"/>
                  <a:pt x="1198431" y="1341869"/>
                  <a:pt x="1120767" y="1383800"/>
                </a:cubicBezTo>
                <a:lnTo>
                  <a:pt x="1149411" y="1546221"/>
                </a:lnTo>
                <a:lnTo>
                  <a:pt x="1025602" y="1591284"/>
                </a:lnTo>
                <a:lnTo>
                  <a:pt x="943142" y="1448450"/>
                </a:lnTo>
                <a:cubicBezTo>
                  <a:pt x="856695" y="1466250"/>
                  <a:pt x="767528" y="1466251"/>
                  <a:pt x="681081" y="1448450"/>
                </a:cubicBezTo>
                <a:lnTo>
                  <a:pt x="598621" y="1591284"/>
                </a:lnTo>
                <a:lnTo>
                  <a:pt x="474812" y="1546221"/>
                </a:lnTo>
                <a:lnTo>
                  <a:pt x="503456" y="1383800"/>
                </a:lnTo>
                <a:cubicBezTo>
                  <a:pt x="425792" y="1341869"/>
                  <a:pt x="357486" y="1284554"/>
                  <a:pt x="302706" y="1215351"/>
                </a:cubicBezTo>
                <a:lnTo>
                  <a:pt x="147726" y="1271763"/>
                </a:lnTo>
                <a:lnTo>
                  <a:pt x="81849" y="1157660"/>
                </a:lnTo>
                <a:lnTo>
                  <a:pt x="208193" y="1051650"/>
                </a:lnTo>
                <a:cubicBezTo>
                  <a:pt x="175652" y="969608"/>
                  <a:pt x="160168" y="881795"/>
                  <a:pt x="162687" y="793571"/>
                </a:cubicBezTo>
                <a:lnTo>
                  <a:pt x="7705" y="737167"/>
                </a:lnTo>
                <a:lnTo>
                  <a:pt x="30584" y="607413"/>
                </a:lnTo>
                <a:lnTo>
                  <a:pt x="195511" y="607418"/>
                </a:lnTo>
                <a:cubicBezTo>
                  <a:pt x="223319" y="523653"/>
                  <a:pt x="267902" y="446432"/>
                  <a:pt x="326541" y="380467"/>
                </a:cubicBezTo>
                <a:lnTo>
                  <a:pt x="244074" y="237638"/>
                </a:lnTo>
                <a:lnTo>
                  <a:pt x="345004" y="152947"/>
                </a:lnTo>
                <a:lnTo>
                  <a:pt x="471343" y="258964"/>
                </a:lnTo>
                <a:cubicBezTo>
                  <a:pt x="546488" y="212670"/>
                  <a:pt x="630278" y="182174"/>
                  <a:pt x="717599" y="169334"/>
                </a:cubicBezTo>
                <a:lnTo>
                  <a:pt x="746234" y="6911"/>
                </a:lnTo>
                <a:lnTo>
                  <a:pt x="877989" y="6911"/>
                </a:lnTo>
                <a:lnTo>
                  <a:pt x="906624" y="169334"/>
                </a:lnTo>
                <a:cubicBezTo>
                  <a:pt x="993945" y="182174"/>
                  <a:pt x="1077735" y="212670"/>
                  <a:pt x="1152880" y="258964"/>
                </a:cubicBezTo>
                <a:close/>
              </a:path>
            </a:pathLst>
          </a:custGeom>
          <a:solidFill>
            <a:srgbClr val="FEB80A"/>
          </a:solidFill>
          <a:ln>
            <a:noFill/>
          </a:ln>
        </p:spPr>
        <p:txBody>
          <a:bodyPr vert="horz" anchor="ctr" wrap="square" tIns="45720" lIns="91440" bIns="45720" rIns="91440">
            <a:noAutofit/>
          </a:bodyPr>
          <a:p>
            <a:pPr algn="ctr" marL="0"/>
          </a:p>
        </p:txBody>
      </p:sp>
      <p:sp>
        <p:nvSpPr>
          <p:cNvPr name="Freeform 3" id="3"/>
          <p:cNvSpPr/>
          <p:nvPr/>
        </p:nvSpPr>
        <p:spPr>
          <a:xfrm>
            <a:off x="7816003" y="2343040"/>
            <a:ext cx="1638300" cy="1636182"/>
          </a:xfrm>
          <a:custGeom>
            <a:avLst/>
            <a:gdLst/>
            <a:ahLst/>
            <a:cxnLst/>
            <a:rect r="r" b="b" t="t" l="l"/>
            <a:pathLst>
              <a:path w="1181253" h="1181253" stroke="true" fill="norm" extrusionOk="true">
                <a:moveTo>
                  <a:pt x="883869" y="299181"/>
                </a:moveTo>
                <a:lnTo>
                  <a:pt x="1058144" y="246658"/>
                </a:lnTo>
                <a:lnTo>
                  <a:pt x="1122270" y="357729"/>
                </a:lnTo>
                <a:lnTo>
                  <a:pt x="989647" y="482394"/>
                </a:lnTo>
                <a:cubicBezTo>
                  <a:pt x="1008872" y="553269"/>
                  <a:pt x="1008872" y="627985"/>
                  <a:pt x="989647" y="698860"/>
                </a:cubicBezTo>
                <a:lnTo>
                  <a:pt x="1122270" y="823524"/>
                </a:lnTo>
                <a:lnTo>
                  <a:pt x="1058144" y="934595"/>
                </a:lnTo>
                <a:lnTo>
                  <a:pt x="883869" y="882072"/>
                </a:lnTo>
                <a:cubicBezTo>
                  <a:pt x="832102" y="934158"/>
                  <a:pt x="767396" y="971517"/>
                  <a:pt x="696404" y="990305"/>
                </a:cubicBezTo>
                <a:lnTo>
                  <a:pt x="654753" y="1167492"/>
                </a:lnTo>
                <a:lnTo>
                  <a:pt x="526500" y="1167492"/>
                </a:lnTo>
                <a:lnTo>
                  <a:pt x="484849" y="990305"/>
                </a:lnTo>
                <a:cubicBezTo>
                  <a:pt x="413857" y="971517"/>
                  <a:pt x="349151" y="934158"/>
                  <a:pt x="297384" y="882072"/>
                </a:cubicBezTo>
                <a:lnTo>
                  <a:pt x="123109" y="934595"/>
                </a:lnTo>
                <a:lnTo>
                  <a:pt x="58983" y="823524"/>
                </a:lnTo>
                <a:lnTo>
                  <a:pt x="191606" y="698859"/>
                </a:lnTo>
                <a:cubicBezTo>
                  <a:pt x="172381" y="627984"/>
                  <a:pt x="172381" y="553268"/>
                  <a:pt x="191606" y="482393"/>
                </a:cubicBezTo>
                <a:lnTo>
                  <a:pt x="58983" y="357729"/>
                </a:lnTo>
                <a:lnTo>
                  <a:pt x="123109" y="246658"/>
                </a:lnTo>
                <a:lnTo>
                  <a:pt x="297384" y="299181"/>
                </a:lnTo>
                <a:cubicBezTo>
                  <a:pt x="349151" y="247095"/>
                  <a:pt x="413857" y="209736"/>
                  <a:pt x="484849" y="190948"/>
                </a:cubicBezTo>
                <a:lnTo>
                  <a:pt x="526500" y="13761"/>
                </a:lnTo>
                <a:lnTo>
                  <a:pt x="654753" y="13761"/>
                </a:lnTo>
                <a:lnTo>
                  <a:pt x="696404" y="190948"/>
                </a:lnTo>
                <a:cubicBezTo>
                  <a:pt x="767396" y="209736"/>
                  <a:pt x="832102" y="247095"/>
                  <a:pt x="883869" y="299181"/>
                </a:cubicBezTo>
                <a:close/>
              </a:path>
            </a:pathLst>
          </a:custGeom>
          <a:solidFill>
            <a:schemeClr val="accent6">
              <a:lumMod val="50000"/>
            </a:schemeClr>
          </a:solidFill>
          <a:ln>
            <a:noFill/>
          </a:ln>
        </p:spPr>
        <p:txBody>
          <a:bodyPr vert="horz" anchor="ctr" wrap="square" tIns="45720" lIns="91440" bIns="45720" rIns="91440">
            <a:noAutofit/>
          </a:bodyPr>
          <a:p>
            <a:pPr algn="ctr" marL="0"/>
          </a:p>
        </p:txBody>
      </p:sp>
      <p:sp>
        <p:nvSpPr>
          <p:cNvPr name="Freeform 4" id="4"/>
          <p:cNvSpPr/>
          <p:nvPr/>
        </p:nvSpPr>
        <p:spPr>
          <a:xfrm>
            <a:off x="8552603" y="1032822"/>
            <a:ext cx="1964267" cy="1964267"/>
          </a:xfrm>
          <a:custGeom>
            <a:avLst/>
            <a:gdLst/>
            <a:ahLst/>
            <a:cxnLst/>
            <a:rect r="r" b="b" t="t" l="l"/>
            <a:pathLst>
              <a:path w="1157387" h="1157387" stroke="true" fill="norm" extrusionOk="true">
                <a:moveTo>
                  <a:pt x="744948" y="292765"/>
                </a:moveTo>
                <a:lnTo>
                  <a:pt x="868742" y="216094"/>
                </a:lnTo>
                <a:lnTo>
                  <a:pt x="941293" y="288644"/>
                </a:lnTo>
                <a:lnTo>
                  <a:pt x="864622" y="412438"/>
                </a:lnTo>
                <a:cubicBezTo>
                  <a:pt x="894153" y="463226"/>
                  <a:pt x="909623" y="520961"/>
                  <a:pt x="909443" y="579710"/>
                </a:cubicBezTo>
                <a:lnTo>
                  <a:pt x="1037739" y="648584"/>
                </a:lnTo>
                <a:lnTo>
                  <a:pt x="1011183" y="747690"/>
                </a:lnTo>
                <a:lnTo>
                  <a:pt x="865639" y="743187"/>
                </a:lnTo>
                <a:cubicBezTo>
                  <a:pt x="836421" y="794155"/>
                  <a:pt x="794155" y="836421"/>
                  <a:pt x="743187" y="865639"/>
                </a:cubicBezTo>
                <a:lnTo>
                  <a:pt x="747690" y="1011183"/>
                </a:lnTo>
                <a:lnTo>
                  <a:pt x="648583" y="1037738"/>
                </a:lnTo>
                <a:lnTo>
                  <a:pt x="579710" y="909442"/>
                </a:lnTo>
                <a:cubicBezTo>
                  <a:pt x="520962" y="909623"/>
                  <a:pt x="463226" y="894153"/>
                  <a:pt x="412439" y="864622"/>
                </a:cubicBezTo>
                <a:lnTo>
                  <a:pt x="288645" y="941293"/>
                </a:lnTo>
                <a:lnTo>
                  <a:pt x="216094" y="868743"/>
                </a:lnTo>
                <a:lnTo>
                  <a:pt x="292765" y="744949"/>
                </a:lnTo>
                <a:cubicBezTo>
                  <a:pt x="263234" y="694161"/>
                  <a:pt x="247764" y="636426"/>
                  <a:pt x="247944" y="577677"/>
                </a:cubicBezTo>
                <a:lnTo>
                  <a:pt x="119648" y="508803"/>
                </a:lnTo>
                <a:lnTo>
                  <a:pt x="146204" y="409697"/>
                </a:lnTo>
                <a:lnTo>
                  <a:pt x="291748" y="414200"/>
                </a:lnTo>
                <a:cubicBezTo>
                  <a:pt x="320966" y="363232"/>
                  <a:pt x="363232" y="320966"/>
                  <a:pt x="414200" y="291748"/>
                </a:cubicBezTo>
                <a:lnTo>
                  <a:pt x="409697" y="146204"/>
                </a:lnTo>
                <a:lnTo>
                  <a:pt x="508804" y="119649"/>
                </a:lnTo>
                <a:lnTo>
                  <a:pt x="577677" y="247945"/>
                </a:lnTo>
                <a:cubicBezTo>
                  <a:pt x="636425" y="247764"/>
                  <a:pt x="694161" y="263234"/>
                  <a:pt x="744948" y="292765"/>
                </a:cubicBezTo>
                <a:close/>
              </a:path>
            </a:pathLst>
          </a:custGeom>
          <a:solidFill>
            <a:schemeClr val="accent6">
              <a:lumMod val="75000"/>
            </a:schemeClr>
          </a:solidFill>
          <a:ln cap="flat">
            <a:noFill/>
            <a:prstDash val="solid"/>
            <a:miter lim="800000"/>
          </a:ln>
        </p:spPr>
        <p:txBody>
          <a:bodyPr vert="horz" rot="0" anchor="ctr" wrap="square" tIns="45720" lIns="91440" bIns="45720" rIns="91440">
            <a:prstTxWarp prst="textNoShape">
              <a:avLst/>
            </a:prstTxWarp>
            <a:noAutofit/>
          </a:bodyPr>
          <a:p>
            <a:pPr algn="l" marL="0"/>
          </a:p>
        </p:txBody>
      </p:sp>
      <p:sp>
        <p:nvSpPr>
          <p:cNvPr name="AutoShape 5" id="5"/>
          <p:cNvSpPr/>
          <p:nvPr/>
        </p:nvSpPr>
        <p:spPr>
          <a:xfrm>
            <a:off x="8362104" y="869840"/>
            <a:ext cx="2258484" cy="2256367"/>
          </a:xfrm>
          <a:prstGeom prst="circularArrow">
            <a:avLst>
              <a:gd name="adj1" fmla="val 5984"/>
              <a:gd name="adj2" fmla="val 394124"/>
              <a:gd name="adj3" fmla="val 13313824"/>
              <a:gd name="adj4" fmla="val 10508221"/>
              <a:gd name="adj5" fmla="val 6981"/>
            </a:avLst>
          </a:prstGeom>
          <a:solidFill>
            <a:schemeClr val="bg1"/>
          </a:solidFill>
          <a:ln>
            <a:noFill/>
          </a:ln>
        </p:spPr>
        <p:txBody>
          <a:bodyPr vert="horz" anchor="t" tIns="45720" lIns="91440" bIns="45720" rIns="91440"/>
          <a:p>
            <a:pPr algn="l" marL="0"/>
          </a:p>
        </p:txBody>
      </p:sp>
      <p:sp>
        <p:nvSpPr>
          <p:cNvPr name="AutoShape 6" id="6"/>
          <p:cNvSpPr/>
          <p:nvPr/>
        </p:nvSpPr>
        <p:spPr>
          <a:xfrm>
            <a:off x="734797" y="2209380"/>
            <a:ext cx="473314" cy="473314"/>
          </a:xfrm>
          <a:prstGeom prst="ellipse">
            <a:avLst/>
          </a:prstGeom>
          <a:solidFill>
            <a:srgbClr val="FEB80A"/>
          </a:solidFill>
          <a:ln cap="flat">
            <a:noFill/>
            <a:prstDash val="solid"/>
            <a:miter lim="800000"/>
          </a:ln>
        </p:spPr>
        <p:txBody>
          <a:bodyPr vert="horz" rot="0" anchor="ctr" wrap="square" tIns="45720" lIns="91440" bIns="45720" rIns="91440">
            <a:prstTxWarp prst="textNoShape">
              <a:avLst/>
            </a:prstTxWarp>
            <a:noAutofit/>
          </a:bodyPr>
          <a:p>
            <a:pPr algn="l" marL="0"/>
          </a:p>
        </p:txBody>
      </p:sp>
      <p:sp>
        <p:nvSpPr>
          <p:cNvPr name="AutoShape 7" id="7"/>
          <p:cNvSpPr/>
          <p:nvPr/>
        </p:nvSpPr>
        <p:spPr>
          <a:xfrm>
            <a:off x="734798" y="3717630"/>
            <a:ext cx="473314" cy="471501"/>
          </a:xfrm>
          <a:prstGeom prst="ellipse">
            <a:avLst/>
          </a:prstGeom>
          <a:solidFill>
            <a:srgbClr val="385723"/>
          </a:solidFill>
          <a:ln>
            <a:noFill/>
          </a:ln>
        </p:spPr>
        <p:txBody>
          <a:bodyPr vert="horz" anchor="ctr" wrap="square" tIns="45720" lIns="91440" bIns="45720" rIns="91440">
            <a:noAutofit/>
          </a:bodyPr>
          <a:p>
            <a:pPr algn="ctr" marL="0"/>
          </a:p>
        </p:txBody>
      </p:sp>
      <p:sp>
        <p:nvSpPr>
          <p:cNvPr name="AutoShape 8" id="8"/>
          <p:cNvSpPr/>
          <p:nvPr/>
        </p:nvSpPr>
        <p:spPr>
          <a:xfrm>
            <a:off x="734798" y="5228603"/>
            <a:ext cx="473314" cy="473316"/>
          </a:xfrm>
          <a:prstGeom prst="ellipse">
            <a:avLst/>
          </a:prstGeom>
          <a:solidFill>
            <a:srgbClr val="548235"/>
          </a:solidFill>
          <a:ln>
            <a:noFill/>
          </a:ln>
        </p:spPr>
        <p:txBody>
          <a:bodyPr vert="horz" anchor="ctr" wrap="square" tIns="45720" lIns="91440" bIns="45720" rIns="91440">
            <a:noAutofit/>
          </a:bodyPr>
          <a:p>
            <a:pPr algn="ctr" marL="0"/>
          </a:p>
        </p:txBody>
      </p:sp>
      <p:sp>
        <p:nvSpPr>
          <p:cNvPr name="Freeform 9" id="9"/>
          <p:cNvSpPr/>
          <p:nvPr/>
        </p:nvSpPr>
        <p:spPr>
          <a:xfrm>
            <a:off x="8298438" y="2907402"/>
            <a:ext cx="599389" cy="474476"/>
          </a:xfrm>
          <a:custGeom>
            <a:avLst/>
            <a:gdLst/>
            <a:ahLst/>
            <a:cxnLst/>
            <a:rect r="r" b="b" t="t" l="l"/>
            <a:pathLst>
              <a:path w="3572" h="2827" stroke="true" fill="norm" extrusionOk="true">
                <a:moveTo>
                  <a:pt x="2378" y="555"/>
                </a:moveTo>
                <a:lnTo>
                  <a:pt x="2404" y="559"/>
                </a:lnTo>
                <a:lnTo>
                  <a:pt x="2431" y="567"/>
                </a:lnTo>
                <a:lnTo>
                  <a:pt x="2455" y="579"/>
                </a:lnTo>
                <a:lnTo>
                  <a:pt x="2476" y="595"/>
                </a:lnTo>
                <a:lnTo>
                  <a:pt x="2495" y="614"/>
                </a:lnTo>
                <a:lnTo>
                  <a:pt x="2551" y="686"/>
                </a:lnTo>
                <a:lnTo>
                  <a:pt x="2600" y="760"/>
                </a:lnTo>
                <a:lnTo>
                  <a:pt x="2643" y="837"/>
                </a:lnTo>
                <a:lnTo>
                  <a:pt x="2680" y="916"/>
                </a:lnTo>
                <a:lnTo>
                  <a:pt x="2713" y="998"/>
                </a:lnTo>
                <a:lnTo>
                  <a:pt x="2739" y="1081"/>
                </a:lnTo>
                <a:lnTo>
                  <a:pt x="2761" y="1166"/>
                </a:lnTo>
                <a:lnTo>
                  <a:pt x="2775" y="1253"/>
                </a:lnTo>
                <a:lnTo>
                  <a:pt x="2784" y="1342"/>
                </a:lnTo>
                <a:lnTo>
                  <a:pt x="2787" y="1432"/>
                </a:lnTo>
                <a:lnTo>
                  <a:pt x="2785" y="1516"/>
                </a:lnTo>
                <a:lnTo>
                  <a:pt x="2776" y="1598"/>
                </a:lnTo>
                <a:lnTo>
                  <a:pt x="2763" y="1681"/>
                </a:lnTo>
                <a:lnTo>
                  <a:pt x="2745" y="1761"/>
                </a:lnTo>
                <a:lnTo>
                  <a:pt x="2722" y="1840"/>
                </a:lnTo>
                <a:lnTo>
                  <a:pt x="2693" y="1918"/>
                </a:lnTo>
                <a:lnTo>
                  <a:pt x="2660" y="1993"/>
                </a:lnTo>
                <a:lnTo>
                  <a:pt x="2621" y="2067"/>
                </a:lnTo>
                <a:lnTo>
                  <a:pt x="2578" y="2137"/>
                </a:lnTo>
                <a:lnTo>
                  <a:pt x="2529" y="2206"/>
                </a:lnTo>
                <a:lnTo>
                  <a:pt x="2510" y="2226"/>
                </a:lnTo>
                <a:lnTo>
                  <a:pt x="2489" y="2244"/>
                </a:lnTo>
                <a:lnTo>
                  <a:pt x="2464" y="2257"/>
                </a:lnTo>
                <a:lnTo>
                  <a:pt x="2438" y="2267"/>
                </a:lnTo>
                <a:lnTo>
                  <a:pt x="2411" y="2271"/>
                </a:lnTo>
                <a:lnTo>
                  <a:pt x="2399" y="2271"/>
                </a:lnTo>
                <a:lnTo>
                  <a:pt x="2374" y="2269"/>
                </a:lnTo>
                <a:lnTo>
                  <a:pt x="2349" y="2263"/>
                </a:lnTo>
                <a:lnTo>
                  <a:pt x="2326" y="2254"/>
                </a:lnTo>
                <a:lnTo>
                  <a:pt x="2304" y="2241"/>
                </a:lnTo>
                <a:lnTo>
                  <a:pt x="2284" y="2224"/>
                </a:lnTo>
                <a:lnTo>
                  <a:pt x="2263" y="2202"/>
                </a:lnTo>
                <a:lnTo>
                  <a:pt x="2244" y="2180"/>
                </a:lnTo>
                <a:lnTo>
                  <a:pt x="2230" y="2155"/>
                </a:lnTo>
                <a:lnTo>
                  <a:pt x="2220" y="2128"/>
                </a:lnTo>
                <a:lnTo>
                  <a:pt x="2216" y="2099"/>
                </a:lnTo>
                <a:lnTo>
                  <a:pt x="2216" y="2071"/>
                </a:lnTo>
                <a:lnTo>
                  <a:pt x="2221" y="2044"/>
                </a:lnTo>
                <a:lnTo>
                  <a:pt x="2232" y="2017"/>
                </a:lnTo>
                <a:lnTo>
                  <a:pt x="2247" y="1992"/>
                </a:lnTo>
                <a:lnTo>
                  <a:pt x="2290" y="1929"/>
                </a:lnTo>
                <a:lnTo>
                  <a:pt x="2327" y="1864"/>
                </a:lnTo>
                <a:lnTo>
                  <a:pt x="2360" y="1796"/>
                </a:lnTo>
                <a:lnTo>
                  <a:pt x="2386" y="1727"/>
                </a:lnTo>
                <a:lnTo>
                  <a:pt x="2407" y="1655"/>
                </a:lnTo>
                <a:lnTo>
                  <a:pt x="2421" y="1582"/>
                </a:lnTo>
                <a:lnTo>
                  <a:pt x="2429" y="1507"/>
                </a:lnTo>
                <a:lnTo>
                  <a:pt x="2433" y="1432"/>
                </a:lnTo>
                <a:lnTo>
                  <a:pt x="2431" y="1359"/>
                </a:lnTo>
                <a:lnTo>
                  <a:pt x="2422" y="1289"/>
                </a:lnTo>
                <a:lnTo>
                  <a:pt x="2409" y="1219"/>
                </a:lnTo>
                <a:lnTo>
                  <a:pt x="2390" y="1151"/>
                </a:lnTo>
                <a:lnTo>
                  <a:pt x="2366" y="1085"/>
                </a:lnTo>
                <a:lnTo>
                  <a:pt x="2338" y="1020"/>
                </a:lnTo>
                <a:lnTo>
                  <a:pt x="2304" y="957"/>
                </a:lnTo>
                <a:lnTo>
                  <a:pt x="2266" y="898"/>
                </a:lnTo>
                <a:lnTo>
                  <a:pt x="2222" y="840"/>
                </a:lnTo>
                <a:lnTo>
                  <a:pt x="2205" y="815"/>
                </a:lnTo>
                <a:lnTo>
                  <a:pt x="2194" y="788"/>
                </a:lnTo>
                <a:lnTo>
                  <a:pt x="2187" y="759"/>
                </a:lnTo>
                <a:lnTo>
                  <a:pt x="2186" y="730"/>
                </a:lnTo>
                <a:lnTo>
                  <a:pt x="2191" y="701"/>
                </a:lnTo>
                <a:lnTo>
                  <a:pt x="2199" y="674"/>
                </a:lnTo>
                <a:lnTo>
                  <a:pt x="2213" y="648"/>
                </a:lnTo>
                <a:lnTo>
                  <a:pt x="2233" y="624"/>
                </a:lnTo>
                <a:lnTo>
                  <a:pt x="2255" y="602"/>
                </a:lnTo>
                <a:lnTo>
                  <a:pt x="2276" y="585"/>
                </a:lnTo>
                <a:lnTo>
                  <a:pt x="2299" y="571"/>
                </a:lnTo>
                <a:lnTo>
                  <a:pt x="2324" y="562"/>
                </a:lnTo>
                <a:lnTo>
                  <a:pt x="2350" y="557"/>
                </a:lnTo>
                <a:lnTo>
                  <a:pt x="2378" y="555"/>
                </a:lnTo>
                <a:close/>
                <a:moveTo>
                  <a:pt x="1635" y="180"/>
                </a:moveTo>
                <a:lnTo>
                  <a:pt x="1665" y="184"/>
                </a:lnTo>
                <a:lnTo>
                  <a:pt x="1694" y="195"/>
                </a:lnTo>
                <a:lnTo>
                  <a:pt x="1720" y="210"/>
                </a:lnTo>
                <a:lnTo>
                  <a:pt x="1743" y="231"/>
                </a:lnTo>
                <a:lnTo>
                  <a:pt x="1762" y="255"/>
                </a:lnTo>
                <a:lnTo>
                  <a:pt x="1776" y="282"/>
                </a:lnTo>
                <a:lnTo>
                  <a:pt x="1785" y="310"/>
                </a:lnTo>
                <a:lnTo>
                  <a:pt x="1787" y="341"/>
                </a:lnTo>
                <a:lnTo>
                  <a:pt x="1787" y="2523"/>
                </a:lnTo>
                <a:lnTo>
                  <a:pt x="1785" y="2553"/>
                </a:lnTo>
                <a:lnTo>
                  <a:pt x="1776" y="2583"/>
                </a:lnTo>
                <a:lnTo>
                  <a:pt x="1762" y="2610"/>
                </a:lnTo>
                <a:lnTo>
                  <a:pt x="1743" y="2634"/>
                </a:lnTo>
                <a:lnTo>
                  <a:pt x="1720" y="2653"/>
                </a:lnTo>
                <a:lnTo>
                  <a:pt x="1694" y="2670"/>
                </a:lnTo>
                <a:lnTo>
                  <a:pt x="1671" y="2678"/>
                </a:lnTo>
                <a:lnTo>
                  <a:pt x="1648" y="2683"/>
                </a:lnTo>
                <a:lnTo>
                  <a:pt x="1625" y="2685"/>
                </a:lnTo>
                <a:lnTo>
                  <a:pt x="1597" y="2683"/>
                </a:lnTo>
                <a:lnTo>
                  <a:pt x="1571" y="2675"/>
                </a:lnTo>
                <a:lnTo>
                  <a:pt x="1545" y="2663"/>
                </a:lnTo>
                <a:lnTo>
                  <a:pt x="1522" y="2647"/>
                </a:lnTo>
                <a:lnTo>
                  <a:pt x="635" y="1916"/>
                </a:lnTo>
                <a:lnTo>
                  <a:pt x="163" y="1916"/>
                </a:lnTo>
                <a:lnTo>
                  <a:pt x="130" y="1912"/>
                </a:lnTo>
                <a:lnTo>
                  <a:pt x="99" y="1903"/>
                </a:lnTo>
                <a:lnTo>
                  <a:pt x="72" y="1887"/>
                </a:lnTo>
                <a:lnTo>
                  <a:pt x="48" y="1868"/>
                </a:lnTo>
                <a:lnTo>
                  <a:pt x="27" y="1844"/>
                </a:lnTo>
                <a:lnTo>
                  <a:pt x="13" y="1817"/>
                </a:lnTo>
                <a:lnTo>
                  <a:pt x="3" y="1786"/>
                </a:lnTo>
                <a:lnTo>
                  <a:pt x="0" y="1754"/>
                </a:lnTo>
                <a:lnTo>
                  <a:pt x="0" y="1111"/>
                </a:lnTo>
                <a:lnTo>
                  <a:pt x="3" y="1078"/>
                </a:lnTo>
                <a:lnTo>
                  <a:pt x="13" y="1048"/>
                </a:lnTo>
                <a:lnTo>
                  <a:pt x="27" y="1019"/>
                </a:lnTo>
                <a:lnTo>
                  <a:pt x="48" y="995"/>
                </a:lnTo>
                <a:lnTo>
                  <a:pt x="72" y="976"/>
                </a:lnTo>
                <a:lnTo>
                  <a:pt x="99" y="961"/>
                </a:lnTo>
                <a:lnTo>
                  <a:pt x="130" y="952"/>
                </a:lnTo>
                <a:lnTo>
                  <a:pt x="163" y="949"/>
                </a:lnTo>
                <a:lnTo>
                  <a:pt x="635" y="949"/>
                </a:lnTo>
                <a:lnTo>
                  <a:pt x="1522" y="216"/>
                </a:lnTo>
                <a:lnTo>
                  <a:pt x="1547" y="199"/>
                </a:lnTo>
                <a:lnTo>
                  <a:pt x="1575" y="187"/>
                </a:lnTo>
                <a:lnTo>
                  <a:pt x="1605" y="181"/>
                </a:lnTo>
                <a:lnTo>
                  <a:pt x="1635" y="180"/>
                </a:lnTo>
                <a:close/>
                <a:moveTo>
                  <a:pt x="2931" y="0"/>
                </a:moveTo>
                <a:lnTo>
                  <a:pt x="2957" y="4"/>
                </a:lnTo>
                <a:lnTo>
                  <a:pt x="2983" y="11"/>
                </a:lnTo>
                <a:lnTo>
                  <a:pt x="3007" y="22"/>
                </a:lnTo>
                <a:lnTo>
                  <a:pt x="3028" y="37"/>
                </a:lnTo>
                <a:lnTo>
                  <a:pt x="3048" y="55"/>
                </a:lnTo>
                <a:lnTo>
                  <a:pt x="3118" y="138"/>
                </a:lnTo>
                <a:lnTo>
                  <a:pt x="3183" y="224"/>
                </a:lnTo>
                <a:lnTo>
                  <a:pt x="3244" y="313"/>
                </a:lnTo>
                <a:lnTo>
                  <a:pt x="3300" y="406"/>
                </a:lnTo>
                <a:lnTo>
                  <a:pt x="3350" y="499"/>
                </a:lnTo>
                <a:lnTo>
                  <a:pt x="3396" y="597"/>
                </a:lnTo>
                <a:lnTo>
                  <a:pt x="3437" y="696"/>
                </a:lnTo>
                <a:lnTo>
                  <a:pt x="3472" y="797"/>
                </a:lnTo>
                <a:lnTo>
                  <a:pt x="3503" y="899"/>
                </a:lnTo>
                <a:lnTo>
                  <a:pt x="3528" y="1003"/>
                </a:lnTo>
                <a:lnTo>
                  <a:pt x="3548" y="1108"/>
                </a:lnTo>
                <a:lnTo>
                  <a:pt x="3562" y="1216"/>
                </a:lnTo>
                <a:lnTo>
                  <a:pt x="3569" y="1324"/>
                </a:lnTo>
                <a:lnTo>
                  <a:pt x="3573" y="1432"/>
                </a:lnTo>
                <a:lnTo>
                  <a:pt x="3569" y="1545"/>
                </a:lnTo>
                <a:lnTo>
                  <a:pt x="3561" y="1656"/>
                </a:lnTo>
                <a:lnTo>
                  <a:pt x="3545" y="1768"/>
                </a:lnTo>
                <a:lnTo>
                  <a:pt x="3524" y="1877"/>
                </a:lnTo>
                <a:lnTo>
                  <a:pt x="3497" y="1985"/>
                </a:lnTo>
                <a:lnTo>
                  <a:pt x="3465" y="2092"/>
                </a:lnTo>
                <a:lnTo>
                  <a:pt x="3427" y="2196"/>
                </a:lnTo>
                <a:lnTo>
                  <a:pt x="3382" y="2299"/>
                </a:lnTo>
                <a:lnTo>
                  <a:pt x="3333" y="2399"/>
                </a:lnTo>
                <a:lnTo>
                  <a:pt x="3278" y="2496"/>
                </a:lnTo>
                <a:lnTo>
                  <a:pt x="3218" y="2590"/>
                </a:lnTo>
                <a:lnTo>
                  <a:pt x="3153" y="2682"/>
                </a:lnTo>
                <a:lnTo>
                  <a:pt x="3082" y="2770"/>
                </a:lnTo>
                <a:lnTo>
                  <a:pt x="3062" y="2789"/>
                </a:lnTo>
                <a:lnTo>
                  <a:pt x="3040" y="2804"/>
                </a:lnTo>
                <a:lnTo>
                  <a:pt x="3017" y="2816"/>
                </a:lnTo>
                <a:lnTo>
                  <a:pt x="2991" y="2824"/>
                </a:lnTo>
                <a:lnTo>
                  <a:pt x="2965" y="2827"/>
                </a:lnTo>
                <a:lnTo>
                  <a:pt x="2957" y="2827"/>
                </a:lnTo>
                <a:lnTo>
                  <a:pt x="2932" y="2825"/>
                </a:lnTo>
                <a:lnTo>
                  <a:pt x="2907" y="2820"/>
                </a:lnTo>
                <a:lnTo>
                  <a:pt x="2884" y="2810"/>
                </a:lnTo>
                <a:lnTo>
                  <a:pt x="2863" y="2797"/>
                </a:lnTo>
                <a:lnTo>
                  <a:pt x="2843" y="2780"/>
                </a:lnTo>
                <a:lnTo>
                  <a:pt x="2822" y="2759"/>
                </a:lnTo>
                <a:lnTo>
                  <a:pt x="2801" y="2735"/>
                </a:lnTo>
                <a:lnTo>
                  <a:pt x="2787" y="2709"/>
                </a:lnTo>
                <a:lnTo>
                  <a:pt x="2779" y="2681"/>
                </a:lnTo>
                <a:lnTo>
                  <a:pt x="2774" y="2651"/>
                </a:lnTo>
                <a:lnTo>
                  <a:pt x="2775" y="2622"/>
                </a:lnTo>
                <a:lnTo>
                  <a:pt x="2783" y="2594"/>
                </a:lnTo>
                <a:lnTo>
                  <a:pt x="2795" y="2565"/>
                </a:lnTo>
                <a:lnTo>
                  <a:pt x="2812" y="2540"/>
                </a:lnTo>
                <a:lnTo>
                  <a:pt x="2876" y="2461"/>
                </a:lnTo>
                <a:lnTo>
                  <a:pt x="2933" y="2378"/>
                </a:lnTo>
                <a:lnTo>
                  <a:pt x="2986" y="2294"/>
                </a:lnTo>
                <a:lnTo>
                  <a:pt x="3034" y="2206"/>
                </a:lnTo>
                <a:lnTo>
                  <a:pt x="3076" y="2114"/>
                </a:lnTo>
                <a:lnTo>
                  <a:pt x="3113" y="2022"/>
                </a:lnTo>
                <a:lnTo>
                  <a:pt x="3145" y="1927"/>
                </a:lnTo>
                <a:lnTo>
                  <a:pt x="3171" y="1831"/>
                </a:lnTo>
                <a:lnTo>
                  <a:pt x="3191" y="1732"/>
                </a:lnTo>
                <a:lnTo>
                  <a:pt x="3206" y="1633"/>
                </a:lnTo>
                <a:lnTo>
                  <a:pt x="3215" y="1533"/>
                </a:lnTo>
                <a:lnTo>
                  <a:pt x="3218" y="1432"/>
                </a:lnTo>
                <a:lnTo>
                  <a:pt x="3215" y="1336"/>
                </a:lnTo>
                <a:lnTo>
                  <a:pt x="3207" y="1239"/>
                </a:lnTo>
                <a:lnTo>
                  <a:pt x="3194" y="1144"/>
                </a:lnTo>
                <a:lnTo>
                  <a:pt x="3175" y="1050"/>
                </a:lnTo>
                <a:lnTo>
                  <a:pt x="3152" y="957"/>
                </a:lnTo>
                <a:lnTo>
                  <a:pt x="3122" y="866"/>
                </a:lnTo>
                <a:lnTo>
                  <a:pt x="3088" y="777"/>
                </a:lnTo>
                <a:lnTo>
                  <a:pt x="3049" y="690"/>
                </a:lnTo>
                <a:lnTo>
                  <a:pt x="3005" y="604"/>
                </a:lnTo>
                <a:lnTo>
                  <a:pt x="2957" y="522"/>
                </a:lnTo>
                <a:lnTo>
                  <a:pt x="2904" y="442"/>
                </a:lnTo>
                <a:lnTo>
                  <a:pt x="2846" y="365"/>
                </a:lnTo>
                <a:lnTo>
                  <a:pt x="2784" y="290"/>
                </a:lnTo>
                <a:lnTo>
                  <a:pt x="2767" y="269"/>
                </a:lnTo>
                <a:lnTo>
                  <a:pt x="2755" y="244"/>
                </a:lnTo>
                <a:lnTo>
                  <a:pt x="2747" y="219"/>
                </a:lnTo>
                <a:lnTo>
                  <a:pt x="2743" y="191"/>
                </a:lnTo>
                <a:lnTo>
                  <a:pt x="2744" y="165"/>
                </a:lnTo>
                <a:lnTo>
                  <a:pt x="2749" y="139"/>
                </a:lnTo>
                <a:lnTo>
                  <a:pt x="2758" y="114"/>
                </a:lnTo>
                <a:lnTo>
                  <a:pt x="2772" y="90"/>
                </a:lnTo>
                <a:lnTo>
                  <a:pt x="2791" y="70"/>
                </a:lnTo>
                <a:lnTo>
                  <a:pt x="2811" y="48"/>
                </a:lnTo>
                <a:lnTo>
                  <a:pt x="2831" y="31"/>
                </a:lnTo>
                <a:lnTo>
                  <a:pt x="2854" y="18"/>
                </a:lnTo>
                <a:lnTo>
                  <a:pt x="2878" y="8"/>
                </a:lnTo>
                <a:lnTo>
                  <a:pt x="2904" y="2"/>
                </a:lnTo>
                <a:lnTo>
                  <a:pt x="2931" y="0"/>
                </a:lnTo>
                <a:close/>
              </a:path>
            </a:pathLst>
          </a:custGeom>
          <a:solidFill>
            <a:schemeClr val="bg1"/>
          </a:solidFill>
          <a:ln>
            <a:noFill/>
            <a:prstDash val="solid"/>
          </a:ln>
        </p:spPr>
        <p:txBody>
          <a:bodyPr vert="horz" anchor="t" wrap="square" tIns="45720" lIns="91440" bIns="45720" rIns="91440"/>
          <a:p>
            <a:pPr algn="l" marL="0"/>
          </a:p>
        </p:txBody>
      </p:sp>
      <p:grpSp>
        <p:nvGrpSpPr>
          <p:cNvPr name="Group 10" id="10"/>
          <p:cNvGrpSpPr/>
          <p:nvPr/>
        </p:nvGrpSpPr>
        <p:grpSpPr>
          <a:xfrm>
            <a:off x="9910234" y="3685007"/>
            <a:ext cx="639907" cy="639259"/>
            <a:chOff x="5516" y="3626"/>
            <a:chExt cx="1981" cy="1979"/>
          </a:xfrm>
          <a:solidFill>
            <a:schemeClr val="bg1"/>
          </a:solidFill>
        </p:grpSpPr>
        <p:sp>
          <p:nvSpPr>
            <p:cNvPr name="Freeform 11" id="11"/>
            <p:cNvSpPr/>
            <p:nvPr/>
          </p:nvSpPr>
          <p:spPr>
            <a:xfrm>
              <a:off x="5524" y="4270"/>
              <a:ext cx="491" cy="498"/>
            </a:xfrm>
            <a:custGeom>
              <a:avLst/>
              <a:gdLst/>
              <a:ahLst/>
              <a:cxnLst/>
              <a:rect r="r" b="b" t="t" l="l"/>
              <a:pathLst>
                <a:path w="980" h="996" stroke="true" fill="norm" extrusionOk="true">
                  <a:moveTo>
                    <a:pt x="980" y="0"/>
                  </a:moveTo>
                  <a:lnTo>
                    <a:pt x="952" y="46"/>
                  </a:lnTo>
                  <a:lnTo>
                    <a:pt x="921" y="94"/>
                  </a:lnTo>
                  <a:lnTo>
                    <a:pt x="890" y="145"/>
                  </a:lnTo>
                  <a:lnTo>
                    <a:pt x="856" y="198"/>
                  </a:lnTo>
                  <a:lnTo>
                    <a:pt x="819" y="255"/>
                  </a:lnTo>
                  <a:lnTo>
                    <a:pt x="781" y="314"/>
                  </a:lnTo>
                  <a:lnTo>
                    <a:pt x="740" y="376"/>
                  </a:lnTo>
                  <a:lnTo>
                    <a:pt x="696" y="444"/>
                  </a:lnTo>
                  <a:lnTo>
                    <a:pt x="649" y="514"/>
                  </a:lnTo>
                  <a:lnTo>
                    <a:pt x="599" y="588"/>
                  </a:lnTo>
                  <a:lnTo>
                    <a:pt x="546" y="665"/>
                  </a:lnTo>
                  <a:lnTo>
                    <a:pt x="491" y="748"/>
                  </a:lnTo>
                  <a:lnTo>
                    <a:pt x="431" y="834"/>
                  </a:lnTo>
                  <a:lnTo>
                    <a:pt x="369" y="926"/>
                  </a:lnTo>
                  <a:lnTo>
                    <a:pt x="347" y="960"/>
                  </a:lnTo>
                  <a:lnTo>
                    <a:pt x="331" y="996"/>
                  </a:lnTo>
                  <a:lnTo>
                    <a:pt x="0" y="666"/>
                  </a:lnTo>
                  <a:lnTo>
                    <a:pt x="2" y="664"/>
                  </a:lnTo>
                  <a:lnTo>
                    <a:pt x="8" y="657"/>
                  </a:lnTo>
                  <a:lnTo>
                    <a:pt x="18" y="645"/>
                  </a:lnTo>
                  <a:lnTo>
                    <a:pt x="30" y="629"/>
                  </a:lnTo>
                  <a:lnTo>
                    <a:pt x="47" y="609"/>
                  </a:lnTo>
                  <a:lnTo>
                    <a:pt x="66" y="588"/>
                  </a:lnTo>
                  <a:lnTo>
                    <a:pt x="89" y="561"/>
                  </a:lnTo>
                  <a:lnTo>
                    <a:pt x="115" y="533"/>
                  </a:lnTo>
                  <a:lnTo>
                    <a:pt x="144" y="503"/>
                  </a:lnTo>
                  <a:lnTo>
                    <a:pt x="174" y="471"/>
                  </a:lnTo>
                  <a:lnTo>
                    <a:pt x="208" y="438"/>
                  </a:lnTo>
                  <a:lnTo>
                    <a:pt x="244" y="403"/>
                  </a:lnTo>
                  <a:lnTo>
                    <a:pt x="283" y="368"/>
                  </a:lnTo>
                  <a:lnTo>
                    <a:pt x="324" y="332"/>
                  </a:lnTo>
                  <a:lnTo>
                    <a:pt x="366" y="296"/>
                  </a:lnTo>
                  <a:lnTo>
                    <a:pt x="410" y="261"/>
                  </a:lnTo>
                  <a:lnTo>
                    <a:pt x="457" y="226"/>
                  </a:lnTo>
                  <a:lnTo>
                    <a:pt x="504" y="192"/>
                  </a:lnTo>
                  <a:lnTo>
                    <a:pt x="554" y="160"/>
                  </a:lnTo>
                  <a:lnTo>
                    <a:pt x="603" y="130"/>
                  </a:lnTo>
                  <a:lnTo>
                    <a:pt x="655" y="102"/>
                  </a:lnTo>
                  <a:lnTo>
                    <a:pt x="707" y="76"/>
                  </a:lnTo>
                  <a:lnTo>
                    <a:pt x="761" y="54"/>
                  </a:lnTo>
                  <a:lnTo>
                    <a:pt x="815" y="35"/>
                  </a:lnTo>
                  <a:lnTo>
                    <a:pt x="870" y="19"/>
                  </a:lnTo>
                  <a:lnTo>
                    <a:pt x="925" y="7"/>
                  </a:lnTo>
                  <a:lnTo>
                    <a:pt x="980" y="0"/>
                  </a:lnTo>
                  <a:close/>
                </a:path>
              </a:pathLst>
            </a:custGeom>
            <a:grpFill/>
            <a:ln>
              <a:noFill/>
              <a:prstDash val="solid"/>
            </a:ln>
          </p:spPr>
          <p:txBody>
            <a:bodyPr vert="horz" anchor="t" wrap="square" tIns="45720" lIns="91440" bIns="45720" rIns="91440"/>
            <a:p>
              <a:pPr algn="l" marL="0"/>
            </a:p>
          </p:txBody>
        </p:sp>
        <p:sp>
          <p:nvSpPr>
            <p:cNvPr name="Freeform 12" id="12"/>
            <p:cNvSpPr/>
            <p:nvPr/>
          </p:nvSpPr>
          <p:spPr>
            <a:xfrm>
              <a:off x="6354" y="5106"/>
              <a:ext cx="498" cy="489"/>
            </a:xfrm>
            <a:custGeom>
              <a:avLst/>
              <a:gdLst/>
              <a:ahLst/>
              <a:cxnLst/>
              <a:rect r="r" b="b" t="t" l="l"/>
              <a:pathLst>
                <a:path w="998" h="979" stroke="true" fill="norm" extrusionOk="true">
                  <a:moveTo>
                    <a:pt x="998" y="0"/>
                  </a:moveTo>
                  <a:lnTo>
                    <a:pt x="990" y="55"/>
                  </a:lnTo>
                  <a:lnTo>
                    <a:pt x="978" y="111"/>
                  </a:lnTo>
                  <a:lnTo>
                    <a:pt x="963" y="165"/>
                  </a:lnTo>
                  <a:lnTo>
                    <a:pt x="943" y="220"/>
                  </a:lnTo>
                  <a:lnTo>
                    <a:pt x="920" y="273"/>
                  </a:lnTo>
                  <a:lnTo>
                    <a:pt x="895" y="326"/>
                  </a:lnTo>
                  <a:lnTo>
                    <a:pt x="867" y="377"/>
                  </a:lnTo>
                  <a:lnTo>
                    <a:pt x="837" y="427"/>
                  </a:lnTo>
                  <a:lnTo>
                    <a:pt x="804" y="477"/>
                  </a:lnTo>
                  <a:lnTo>
                    <a:pt x="770" y="524"/>
                  </a:lnTo>
                  <a:lnTo>
                    <a:pt x="736" y="570"/>
                  </a:lnTo>
                  <a:lnTo>
                    <a:pt x="700" y="614"/>
                  </a:lnTo>
                  <a:lnTo>
                    <a:pt x="665" y="657"/>
                  </a:lnTo>
                  <a:lnTo>
                    <a:pt x="629" y="698"/>
                  </a:lnTo>
                  <a:lnTo>
                    <a:pt x="594" y="736"/>
                  </a:lnTo>
                  <a:lnTo>
                    <a:pt x="559" y="771"/>
                  </a:lnTo>
                  <a:lnTo>
                    <a:pt x="525" y="805"/>
                  </a:lnTo>
                  <a:lnTo>
                    <a:pt x="494" y="837"/>
                  </a:lnTo>
                  <a:lnTo>
                    <a:pt x="463" y="866"/>
                  </a:lnTo>
                  <a:lnTo>
                    <a:pt x="434" y="891"/>
                  </a:lnTo>
                  <a:lnTo>
                    <a:pt x="409" y="914"/>
                  </a:lnTo>
                  <a:lnTo>
                    <a:pt x="386" y="933"/>
                  </a:lnTo>
                  <a:lnTo>
                    <a:pt x="367" y="949"/>
                  </a:lnTo>
                  <a:lnTo>
                    <a:pt x="351" y="962"/>
                  </a:lnTo>
                  <a:lnTo>
                    <a:pt x="340" y="972"/>
                  </a:lnTo>
                  <a:lnTo>
                    <a:pt x="333" y="978"/>
                  </a:lnTo>
                  <a:lnTo>
                    <a:pt x="330" y="979"/>
                  </a:lnTo>
                  <a:lnTo>
                    <a:pt x="0" y="649"/>
                  </a:lnTo>
                  <a:lnTo>
                    <a:pt x="35" y="633"/>
                  </a:lnTo>
                  <a:lnTo>
                    <a:pt x="70" y="612"/>
                  </a:lnTo>
                  <a:lnTo>
                    <a:pt x="161" y="549"/>
                  </a:lnTo>
                  <a:lnTo>
                    <a:pt x="248" y="490"/>
                  </a:lnTo>
                  <a:lnTo>
                    <a:pt x="330" y="433"/>
                  </a:lnTo>
                  <a:lnTo>
                    <a:pt x="409" y="381"/>
                  </a:lnTo>
                  <a:lnTo>
                    <a:pt x="483" y="332"/>
                  </a:lnTo>
                  <a:lnTo>
                    <a:pt x="553" y="285"/>
                  </a:lnTo>
                  <a:lnTo>
                    <a:pt x="619" y="241"/>
                  </a:lnTo>
                  <a:lnTo>
                    <a:pt x="682" y="200"/>
                  </a:lnTo>
                  <a:lnTo>
                    <a:pt x="743" y="162"/>
                  </a:lnTo>
                  <a:lnTo>
                    <a:pt x="799" y="125"/>
                  </a:lnTo>
                  <a:lnTo>
                    <a:pt x="853" y="92"/>
                  </a:lnTo>
                  <a:lnTo>
                    <a:pt x="903" y="59"/>
                  </a:lnTo>
                  <a:lnTo>
                    <a:pt x="952" y="29"/>
                  </a:lnTo>
                  <a:lnTo>
                    <a:pt x="998" y="0"/>
                  </a:lnTo>
                  <a:close/>
                </a:path>
              </a:pathLst>
            </a:custGeom>
            <a:grpFill/>
            <a:ln>
              <a:noFill/>
              <a:prstDash val="solid"/>
            </a:ln>
          </p:spPr>
          <p:txBody>
            <a:bodyPr vert="horz" anchor="t" wrap="square" tIns="45720" lIns="91440" bIns="45720" rIns="91440"/>
            <a:p>
              <a:pPr algn="l" marL="0"/>
            </a:p>
          </p:txBody>
        </p:sp>
        <p:sp>
          <p:nvSpPr>
            <p:cNvPr name="Freeform 13" id="13"/>
            <p:cNvSpPr/>
            <p:nvPr/>
          </p:nvSpPr>
          <p:spPr>
            <a:xfrm>
              <a:off x="5516" y="4987"/>
              <a:ext cx="618" cy="618"/>
            </a:xfrm>
            <a:custGeom>
              <a:avLst/>
              <a:gdLst/>
              <a:ahLst/>
              <a:cxnLst/>
              <a:rect r="r" b="b" t="t" l="l"/>
              <a:pathLst>
                <a:path w="1237" h="1235" stroke="true" fill="norm" extrusionOk="true">
                  <a:moveTo>
                    <a:pt x="496" y="0"/>
                  </a:moveTo>
                  <a:lnTo>
                    <a:pt x="532" y="36"/>
                  </a:lnTo>
                  <a:lnTo>
                    <a:pt x="502" y="104"/>
                  </a:lnTo>
                  <a:lnTo>
                    <a:pt x="474" y="173"/>
                  </a:lnTo>
                  <a:lnTo>
                    <a:pt x="447" y="248"/>
                  </a:lnTo>
                  <a:lnTo>
                    <a:pt x="423" y="324"/>
                  </a:lnTo>
                  <a:lnTo>
                    <a:pt x="403" y="401"/>
                  </a:lnTo>
                  <a:lnTo>
                    <a:pt x="375" y="522"/>
                  </a:lnTo>
                  <a:lnTo>
                    <a:pt x="353" y="644"/>
                  </a:lnTo>
                  <a:lnTo>
                    <a:pt x="335" y="767"/>
                  </a:lnTo>
                  <a:lnTo>
                    <a:pt x="323" y="890"/>
                  </a:lnTo>
                  <a:lnTo>
                    <a:pt x="320" y="915"/>
                  </a:lnTo>
                  <a:lnTo>
                    <a:pt x="423" y="906"/>
                  </a:lnTo>
                  <a:lnTo>
                    <a:pt x="526" y="893"/>
                  </a:lnTo>
                  <a:lnTo>
                    <a:pt x="647" y="874"/>
                  </a:lnTo>
                  <a:lnTo>
                    <a:pt x="766" y="849"/>
                  </a:lnTo>
                  <a:lnTo>
                    <a:pt x="885" y="820"/>
                  </a:lnTo>
                  <a:lnTo>
                    <a:pt x="1002" y="784"/>
                  </a:lnTo>
                  <a:lnTo>
                    <a:pt x="1060" y="763"/>
                  </a:lnTo>
                  <a:lnTo>
                    <a:pt x="1117" y="740"/>
                  </a:lnTo>
                  <a:lnTo>
                    <a:pt x="1173" y="717"/>
                  </a:lnTo>
                  <a:lnTo>
                    <a:pt x="1200" y="704"/>
                  </a:lnTo>
                  <a:lnTo>
                    <a:pt x="1237" y="740"/>
                  </a:lnTo>
                  <a:lnTo>
                    <a:pt x="1194" y="797"/>
                  </a:lnTo>
                  <a:lnTo>
                    <a:pt x="1147" y="851"/>
                  </a:lnTo>
                  <a:lnTo>
                    <a:pt x="1095" y="901"/>
                  </a:lnTo>
                  <a:lnTo>
                    <a:pt x="1041" y="947"/>
                  </a:lnTo>
                  <a:lnTo>
                    <a:pt x="983" y="989"/>
                  </a:lnTo>
                  <a:lnTo>
                    <a:pt x="922" y="1027"/>
                  </a:lnTo>
                  <a:lnTo>
                    <a:pt x="858" y="1062"/>
                  </a:lnTo>
                  <a:lnTo>
                    <a:pt x="794" y="1094"/>
                  </a:lnTo>
                  <a:lnTo>
                    <a:pt x="728" y="1123"/>
                  </a:lnTo>
                  <a:lnTo>
                    <a:pt x="661" y="1147"/>
                  </a:lnTo>
                  <a:lnTo>
                    <a:pt x="594" y="1169"/>
                  </a:lnTo>
                  <a:lnTo>
                    <a:pt x="491" y="1196"/>
                  </a:lnTo>
                  <a:lnTo>
                    <a:pt x="386" y="1217"/>
                  </a:lnTo>
                  <a:lnTo>
                    <a:pt x="280" y="1229"/>
                  </a:lnTo>
                  <a:lnTo>
                    <a:pt x="174" y="1235"/>
                  </a:lnTo>
                  <a:lnTo>
                    <a:pt x="151" y="1235"/>
                  </a:lnTo>
                  <a:lnTo>
                    <a:pt x="128" y="1233"/>
                  </a:lnTo>
                  <a:lnTo>
                    <a:pt x="106" y="1228"/>
                  </a:lnTo>
                  <a:lnTo>
                    <a:pt x="80" y="1217"/>
                  </a:lnTo>
                  <a:lnTo>
                    <a:pt x="57" y="1201"/>
                  </a:lnTo>
                  <a:lnTo>
                    <a:pt x="36" y="1182"/>
                  </a:lnTo>
                  <a:lnTo>
                    <a:pt x="21" y="1159"/>
                  </a:lnTo>
                  <a:lnTo>
                    <a:pt x="8" y="1134"/>
                  </a:lnTo>
                  <a:lnTo>
                    <a:pt x="1" y="1106"/>
                  </a:lnTo>
                  <a:lnTo>
                    <a:pt x="0" y="1073"/>
                  </a:lnTo>
                  <a:lnTo>
                    <a:pt x="0" y="1041"/>
                  </a:lnTo>
                  <a:lnTo>
                    <a:pt x="6" y="947"/>
                  </a:lnTo>
                  <a:lnTo>
                    <a:pt x="18" y="855"/>
                  </a:lnTo>
                  <a:lnTo>
                    <a:pt x="35" y="762"/>
                  </a:lnTo>
                  <a:lnTo>
                    <a:pt x="57" y="671"/>
                  </a:lnTo>
                  <a:lnTo>
                    <a:pt x="85" y="582"/>
                  </a:lnTo>
                  <a:lnTo>
                    <a:pt x="115" y="501"/>
                  </a:lnTo>
                  <a:lnTo>
                    <a:pt x="150" y="421"/>
                  </a:lnTo>
                  <a:lnTo>
                    <a:pt x="190" y="345"/>
                  </a:lnTo>
                  <a:lnTo>
                    <a:pt x="235" y="270"/>
                  </a:lnTo>
                  <a:lnTo>
                    <a:pt x="285" y="200"/>
                  </a:lnTo>
                  <a:lnTo>
                    <a:pt x="331" y="144"/>
                  </a:lnTo>
                  <a:lnTo>
                    <a:pt x="382" y="92"/>
                  </a:lnTo>
                  <a:lnTo>
                    <a:pt x="438" y="44"/>
                  </a:lnTo>
                  <a:lnTo>
                    <a:pt x="496" y="0"/>
                  </a:lnTo>
                  <a:close/>
                </a:path>
              </a:pathLst>
            </a:custGeom>
            <a:grpFill/>
            <a:ln>
              <a:noFill/>
              <a:prstDash val="solid"/>
            </a:ln>
          </p:spPr>
          <p:txBody>
            <a:bodyPr vert="horz" anchor="t" wrap="square" tIns="45720" lIns="91440" bIns="45720" rIns="91440"/>
            <a:p>
              <a:pPr algn="l" marL="0"/>
            </a:p>
          </p:txBody>
        </p:sp>
        <p:sp>
          <p:nvSpPr>
            <p:cNvPr name="Freeform 14" id="14"/>
            <p:cNvSpPr/>
            <p:nvPr/>
          </p:nvSpPr>
          <p:spPr>
            <a:xfrm>
              <a:off x="5766" y="3626"/>
              <a:ext cx="1731" cy="1729"/>
            </a:xfrm>
            <a:custGeom>
              <a:avLst/>
              <a:gdLst/>
              <a:ahLst/>
              <a:cxnLst/>
              <a:rect r="r" b="b" t="t" l="l"/>
              <a:pathLst>
                <a:path w="3461" h="3456" stroke="true" fill="norm" extrusionOk="true">
                  <a:moveTo>
                    <a:pt x="2076" y="928"/>
                  </a:moveTo>
                  <a:lnTo>
                    <a:pt x="2026" y="931"/>
                  </a:lnTo>
                  <a:lnTo>
                    <a:pt x="1977" y="939"/>
                  </a:lnTo>
                  <a:lnTo>
                    <a:pt x="1928" y="952"/>
                  </a:lnTo>
                  <a:lnTo>
                    <a:pt x="1881" y="972"/>
                  </a:lnTo>
                  <a:lnTo>
                    <a:pt x="1837" y="996"/>
                  </a:lnTo>
                  <a:lnTo>
                    <a:pt x="1794" y="1026"/>
                  </a:lnTo>
                  <a:lnTo>
                    <a:pt x="1754" y="1061"/>
                  </a:lnTo>
                  <a:lnTo>
                    <a:pt x="1719" y="1101"/>
                  </a:lnTo>
                  <a:lnTo>
                    <a:pt x="1689" y="1143"/>
                  </a:lnTo>
                  <a:lnTo>
                    <a:pt x="1665" y="1188"/>
                  </a:lnTo>
                  <a:lnTo>
                    <a:pt x="1646" y="1235"/>
                  </a:lnTo>
                  <a:lnTo>
                    <a:pt x="1632" y="1283"/>
                  </a:lnTo>
                  <a:lnTo>
                    <a:pt x="1624" y="1333"/>
                  </a:lnTo>
                  <a:lnTo>
                    <a:pt x="1621" y="1382"/>
                  </a:lnTo>
                  <a:lnTo>
                    <a:pt x="1624" y="1433"/>
                  </a:lnTo>
                  <a:lnTo>
                    <a:pt x="1632" y="1481"/>
                  </a:lnTo>
                  <a:lnTo>
                    <a:pt x="1646" y="1529"/>
                  </a:lnTo>
                  <a:lnTo>
                    <a:pt x="1665" y="1577"/>
                  </a:lnTo>
                  <a:lnTo>
                    <a:pt x="1689" y="1622"/>
                  </a:lnTo>
                  <a:lnTo>
                    <a:pt x="1719" y="1665"/>
                  </a:lnTo>
                  <a:lnTo>
                    <a:pt x="1754" y="1705"/>
                  </a:lnTo>
                  <a:lnTo>
                    <a:pt x="1794" y="1740"/>
                  </a:lnTo>
                  <a:lnTo>
                    <a:pt x="1837" y="1770"/>
                  </a:lnTo>
                  <a:lnTo>
                    <a:pt x="1881" y="1794"/>
                  </a:lnTo>
                  <a:lnTo>
                    <a:pt x="1928" y="1813"/>
                  </a:lnTo>
                  <a:lnTo>
                    <a:pt x="1977" y="1826"/>
                  </a:lnTo>
                  <a:lnTo>
                    <a:pt x="2026" y="1835"/>
                  </a:lnTo>
                  <a:lnTo>
                    <a:pt x="2076" y="1837"/>
                  </a:lnTo>
                  <a:lnTo>
                    <a:pt x="2127" y="1835"/>
                  </a:lnTo>
                  <a:lnTo>
                    <a:pt x="2175" y="1826"/>
                  </a:lnTo>
                  <a:lnTo>
                    <a:pt x="2225" y="1813"/>
                  </a:lnTo>
                  <a:lnTo>
                    <a:pt x="2270" y="1794"/>
                  </a:lnTo>
                  <a:lnTo>
                    <a:pt x="2316" y="1770"/>
                  </a:lnTo>
                  <a:lnTo>
                    <a:pt x="2359" y="1740"/>
                  </a:lnTo>
                  <a:lnTo>
                    <a:pt x="2399" y="1705"/>
                  </a:lnTo>
                  <a:lnTo>
                    <a:pt x="2434" y="1665"/>
                  </a:lnTo>
                  <a:lnTo>
                    <a:pt x="2464" y="1622"/>
                  </a:lnTo>
                  <a:lnTo>
                    <a:pt x="2488" y="1577"/>
                  </a:lnTo>
                  <a:lnTo>
                    <a:pt x="2507" y="1529"/>
                  </a:lnTo>
                  <a:lnTo>
                    <a:pt x="2521" y="1481"/>
                  </a:lnTo>
                  <a:lnTo>
                    <a:pt x="2529" y="1433"/>
                  </a:lnTo>
                  <a:lnTo>
                    <a:pt x="2532" y="1382"/>
                  </a:lnTo>
                  <a:lnTo>
                    <a:pt x="2529" y="1333"/>
                  </a:lnTo>
                  <a:lnTo>
                    <a:pt x="2521" y="1283"/>
                  </a:lnTo>
                  <a:lnTo>
                    <a:pt x="2507" y="1235"/>
                  </a:lnTo>
                  <a:lnTo>
                    <a:pt x="2488" y="1188"/>
                  </a:lnTo>
                  <a:lnTo>
                    <a:pt x="2464" y="1143"/>
                  </a:lnTo>
                  <a:lnTo>
                    <a:pt x="2434" y="1101"/>
                  </a:lnTo>
                  <a:lnTo>
                    <a:pt x="2399" y="1061"/>
                  </a:lnTo>
                  <a:lnTo>
                    <a:pt x="2359" y="1026"/>
                  </a:lnTo>
                  <a:lnTo>
                    <a:pt x="2316" y="996"/>
                  </a:lnTo>
                  <a:lnTo>
                    <a:pt x="2270" y="972"/>
                  </a:lnTo>
                  <a:lnTo>
                    <a:pt x="2225" y="952"/>
                  </a:lnTo>
                  <a:lnTo>
                    <a:pt x="2175" y="939"/>
                  </a:lnTo>
                  <a:lnTo>
                    <a:pt x="2127" y="931"/>
                  </a:lnTo>
                  <a:lnTo>
                    <a:pt x="2076" y="928"/>
                  </a:lnTo>
                  <a:close/>
                  <a:moveTo>
                    <a:pt x="3322" y="0"/>
                  </a:moveTo>
                  <a:lnTo>
                    <a:pt x="3325" y="0"/>
                  </a:lnTo>
                  <a:lnTo>
                    <a:pt x="3351" y="2"/>
                  </a:lnTo>
                  <a:lnTo>
                    <a:pt x="3377" y="10"/>
                  </a:lnTo>
                  <a:lnTo>
                    <a:pt x="3401" y="23"/>
                  </a:lnTo>
                  <a:lnTo>
                    <a:pt x="3421" y="40"/>
                  </a:lnTo>
                  <a:lnTo>
                    <a:pt x="3438" y="60"/>
                  </a:lnTo>
                  <a:lnTo>
                    <a:pt x="3451" y="86"/>
                  </a:lnTo>
                  <a:lnTo>
                    <a:pt x="3459" y="111"/>
                  </a:lnTo>
                  <a:lnTo>
                    <a:pt x="3461" y="139"/>
                  </a:lnTo>
                  <a:lnTo>
                    <a:pt x="3460" y="194"/>
                  </a:lnTo>
                  <a:lnTo>
                    <a:pt x="3457" y="256"/>
                  </a:lnTo>
                  <a:lnTo>
                    <a:pt x="3454" y="323"/>
                  </a:lnTo>
                  <a:lnTo>
                    <a:pt x="3450" y="395"/>
                  </a:lnTo>
                  <a:lnTo>
                    <a:pt x="3444" y="471"/>
                  </a:lnTo>
                  <a:lnTo>
                    <a:pt x="3437" y="552"/>
                  </a:lnTo>
                  <a:lnTo>
                    <a:pt x="3427" y="635"/>
                  </a:lnTo>
                  <a:lnTo>
                    <a:pt x="3416" y="722"/>
                  </a:lnTo>
                  <a:lnTo>
                    <a:pt x="3404" y="811"/>
                  </a:lnTo>
                  <a:lnTo>
                    <a:pt x="3389" y="903"/>
                  </a:lnTo>
                  <a:lnTo>
                    <a:pt x="3372" y="997"/>
                  </a:lnTo>
                  <a:lnTo>
                    <a:pt x="3351" y="1091"/>
                  </a:lnTo>
                  <a:lnTo>
                    <a:pt x="3329" y="1187"/>
                  </a:lnTo>
                  <a:lnTo>
                    <a:pt x="3304" y="1283"/>
                  </a:lnTo>
                  <a:lnTo>
                    <a:pt x="3275" y="1380"/>
                  </a:lnTo>
                  <a:lnTo>
                    <a:pt x="3244" y="1475"/>
                  </a:lnTo>
                  <a:lnTo>
                    <a:pt x="3210" y="1569"/>
                  </a:lnTo>
                  <a:lnTo>
                    <a:pt x="3171" y="1663"/>
                  </a:lnTo>
                  <a:lnTo>
                    <a:pt x="3129" y="1755"/>
                  </a:lnTo>
                  <a:lnTo>
                    <a:pt x="3083" y="1845"/>
                  </a:lnTo>
                  <a:lnTo>
                    <a:pt x="3033" y="1932"/>
                  </a:lnTo>
                  <a:lnTo>
                    <a:pt x="2980" y="2015"/>
                  </a:lnTo>
                  <a:lnTo>
                    <a:pt x="2922" y="2094"/>
                  </a:lnTo>
                  <a:lnTo>
                    <a:pt x="2859" y="2172"/>
                  </a:lnTo>
                  <a:lnTo>
                    <a:pt x="2793" y="2243"/>
                  </a:lnTo>
                  <a:lnTo>
                    <a:pt x="2738" y="2296"/>
                  </a:lnTo>
                  <a:lnTo>
                    <a:pt x="2686" y="2346"/>
                  </a:lnTo>
                  <a:lnTo>
                    <a:pt x="2638" y="2390"/>
                  </a:lnTo>
                  <a:lnTo>
                    <a:pt x="2592" y="2431"/>
                  </a:lnTo>
                  <a:lnTo>
                    <a:pt x="2546" y="2469"/>
                  </a:lnTo>
                  <a:lnTo>
                    <a:pt x="2501" y="2504"/>
                  </a:lnTo>
                  <a:lnTo>
                    <a:pt x="2457" y="2538"/>
                  </a:lnTo>
                  <a:lnTo>
                    <a:pt x="2412" y="2571"/>
                  </a:lnTo>
                  <a:lnTo>
                    <a:pt x="2366" y="2603"/>
                  </a:lnTo>
                  <a:lnTo>
                    <a:pt x="2318" y="2635"/>
                  </a:lnTo>
                  <a:lnTo>
                    <a:pt x="2267" y="2668"/>
                  </a:lnTo>
                  <a:lnTo>
                    <a:pt x="2214" y="2702"/>
                  </a:lnTo>
                  <a:lnTo>
                    <a:pt x="2156" y="2738"/>
                  </a:lnTo>
                  <a:lnTo>
                    <a:pt x="2094" y="2777"/>
                  </a:lnTo>
                  <a:lnTo>
                    <a:pt x="2050" y="2804"/>
                  </a:lnTo>
                  <a:lnTo>
                    <a:pt x="2003" y="2833"/>
                  </a:lnTo>
                  <a:lnTo>
                    <a:pt x="1955" y="2865"/>
                  </a:lnTo>
                  <a:lnTo>
                    <a:pt x="1903" y="2897"/>
                  </a:lnTo>
                  <a:lnTo>
                    <a:pt x="1849" y="2931"/>
                  </a:lnTo>
                  <a:lnTo>
                    <a:pt x="1791" y="2969"/>
                  </a:lnTo>
                  <a:lnTo>
                    <a:pt x="1729" y="3007"/>
                  </a:lnTo>
                  <a:lnTo>
                    <a:pt x="1665" y="3049"/>
                  </a:lnTo>
                  <a:lnTo>
                    <a:pt x="1597" y="3094"/>
                  </a:lnTo>
                  <a:lnTo>
                    <a:pt x="1525" y="3142"/>
                  </a:lnTo>
                  <a:lnTo>
                    <a:pt x="1449" y="3193"/>
                  </a:lnTo>
                  <a:lnTo>
                    <a:pt x="1368" y="3247"/>
                  </a:lnTo>
                  <a:lnTo>
                    <a:pt x="1283" y="3304"/>
                  </a:lnTo>
                  <a:lnTo>
                    <a:pt x="1193" y="3366"/>
                  </a:lnTo>
                  <a:lnTo>
                    <a:pt x="1099" y="3431"/>
                  </a:lnTo>
                  <a:lnTo>
                    <a:pt x="1074" y="3445"/>
                  </a:lnTo>
                  <a:lnTo>
                    <a:pt x="1048" y="3453"/>
                  </a:lnTo>
                  <a:lnTo>
                    <a:pt x="1021" y="3456"/>
                  </a:lnTo>
                  <a:lnTo>
                    <a:pt x="994" y="3454"/>
                  </a:lnTo>
                  <a:lnTo>
                    <a:pt x="969" y="3445"/>
                  </a:lnTo>
                  <a:lnTo>
                    <a:pt x="946" y="3433"/>
                  </a:lnTo>
                  <a:lnTo>
                    <a:pt x="924" y="3415"/>
                  </a:lnTo>
                  <a:lnTo>
                    <a:pt x="40" y="2534"/>
                  </a:lnTo>
                  <a:lnTo>
                    <a:pt x="23" y="2512"/>
                  </a:lnTo>
                  <a:lnTo>
                    <a:pt x="10" y="2488"/>
                  </a:lnTo>
                  <a:lnTo>
                    <a:pt x="3" y="2463"/>
                  </a:lnTo>
                  <a:lnTo>
                    <a:pt x="0" y="2436"/>
                  </a:lnTo>
                  <a:lnTo>
                    <a:pt x="3" y="2408"/>
                  </a:lnTo>
                  <a:lnTo>
                    <a:pt x="11" y="2383"/>
                  </a:lnTo>
                  <a:lnTo>
                    <a:pt x="25" y="2359"/>
                  </a:lnTo>
                  <a:lnTo>
                    <a:pt x="90" y="2265"/>
                  </a:lnTo>
                  <a:lnTo>
                    <a:pt x="152" y="2175"/>
                  </a:lnTo>
                  <a:lnTo>
                    <a:pt x="210" y="2090"/>
                  </a:lnTo>
                  <a:lnTo>
                    <a:pt x="264" y="2010"/>
                  </a:lnTo>
                  <a:lnTo>
                    <a:pt x="315" y="1934"/>
                  </a:lnTo>
                  <a:lnTo>
                    <a:pt x="362" y="1861"/>
                  </a:lnTo>
                  <a:lnTo>
                    <a:pt x="407" y="1794"/>
                  </a:lnTo>
                  <a:lnTo>
                    <a:pt x="449" y="1729"/>
                  </a:lnTo>
                  <a:lnTo>
                    <a:pt x="489" y="1668"/>
                  </a:lnTo>
                  <a:lnTo>
                    <a:pt x="525" y="1610"/>
                  </a:lnTo>
                  <a:lnTo>
                    <a:pt x="560" y="1556"/>
                  </a:lnTo>
                  <a:lnTo>
                    <a:pt x="593" y="1504"/>
                  </a:lnTo>
                  <a:lnTo>
                    <a:pt x="624" y="1456"/>
                  </a:lnTo>
                  <a:lnTo>
                    <a:pt x="653" y="1409"/>
                  </a:lnTo>
                  <a:lnTo>
                    <a:pt x="681" y="1365"/>
                  </a:lnTo>
                  <a:lnTo>
                    <a:pt x="718" y="1303"/>
                  </a:lnTo>
                  <a:lnTo>
                    <a:pt x="755" y="1246"/>
                  </a:lnTo>
                  <a:lnTo>
                    <a:pt x="790" y="1193"/>
                  </a:lnTo>
                  <a:lnTo>
                    <a:pt x="822" y="1142"/>
                  </a:lnTo>
                  <a:lnTo>
                    <a:pt x="855" y="1094"/>
                  </a:lnTo>
                  <a:lnTo>
                    <a:pt x="886" y="1048"/>
                  </a:lnTo>
                  <a:lnTo>
                    <a:pt x="919" y="1002"/>
                  </a:lnTo>
                  <a:lnTo>
                    <a:pt x="953" y="957"/>
                  </a:lnTo>
                  <a:lnTo>
                    <a:pt x="989" y="914"/>
                  </a:lnTo>
                  <a:lnTo>
                    <a:pt x="1027" y="868"/>
                  </a:lnTo>
                  <a:lnTo>
                    <a:pt x="1068" y="822"/>
                  </a:lnTo>
                  <a:lnTo>
                    <a:pt x="1112" y="773"/>
                  </a:lnTo>
                  <a:lnTo>
                    <a:pt x="1161" y="722"/>
                  </a:lnTo>
                  <a:lnTo>
                    <a:pt x="1215" y="667"/>
                  </a:lnTo>
                  <a:lnTo>
                    <a:pt x="1287" y="601"/>
                  </a:lnTo>
                  <a:lnTo>
                    <a:pt x="1363" y="538"/>
                  </a:lnTo>
                  <a:lnTo>
                    <a:pt x="1442" y="480"/>
                  </a:lnTo>
                  <a:lnTo>
                    <a:pt x="1527" y="427"/>
                  </a:lnTo>
                  <a:lnTo>
                    <a:pt x="1613" y="378"/>
                  </a:lnTo>
                  <a:lnTo>
                    <a:pt x="1704" y="332"/>
                  </a:lnTo>
                  <a:lnTo>
                    <a:pt x="1794" y="290"/>
                  </a:lnTo>
                  <a:lnTo>
                    <a:pt x="1889" y="252"/>
                  </a:lnTo>
                  <a:lnTo>
                    <a:pt x="1983" y="217"/>
                  </a:lnTo>
                  <a:lnTo>
                    <a:pt x="2080" y="186"/>
                  </a:lnTo>
                  <a:lnTo>
                    <a:pt x="2175" y="157"/>
                  </a:lnTo>
                  <a:lnTo>
                    <a:pt x="2272" y="131"/>
                  </a:lnTo>
                  <a:lnTo>
                    <a:pt x="2367" y="110"/>
                  </a:lnTo>
                  <a:lnTo>
                    <a:pt x="2463" y="89"/>
                  </a:lnTo>
                  <a:lnTo>
                    <a:pt x="2556" y="72"/>
                  </a:lnTo>
                  <a:lnTo>
                    <a:pt x="2648" y="57"/>
                  </a:lnTo>
                  <a:lnTo>
                    <a:pt x="2737" y="45"/>
                  </a:lnTo>
                  <a:lnTo>
                    <a:pt x="2824" y="34"/>
                  </a:lnTo>
                  <a:lnTo>
                    <a:pt x="2909" y="24"/>
                  </a:lnTo>
                  <a:lnTo>
                    <a:pt x="2988" y="17"/>
                  </a:lnTo>
                  <a:lnTo>
                    <a:pt x="3065" y="11"/>
                  </a:lnTo>
                  <a:lnTo>
                    <a:pt x="3137" y="6"/>
                  </a:lnTo>
                  <a:lnTo>
                    <a:pt x="3204" y="3"/>
                  </a:lnTo>
                  <a:lnTo>
                    <a:pt x="3265" y="1"/>
                  </a:lnTo>
                  <a:lnTo>
                    <a:pt x="3322" y="0"/>
                  </a:lnTo>
                  <a:close/>
                </a:path>
              </a:pathLst>
            </a:custGeom>
            <a:grpFill/>
            <a:ln>
              <a:noFill/>
              <a:prstDash val="solid"/>
            </a:ln>
          </p:spPr>
          <p:txBody>
            <a:bodyPr vert="horz" anchor="t" wrap="square" tIns="45720" lIns="91440" bIns="45720" rIns="91440"/>
            <a:p>
              <a:pPr algn="l" marL="0"/>
            </a:p>
          </p:txBody>
        </p:sp>
      </p:grpSp>
      <p:sp>
        <p:nvSpPr>
          <p:cNvPr name="Freeform 15" id="15"/>
          <p:cNvSpPr/>
          <p:nvPr/>
        </p:nvSpPr>
        <p:spPr>
          <a:xfrm>
            <a:off x="9293852" y="1848975"/>
            <a:ext cx="516051" cy="386994"/>
          </a:xfrm>
          <a:custGeom>
            <a:avLst/>
            <a:gdLst/>
            <a:ahLst/>
            <a:cxnLst/>
            <a:rect r="r" b="b" t="t" l="l"/>
            <a:pathLst>
              <a:path w="6231" h="4673" stroke="true" fill="norm" extrusionOk="true">
                <a:moveTo>
                  <a:pt x="6189" y="0"/>
                </a:moveTo>
                <a:lnTo>
                  <a:pt x="6206" y="6"/>
                </a:lnTo>
                <a:lnTo>
                  <a:pt x="6219" y="17"/>
                </a:lnTo>
                <a:lnTo>
                  <a:pt x="6229" y="34"/>
                </a:lnTo>
                <a:lnTo>
                  <a:pt x="6231" y="53"/>
                </a:lnTo>
                <a:lnTo>
                  <a:pt x="6223" y="72"/>
                </a:lnTo>
                <a:lnTo>
                  <a:pt x="3477" y="4603"/>
                </a:lnTo>
                <a:lnTo>
                  <a:pt x="3455" y="4631"/>
                </a:lnTo>
                <a:lnTo>
                  <a:pt x="3428" y="4652"/>
                </a:lnTo>
                <a:lnTo>
                  <a:pt x="3398" y="4665"/>
                </a:lnTo>
                <a:lnTo>
                  <a:pt x="3366" y="4673"/>
                </a:lnTo>
                <a:lnTo>
                  <a:pt x="3332" y="4673"/>
                </a:lnTo>
                <a:lnTo>
                  <a:pt x="3300" y="4664"/>
                </a:lnTo>
                <a:lnTo>
                  <a:pt x="3269" y="4648"/>
                </a:lnTo>
                <a:lnTo>
                  <a:pt x="2513" y="4132"/>
                </a:lnTo>
                <a:lnTo>
                  <a:pt x="1745" y="4641"/>
                </a:lnTo>
                <a:lnTo>
                  <a:pt x="1717" y="4654"/>
                </a:lnTo>
                <a:lnTo>
                  <a:pt x="1690" y="4656"/>
                </a:lnTo>
                <a:lnTo>
                  <a:pt x="1664" y="4650"/>
                </a:lnTo>
                <a:lnTo>
                  <a:pt x="1639" y="4639"/>
                </a:lnTo>
                <a:lnTo>
                  <a:pt x="1621" y="4618"/>
                </a:lnTo>
                <a:lnTo>
                  <a:pt x="1609" y="4595"/>
                </a:lnTo>
                <a:lnTo>
                  <a:pt x="1603" y="4565"/>
                </a:lnTo>
                <a:lnTo>
                  <a:pt x="1603" y="3511"/>
                </a:lnTo>
                <a:lnTo>
                  <a:pt x="5090" y="905"/>
                </a:lnTo>
                <a:lnTo>
                  <a:pt x="972" y="3077"/>
                </a:lnTo>
                <a:lnTo>
                  <a:pt x="64" y="2459"/>
                </a:lnTo>
                <a:lnTo>
                  <a:pt x="36" y="2434"/>
                </a:lnTo>
                <a:lnTo>
                  <a:pt x="15" y="2404"/>
                </a:lnTo>
                <a:lnTo>
                  <a:pt x="4" y="2370"/>
                </a:lnTo>
                <a:lnTo>
                  <a:pt x="0" y="2335"/>
                </a:lnTo>
                <a:lnTo>
                  <a:pt x="0" y="2335"/>
                </a:lnTo>
                <a:lnTo>
                  <a:pt x="4" y="2301"/>
                </a:lnTo>
                <a:lnTo>
                  <a:pt x="17" y="2269"/>
                </a:lnTo>
                <a:lnTo>
                  <a:pt x="36" y="2241"/>
                </a:lnTo>
                <a:lnTo>
                  <a:pt x="62" y="2216"/>
                </a:lnTo>
                <a:lnTo>
                  <a:pt x="96" y="2199"/>
                </a:lnTo>
                <a:lnTo>
                  <a:pt x="6168" y="4"/>
                </a:lnTo>
                <a:lnTo>
                  <a:pt x="6189" y="0"/>
                </a:lnTo>
                <a:close/>
              </a:path>
            </a:pathLst>
          </a:custGeom>
          <a:solidFill>
            <a:schemeClr val="bg1"/>
          </a:solidFill>
          <a:ln>
            <a:noFill/>
          </a:ln>
        </p:spPr>
        <p:txBody>
          <a:bodyPr vert="horz" anchor="ctr" wrap="square" tIns="45720" lIns="91440" bIns="45720" rIns="91440">
            <a:noAutofit/>
          </a:bodyPr>
          <a:p>
            <a:pPr algn="ctr" marL="0"/>
          </a:p>
        </p:txBody>
      </p:sp>
      <p:sp>
        <p:nvSpPr>
          <p:cNvPr name="TextBox 16" id="16"/>
          <p:cNvSpPr txBox="true"/>
          <p:nvPr/>
        </p:nvSpPr>
        <p:spPr>
          <a:xfrm>
            <a:off x="734797" y="947681"/>
            <a:ext cx="5688330" cy="867930"/>
          </a:xfrm>
          <a:prstGeom prst="rect">
            <a:avLst/>
          </a:prstGeom>
        </p:spPr>
        <p:txBody>
          <a:bodyPr anchor="ctr" rtlCol="false" vert="horz" wrap="square" tIns="45720" lIns="91440" bIns="45720" rIns="91440">
            <a:spAutoFit/>
          </a:bodyPr>
          <a:lstStyle/>
          <a:p>
            <a:pPr algn="l" marL="0">
              <a:lnSpc>
                <a:spcPct val="90000"/>
              </a:lnSpc>
              <a:spcBef>
                <a:spcPct val="0"/>
              </a:spcBef>
              <a:defRPr/>
            </a:pPr>
            <a:r>
              <a:rPr lang="zh-CN" b="true" i="false" sz="2800" baseline="0" u="none" altLang="en-US">
                <a:solidFill>
                  <a:schemeClr val="tx1"/>
                </a:solidFill>
                <a:latin typeface="微软雅黑"/>
                <a:ea typeface="微软雅黑"/>
              </a:rPr>
              <a:t>单链表基本操作</a:t>
            </a:r>
            <a:endParaRPr lang="en-US" sz="1100"/>
          </a:p>
        </p:txBody>
      </p:sp>
      <p:sp>
        <p:nvSpPr>
          <p:cNvPr name="TextBox 17" id="17"/>
          <p:cNvSpPr txBox="true"/>
          <p:nvPr/>
        </p:nvSpPr>
        <p:spPr>
          <a:xfrm>
            <a:off x="1272162" y="2540083"/>
            <a:ext cx="6110173" cy="890693"/>
          </a:xfrm>
          <a:prstGeom prst="rect">
            <a:avLst/>
          </a:prstGeom>
          <a:noFill/>
        </p:spPr>
        <p:txBody>
          <a:bodyPr anchor="t" rtlCol="false" vert="horz" wrap="square" tIns="45720" lIns="91440" bIns="45720" rIns="91440">
            <a:spAutoFit/>
          </a:bodyPr>
          <a:lstStyle/>
          <a:p>
            <a:pPr algn="l" marL="0">
              <a:lnSpc>
                <a:spcPct val="150000"/>
              </a:lnSpc>
              <a:defRPr/>
            </a:pPr>
            <a:r>
              <a:rPr lang="zh-CN" b="false" i="false" sz="1200" baseline="0" u="none" altLang="en-US">
                <a:solidFill>
                  <a:schemeClr val="tx1"/>
                </a:solidFill>
                <a:latin typeface="微软雅黑"/>
                <a:ea typeface="微软雅黑"/>
              </a:rPr>
              <a:t>单链表建立包括头节点创建和节点插入。头节点不存储数据，用于简化操作。可采用头插法或尾插法构建，头插法得到逆序链表，尾插法保持原序。</a:t>
            </a:r>
            <a:endParaRPr lang="en-US" sz="1100"/>
          </a:p>
        </p:txBody>
      </p:sp>
      <p:sp>
        <p:nvSpPr>
          <p:cNvPr name="TextBox 18" id="18"/>
          <p:cNvSpPr txBox="true"/>
          <p:nvPr/>
        </p:nvSpPr>
        <p:spPr>
          <a:xfrm>
            <a:off x="1272163" y="2190090"/>
            <a:ext cx="5370830" cy="307777"/>
          </a:xfrm>
          <a:prstGeom prst="rect">
            <a:avLst/>
          </a:prstGeom>
          <a:noFill/>
        </p:spPr>
        <p:txBody>
          <a:bodyPr anchor="t" rtlCol="false" vert="horz" wrap="square" tIns="45720" lIns="91440" bIns="45720" rIns="91440">
            <a:spAutoFit/>
          </a:bodyPr>
          <a:lstStyle/>
          <a:p>
            <a:pPr algn="l" marL="0">
              <a:defRPr/>
            </a:pPr>
            <a:r>
              <a:rPr lang="zh-CN" b="true" i="false" sz="1400" baseline="0" u="none" altLang="en-US">
                <a:solidFill>
                  <a:schemeClr val="tx1"/>
                </a:solidFill>
                <a:latin typeface="微软雅黑"/>
                <a:ea typeface="微软雅黑"/>
              </a:rPr>
              <a:t>初始化与构建</a:t>
            </a:r>
            <a:endParaRPr lang="en-US" sz="1100"/>
          </a:p>
        </p:txBody>
      </p:sp>
      <p:sp>
        <p:nvSpPr>
          <p:cNvPr name="TextBox 19" id="19"/>
          <p:cNvSpPr txBox="true"/>
          <p:nvPr/>
        </p:nvSpPr>
        <p:spPr>
          <a:xfrm>
            <a:off x="1272162" y="4042605"/>
            <a:ext cx="6110173" cy="890693"/>
          </a:xfrm>
          <a:prstGeom prst="rect">
            <a:avLst/>
          </a:prstGeom>
          <a:noFill/>
        </p:spPr>
        <p:txBody>
          <a:bodyPr anchor="t" rtlCol="false" vert="horz" wrap="square" tIns="45720" lIns="91440" bIns="45720" rIns="91440">
            <a:spAutoFit/>
          </a:bodyPr>
          <a:lstStyle/>
          <a:p>
            <a:pPr algn="l" marL="0">
              <a:lnSpc>
                <a:spcPct val="150000"/>
              </a:lnSpc>
              <a:defRPr/>
            </a:pPr>
            <a:r>
              <a:rPr lang="zh-CN" b="false" i="false" sz="1200" baseline="0" u="none" altLang="en-US">
                <a:solidFill>
                  <a:schemeClr val="tx1"/>
                </a:solidFill>
                <a:latin typeface="微软雅黑"/>
                <a:ea typeface="微软雅黑"/>
              </a:rPr>
              <a:t>从首元节点开始，通过指针域依次访问每个节点，直到找到目标或到达链表尾。查找时间复杂度O(n)，可应用于链表长度计算、元素定位等场景。</a:t>
            </a:r>
            <a:endParaRPr lang="en-US" sz="1100"/>
          </a:p>
        </p:txBody>
      </p:sp>
      <p:sp>
        <p:nvSpPr>
          <p:cNvPr name="TextBox 20" id="20"/>
          <p:cNvSpPr txBox="true"/>
          <p:nvPr/>
        </p:nvSpPr>
        <p:spPr>
          <a:xfrm>
            <a:off x="1272163" y="3692612"/>
            <a:ext cx="5370830" cy="307777"/>
          </a:xfrm>
          <a:prstGeom prst="rect">
            <a:avLst/>
          </a:prstGeom>
          <a:noFill/>
        </p:spPr>
        <p:txBody>
          <a:bodyPr anchor="t" rtlCol="false" vert="horz" wrap="square" tIns="45720" lIns="91440" bIns="45720" rIns="91440">
            <a:spAutoFit/>
          </a:bodyPr>
          <a:lstStyle/>
          <a:p>
            <a:pPr algn="l" marL="0">
              <a:defRPr/>
            </a:pPr>
            <a:r>
              <a:rPr lang="zh-CN" b="true" i="false" sz="1400" baseline="0" u="none" altLang="en-US">
                <a:solidFill>
                  <a:schemeClr val="tx1"/>
                </a:solidFill>
                <a:latin typeface="微软雅黑"/>
                <a:ea typeface="微软雅黑"/>
              </a:rPr>
              <a:t>查找与遍历</a:t>
            </a:r>
            <a:endParaRPr lang="en-US" sz="1100"/>
          </a:p>
        </p:txBody>
      </p:sp>
      <p:sp>
        <p:nvSpPr>
          <p:cNvPr name="TextBox 21" id="21"/>
          <p:cNvSpPr txBox="true"/>
          <p:nvPr/>
        </p:nvSpPr>
        <p:spPr>
          <a:xfrm>
            <a:off x="1272161" y="5547044"/>
            <a:ext cx="9476237" cy="613694"/>
          </a:xfrm>
          <a:prstGeom prst="rect">
            <a:avLst/>
          </a:prstGeom>
          <a:noFill/>
        </p:spPr>
        <p:txBody>
          <a:bodyPr anchor="t" rtlCol="false" vert="horz" wrap="square" tIns="45720" lIns="91440" bIns="45720" rIns="91440">
            <a:spAutoFit/>
          </a:bodyPr>
          <a:lstStyle/>
          <a:p>
            <a:pPr algn="l" marL="0">
              <a:lnSpc>
                <a:spcPct val="150000"/>
              </a:lnSpc>
              <a:defRPr/>
            </a:pPr>
            <a:r>
              <a:rPr lang="zh-CN" b="false" i="false" sz="1200" baseline="0" u="none" altLang="en-US">
                <a:solidFill>
                  <a:schemeClr val="tx1"/>
                </a:solidFill>
                <a:latin typeface="微软雅黑"/>
                <a:ea typeface="微软雅黑"/>
              </a:rPr>
              <a:t>插入操作需要先找到前驱节点，然后修改指针；删除操作同样需要找到前驱节点，将指针绕过被删节点。注意需释放被删节点的内存，避免内存泄漏。</a:t>
            </a:r>
            <a:endParaRPr lang="en-US" sz="1100"/>
          </a:p>
        </p:txBody>
      </p:sp>
      <p:sp>
        <p:nvSpPr>
          <p:cNvPr name="TextBox 22" id="22"/>
          <p:cNvSpPr txBox="true"/>
          <p:nvPr/>
        </p:nvSpPr>
        <p:spPr>
          <a:xfrm>
            <a:off x="1272162" y="5197051"/>
            <a:ext cx="5370830" cy="307777"/>
          </a:xfrm>
          <a:prstGeom prst="rect">
            <a:avLst/>
          </a:prstGeom>
          <a:noFill/>
        </p:spPr>
        <p:txBody>
          <a:bodyPr anchor="t" rtlCol="false" vert="horz" wrap="square" tIns="45720" lIns="91440" bIns="45720" rIns="91440">
            <a:spAutoFit/>
          </a:bodyPr>
          <a:lstStyle/>
          <a:p>
            <a:pPr algn="l" marL="0">
              <a:defRPr/>
            </a:pPr>
            <a:r>
              <a:rPr lang="zh-CN" b="true" i="false" sz="1400" baseline="0" u="none" altLang="en-US">
                <a:solidFill>
                  <a:schemeClr val="tx1"/>
                </a:solidFill>
                <a:latin typeface="微软雅黑"/>
                <a:ea typeface="微软雅黑"/>
              </a:rPr>
              <a:t>插入与删除</a:t>
            </a:r>
            <a:endParaRPr lang="en-US" sz="1100"/>
          </a:p>
        </p:txBody>
      </p:sp>
      <p:sp>
        <p:nvSpPr>
          <p:cNvPr name="TextBox 23" id="23"/>
          <p:cNvSpPr txBox="true"/>
          <p:nvPr/>
        </p:nvSpPr>
        <p:spPr>
          <a:xfrm>
            <a:off x="813647" y="2261371"/>
            <a:ext cx="319194" cy="369332"/>
          </a:xfrm>
          <a:prstGeom prst="rect">
            <a:avLst/>
          </a:prstGeom>
          <a:noFill/>
        </p:spPr>
        <p:txBody>
          <a:bodyPr anchor="t" rtlCol="false" vert="horz" wrap="square" tIns="45720" lIns="91440" bIns="45720" rIns="91440">
            <a:spAutoFit/>
          </a:bodyPr>
          <a:lstStyle/>
          <a:p>
            <a:pPr algn="l" marL="0">
              <a:defRPr/>
            </a:pPr>
            <a:r>
              <a:rPr lang="en-US" b="true" i="false" sz="1800" baseline="0" u="none">
                <a:solidFill>
                  <a:schemeClr val="bg1"/>
                </a:solidFill>
                <a:latin typeface="等线"/>
                <a:ea typeface="等线"/>
              </a:rPr>
              <a:t>1</a:t>
            </a:r>
            <a:endParaRPr lang="en-US" sz="1100"/>
          </a:p>
        </p:txBody>
      </p:sp>
      <p:sp>
        <p:nvSpPr>
          <p:cNvPr name="TextBox 24" id="24"/>
          <p:cNvSpPr txBox="true"/>
          <p:nvPr/>
        </p:nvSpPr>
        <p:spPr>
          <a:xfrm>
            <a:off x="813647" y="3770982"/>
            <a:ext cx="319194" cy="369332"/>
          </a:xfrm>
          <a:prstGeom prst="rect">
            <a:avLst/>
          </a:prstGeom>
          <a:noFill/>
        </p:spPr>
        <p:txBody>
          <a:bodyPr anchor="t" rtlCol="false" vert="horz" wrap="square" tIns="45720" lIns="91440" bIns="45720" rIns="91440">
            <a:spAutoFit/>
          </a:bodyPr>
          <a:lstStyle/>
          <a:p>
            <a:pPr algn="l" marL="0">
              <a:defRPr/>
            </a:pPr>
            <a:r>
              <a:rPr lang="en-US" b="true" i="false" sz="1800" baseline="0" u="none">
                <a:solidFill>
                  <a:schemeClr val="bg1"/>
                </a:solidFill>
                <a:latin typeface="等线"/>
                <a:ea typeface="等线"/>
              </a:rPr>
              <a:t>2</a:t>
            </a:r>
            <a:endParaRPr lang="en-US" sz="1100"/>
          </a:p>
        </p:txBody>
      </p:sp>
      <p:sp>
        <p:nvSpPr>
          <p:cNvPr name="TextBox 25" id="25"/>
          <p:cNvSpPr txBox="true"/>
          <p:nvPr/>
        </p:nvSpPr>
        <p:spPr>
          <a:xfrm>
            <a:off x="813647" y="5280595"/>
            <a:ext cx="319194" cy="369332"/>
          </a:xfrm>
          <a:prstGeom prst="rect">
            <a:avLst/>
          </a:prstGeom>
          <a:noFill/>
        </p:spPr>
        <p:txBody>
          <a:bodyPr anchor="t" rtlCol="false" vert="horz" wrap="square" tIns="45720" lIns="91440" bIns="45720" rIns="91440">
            <a:spAutoFit/>
          </a:bodyPr>
          <a:lstStyle/>
          <a:p>
            <a:pPr algn="l" marL="0">
              <a:defRPr/>
            </a:pPr>
            <a:r>
              <a:rPr lang="en-US" b="true" i="false" sz="1800" baseline="0" u="none">
                <a:solidFill>
                  <a:schemeClr val="bg1"/>
                </a:solidFill>
                <a:latin typeface="等线"/>
                <a:ea typeface="等线"/>
              </a:rPr>
              <a:t>3</a:t>
            </a:r>
            <a:endParaRPr lang="en-US" sz="1100"/>
          </a:p>
        </p:txBody>
      </p:sp>
      <p:sp>
        <p:nvSpPr>
          <p:cNvPr name="AutoShape 26" id="26"/>
          <p:cNvSpPr/>
          <p:nvPr/>
        </p:nvSpPr>
        <p:spPr>
          <a:xfrm>
            <a:off x="10795000" y="6540500"/>
            <a:ext cx="1270000" cy="190500"/>
          </a:xfrm>
          <a:prstGeom prst="rect">
            <a:avLst/>
          </a:prstGeom>
          <a:solidFill>
            <a:srgbClr val="000000">
              <a:alpha val="0"/>
            </a:srgbClr>
          </a:solidFill>
        </p:spPr>
        <p:txBody>
          <a:bodyPr anchor="t" rtlCol="false"/>
          <a:lstStyle/>
          <a:p>
            <a:pPr algn="r">
              <a:defRPr/>
            </a:pPr>
            <a:r>
              <a:rPr lang="en-US" b="false" i="false" sz="800" baseline="0" u="none">
                <a:solidFill>
                  <a:srgbClr val="808080"/>
                </a:solidFill>
                <a:latin typeface="Microsoft YaHei"/>
                <a:ea typeface="Microsoft YaHei"/>
              </a:rPr>
              <a:t>内容由AI生成</a:t>
            </a:r>
            <a:endParaRPr lang="en-US" sz="1100"/>
          </a:p>
        </p:txBody>
      </p:sp>
    </p:spTree>
  </p:cSld>
  <p:clrMapOvr>
    <a:masterClrMapping/>
  </p:clrMapOvr>
</p:sld>
</file>

<file path=ppt/slides/slide11.xml><?xml version="1.0" encoding="utf-8"?>
<p:sld xmlns:p="http://schemas.openxmlformats.org/presentationml/2006/main"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name="AutoShape 2" id="2"/>
          <p:cNvSpPr/>
          <p:nvPr/>
        </p:nvSpPr>
        <p:spPr>
          <a:xfrm>
            <a:off x="375421" y="4110418"/>
            <a:ext cx="3139930" cy="394571"/>
          </a:xfrm>
          <a:prstGeom prst="roundRect">
            <a:avLst>
              <a:gd name="adj" fmla="val 50000"/>
            </a:avLst>
          </a:prstGeom>
          <a:gradFill rotWithShape="true" flip="none">
            <a:gsLst>
              <a:gs pos="0">
                <a:schemeClr val="accent6">
                  <a:lumMod val="50000"/>
                </a:schemeClr>
              </a:gs>
              <a:gs pos="100000">
                <a:schemeClr val="accent6">
                  <a:lumMod val="75000"/>
                </a:schemeClr>
              </a:gs>
            </a:gsLst>
            <a:lin ang="2700000"/>
            <a:tileRect/>
          </a:gradFill>
          <a:ln>
            <a:noFill/>
          </a:ln>
          <a:effectLst>
            <a:outerShdw algn="bl" blurRad="101600" dir="18900000" dist="38100" rotWithShape="false">
              <a:schemeClr val="accent2">
                <a:alpha val="40000"/>
                <a:lumMod val="20000"/>
                <a:lumOff val="80000"/>
              </a:schemeClr>
            </a:outerShdw>
          </a:effectLst>
        </p:spPr>
        <p:txBody>
          <a:bodyPr vert="horz" anchor="ctr" wrap="square" tIns="45720" lIns="91440" bIns="45720" rIns="91440">
            <a:noAutofit/>
          </a:bodyPr>
          <a:p>
            <a:pPr algn="ctr" marL="0"/>
          </a:p>
        </p:txBody>
      </p:sp>
      <p:sp>
        <p:nvSpPr>
          <p:cNvPr name="AutoShape 3" id="3"/>
          <p:cNvSpPr/>
          <p:nvPr/>
        </p:nvSpPr>
        <p:spPr>
          <a:xfrm>
            <a:off x="3915043" y="4110418"/>
            <a:ext cx="3082962" cy="394571"/>
          </a:xfrm>
          <a:prstGeom prst="roundRect">
            <a:avLst>
              <a:gd name="adj" fmla="val 50000"/>
            </a:avLst>
          </a:prstGeom>
          <a:gradFill rotWithShape="true" flip="none">
            <a:gsLst>
              <a:gs pos="0">
                <a:schemeClr val="accent6">
                  <a:lumMod val="50000"/>
                </a:schemeClr>
              </a:gs>
              <a:gs pos="100000">
                <a:schemeClr val="accent6">
                  <a:lumMod val="75000"/>
                </a:schemeClr>
              </a:gs>
            </a:gsLst>
            <a:lin ang="2700000"/>
            <a:tileRect/>
          </a:gradFill>
          <a:ln>
            <a:noFill/>
          </a:ln>
          <a:effectLst>
            <a:outerShdw algn="bl" blurRad="101600" dir="18900000" dist="38100" rotWithShape="false">
              <a:schemeClr val="accent2">
                <a:alpha val="40000"/>
                <a:lumMod val="20000"/>
                <a:lumOff val="80000"/>
              </a:schemeClr>
            </a:outerShdw>
          </a:effectLst>
        </p:spPr>
        <p:txBody>
          <a:bodyPr vert="horz" anchor="ctr" wrap="square" tIns="45720" lIns="91440" bIns="45720" rIns="91440">
            <a:noAutofit/>
          </a:bodyPr>
          <a:p>
            <a:pPr algn="ctr" marL="0"/>
          </a:p>
        </p:txBody>
      </p:sp>
      <p:grpSp>
        <p:nvGrpSpPr>
          <p:cNvPr name="Group 4" id="4"/>
          <p:cNvGrpSpPr/>
          <p:nvPr/>
        </p:nvGrpSpPr>
        <p:grpSpPr>
          <a:xfrm>
            <a:off x="591079" y="1962293"/>
            <a:ext cx="5834560" cy="1925145"/>
            <a:chOff x="4740678" y="4003347"/>
            <a:chExt cx="5834560" cy="1925145"/>
          </a:xfrm>
        </p:grpSpPr>
        <p:sp>
          <p:nvSpPr>
            <p:cNvPr name="AutoShape 5" id="5"/>
            <p:cNvSpPr/>
            <p:nvPr/>
          </p:nvSpPr>
          <p:spPr>
            <a:xfrm>
              <a:off x="4740678" y="4226327"/>
              <a:ext cx="5834560" cy="1702165"/>
            </a:xfrm>
            <a:prstGeom prst="rect">
              <a:avLst/>
            </a:prstGeom>
            <a:solidFill>
              <a:schemeClr val="accent6">
                <a:lumMod val="20000"/>
                <a:lumOff val="80000"/>
              </a:schemeClr>
            </a:solidFill>
            <a:ln>
              <a:noFill/>
            </a:ln>
            <a:effectLst>
              <a:outerShdw algn="tl" blurRad="50800" dir="2700000" dist="38100" rotWithShape="false">
                <a:schemeClr val="accent6">
                  <a:alpha val="40000"/>
                  <a:lumMod val="40000"/>
                  <a:lumOff val="60000"/>
                </a:schemeClr>
              </a:outerShdw>
            </a:effectLst>
          </p:spPr>
          <p:txBody>
            <a:bodyPr vert="horz" anchor="ctr" tIns="45720" lIns="91440" bIns="45720" rIns="91440"/>
            <a:p>
              <a:pPr algn="ctr" marL="0"/>
            </a:p>
          </p:txBody>
        </p:sp>
        <p:sp>
          <p:nvSpPr>
            <p:cNvPr name="AutoShape 6" id="6"/>
            <p:cNvSpPr/>
            <p:nvPr/>
          </p:nvSpPr>
          <p:spPr>
            <a:xfrm>
              <a:off x="4842896" y="4003347"/>
              <a:ext cx="5647333" cy="468975"/>
            </a:xfrm>
            <a:prstGeom prst="roundRect">
              <a:avLst>
                <a:gd name="adj" fmla="val 50000"/>
              </a:avLst>
            </a:prstGeom>
            <a:gradFill rotWithShape="true" flip="none">
              <a:gsLst>
                <a:gs pos="0">
                  <a:schemeClr val="accent6">
                    <a:lumMod val="50000"/>
                  </a:schemeClr>
                </a:gs>
                <a:gs pos="100000">
                  <a:schemeClr val="accent6">
                    <a:lumMod val="75000"/>
                  </a:schemeClr>
                </a:gs>
              </a:gsLst>
              <a:lin ang="2700000"/>
              <a:tileRect/>
            </a:gradFill>
            <a:ln>
              <a:noFill/>
            </a:ln>
            <a:effectLst>
              <a:outerShdw algn="bl" blurRad="101600" dir="18900000" dist="38100" rotWithShape="false">
                <a:schemeClr val="accent2">
                  <a:alpha val="40000"/>
                  <a:lumMod val="20000"/>
                  <a:lumOff val="80000"/>
                </a:schemeClr>
              </a:outerShdw>
            </a:effectLst>
          </p:spPr>
          <p:txBody>
            <a:bodyPr vert="horz" anchor="ctr" wrap="square" tIns="45720" lIns="91440" bIns="45720" rIns="91440">
              <a:noAutofit/>
            </a:bodyPr>
            <a:p>
              <a:pPr algn="ctr" marL="0"/>
            </a:p>
          </p:txBody>
        </p:sp>
      </p:grpSp>
      <p:sp>
        <p:nvSpPr>
          <p:cNvPr name="TextBox 7" id="7"/>
          <p:cNvSpPr txBox="true"/>
          <p:nvPr/>
        </p:nvSpPr>
        <p:spPr>
          <a:xfrm>
            <a:off x="832501" y="2016681"/>
            <a:ext cx="5370830" cy="337185"/>
          </a:xfrm>
          <a:prstGeom prst="rect">
            <a:avLst/>
          </a:prstGeom>
          <a:noFill/>
        </p:spPr>
        <p:txBody>
          <a:bodyPr anchor="t" rtlCol="false" vert="horz" wrap="square" tIns="45720" lIns="91440" bIns="45720" rIns="91440">
            <a:spAutoFit/>
          </a:bodyPr>
          <a:lstStyle/>
          <a:p>
            <a:pPr algn="l" marL="0">
              <a:defRPr/>
            </a:pPr>
            <a:r>
              <a:rPr lang="zh-CN" b="true" i="false" sz="1600" baseline="0" u="none" altLang="en-US">
                <a:solidFill>
                  <a:schemeClr val="bg1"/>
                </a:solidFill>
                <a:latin typeface="微软雅黑"/>
                <a:ea typeface="微软雅黑"/>
              </a:rPr>
              <a:t>循环链表特点</a:t>
            </a:r>
            <a:endParaRPr lang="en-US" sz="1100"/>
          </a:p>
        </p:txBody>
      </p:sp>
      <p:sp>
        <p:nvSpPr>
          <p:cNvPr name="TextBox 8" id="8"/>
          <p:cNvSpPr txBox="true"/>
          <p:nvPr/>
        </p:nvSpPr>
        <p:spPr>
          <a:xfrm>
            <a:off x="682064" y="2447198"/>
            <a:ext cx="5743575" cy="1346907"/>
          </a:xfrm>
          <a:prstGeom prst="rect">
            <a:avLst/>
          </a:prstGeom>
          <a:noFill/>
        </p:spPr>
        <p:txBody>
          <a:bodyPr anchor="t" rtlCol="false" vert="horz" wrap="square" tIns="45720" lIns="91440" bIns="45720" rIns="91440">
            <a:spAutoFit/>
          </a:bodyPr>
          <a:lstStyle/>
          <a:p>
            <a:pPr algn="l" marL="0">
              <a:lnSpc>
                <a:spcPct val="150000"/>
              </a:lnSpc>
              <a:defRPr/>
            </a:pPr>
            <a:r>
              <a:rPr lang="zh-CN" b="false" i="false" sz="1400" baseline="0" u="none" altLang="en-US">
                <a:solidFill>
                  <a:schemeClr val="tx1"/>
                </a:solidFill>
                <a:latin typeface="微软雅黑"/>
                <a:ea typeface="微软雅黑"/>
              </a:rPr>
              <a:t>循环链表的尾节点指针指向头节点，形成环。从任一节点出发均可遍历整个链表，常用于约瑟夫问题、循环队列等场景。判断循环链表是否结束需检查指针是否指向头节点。</a:t>
            </a:r>
            <a:endParaRPr lang="en-US" sz="1100"/>
          </a:p>
        </p:txBody>
      </p:sp>
      <p:sp>
        <p:nvSpPr>
          <p:cNvPr name="TextBox 9" id="9"/>
          <p:cNvSpPr txBox="true"/>
          <p:nvPr/>
        </p:nvSpPr>
        <p:spPr>
          <a:xfrm>
            <a:off x="375421" y="4559876"/>
            <a:ext cx="3139930" cy="1721690"/>
          </a:xfrm>
          <a:prstGeom prst="rect">
            <a:avLst/>
          </a:prstGeom>
          <a:noFill/>
        </p:spPr>
        <p:txBody>
          <a:bodyPr anchor="t" rtlCol="false" vert="horz" wrap="square" tIns="45720" lIns="91440" bIns="45720" rIns="91440">
            <a:spAutoFit/>
          </a:bodyPr>
          <a:lstStyle/>
          <a:p>
            <a:pPr algn="l" marL="0">
              <a:lnSpc>
                <a:spcPct val="150000"/>
              </a:lnSpc>
              <a:defRPr/>
            </a:pPr>
            <a:r>
              <a:rPr lang="zh-CN" b="false" i="false" sz="1200" baseline="0" u="none" altLang="en-US">
                <a:solidFill>
                  <a:schemeClr val="tx1"/>
                </a:solidFill>
                <a:latin typeface="微软雅黑"/>
                <a:ea typeface="微软雅黑"/>
              </a:rPr>
              <a:t>双向链表节点包含前驱和后继两个指针，可以从两个方向遍历。插入和删除操作需要同时修改前后节点的指针，比单链表稍复杂，但更方便逆序访问。</a:t>
            </a:r>
            <a:endParaRPr lang="en-US" sz="1100"/>
          </a:p>
        </p:txBody>
      </p:sp>
      <p:sp>
        <p:nvSpPr>
          <p:cNvPr name="TextBox 10" id="10"/>
          <p:cNvSpPr txBox="true"/>
          <p:nvPr/>
        </p:nvSpPr>
        <p:spPr>
          <a:xfrm>
            <a:off x="204059" y="4167539"/>
            <a:ext cx="3379712" cy="307777"/>
          </a:xfrm>
          <a:prstGeom prst="rect">
            <a:avLst/>
          </a:prstGeom>
          <a:noFill/>
        </p:spPr>
        <p:txBody>
          <a:bodyPr anchor="t" rtlCol="false" vert="horz" wrap="square" tIns="45720" lIns="91440" bIns="45720" rIns="91440">
            <a:spAutoFit/>
          </a:bodyPr>
          <a:lstStyle/>
          <a:p>
            <a:pPr algn="ctr" marL="0">
              <a:defRPr/>
            </a:pPr>
            <a:r>
              <a:rPr lang="zh-CN" b="true" i="false" sz="1400" baseline="0" u="none" altLang="en-US">
                <a:solidFill>
                  <a:schemeClr val="bg1"/>
                </a:solidFill>
                <a:latin typeface="微软雅黑"/>
                <a:ea typeface="微软雅黑"/>
              </a:rPr>
              <a:t>双向链表结构</a:t>
            </a:r>
            <a:endParaRPr lang="en-US" sz="1100"/>
          </a:p>
        </p:txBody>
      </p:sp>
      <p:sp>
        <p:nvSpPr>
          <p:cNvPr name="TextBox 11" id="11"/>
          <p:cNvSpPr txBox="true"/>
          <p:nvPr/>
        </p:nvSpPr>
        <p:spPr>
          <a:xfrm>
            <a:off x="3926495" y="4559876"/>
            <a:ext cx="3139930" cy="1721690"/>
          </a:xfrm>
          <a:prstGeom prst="rect">
            <a:avLst/>
          </a:prstGeom>
          <a:noFill/>
        </p:spPr>
        <p:txBody>
          <a:bodyPr anchor="t" rtlCol="false" vert="horz" wrap="square" tIns="45720" lIns="91440" bIns="45720" rIns="91440">
            <a:spAutoFit/>
          </a:bodyPr>
          <a:lstStyle/>
          <a:p>
            <a:pPr algn="l" marL="0">
              <a:lnSpc>
                <a:spcPct val="150000"/>
              </a:lnSpc>
              <a:defRPr/>
            </a:pPr>
            <a:r>
              <a:rPr lang="zh-CN" b="false" i="false" sz="1200" baseline="0" u="none" altLang="en-US">
                <a:solidFill>
                  <a:schemeClr val="tx1"/>
                </a:solidFill>
                <a:latin typeface="微软雅黑"/>
                <a:ea typeface="微软雅黑"/>
              </a:rPr>
              <a:t>循环链表常用于操作系统的时间片轮转调度；双向链表常用于实现LRU缓存、浏览器的前进后退功能，以及Java的LinkedList底层实现。</a:t>
            </a:r>
            <a:endParaRPr lang="en-US" sz="1100"/>
          </a:p>
        </p:txBody>
      </p:sp>
      <p:sp>
        <p:nvSpPr>
          <p:cNvPr name="TextBox 12" id="12"/>
          <p:cNvSpPr txBox="true"/>
          <p:nvPr/>
        </p:nvSpPr>
        <p:spPr>
          <a:xfrm>
            <a:off x="3755133" y="4167539"/>
            <a:ext cx="3379712" cy="307777"/>
          </a:xfrm>
          <a:prstGeom prst="rect">
            <a:avLst/>
          </a:prstGeom>
          <a:noFill/>
        </p:spPr>
        <p:txBody>
          <a:bodyPr anchor="t" rtlCol="false" vert="horz" wrap="square" tIns="45720" lIns="91440" bIns="45720" rIns="91440">
            <a:spAutoFit/>
          </a:bodyPr>
          <a:lstStyle/>
          <a:p>
            <a:pPr algn="ctr" marL="0">
              <a:defRPr/>
            </a:pPr>
            <a:r>
              <a:rPr lang="zh-CN" b="true" i="false" sz="1400" baseline="0" u="none" altLang="en-US">
                <a:solidFill>
                  <a:schemeClr val="bg1"/>
                </a:solidFill>
                <a:latin typeface="微软雅黑"/>
                <a:ea typeface="微软雅黑"/>
              </a:rPr>
              <a:t>应用案例</a:t>
            </a:r>
            <a:endParaRPr lang="en-US" sz="1100"/>
          </a:p>
        </p:txBody>
      </p:sp>
      <p:sp>
        <p:nvSpPr>
          <p:cNvPr name="TextBox 13" id="13"/>
          <p:cNvSpPr txBox="true"/>
          <p:nvPr/>
        </p:nvSpPr>
        <p:spPr>
          <a:xfrm>
            <a:off x="1521997" y="814543"/>
            <a:ext cx="9148005" cy="480131"/>
          </a:xfrm>
          <a:prstGeom prst="rect">
            <a:avLst/>
          </a:prstGeom>
        </p:spPr>
        <p:txBody>
          <a:bodyPr anchor="ctr" rtlCol="false" vert="horz" wrap="square" tIns="45720" lIns="91440" bIns="45720" rIns="91440">
            <a:spAutoFit/>
          </a:bodyPr>
          <a:lstStyle/>
          <a:p>
            <a:pPr algn="ctr" marL="0">
              <a:lnSpc>
                <a:spcPct val="90000"/>
              </a:lnSpc>
              <a:spcBef>
                <a:spcPct val="0"/>
              </a:spcBef>
              <a:defRPr/>
            </a:pPr>
            <a:r>
              <a:rPr lang="zh-CN" b="true" i="false" sz="2800" baseline="0" u="none" altLang="en-US">
                <a:solidFill>
                  <a:srgbClr val="000000"/>
                </a:solidFill>
                <a:latin typeface="微软雅黑"/>
                <a:ea typeface="微软雅黑"/>
              </a:rPr>
              <a:t>循环链表与双向链表</a:t>
            </a:r>
            <a:endParaRPr lang="en-US" sz="1100"/>
          </a:p>
        </p:txBody>
      </p:sp>
      <p:grpSp>
        <p:nvGrpSpPr>
          <p:cNvPr name="Group 14" id="14"/>
          <p:cNvGrpSpPr/>
          <p:nvPr/>
        </p:nvGrpSpPr>
        <p:grpSpPr>
          <a:xfrm>
            <a:off x="7469088" y="1539489"/>
            <a:ext cx="4880125" cy="5007756"/>
            <a:chOff x="6463819" y="895624"/>
            <a:chExt cx="5030489" cy="5362529"/>
          </a:xfrm>
        </p:grpSpPr>
        <p:sp>
          <p:nvSpPr>
            <p:cNvPr name="AutoShape 15" id="15"/>
            <p:cNvSpPr/>
            <p:nvPr/>
          </p:nvSpPr>
          <p:spPr>
            <a:xfrm>
              <a:off x="6463819" y="5525042"/>
              <a:ext cx="5030489" cy="733111"/>
            </a:xfrm>
            <a:prstGeom prst="ellipse">
              <a:avLst/>
            </a:prstGeom>
            <a:gradFill rotWithShape="true">
              <a:gsLst>
                <a:gs pos="0">
                  <a:srgbClr val="000000">
                    <a:alpha val="27000"/>
                  </a:srgbClr>
                </a:gs>
                <a:gs pos="100000">
                  <a:srgbClr val="000000">
                    <a:alpha val="0"/>
                  </a:srgbClr>
                </a:gs>
              </a:gsLst>
              <a:path path="shape">
                <a:fillToRect t="50000" l="50000" b="50000" r="50000"/>
              </a:path>
            </a:gradFill>
            <a:ln>
              <a:noFill/>
            </a:ln>
            <a:effectLst/>
          </p:spPr>
          <p:txBody>
            <a:bodyPr vert="horz" anchor="ctr" wrap="none" tIns="45720" lIns="91440" bIns="45720" rIns="91440"/>
            <a:p>
              <a:pPr algn="l" marL="0"/>
            </a:p>
          </p:txBody>
        </p:sp>
        <p:grpSp>
          <p:nvGrpSpPr>
            <p:cNvPr name="Group 16" id="16"/>
            <p:cNvGrpSpPr/>
            <p:nvPr/>
          </p:nvGrpSpPr>
          <p:grpSpPr>
            <a:xfrm>
              <a:off x="7481186" y="895624"/>
              <a:ext cx="3036047" cy="5119330"/>
              <a:chOff x="7481186" y="895624"/>
              <a:chExt cx="3036047" cy="5119330"/>
            </a:xfrm>
          </p:grpSpPr>
          <p:grpSp>
            <p:nvGrpSpPr>
              <p:cNvPr name="Group 17" id="17"/>
              <p:cNvGrpSpPr/>
              <p:nvPr/>
            </p:nvGrpSpPr>
            <p:grpSpPr>
              <a:xfrm>
                <a:off x="8115177" y="895624"/>
                <a:ext cx="2402056" cy="5119330"/>
                <a:chOff x="8115177" y="895624"/>
                <a:chExt cx="2402056" cy="5119330"/>
              </a:xfrm>
            </p:grpSpPr>
            <p:sp>
              <p:nvSpPr>
                <p:cNvPr name="Freeform 18" id="18"/>
                <p:cNvSpPr/>
                <p:nvPr/>
              </p:nvSpPr>
              <p:spPr>
                <a:xfrm>
                  <a:off x="8454096" y="895624"/>
                  <a:ext cx="1055862" cy="1957670"/>
                </a:xfrm>
                <a:custGeom>
                  <a:avLst/>
                  <a:gdLst/>
                  <a:ahLst/>
                  <a:cxnLst/>
                  <a:rect r="r" b="b" t="t" l="l"/>
                  <a:pathLst>
                    <a:path w="891" h="1652" stroke="true" fill="norm" extrusionOk="true">
                      <a:moveTo>
                        <a:pt x="0" y="1652"/>
                      </a:moveTo>
                      <a:lnTo>
                        <a:pt x="891" y="1249"/>
                      </a:lnTo>
                      <a:lnTo>
                        <a:pt x="891" y="0"/>
                      </a:lnTo>
                      <a:lnTo>
                        <a:pt x="9" y="608"/>
                      </a:lnTo>
                      <a:lnTo>
                        <a:pt x="0" y="1652"/>
                      </a:lnTo>
                      <a:close/>
                    </a:path>
                  </a:pathLst>
                </a:custGeom>
                <a:solidFill>
                  <a:schemeClr val="accent4">
                    <a:lumMod val="60000"/>
                    <a:lumOff val="40000"/>
                  </a:schemeClr>
                </a:solidFill>
                <a:ln>
                  <a:noFill/>
                </a:ln>
              </p:spPr>
              <p:txBody>
                <a:bodyPr vert="horz" anchor="t" wrap="square" tIns="45720" lIns="91440" bIns="45720" rIns="91440">
                  <a:prstTxWarp prst="textNoShape">
                    <a:avLst/>
                  </a:prstTxWarp>
                </a:bodyPr>
                <a:p>
                  <a:pPr algn="l" marL="0"/>
                </a:p>
              </p:txBody>
            </p:sp>
            <p:sp>
              <p:nvSpPr>
                <p:cNvPr name="Freeform 19" id="19"/>
                <p:cNvSpPr/>
                <p:nvPr/>
              </p:nvSpPr>
              <p:spPr>
                <a:xfrm>
                  <a:off x="9509957" y="895624"/>
                  <a:ext cx="1007276" cy="1955300"/>
                </a:xfrm>
                <a:custGeom>
                  <a:avLst/>
                  <a:gdLst/>
                  <a:ahLst/>
                  <a:cxnLst/>
                  <a:rect r="r" b="b" t="t" l="l"/>
                  <a:pathLst>
                    <a:path w="850" h="1650" stroke="true" fill="norm" extrusionOk="true">
                      <a:moveTo>
                        <a:pt x="850" y="1650"/>
                      </a:moveTo>
                      <a:lnTo>
                        <a:pt x="0" y="1249"/>
                      </a:lnTo>
                      <a:lnTo>
                        <a:pt x="0" y="0"/>
                      </a:lnTo>
                      <a:lnTo>
                        <a:pt x="850" y="622"/>
                      </a:lnTo>
                      <a:lnTo>
                        <a:pt x="850" y="1650"/>
                      </a:lnTo>
                      <a:close/>
                    </a:path>
                  </a:pathLst>
                </a:custGeom>
                <a:solidFill>
                  <a:srgbClr val="FEBB12"/>
                </a:solidFill>
                <a:ln>
                  <a:noFill/>
                </a:ln>
              </p:spPr>
              <p:txBody>
                <a:bodyPr vert="horz" anchor="t" wrap="square" tIns="45720" lIns="91440" bIns="45720" rIns="91440">
                  <a:prstTxWarp prst="textNoShape">
                    <a:avLst/>
                  </a:prstTxWarp>
                </a:bodyPr>
                <a:p>
                  <a:pPr algn="l" marL="0"/>
                </a:p>
              </p:txBody>
            </p:sp>
            <p:sp>
              <p:nvSpPr>
                <p:cNvPr name="Freeform 20" id="20"/>
                <p:cNvSpPr/>
                <p:nvPr/>
              </p:nvSpPr>
              <p:spPr>
                <a:xfrm>
                  <a:off x="8454096" y="2375727"/>
                  <a:ext cx="2063137" cy="855592"/>
                </a:xfrm>
                <a:custGeom>
                  <a:avLst/>
                  <a:gdLst/>
                  <a:ahLst/>
                  <a:cxnLst/>
                  <a:rect r="r" b="b" t="t" l="l"/>
                  <a:pathLst>
                    <a:path w="1741" h="722" stroke="true" fill="norm" extrusionOk="true">
                      <a:moveTo>
                        <a:pt x="1741" y="401"/>
                      </a:moveTo>
                      <a:lnTo>
                        <a:pt x="909" y="722"/>
                      </a:lnTo>
                      <a:lnTo>
                        <a:pt x="0" y="403"/>
                      </a:lnTo>
                      <a:lnTo>
                        <a:pt x="891" y="0"/>
                      </a:lnTo>
                      <a:lnTo>
                        <a:pt x="1741" y="401"/>
                      </a:lnTo>
                      <a:close/>
                    </a:path>
                  </a:pathLst>
                </a:custGeom>
                <a:solidFill>
                  <a:srgbClr val="C78E01"/>
                </a:solidFill>
                <a:ln>
                  <a:noFill/>
                </a:ln>
              </p:spPr>
              <p:txBody>
                <a:bodyPr vert="horz" anchor="t" wrap="square" tIns="45720" lIns="91440" bIns="45720" rIns="91440">
                  <a:prstTxWarp prst="textNoShape">
                    <a:avLst/>
                  </a:prstTxWarp>
                </a:bodyPr>
                <a:p>
                  <a:pPr algn="l" marL="0"/>
                </a:p>
              </p:txBody>
            </p:sp>
            <p:sp>
              <p:nvSpPr>
                <p:cNvPr name="Freeform 21" id="21"/>
                <p:cNvSpPr/>
                <p:nvPr/>
              </p:nvSpPr>
              <p:spPr>
                <a:xfrm>
                  <a:off x="9521808" y="2732421"/>
                  <a:ext cx="810561" cy="1391225"/>
                </a:xfrm>
                <a:custGeom>
                  <a:avLst/>
                  <a:gdLst/>
                  <a:ahLst/>
                  <a:cxnLst/>
                  <a:rect r="r" b="b" t="t" l="l"/>
                  <a:pathLst>
                    <a:path w="684" h="1174" stroke="true" fill="norm" extrusionOk="true">
                      <a:moveTo>
                        <a:pt x="684" y="1174"/>
                      </a:moveTo>
                      <a:lnTo>
                        <a:pt x="0" y="1091"/>
                      </a:lnTo>
                      <a:lnTo>
                        <a:pt x="0" y="0"/>
                      </a:lnTo>
                      <a:lnTo>
                        <a:pt x="684" y="294"/>
                      </a:lnTo>
                      <a:lnTo>
                        <a:pt x="684" y="1174"/>
                      </a:lnTo>
                      <a:close/>
                    </a:path>
                  </a:pathLst>
                </a:custGeom>
                <a:solidFill>
                  <a:srgbClr val="007448"/>
                </a:solidFill>
                <a:ln>
                  <a:noFill/>
                </a:ln>
              </p:spPr>
              <p:txBody>
                <a:bodyPr vert="horz" anchor="t" wrap="square" tIns="45720" lIns="91440" bIns="45720" rIns="91440">
                  <a:prstTxWarp prst="textNoShape">
                    <a:avLst/>
                  </a:prstTxWarp>
                </a:bodyPr>
                <a:p>
                  <a:pPr algn="l" marL="0"/>
                </a:p>
              </p:txBody>
            </p:sp>
            <p:sp>
              <p:nvSpPr>
                <p:cNvPr name="Freeform 22" id="22"/>
                <p:cNvSpPr/>
                <p:nvPr/>
              </p:nvSpPr>
              <p:spPr>
                <a:xfrm>
                  <a:off x="8750353" y="2732421"/>
                  <a:ext cx="771455" cy="1381745"/>
                </a:xfrm>
                <a:custGeom>
                  <a:avLst/>
                  <a:gdLst/>
                  <a:ahLst/>
                  <a:cxnLst/>
                  <a:rect r="r" b="b" t="t" l="l"/>
                  <a:pathLst>
                    <a:path w="651" h="1166" stroke="true" fill="norm" extrusionOk="true">
                      <a:moveTo>
                        <a:pt x="0" y="1166"/>
                      </a:moveTo>
                      <a:lnTo>
                        <a:pt x="651" y="1091"/>
                      </a:lnTo>
                      <a:lnTo>
                        <a:pt x="651" y="0"/>
                      </a:lnTo>
                      <a:lnTo>
                        <a:pt x="0" y="269"/>
                      </a:lnTo>
                      <a:lnTo>
                        <a:pt x="0" y="1166"/>
                      </a:lnTo>
                      <a:close/>
                    </a:path>
                  </a:pathLst>
                </a:custGeom>
                <a:solidFill>
                  <a:srgbClr val="008A55"/>
                </a:solidFill>
                <a:ln>
                  <a:noFill/>
                </a:ln>
              </p:spPr>
              <p:txBody>
                <a:bodyPr vert="horz" anchor="t" wrap="square" tIns="45720" lIns="91440" bIns="45720" rIns="91440">
                  <a:prstTxWarp prst="textNoShape">
                    <a:avLst/>
                  </a:prstTxWarp>
                </a:bodyPr>
                <a:p>
                  <a:pPr algn="l" marL="0"/>
                </a:p>
              </p:txBody>
            </p:sp>
            <p:sp>
              <p:nvSpPr>
                <p:cNvPr name="Freeform 23" id="23"/>
                <p:cNvSpPr/>
                <p:nvPr/>
              </p:nvSpPr>
              <p:spPr>
                <a:xfrm>
                  <a:off x="8750353" y="4022918"/>
                  <a:ext cx="1582015" cy="199085"/>
                </a:xfrm>
                <a:custGeom>
                  <a:avLst/>
                  <a:gdLst/>
                  <a:ahLst/>
                  <a:cxnLst/>
                  <a:rect r="r" b="b" t="t" l="l"/>
                  <a:pathLst>
                    <a:path w="1335" h="168" stroke="true" fill="norm" extrusionOk="true">
                      <a:moveTo>
                        <a:pt x="0" y="77"/>
                      </a:moveTo>
                      <a:lnTo>
                        <a:pt x="840" y="168"/>
                      </a:lnTo>
                      <a:lnTo>
                        <a:pt x="1335" y="85"/>
                      </a:lnTo>
                      <a:lnTo>
                        <a:pt x="651" y="0"/>
                      </a:lnTo>
                      <a:lnTo>
                        <a:pt x="0" y="77"/>
                      </a:lnTo>
                      <a:close/>
                    </a:path>
                  </a:pathLst>
                </a:custGeom>
                <a:solidFill>
                  <a:srgbClr val="007448"/>
                </a:solidFill>
                <a:ln>
                  <a:noFill/>
                </a:ln>
              </p:spPr>
              <p:txBody>
                <a:bodyPr vert="horz" anchor="t" wrap="square" tIns="45720" lIns="91440" bIns="45720" rIns="91440">
                  <a:prstTxWarp prst="textNoShape">
                    <a:avLst/>
                  </a:prstTxWarp>
                </a:bodyPr>
                <a:p>
                  <a:pPr algn="l" marL="0"/>
                </a:p>
              </p:txBody>
            </p:sp>
            <p:sp>
              <p:nvSpPr>
                <p:cNvPr name="Freeform 24" id="24"/>
                <p:cNvSpPr/>
                <p:nvPr/>
              </p:nvSpPr>
              <p:spPr>
                <a:xfrm>
                  <a:off x="9195924" y="4050174"/>
                  <a:ext cx="1147109" cy="1964780"/>
                </a:xfrm>
                <a:custGeom>
                  <a:avLst/>
                  <a:gdLst/>
                  <a:ahLst/>
                  <a:cxnLst/>
                  <a:rect r="r" b="b" t="t" l="l"/>
                  <a:pathLst>
                    <a:path w="968" h="1658" stroke="true" fill="norm" extrusionOk="true">
                      <a:moveTo>
                        <a:pt x="968" y="1371"/>
                      </a:moveTo>
                      <a:lnTo>
                        <a:pt x="0" y="1658"/>
                      </a:lnTo>
                      <a:lnTo>
                        <a:pt x="0" y="0"/>
                      </a:lnTo>
                      <a:lnTo>
                        <a:pt x="968" y="112"/>
                      </a:lnTo>
                      <a:lnTo>
                        <a:pt x="968" y="1371"/>
                      </a:lnTo>
                      <a:close/>
                    </a:path>
                  </a:pathLst>
                </a:custGeom>
                <a:solidFill>
                  <a:schemeClr val="accent6">
                    <a:lumMod val="50000"/>
                  </a:schemeClr>
                </a:solidFill>
                <a:ln>
                  <a:noFill/>
                </a:ln>
              </p:spPr>
              <p:txBody>
                <a:bodyPr vert="horz" anchor="t" wrap="square" tIns="45720" lIns="91440" bIns="45720" rIns="91440">
                  <a:prstTxWarp prst="textNoShape">
                    <a:avLst/>
                  </a:prstTxWarp>
                </a:bodyPr>
                <a:p>
                  <a:pPr algn="l" marL="0"/>
                </a:p>
              </p:txBody>
            </p:sp>
            <p:sp>
              <p:nvSpPr>
                <p:cNvPr name="Freeform 25" id="25"/>
                <p:cNvSpPr/>
                <p:nvPr/>
              </p:nvSpPr>
              <p:spPr>
                <a:xfrm>
                  <a:off x="8115177" y="4050174"/>
                  <a:ext cx="1080747" cy="1964780"/>
                </a:xfrm>
                <a:custGeom>
                  <a:avLst/>
                  <a:gdLst/>
                  <a:ahLst/>
                  <a:cxnLst/>
                  <a:rect r="r" b="b" t="t" l="l"/>
                  <a:pathLst>
                    <a:path w="912" h="1658" stroke="true" fill="norm" extrusionOk="true">
                      <a:moveTo>
                        <a:pt x="0" y="1371"/>
                      </a:moveTo>
                      <a:lnTo>
                        <a:pt x="912" y="1658"/>
                      </a:lnTo>
                      <a:lnTo>
                        <a:pt x="912" y="0"/>
                      </a:lnTo>
                      <a:lnTo>
                        <a:pt x="8" y="112"/>
                      </a:lnTo>
                      <a:lnTo>
                        <a:pt x="0" y="1371"/>
                      </a:lnTo>
                      <a:close/>
                    </a:path>
                  </a:pathLst>
                </a:custGeom>
                <a:solidFill>
                  <a:schemeClr val="accent6">
                    <a:lumMod val="75000"/>
                  </a:schemeClr>
                </a:solidFill>
                <a:ln>
                  <a:noFill/>
                </a:ln>
              </p:spPr>
              <p:txBody>
                <a:bodyPr vert="horz" anchor="t" wrap="square" tIns="45720" lIns="91440" bIns="45720" rIns="91440">
                  <a:prstTxWarp prst="textNoShape">
                    <a:avLst/>
                  </a:prstTxWarp>
                </a:bodyPr>
                <a:p>
                  <a:pPr algn="l" marL="0"/>
                </a:p>
              </p:txBody>
            </p:sp>
          </p:grpSp>
          <p:grpSp>
            <p:nvGrpSpPr>
              <p:cNvPr name="Group 26" id="26"/>
              <p:cNvGrpSpPr/>
              <p:nvPr/>
            </p:nvGrpSpPr>
            <p:grpSpPr>
              <a:xfrm>
                <a:off x="7481186" y="1894604"/>
                <a:ext cx="1497878" cy="4056358"/>
                <a:chOff x="7481186" y="1894604"/>
                <a:chExt cx="1497878" cy="4056358"/>
              </a:xfrm>
            </p:grpSpPr>
            <p:sp>
              <p:nvSpPr>
                <p:cNvPr name="Freeform 27" id="27"/>
                <p:cNvSpPr/>
                <p:nvPr/>
              </p:nvSpPr>
              <p:spPr>
                <a:xfrm>
                  <a:off x="7572433" y="2118575"/>
                  <a:ext cx="1013201" cy="3677148"/>
                </a:xfrm>
                <a:custGeom>
                  <a:avLst/>
                  <a:gdLst/>
                  <a:ahLst/>
                  <a:cxnLst/>
                  <a:rect r="r" b="b" t="t" l="l"/>
                  <a:pathLst>
                    <a:path w="855" h="3103" stroke="true" fill="norm" extrusionOk="true">
                      <a:moveTo>
                        <a:pt x="823" y="0"/>
                      </a:moveTo>
                      <a:lnTo>
                        <a:pt x="855" y="0"/>
                      </a:lnTo>
                      <a:lnTo>
                        <a:pt x="31" y="3095"/>
                      </a:lnTo>
                      <a:lnTo>
                        <a:pt x="0" y="3103"/>
                      </a:lnTo>
                      <a:lnTo>
                        <a:pt x="823" y="0"/>
                      </a:lnTo>
                      <a:close/>
                    </a:path>
                  </a:pathLst>
                </a:custGeom>
                <a:solidFill>
                  <a:schemeClr val="bg2">
                    <a:lumMod val="75000"/>
                  </a:schemeClr>
                </a:solidFill>
                <a:ln>
                  <a:noFill/>
                </a:ln>
              </p:spPr>
              <p:txBody>
                <a:bodyPr vert="horz" anchor="t" wrap="square" tIns="45720" lIns="91440" bIns="45720" rIns="91440">
                  <a:prstTxWarp prst="textNoShape">
                    <a:avLst/>
                  </a:prstTxWarp>
                </a:bodyPr>
                <a:p>
                  <a:pPr algn="l" marL="0"/>
                </a:p>
              </p:txBody>
            </p:sp>
            <p:sp>
              <p:nvSpPr>
                <p:cNvPr name="Freeform 28" id="28"/>
                <p:cNvSpPr/>
                <p:nvPr/>
              </p:nvSpPr>
              <p:spPr>
                <a:xfrm>
                  <a:off x="7693306" y="5332377"/>
                  <a:ext cx="319958" cy="63992"/>
                </a:xfrm>
                <a:custGeom>
                  <a:avLst/>
                  <a:gdLst/>
                  <a:ahLst/>
                  <a:cxnLst/>
                  <a:rect r="r" b="b" t="t" l="l"/>
                  <a:pathLst>
                    <a:path w="270" h="54" stroke="true" fill="norm" extrusionOk="true">
                      <a:moveTo>
                        <a:pt x="0" y="0"/>
                      </a:moveTo>
                      <a:lnTo>
                        <a:pt x="266" y="54"/>
                      </a:lnTo>
                      <a:lnTo>
                        <a:pt x="270" y="45"/>
                      </a:lnTo>
                      <a:lnTo>
                        <a:pt x="33" y="0"/>
                      </a:lnTo>
                      <a:lnTo>
                        <a:pt x="0" y="0"/>
                      </a:lnTo>
                      <a:close/>
                    </a:path>
                  </a:pathLst>
                </a:custGeom>
                <a:solidFill>
                  <a:srgbClr val="808285"/>
                </a:solidFill>
                <a:ln>
                  <a:noFill/>
                </a:ln>
              </p:spPr>
              <p:txBody>
                <a:bodyPr vert="horz" anchor="t" wrap="square" tIns="45720" lIns="91440" bIns="45720" rIns="91440">
                  <a:prstTxWarp prst="textNoShape">
                    <a:avLst/>
                  </a:prstTxWarp>
                </a:bodyPr>
                <a:p>
                  <a:pPr algn="l" marL="0"/>
                </a:p>
              </p:txBody>
            </p:sp>
            <p:sp>
              <p:nvSpPr>
                <p:cNvPr name="Freeform 29" id="29"/>
                <p:cNvSpPr/>
                <p:nvPr/>
              </p:nvSpPr>
              <p:spPr>
                <a:xfrm>
                  <a:off x="7481186" y="1894604"/>
                  <a:ext cx="1461142" cy="4056358"/>
                </a:xfrm>
                <a:custGeom>
                  <a:avLst/>
                  <a:gdLst/>
                  <a:ahLst/>
                  <a:cxnLst/>
                  <a:rect r="r" b="b" t="t" l="l"/>
                  <a:pathLst>
                    <a:path w="1233" h="3423" stroke="true" fill="norm" extrusionOk="true">
                      <a:moveTo>
                        <a:pt x="1136" y="89"/>
                      </a:moveTo>
                      <a:lnTo>
                        <a:pt x="1077" y="337"/>
                      </a:lnTo>
                      <a:lnTo>
                        <a:pt x="826" y="466"/>
                      </a:lnTo>
                      <a:lnTo>
                        <a:pt x="900" y="189"/>
                      </a:lnTo>
                      <a:lnTo>
                        <a:pt x="821" y="266"/>
                      </a:lnTo>
                      <a:lnTo>
                        <a:pt x="0" y="3259"/>
                      </a:lnTo>
                      <a:lnTo>
                        <a:pt x="77" y="3292"/>
                      </a:lnTo>
                      <a:lnTo>
                        <a:pt x="158" y="2990"/>
                      </a:lnTo>
                      <a:lnTo>
                        <a:pt x="420" y="3061"/>
                      </a:lnTo>
                      <a:lnTo>
                        <a:pt x="343" y="3383"/>
                      </a:lnTo>
                      <a:lnTo>
                        <a:pt x="455" y="3423"/>
                      </a:lnTo>
                      <a:lnTo>
                        <a:pt x="1233" y="0"/>
                      </a:lnTo>
                      <a:lnTo>
                        <a:pt x="1136" y="89"/>
                      </a:lnTo>
                      <a:close/>
                      <a:moveTo>
                        <a:pt x="1050" y="445"/>
                      </a:moveTo>
                      <a:lnTo>
                        <a:pt x="1002" y="649"/>
                      </a:lnTo>
                      <a:lnTo>
                        <a:pt x="742" y="782"/>
                      </a:lnTo>
                      <a:lnTo>
                        <a:pt x="797" y="572"/>
                      </a:lnTo>
                      <a:lnTo>
                        <a:pt x="1050" y="445"/>
                      </a:lnTo>
                      <a:close/>
                      <a:moveTo>
                        <a:pt x="372" y="2181"/>
                      </a:moveTo>
                      <a:lnTo>
                        <a:pt x="449" y="1893"/>
                      </a:lnTo>
                      <a:lnTo>
                        <a:pt x="709" y="1860"/>
                      </a:lnTo>
                      <a:lnTo>
                        <a:pt x="636" y="2168"/>
                      </a:lnTo>
                      <a:lnTo>
                        <a:pt x="372" y="2181"/>
                      </a:lnTo>
                      <a:close/>
                      <a:moveTo>
                        <a:pt x="611" y="2272"/>
                      </a:moveTo>
                      <a:lnTo>
                        <a:pt x="541" y="2559"/>
                      </a:lnTo>
                      <a:lnTo>
                        <a:pt x="277" y="2534"/>
                      </a:lnTo>
                      <a:lnTo>
                        <a:pt x="349" y="2270"/>
                      </a:lnTo>
                      <a:lnTo>
                        <a:pt x="611" y="2272"/>
                      </a:lnTo>
                      <a:close/>
                      <a:moveTo>
                        <a:pt x="474" y="1798"/>
                      </a:moveTo>
                      <a:lnTo>
                        <a:pt x="541" y="1544"/>
                      </a:lnTo>
                      <a:lnTo>
                        <a:pt x="799" y="1483"/>
                      </a:lnTo>
                      <a:lnTo>
                        <a:pt x="734" y="1754"/>
                      </a:lnTo>
                      <a:lnTo>
                        <a:pt x="474" y="1798"/>
                      </a:lnTo>
                      <a:close/>
                      <a:moveTo>
                        <a:pt x="566" y="1446"/>
                      </a:moveTo>
                      <a:lnTo>
                        <a:pt x="624" y="1228"/>
                      </a:lnTo>
                      <a:lnTo>
                        <a:pt x="884" y="1136"/>
                      </a:lnTo>
                      <a:lnTo>
                        <a:pt x="824" y="1377"/>
                      </a:lnTo>
                      <a:lnTo>
                        <a:pt x="566" y="1446"/>
                      </a:lnTo>
                      <a:close/>
                      <a:moveTo>
                        <a:pt x="653" y="1121"/>
                      </a:moveTo>
                      <a:lnTo>
                        <a:pt x="715" y="888"/>
                      </a:lnTo>
                      <a:lnTo>
                        <a:pt x="975" y="757"/>
                      </a:lnTo>
                      <a:lnTo>
                        <a:pt x="911" y="1019"/>
                      </a:lnTo>
                      <a:lnTo>
                        <a:pt x="653" y="1121"/>
                      </a:lnTo>
                      <a:close/>
                      <a:moveTo>
                        <a:pt x="445" y="2955"/>
                      </a:moveTo>
                      <a:lnTo>
                        <a:pt x="181" y="2901"/>
                      </a:lnTo>
                      <a:lnTo>
                        <a:pt x="252" y="2634"/>
                      </a:lnTo>
                      <a:lnTo>
                        <a:pt x="514" y="2665"/>
                      </a:lnTo>
                      <a:lnTo>
                        <a:pt x="445" y="2955"/>
                      </a:lnTo>
                      <a:close/>
                    </a:path>
                  </a:pathLst>
                </a:custGeom>
                <a:solidFill>
                  <a:schemeClr val="bg2"/>
                </a:solidFill>
                <a:ln>
                  <a:noFill/>
                </a:ln>
              </p:spPr>
              <p:txBody>
                <a:bodyPr vert="horz" anchor="t" wrap="square" tIns="45720" lIns="91440" bIns="45720" rIns="91440">
                  <a:prstTxWarp prst="textNoShape">
                    <a:avLst/>
                  </a:prstTxWarp>
                </a:bodyPr>
                <a:p>
                  <a:pPr algn="l" marL="0"/>
                </a:p>
              </p:txBody>
            </p:sp>
            <p:sp>
              <p:nvSpPr>
                <p:cNvPr name="Freeform 30" id="30"/>
                <p:cNvSpPr/>
                <p:nvPr/>
              </p:nvSpPr>
              <p:spPr>
                <a:xfrm>
                  <a:off x="8220645" y="3240799"/>
                  <a:ext cx="312848" cy="113763"/>
                </a:xfrm>
                <a:custGeom>
                  <a:avLst/>
                  <a:gdLst/>
                  <a:ahLst/>
                  <a:cxnLst/>
                  <a:rect r="r" b="b" t="t" l="l"/>
                  <a:pathLst>
                    <a:path w="264" h="96" stroke="true" fill="norm" extrusionOk="true">
                      <a:moveTo>
                        <a:pt x="0" y="92"/>
                      </a:moveTo>
                      <a:lnTo>
                        <a:pt x="258" y="0"/>
                      </a:lnTo>
                      <a:lnTo>
                        <a:pt x="264" y="15"/>
                      </a:lnTo>
                      <a:lnTo>
                        <a:pt x="31" y="96"/>
                      </a:lnTo>
                      <a:lnTo>
                        <a:pt x="0" y="92"/>
                      </a:lnTo>
                      <a:close/>
                    </a:path>
                  </a:pathLst>
                </a:custGeom>
                <a:solidFill>
                  <a:srgbClr val="D1D2D2"/>
                </a:solidFill>
                <a:ln>
                  <a:noFill/>
                </a:ln>
              </p:spPr>
              <p:txBody>
                <a:bodyPr vert="horz" anchor="t" wrap="square" tIns="45720" lIns="91440" bIns="45720" rIns="91440">
                  <a:prstTxWarp prst="textNoShape">
                    <a:avLst/>
                  </a:prstTxWarp>
                </a:bodyPr>
                <a:p>
                  <a:pPr algn="l" marL="0"/>
                </a:p>
              </p:txBody>
            </p:sp>
            <p:sp>
              <p:nvSpPr>
                <p:cNvPr name="Freeform 31" id="31"/>
                <p:cNvSpPr/>
                <p:nvPr/>
              </p:nvSpPr>
              <p:spPr>
                <a:xfrm>
                  <a:off x="8425655" y="2421943"/>
                  <a:ext cx="299813" cy="152869"/>
                </a:xfrm>
                <a:custGeom>
                  <a:avLst/>
                  <a:gdLst/>
                  <a:ahLst/>
                  <a:cxnLst/>
                  <a:rect r="r" b="b" t="t" l="l"/>
                  <a:pathLst>
                    <a:path w="253" h="129" stroke="true" fill="norm" extrusionOk="true">
                      <a:moveTo>
                        <a:pt x="0" y="129"/>
                      </a:moveTo>
                      <a:lnTo>
                        <a:pt x="253" y="0"/>
                      </a:lnTo>
                      <a:lnTo>
                        <a:pt x="249" y="21"/>
                      </a:lnTo>
                      <a:lnTo>
                        <a:pt x="35" y="127"/>
                      </a:lnTo>
                      <a:lnTo>
                        <a:pt x="0" y="129"/>
                      </a:lnTo>
                      <a:close/>
                    </a:path>
                  </a:pathLst>
                </a:custGeom>
                <a:solidFill>
                  <a:srgbClr val="808285"/>
                </a:solidFill>
                <a:ln>
                  <a:noFill/>
                </a:ln>
              </p:spPr>
              <p:txBody>
                <a:bodyPr vert="horz" anchor="t" wrap="square" tIns="45720" lIns="91440" bIns="45720" rIns="91440">
                  <a:prstTxWarp prst="textNoShape">
                    <a:avLst/>
                  </a:prstTxWarp>
                </a:bodyPr>
                <a:p>
                  <a:pPr algn="l" marL="0"/>
                </a:p>
              </p:txBody>
            </p:sp>
            <p:sp>
              <p:nvSpPr>
                <p:cNvPr name="Freeform 32" id="32"/>
                <p:cNvSpPr/>
                <p:nvPr/>
              </p:nvSpPr>
              <p:spPr>
                <a:xfrm>
                  <a:off x="8328482" y="2791672"/>
                  <a:ext cx="308108" cy="157609"/>
                </a:xfrm>
                <a:custGeom>
                  <a:avLst/>
                  <a:gdLst/>
                  <a:ahLst/>
                  <a:cxnLst/>
                  <a:rect r="r" b="b" t="t" l="l"/>
                  <a:pathLst>
                    <a:path w="260" h="133" stroke="true" fill="norm" extrusionOk="true">
                      <a:moveTo>
                        <a:pt x="0" y="131"/>
                      </a:moveTo>
                      <a:lnTo>
                        <a:pt x="260" y="0"/>
                      </a:lnTo>
                      <a:lnTo>
                        <a:pt x="254" y="27"/>
                      </a:lnTo>
                      <a:lnTo>
                        <a:pt x="32" y="133"/>
                      </a:lnTo>
                      <a:lnTo>
                        <a:pt x="0" y="131"/>
                      </a:lnTo>
                      <a:close/>
                    </a:path>
                  </a:pathLst>
                </a:custGeom>
                <a:solidFill>
                  <a:srgbClr val="808285"/>
                </a:solidFill>
                <a:ln>
                  <a:noFill/>
                </a:ln>
              </p:spPr>
              <p:txBody>
                <a:bodyPr vert="horz" anchor="t" wrap="square" tIns="45720" lIns="91440" bIns="45720" rIns="91440">
                  <a:prstTxWarp prst="textNoShape">
                    <a:avLst/>
                  </a:prstTxWarp>
                </a:bodyPr>
                <a:p>
                  <a:pPr algn="l" marL="0"/>
                </a:p>
              </p:txBody>
            </p:sp>
            <p:sp>
              <p:nvSpPr>
                <p:cNvPr name="Freeform 33" id="33"/>
                <p:cNvSpPr/>
                <p:nvPr/>
              </p:nvSpPr>
              <p:spPr>
                <a:xfrm>
                  <a:off x="8119917" y="3644894"/>
                  <a:ext cx="327068" cy="81767"/>
                </a:xfrm>
                <a:custGeom>
                  <a:avLst/>
                  <a:gdLst/>
                  <a:ahLst/>
                  <a:cxnLst/>
                  <a:rect r="r" b="b" t="t" l="l"/>
                  <a:pathLst>
                    <a:path w="276" h="69" stroke="true" fill="norm" extrusionOk="true">
                      <a:moveTo>
                        <a:pt x="0" y="67"/>
                      </a:moveTo>
                      <a:lnTo>
                        <a:pt x="270" y="0"/>
                      </a:lnTo>
                      <a:lnTo>
                        <a:pt x="276" y="17"/>
                      </a:lnTo>
                      <a:lnTo>
                        <a:pt x="33" y="69"/>
                      </a:lnTo>
                      <a:lnTo>
                        <a:pt x="0" y="67"/>
                      </a:lnTo>
                      <a:close/>
                    </a:path>
                  </a:pathLst>
                </a:custGeom>
                <a:solidFill>
                  <a:srgbClr val="808285"/>
                </a:solidFill>
                <a:ln>
                  <a:noFill/>
                </a:ln>
              </p:spPr>
              <p:txBody>
                <a:bodyPr vert="horz" anchor="t" wrap="square" tIns="45720" lIns="91440" bIns="45720" rIns="91440">
                  <a:prstTxWarp prst="textNoShape">
                    <a:avLst/>
                  </a:prstTxWarp>
                </a:bodyPr>
                <a:p>
                  <a:pPr algn="l" marL="0"/>
                </a:p>
              </p:txBody>
            </p:sp>
            <p:sp>
              <p:nvSpPr>
                <p:cNvPr name="Freeform 34" id="34"/>
                <p:cNvSpPr/>
                <p:nvPr/>
              </p:nvSpPr>
              <p:spPr>
                <a:xfrm>
                  <a:off x="8010894" y="4089280"/>
                  <a:ext cx="321143" cy="50956"/>
                </a:xfrm>
                <a:custGeom>
                  <a:avLst/>
                  <a:gdLst/>
                  <a:ahLst/>
                  <a:cxnLst/>
                  <a:rect r="r" b="b" t="t" l="l"/>
                  <a:pathLst>
                    <a:path w="271" h="43" stroke="true" fill="norm" extrusionOk="true">
                      <a:moveTo>
                        <a:pt x="0" y="41"/>
                      </a:moveTo>
                      <a:lnTo>
                        <a:pt x="266" y="0"/>
                      </a:lnTo>
                      <a:lnTo>
                        <a:pt x="271" y="17"/>
                      </a:lnTo>
                      <a:lnTo>
                        <a:pt x="31" y="43"/>
                      </a:lnTo>
                      <a:lnTo>
                        <a:pt x="0" y="41"/>
                      </a:lnTo>
                      <a:close/>
                    </a:path>
                  </a:pathLst>
                </a:custGeom>
                <a:solidFill>
                  <a:srgbClr val="808285"/>
                </a:solidFill>
                <a:ln>
                  <a:noFill/>
                </a:ln>
              </p:spPr>
              <p:txBody>
                <a:bodyPr vert="horz" anchor="t" wrap="square" tIns="45720" lIns="91440" bIns="45720" rIns="91440">
                  <a:prstTxWarp prst="textNoShape">
                    <a:avLst/>
                  </a:prstTxWarp>
                </a:bodyPr>
                <a:p>
                  <a:pPr algn="l" marL="0"/>
                </a:p>
              </p:txBody>
            </p:sp>
            <p:sp>
              <p:nvSpPr>
                <p:cNvPr name="Freeform 35" id="35"/>
                <p:cNvSpPr/>
                <p:nvPr/>
              </p:nvSpPr>
              <p:spPr>
                <a:xfrm>
                  <a:off x="7809439" y="4897471"/>
                  <a:ext cx="329438" cy="29626"/>
                </a:xfrm>
                <a:custGeom>
                  <a:avLst/>
                  <a:gdLst/>
                  <a:ahLst/>
                  <a:cxnLst/>
                  <a:rect r="r" b="b" t="t" l="l"/>
                  <a:pathLst>
                    <a:path w="278" h="25" stroke="true" fill="norm" extrusionOk="true">
                      <a:moveTo>
                        <a:pt x="0" y="0"/>
                      </a:moveTo>
                      <a:lnTo>
                        <a:pt x="264" y="25"/>
                      </a:lnTo>
                      <a:lnTo>
                        <a:pt x="278" y="21"/>
                      </a:lnTo>
                      <a:lnTo>
                        <a:pt x="31" y="0"/>
                      </a:lnTo>
                      <a:lnTo>
                        <a:pt x="0" y="0"/>
                      </a:lnTo>
                      <a:close/>
                    </a:path>
                  </a:pathLst>
                </a:custGeom>
                <a:solidFill>
                  <a:srgbClr val="808285"/>
                </a:solidFill>
                <a:ln>
                  <a:noFill/>
                </a:ln>
              </p:spPr>
              <p:txBody>
                <a:bodyPr vert="horz" anchor="t" wrap="square" tIns="45720" lIns="91440" bIns="45720" rIns="91440">
                  <a:prstTxWarp prst="textNoShape">
                    <a:avLst/>
                  </a:prstTxWarp>
                </a:bodyPr>
                <a:p>
                  <a:pPr algn="l" marL="0"/>
                </a:p>
              </p:txBody>
            </p:sp>
            <p:sp>
              <p:nvSpPr>
                <p:cNvPr name="Freeform 36" id="36"/>
                <p:cNvSpPr/>
                <p:nvPr/>
              </p:nvSpPr>
              <p:spPr>
                <a:xfrm>
                  <a:off x="8020375" y="1894604"/>
                  <a:ext cx="958689" cy="4056358"/>
                </a:xfrm>
                <a:custGeom>
                  <a:avLst/>
                  <a:gdLst/>
                  <a:ahLst/>
                  <a:cxnLst/>
                  <a:rect r="r" b="b" t="t" l="l"/>
                  <a:pathLst>
                    <a:path w="809" h="3423" stroke="true" fill="norm" extrusionOk="true">
                      <a:moveTo>
                        <a:pt x="776" y="0"/>
                      </a:moveTo>
                      <a:lnTo>
                        <a:pt x="809" y="0"/>
                      </a:lnTo>
                      <a:lnTo>
                        <a:pt x="57" y="3410"/>
                      </a:lnTo>
                      <a:lnTo>
                        <a:pt x="0" y="3423"/>
                      </a:lnTo>
                      <a:lnTo>
                        <a:pt x="776" y="0"/>
                      </a:lnTo>
                      <a:close/>
                    </a:path>
                  </a:pathLst>
                </a:custGeom>
                <a:solidFill>
                  <a:schemeClr val="bg2">
                    <a:lumMod val="75000"/>
                  </a:schemeClr>
                </a:solidFill>
                <a:ln>
                  <a:noFill/>
                </a:ln>
                <a:effectLst/>
              </p:spPr>
              <p:txBody>
                <a:bodyPr vert="horz" anchor="t" wrap="square" tIns="45720" lIns="91440" bIns="45720" rIns="91440">
                  <a:prstTxWarp prst="textNoShape">
                    <a:avLst/>
                  </a:prstTxWarp>
                </a:bodyPr>
                <a:p>
                  <a:pPr algn="l" marL="0"/>
                </a:p>
              </p:txBody>
            </p:sp>
          </p:grpSp>
        </p:grpSp>
      </p:grpSp>
      <p:grpSp>
        <p:nvGrpSpPr>
          <p:cNvPr name="Group 37" id="37"/>
          <p:cNvGrpSpPr/>
          <p:nvPr/>
        </p:nvGrpSpPr>
        <p:grpSpPr>
          <a:xfrm flipH="true">
            <a:off x="7321273" y="3590157"/>
            <a:ext cx="1375155" cy="2525253"/>
            <a:chOff x="8199726" y="980132"/>
            <a:chExt cx="2899947" cy="5325290"/>
          </a:xfrm>
        </p:grpSpPr>
        <p:sp>
          <p:nvSpPr>
            <p:cNvPr name="Freeform 38" id="38"/>
            <p:cNvSpPr/>
            <p:nvPr/>
          </p:nvSpPr>
          <p:spPr>
            <a:xfrm>
              <a:off x="8252045" y="3106512"/>
              <a:ext cx="930525" cy="762357"/>
            </a:xfrm>
            <a:custGeom>
              <a:avLst/>
              <a:gdLst/>
              <a:ahLst/>
              <a:cxnLst/>
              <a:rect r="r" b="b" t="t" l="l"/>
              <a:pathLst>
                <a:path w="105" h="86" stroke="true" fill="norm" extrusionOk="true">
                  <a:moveTo>
                    <a:pt x="65" y="86"/>
                  </a:moveTo>
                  <a:cubicBezTo>
                    <a:pt x="8" y="34"/>
                    <a:pt x="8" y="34"/>
                    <a:pt x="8" y="34"/>
                  </a:cubicBezTo>
                  <a:cubicBezTo>
                    <a:pt x="0" y="27"/>
                    <a:pt x="0" y="15"/>
                    <a:pt x="7" y="8"/>
                  </a:cubicBezTo>
                  <a:cubicBezTo>
                    <a:pt x="7" y="8"/>
                    <a:pt x="7" y="8"/>
                    <a:pt x="7" y="8"/>
                  </a:cubicBezTo>
                  <a:cubicBezTo>
                    <a:pt x="14" y="0"/>
                    <a:pt x="26" y="0"/>
                    <a:pt x="33" y="7"/>
                  </a:cubicBezTo>
                  <a:cubicBezTo>
                    <a:pt x="105" y="72"/>
                    <a:pt x="105" y="72"/>
                    <a:pt x="105" y="72"/>
                  </a:cubicBezTo>
                  <a:cubicBezTo>
                    <a:pt x="101" y="76"/>
                    <a:pt x="101" y="76"/>
                    <a:pt x="101" y="76"/>
                  </a:cubicBezTo>
                  <a:lnTo>
                    <a:pt x="65" y="86"/>
                  </a:lnTo>
                  <a:close/>
                </a:path>
              </a:pathLst>
            </a:custGeom>
            <a:solidFill>
              <a:srgbClr val="484848"/>
            </a:solidFill>
            <a:ln>
              <a:noFill/>
            </a:ln>
          </p:spPr>
          <p:txBody>
            <a:bodyPr vert="horz" anchor="t" wrap="square" tIns="45720" lIns="91440" bIns="45720" rIns="91440">
              <a:prstTxWarp prst="textNoShape">
                <a:avLst/>
              </a:prstTxWarp>
            </a:bodyPr>
            <a:p>
              <a:pPr algn="l" marL="0"/>
            </a:p>
          </p:txBody>
        </p:sp>
        <p:grpSp>
          <p:nvGrpSpPr>
            <p:cNvPr name="Group 39" id="39"/>
            <p:cNvGrpSpPr/>
            <p:nvPr/>
          </p:nvGrpSpPr>
          <p:grpSpPr>
            <a:xfrm>
              <a:off x="8199726" y="980132"/>
              <a:ext cx="2899947" cy="5325290"/>
              <a:chOff x="8199726" y="980132"/>
              <a:chExt cx="2899947" cy="5325290"/>
            </a:xfrm>
          </p:grpSpPr>
          <p:sp>
            <p:nvSpPr>
              <p:cNvPr name="Freeform 40" id="40"/>
              <p:cNvSpPr/>
              <p:nvPr/>
            </p:nvSpPr>
            <p:spPr>
              <a:xfrm>
                <a:off x="9126513" y="4328525"/>
                <a:ext cx="1061321" cy="1887208"/>
              </a:xfrm>
              <a:custGeom>
                <a:avLst/>
                <a:gdLst/>
                <a:ahLst/>
                <a:cxnLst/>
                <a:rect r="r" b="b" t="t" l="l"/>
                <a:pathLst>
                  <a:path w="120" h="213" stroke="true" fill="norm" extrusionOk="true">
                    <a:moveTo>
                      <a:pt x="31" y="0"/>
                    </a:moveTo>
                    <a:cubicBezTo>
                      <a:pt x="31" y="0"/>
                      <a:pt x="31" y="0"/>
                      <a:pt x="31" y="0"/>
                    </a:cubicBezTo>
                    <a:cubicBezTo>
                      <a:pt x="32" y="0"/>
                      <a:pt x="33" y="0"/>
                      <a:pt x="33" y="0"/>
                    </a:cubicBezTo>
                    <a:cubicBezTo>
                      <a:pt x="88" y="0"/>
                      <a:pt x="88" y="0"/>
                      <a:pt x="88" y="0"/>
                    </a:cubicBezTo>
                    <a:cubicBezTo>
                      <a:pt x="88" y="0"/>
                      <a:pt x="89" y="0"/>
                      <a:pt x="90" y="0"/>
                    </a:cubicBezTo>
                    <a:cubicBezTo>
                      <a:pt x="90" y="0"/>
                      <a:pt x="90" y="0"/>
                      <a:pt x="90" y="0"/>
                    </a:cubicBezTo>
                    <a:cubicBezTo>
                      <a:pt x="91" y="0"/>
                      <a:pt x="91" y="0"/>
                      <a:pt x="92" y="0"/>
                    </a:cubicBezTo>
                    <a:cubicBezTo>
                      <a:pt x="120" y="0"/>
                      <a:pt x="120" y="0"/>
                      <a:pt x="120" y="0"/>
                    </a:cubicBezTo>
                    <a:cubicBezTo>
                      <a:pt x="120" y="7"/>
                      <a:pt x="120" y="7"/>
                      <a:pt x="120" y="7"/>
                    </a:cubicBezTo>
                    <a:cubicBezTo>
                      <a:pt x="120" y="7"/>
                      <a:pt x="120" y="8"/>
                      <a:pt x="120" y="8"/>
                    </a:cubicBezTo>
                    <a:cubicBezTo>
                      <a:pt x="120" y="211"/>
                      <a:pt x="120" y="211"/>
                      <a:pt x="120" y="211"/>
                    </a:cubicBezTo>
                    <a:cubicBezTo>
                      <a:pt x="120" y="212"/>
                      <a:pt x="120" y="212"/>
                      <a:pt x="120" y="213"/>
                    </a:cubicBezTo>
                    <a:cubicBezTo>
                      <a:pt x="62" y="213"/>
                      <a:pt x="62" y="213"/>
                      <a:pt x="62" y="213"/>
                    </a:cubicBezTo>
                    <a:cubicBezTo>
                      <a:pt x="62" y="212"/>
                      <a:pt x="62" y="212"/>
                      <a:pt x="62" y="211"/>
                    </a:cubicBezTo>
                    <a:cubicBezTo>
                      <a:pt x="62" y="90"/>
                      <a:pt x="62" y="90"/>
                      <a:pt x="62" y="90"/>
                    </a:cubicBezTo>
                    <a:cubicBezTo>
                      <a:pt x="62" y="90"/>
                      <a:pt x="62" y="89"/>
                      <a:pt x="62" y="89"/>
                    </a:cubicBezTo>
                    <a:cubicBezTo>
                      <a:pt x="62" y="39"/>
                      <a:pt x="62" y="39"/>
                      <a:pt x="62" y="39"/>
                    </a:cubicBezTo>
                    <a:cubicBezTo>
                      <a:pt x="62" y="36"/>
                      <a:pt x="63" y="34"/>
                      <a:pt x="60" y="34"/>
                    </a:cubicBezTo>
                    <a:cubicBezTo>
                      <a:pt x="60" y="34"/>
                      <a:pt x="60" y="34"/>
                      <a:pt x="60" y="34"/>
                    </a:cubicBezTo>
                    <a:cubicBezTo>
                      <a:pt x="57" y="34"/>
                      <a:pt x="59" y="36"/>
                      <a:pt x="58" y="38"/>
                    </a:cubicBezTo>
                    <a:cubicBezTo>
                      <a:pt x="58" y="38"/>
                      <a:pt x="58" y="38"/>
                      <a:pt x="58" y="38"/>
                    </a:cubicBezTo>
                    <a:cubicBezTo>
                      <a:pt x="58" y="211"/>
                      <a:pt x="58" y="211"/>
                      <a:pt x="58" y="211"/>
                    </a:cubicBezTo>
                    <a:cubicBezTo>
                      <a:pt x="58" y="212"/>
                      <a:pt x="58" y="212"/>
                      <a:pt x="58" y="213"/>
                    </a:cubicBezTo>
                    <a:cubicBezTo>
                      <a:pt x="1" y="213"/>
                      <a:pt x="1" y="213"/>
                      <a:pt x="1" y="213"/>
                    </a:cubicBezTo>
                    <a:cubicBezTo>
                      <a:pt x="1" y="212"/>
                      <a:pt x="0" y="212"/>
                      <a:pt x="0" y="211"/>
                    </a:cubicBezTo>
                    <a:cubicBezTo>
                      <a:pt x="0" y="5"/>
                      <a:pt x="0" y="5"/>
                      <a:pt x="0" y="5"/>
                    </a:cubicBezTo>
                    <a:cubicBezTo>
                      <a:pt x="0" y="5"/>
                      <a:pt x="0" y="4"/>
                      <a:pt x="1" y="4"/>
                    </a:cubicBezTo>
                    <a:cubicBezTo>
                      <a:pt x="1" y="0"/>
                      <a:pt x="1" y="0"/>
                      <a:pt x="1" y="0"/>
                    </a:cubicBezTo>
                    <a:cubicBezTo>
                      <a:pt x="29" y="0"/>
                      <a:pt x="29" y="0"/>
                      <a:pt x="29" y="0"/>
                    </a:cubicBezTo>
                    <a:cubicBezTo>
                      <a:pt x="30" y="0"/>
                      <a:pt x="30" y="0"/>
                      <a:pt x="31" y="0"/>
                    </a:cubicBezTo>
                    <a:close/>
                  </a:path>
                </a:pathLst>
              </a:custGeom>
              <a:solidFill>
                <a:srgbClr val="666666"/>
              </a:solidFill>
              <a:ln>
                <a:noFill/>
              </a:ln>
            </p:spPr>
            <p:txBody>
              <a:bodyPr vert="horz" anchor="t" wrap="square" tIns="45720" lIns="91440" bIns="45720" rIns="91440">
                <a:prstTxWarp prst="textNoShape">
                  <a:avLst/>
                </a:prstTxWarp>
              </a:bodyPr>
              <a:p>
                <a:pPr algn="l" marL="0"/>
              </a:p>
            </p:txBody>
          </p:sp>
          <p:sp>
            <p:nvSpPr>
              <p:cNvPr name="Freeform 41" id="41"/>
              <p:cNvSpPr/>
              <p:nvPr/>
            </p:nvSpPr>
            <p:spPr>
              <a:xfrm>
                <a:off x="9126513" y="4328525"/>
                <a:ext cx="530660" cy="1887208"/>
              </a:xfrm>
              <a:custGeom>
                <a:avLst/>
                <a:gdLst/>
                <a:ahLst/>
                <a:cxnLst/>
                <a:rect r="r" b="b" t="t" l="l"/>
                <a:pathLst>
                  <a:path w="60" h="213" stroke="true" fill="norm" extrusionOk="true">
                    <a:moveTo>
                      <a:pt x="31" y="0"/>
                    </a:moveTo>
                    <a:cubicBezTo>
                      <a:pt x="31" y="0"/>
                      <a:pt x="31" y="0"/>
                      <a:pt x="31" y="0"/>
                    </a:cubicBezTo>
                    <a:cubicBezTo>
                      <a:pt x="32" y="0"/>
                      <a:pt x="33" y="0"/>
                      <a:pt x="33" y="0"/>
                    </a:cubicBezTo>
                    <a:cubicBezTo>
                      <a:pt x="60" y="0"/>
                      <a:pt x="60" y="0"/>
                      <a:pt x="60" y="0"/>
                    </a:cubicBezTo>
                    <a:cubicBezTo>
                      <a:pt x="60" y="34"/>
                      <a:pt x="60" y="34"/>
                      <a:pt x="60" y="34"/>
                    </a:cubicBezTo>
                    <a:cubicBezTo>
                      <a:pt x="60" y="34"/>
                      <a:pt x="60" y="34"/>
                      <a:pt x="60" y="34"/>
                    </a:cubicBezTo>
                    <a:cubicBezTo>
                      <a:pt x="60" y="34"/>
                      <a:pt x="60" y="34"/>
                      <a:pt x="60" y="34"/>
                    </a:cubicBezTo>
                    <a:cubicBezTo>
                      <a:pt x="57" y="34"/>
                      <a:pt x="59" y="36"/>
                      <a:pt x="58" y="38"/>
                    </a:cubicBezTo>
                    <a:cubicBezTo>
                      <a:pt x="58" y="38"/>
                      <a:pt x="58" y="38"/>
                      <a:pt x="58" y="38"/>
                    </a:cubicBezTo>
                    <a:cubicBezTo>
                      <a:pt x="58" y="211"/>
                      <a:pt x="58" y="211"/>
                      <a:pt x="58" y="211"/>
                    </a:cubicBezTo>
                    <a:cubicBezTo>
                      <a:pt x="58" y="212"/>
                      <a:pt x="58" y="212"/>
                      <a:pt x="58" y="213"/>
                    </a:cubicBezTo>
                    <a:cubicBezTo>
                      <a:pt x="1" y="213"/>
                      <a:pt x="1" y="213"/>
                      <a:pt x="1" y="213"/>
                    </a:cubicBezTo>
                    <a:cubicBezTo>
                      <a:pt x="1" y="212"/>
                      <a:pt x="0" y="212"/>
                      <a:pt x="0" y="211"/>
                    </a:cubicBezTo>
                    <a:cubicBezTo>
                      <a:pt x="0" y="5"/>
                      <a:pt x="0" y="5"/>
                      <a:pt x="0" y="5"/>
                    </a:cubicBezTo>
                    <a:cubicBezTo>
                      <a:pt x="0" y="5"/>
                      <a:pt x="0" y="4"/>
                      <a:pt x="1" y="4"/>
                    </a:cubicBezTo>
                    <a:cubicBezTo>
                      <a:pt x="1" y="0"/>
                      <a:pt x="1" y="0"/>
                      <a:pt x="1" y="0"/>
                    </a:cubicBezTo>
                    <a:cubicBezTo>
                      <a:pt x="29" y="0"/>
                      <a:pt x="29" y="0"/>
                      <a:pt x="29" y="0"/>
                    </a:cubicBezTo>
                    <a:cubicBezTo>
                      <a:pt x="30" y="0"/>
                      <a:pt x="30" y="0"/>
                      <a:pt x="31" y="0"/>
                    </a:cubicBezTo>
                    <a:close/>
                  </a:path>
                </a:pathLst>
              </a:custGeom>
              <a:solidFill>
                <a:srgbClr val="666666"/>
              </a:solidFill>
              <a:ln>
                <a:noFill/>
              </a:ln>
            </p:spPr>
            <p:txBody>
              <a:bodyPr vert="horz" anchor="t" wrap="square" tIns="45720" lIns="91440" bIns="45720" rIns="91440">
                <a:prstTxWarp prst="textNoShape">
                  <a:avLst/>
                </a:prstTxWarp>
              </a:bodyPr>
              <a:p>
                <a:pPr algn="l" marL="0"/>
              </a:p>
            </p:txBody>
          </p:sp>
          <p:sp>
            <p:nvSpPr>
              <p:cNvPr name="Freeform 42" id="42"/>
              <p:cNvSpPr/>
              <p:nvPr/>
            </p:nvSpPr>
            <p:spPr>
              <a:xfrm>
                <a:off x="9100353" y="6028880"/>
                <a:ext cx="541873" cy="276542"/>
              </a:xfrm>
              <a:custGeom>
                <a:avLst/>
                <a:gdLst/>
                <a:ahLst/>
                <a:cxnLst/>
                <a:rect r="r" b="b" t="t" l="l"/>
                <a:pathLst>
                  <a:path w="61" h="31" stroke="true" fill="norm" extrusionOk="true">
                    <a:moveTo>
                      <a:pt x="30" y="0"/>
                    </a:moveTo>
                    <a:cubicBezTo>
                      <a:pt x="30" y="0"/>
                      <a:pt x="30" y="0"/>
                      <a:pt x="30" y="0"/>
                    </a:cubicBezTo>
                    <a:cubicBezTo>
                      <a:pt x="47" y="0"/>
                      <a:pt x="61" y="11"/>
                      <a:pt x="61" y="25"/>
                    </a:cubicBezTo>
                    <a:cubicBezTo>
                      <a:pt x="61" y="31"/>
                      <a:pt x="61" y="31"/>
                      <a:pt x="61" y="31"/>
                    </a:cubicBezTo>
                    <a:cubicBezTo>
                      <a:pt x="56" y="31"/>
                      <a:pt x="56" y="31"/>
                      <a:pt x="56" y="31"/>
                    </a:cubicBezTo>
                    <a:cubicBezTo>
                      <a:pt x="56" y="30"/>
                      <a:pt x="56" y="30"/>
                      <a:pt x="56" y="30"/>
                    </a:cubicBezTo>
                    <a:cubicBezTo>
                      <a:pt x="56" y="28"/>
                      <a:pt x="54" y="27"/>
                      <a:pt x="52" y="27"/>
                    </a:cubicBezTo>
                    <a:cubicBezTo>
                      <a:pt x="50" y="27"/>
                      <a:pt x="49" y="28"/>
                      <a:pt x="49" y="30"/>
                    </a:cubicBezTo>
                    <a:cubicBezTo>
                      <a:pt x="49" y="31"/>
                      <a:pt x="49" y="31"/>
                      <a:pt x="49" y="31"/>
                    </a:cubicBezTo>
                    <a:cubicBezTo>
                      <a:pt x="45" y="31"/>
                      <a:pt x="45" y="31"/>
                      <a:pt x="45" y="31"/>
                    </a:cubicBezTo>
                    <a:cubicBezTo>
                      <a:pt x="45" y="30"/>
                      <a:pt x="45" y="30"/>
                      <a:pt x="45" y="30"/>
                    </a:cubicBezTo>
                    <a:cubicBezTo>
                      <a:pt x="45" y="28"/>
                      <a:pt x="43" y="27"/>
                      <a:pt x="41" y="27"/>
                    </a:cubicBezTo>
                    <a:cubicBezTo>
                      <a:pt x="39" y="27"/>
                      <a:pt x="38" y="28"/>
                      <a:pt x="38" y="30"/>
                    </a:cubicBezTo>
                    <a:cubicBezTo>
                      <a:pt x="38" y="31"/>
                      <a:pt x="38" y="31"/>
                      <a:pt x="38" y="31"/>
                    </a:cubicBezTo>
                    <a:cubicBezTo>
                      <a:pt x="34" y="31"/>
                      <a:pt x="34" y="31"/>
                      <a:pt x="34" y="31"/>
                    </a:cubicBezTo>
                    <a:cubicBezTo>
                      <a:pt x="34" y="30"/>
                      <a:pt x="34" y="30"/>
                      <a:pt x="34" y="30"/>
                    </a:cubicBezTo>
                    <a:cubicBezTo>
                      <a:pt x="34" y="28"/>
                      <a:pt x="32" y="27"/>
                      <a:pt x="30" y="27"/>
                    </a:cubicBezTo>
                    <a:cubicBezTo>
                      <a:pt x="28" y="27"/>
                      <a:pt x="27" y="28"/>
                      <a:pt x="27" y="30"/>
                    </a:cubicBezTo>
                    <a:cubicBezTo>
                      <a:pt x="27" y="31"/>
                      <a:pt x="27" y="31"/>
                      <a:pt x="27" y="31"/>
                    </a:cubicBezTo>
                    <a:cubicBezTo>
                      <a:pt x="23" y="31"/>
                      <a:pt x="23" y="31"/>
                      <a:pt x="23" y="31"/>
                    </a:cubicBezTo>
                    <a:cubicBezTo>
                      <a:pt x="23" y="30"/>
                      <a:pt x="23" y="30"/>
                      <a:pt x="23" y="30"/>
                    </a:cubicBezTo>
                    <a:cubicBezTo>
                      <a:pt x="23" y="28"/>
                      <a:pt x="21" y="27"/>
                      <a:pt x="19" y="27"/>
                    </a:cubicBezTo>
                    <a:cubicBezTo>
                      <a:pt x="17" y="27"/>
                      <a:pt x="16" y="28"/>
                      <a:pt x="16" y="30"/>
                    </a:cubicBezTo>
                    <a:cubicBezTo>
                      <a:pt x="16" y="31"/>
                      <a:pt x="16" y="31"/>
                      <a:pt x="16" y="31"/>
                    </a:cubicBezTo>
                    <a:cubicBezTo>
                      <a:pt x="12" y="31"/>
                      <a:pt x="12" y="31"/>
                      <a:pt x="12" y="31"/>
                    </a:cubicBezTo>
                    <a:cubicBezTo>
                      <a:pt x="12" y="30"/>
                      <a:pt x="12" y="30"/>
                      <a:pt x="12" y="30"/>
                    </a:cubicBezTo>
                    <a:cubicBezTo>
                      <a:pt x="12" y="28"/>
                      <a:pt x="10" y="27"/>
                      <a:pt x="8" y="27"/>
                    </a:cubicBezTo>
                    <a:cubicBezTo>
                      <a:pt x="6" y="27"/>
                      <a:pt x="5" y="28"/>
                      <a:pt x="5" y="30"/>
                    </a:cubicBezTo>
                    <a:cubicBezTo>
                      <a:pt x="5" y="31"/>
                      <a:pt x="5" y="31"/>
                      <a:pt x="5" y="31"/>
                    </a:cubicBezTo>
                    <a:cubicBezTo>
                      <a:pt x="0" y="31"/>
                      <a:pt x="0" y="31"/>
                      <a:pt x="0" y="31"/>
                    </a:cubicBezTo>
                    <a:cubicBezTo>
                      <a:pt x="0" y="25"/>
                      <a:pt x="0" y="25"/>
                      <a:pt x="0" y="25"/>
                    </a:cubicBezTo>
                    <a:cubicBezTo>
                      <a:pt x="0" y="11"/>
                      <a:pt x="13" y="0"/>
                      <a:pt x="30" y="0"/>
                    </a:cubicBezTo>
                    <a:close/>
                  </a:path>
                </a:pathLst>
              </a:custGeom>
              <a:solidFill>
                <a:srgbClr val="242424"/>
              </a:solidFill>
              <a:ln>
                <a:noFill/>
              </a:ln>
            </p:spPr>
            <p:txBody>
              <a:bodyPr vert="horz" anchor="t" wrap="square" tIns="45720" lIns="91440" bIns="45720" rIns="91440">
                <a:prstTxWarp prst="textNoShape">
                  <a:avLst/>
                </a:prstTxWarp>
              </a:bodyPr>
              <a:p>
                <a:pPr algn="l" marL="0"/>
              </a:p>
            </p:txBody>
          </p:sp>
          <p:sp>
            <p:nvSpPr>
              <p:cNvPr name="Freeform 43" id="43"/>
              <p:cNvSpPr/>
              <p:nvPr/>
            </p:nvSpPr>
            <p:spPr>
              <a:xfrm>
                <a:off x="9092879" y="6215733"/>
                <a:ext cx="549347" cy="89688"/>
              </a:xfrm>
              <a:custGeom>
                <a:avLst/>
                <a:gdLst/>
                <a:ahLst/>
                <a:cxnLst/>
                <a:rect r="r" b="b" t="t" l="l"/>
                <a:pathLst>
                  <a:path w="62" h="10" stroke="true" fill="norm" extrusionOk="true">
                    <a:moveTo>
                      <a:pt x="61" y="0"/>
                    </a:moveTo>
                    <a:cubicBezTo>
                      <a:pt x="1" y="0"/>
                      <a:pt x="1" y="0"/>
                      <a:pt x="1" y="0"/>
                    </a:cubicBezTo>
                    <a:cubicBezTo>
                      <a:pt x="0" y="3"/>
                      <a:pt x="1" y="7"/>
                      <a:pt x="1" y="10"/>
                    </a:cubicBezTo>
                    <a:cubicBezTo>
                      <a:pt x="24" y="10"/>
                      <a:pt x="39" y="10"/>
                      <a:pt x="62" y="10"/>
                    </a:cubicBezTo>
                    <a:cubicBezTo>
                      <a:pt x="62" y="7"/>
                      <a:pt x="62" y="3"/>
                      <a:pt x="61" y="0"/>
                    </a:cubicBezTo>
                    <a:close/>
                  </a:path>
                </a:pathLst>
              </a:custGeom>
              <a:solidFill>
                <a:srgbClr val="000000"/>
              </a:solidFill>
              <a:ln w="9525">
                <a:solidFill>
                  <a:srgbClr val="000000"/>
                </a:solidFill>
              </a:ln>
            </p:spPr>
            <p:txBody>
              <a:bodyPr vert="horz" anchor="t" wrap="square" tIns="45720" lIns="91440" bIns="45720" rIns="91440">
                <a:prstTxWarp prst="textNoShape">
                  <a:avLst/>
                </a:prstTxWarp>
              </a:bodyPr>
              <a:p>
                <a:pPr algn="l" marL="0"/>
              </a:p>
            </p:txBody>
          </p:sp>
          <p:sp>
            <p:nvSpPr>
              <p:cNvPr name="Freeform 44" id="44"/>
              <p:cNvSpPr/>
              <p:nvPr/>
            </p:nvSpPr>
            <p:spPr>
              <a:xfrm>
                <a:off x="9675858" y="6028880"/>
                <a:ext cx="538134" cy="276542"/>
              </a:xfrm>
              <a:custGeom>
                <a:avLst/>
                <a:gdLst/>
                <a:ahLst/>
                <a:cxnLst/>
                <a:rect r="r" b="b" t="t" l="l"/>
                <a:pathLst>
                  <a:path w="61" h="31" stroke="true" fill="norm" extrusionOk="true">
                    <a:moveTo>
                      <a:pt x="31" y="0"/>
                    </a:moveTo>
                    <a:cubicBezTo>
                      <a:pt x="31" y="0"/>
                      <a:pt x="31" y="0"/>
                      <a:pt x="31" y="0"/>
                    </a:cubicBezTo>
                    <a:cubicBezTo>
                      <a:pt x="47" y="0"/>
                      <a:pt x="61" y="11"/>
                      <a:pt x="61" y="25"/>
                    </a:cubicBezTo>
                    <a:cubicBezTo>
                      <a:pt x="61" y="31"/>
                      <a:pt x="61" y="31"/>
                      <a:pt x="61" y="31"/>
                    </a:cubicBezTo>
                    <a:cubicBezTo>
                      <a:pt x="56" y="31"/>
                      <a:pt x="56" y="31"/>
                      <a:pt x="56" y="31"/>
                    </a:cubicBezTo>
                    <a:cubicBezTo>
                      <a:pt x="56" y="30"/>
                      <a:pt x="56" y="30"/>
                      <a:pt x="56" y="30"/>
                    </a:cubicBezTo>
                    <a:cubicBezTo>
                      <a:pt x="56" y="28"/>
                      <a:pt x="55" y="27"/>
                      <a:pt x="53" y="27"/>
                    </a:cubicBezTo>
                    <a:cubicBezTo>
                      <a:pt x="51" y="27"/>
                      <a:pt x="49" y="28"/>
                      <a:pt x="49" y="30"/>
                    </a:cubicBezTo>
                    <a:cubicBezTo>
                      <a:pt x="49" y="31"/>
                      <a:pt x="49" y="31"/>
                      <a:pt x="49" y="31"/>
                    </a:cubicBezTo>
                    <a:cubicBezTo>
                      <a:pt x="45" y="31"/>
                      <a:pt x="45" y="31"/>
                      <a:pt x="45" y="31"/>
                    </a:cubicBezTo>
                    <a:cubicBezTo>
                      <a:pt x="45" y="30"/>
                      <a:pt x="45" y="30"/>
                      <a:pt x="45" y="30"/>
                    </a:cubicBezTo>
                    <a:cubicBezTo>
                      <a:pt x="45" y="28"/>
                      <a:pt x="44" y="27"/>
                      <a:pt x="42" y="27"/>
                    </a:cubicBezTo>
                    <a:cubicBezTo>
                      <a:pt x="40" y="27"/>
                      <a:pt x="38" y="28"/>
                      <a:pt x="38" y="30"/>
                    </a:cubicBezTo>
                    <a:cubicBezTo>
                      <a:pt x="38" y="31"/>
                      <a:pt x="38" y="31"/>
                      <a:pt x="38" y="31"/>
                    </a:cubicBezTo>
                    <a:cubicBezTo>
                      <a:pt x="34" y="31"/>
                      <a:pt x="34" y="31"/>
                      <a:pt x="34" y="31"/>
                    </a:cubicBezTo>
                    <a:cubicBezTo>
                      <a:pt x="34" y="30"/>
                      <a:pt x="34" y="30"/>
                      <a:pt x="34" y="30"/>
                    </a:cubicBezTo>
                    <a:cubicBezTo>
                      <a:pt x="34" y="28"/>
                      <a:pt x="33" y="27"/>
                      <a:pt x="31" y="27"/>
                    </a:cubicBezTo>
                    <a:cubicBezTo>
                      <a:pt x="29" y="27"/>
                      <a:pt x="27" y="28"/>
                      <a:pt x="27" y="30"/>
                    </a:cubicBezTo>
                    <a:cubicBezTo>
                      <a:pt x="27" y="31"/>
                      <a:pt x="27" y="31"/>
                      <a:pt x="27" y="31"/>
                    </a:cubicBezTo>
                    <a:cubicBezTo>
                      <a:pt x="23" y="31"/>
                      <a:pt x="23" y="31"/>
                      <a:pt x="23" y="31"/>
                    </a:cubicBezTo>
                    <a:cubicBezTo>
                      <a:pt x="23" y="30"/>
                      <a:pt x="23" y="30"/>
                      <a:pt x="23" y="30"/>
                    </a:cubicBezTo>
                    <a:cubicBezTo>
                      <a:pt x="23" y="28"/>
                      <a:pt x="22" y="27"/>
                      <a:pt x="20" y="27"/>
                    </a:cubicBezTo>
                    <a:cubicBezTo>
                      <a:pt x="18" y="27"/>
                      <a:pt x="16" y="28"/>
                      <a:pt x="16" y="30"/>
                    </a:cubicBezTo>
                    <a:cubicBezTo>
                      <a:pt x="16" y="31"/>
                      <a:pt x="16" y="31"/>
                      <a:pt x="16" y="31"/>
                    </a:cubicBezTo>
                    <a:cubicBezTo>
                      <a:pt x="12" y="31"/>
                      <a:pt x="12" y="31"/>
                      <a:pt x="12" y="31"/>
                    </a:cubicBezTo>
                    <a:cubicBezTo>
                      <a:pt x="12" y="30"/>
                      <a:pt x="12" y="30"/>
                      <a:pt x="12" y="30"/>
                    </a:cubicBezTo>
                    <a:cubicBezTo>
                      <a:pt x="12" y="28"/>
                      <a:pt x="11" y="27"/>
                      <a:pt x="9" y="27"/>
                    </a:cubicBezTo>
                    <a:cubicBezTo>
                      <a:pt x="7" y="27"/>
                      <a:pt x="5" y="28"/>
                      <a:pt x="5" y="30"/>
                    </a:cubicBezTo>
                    <a:cubicBezTo>
                      <a:pt x="5" y="31"/>
                      <a:pt x="5" y="31"/>
                      <a:pt x="5" y="31"/>
                    </a:cubicBezTo>
                    <a:cubicBezTo>
                      <a:pt x="0" y="31"/>
                      <a:pt x="0" y="31"/>
                      <a:pt x="0" y="31"/>
                    </a:cubicBezTo>
                    <a:cubicBezTo>
                      <a:pt x="0" y="25"/>
                      <a:pt x="0" y="25"/>
                      <a:pt x="0" y="25"/>
                    </a:cubicBezTo>
                    <a:cubicBezTo>
                      <a:pt x="0" y="11"/>
                      <a:pt x="14" y="0"/>
                      <a:pt x="31" y="0"/>
                    </a:cubicBezTo>
                    <a:close/>
                  </a:path>
                </a:pathLst>
              </a:custGeom>
              <a:solidFill>
                <a:srgbClr val="242424"/>
              </a:solidFill>
              <a:ln>
                <a:noFill/>
              </a:ln>
            </p:spPr>
            <p:txBody>
              <a:bodyPr vert="horz" anchor="t" wrap="square" tIns="45720" lIns="91440" bIns="45720" rIns="91440">
                <a:prstTxWarp prst="textNoShape">
                  <a:avLst/>
                </a:prstTxWarp>
              </a:bodyPr>
              <a:p>
                <a:pPr algn="l" marL="0"/>
              </a:p>
            </p:txBody>
          </p:sp>
          <p:sp>
            <p:nvSpPr>
              <p:cNvPr name="Freeform 45" id="45"/>
              <p:cNvSpPr/>
              <p:nvPr/>
            </p:nvSpPr>
            <p:spPr>
              <a:xfrm>
                <a:off x="9675858" y="6215733"/>
                <a:ext cx="538134" cy="89688"/>
              </a:xfrm>
              <a:custGeom>
                <a:avLst/>
                <a:gdLst/>
                <a:ahLst/>
                <a:cxnLst/>
                <a:rect r="r" b="b" t="t" l="l"/>
                <a:pathLst>
                  <a:path w="61" h="10" stroke="true" fill="norm" extrusionOk="true">
                    <a:moveTo>
                      <a:pt x="61" y="0"/>
                    </a:moveTo>
                    <a:cubicBezTo>
                      <a:pt x="61" y="3"/>
                      <a:pt x="61" y="7"/>
                      <a:pt x="61" y="10"/>
                    </a:cubicBezTo>
                    <a:cubicBezTo>
                      <a:pt x="38" y="10"/>
                      <a:pt x="23" y="10"/>
                      <a:pt x="0" y="10"/>
                    </a:cubicBezTo>
                    <a:cubicBezTo>
                      <a:pt x="0" y="7"/>
                      <a:pt x="0" y="3"/>
                      <a:pt x="0" y="0"/>
                    </a:cubicBezTo>
                    <a:lnTo>
                      <a:pt x="61" y="0"/>
                    </a:lnTo>
                    <a:close/>
                  </a:path>
                </a:pathLst>
              </a:custGeom>
              <a:solidFill>
                <a:srgbClr val="000000"/>
              </a:solidFill>
              <a:ln w="9525">
                <a:solidFill>
                  <a:srgbClr val="000000"/>
                </a:solidFill>
              </a:ln>
            </p:spPr>
            <p:txBody>
              <a:bodyPr vert="horz" anchor="t" wrap="square" tIns="45720" lIns="91440" bIns="45720" rIns="91440">
                <a:prstTxWarp prst="textNoShape">
                  <a:avLst/>
                </a:prstTxWarp>
              </a:bodyPr>
              <a:p>
                <a:pPr algn="l" marL="0"/>
              </a:p>
            </p:txBody>
          </p:sp>
          <p:sp>
            <p:nvSpPr>
              <p:cNvPr name="Freeform 46" id="46"/>
              <p:cNvSpPr/>
              <p:nvPr/>
            </p:nvSpPr>
            <p:spPr>
              <a:xfrm>
                <a:off x="8764019" y="2564640"/>
                <a:ext cx="1786308" cy="1898418"/>
              </a:xfrm>
              <a:custGeom>
                <a:avLst/>
                <a:gdLst/>
                <a:ahLst/>
                <a:cxnLst/>
                <a:rect r="r" b="b" t="t" l="l"/>
                <a:pathLst>
                  <a:path w="202" h="214" stroke="true" fill="norm" extrusionOk="true">
                    <a:moveTo>
                      <a:pt x="164" y="78"/>
                    </a:moveTo>
                    <a:cubicBezTo>
                      <a:pt x="164" y="131"/>
                      <a:pt x="164" y="131"/>
                      <a:pt x="164" y="131"/>
                    </a:cubicBezTo>
                    <a:cubicBezTo>
                      <a:pt x="164" y="214"/>
                      <a:pt x="164" y="214"/>
                      <a:pt x="164" y="214"/>
                    </a:cubicBezTo>
                    <a:cubicBezTo>
                      <a:pt x="38" y="214"/>
                      <a:pt x="38" y="214"/>
                      <a:pt x="38" y="214"/>
                    </a:cubicBezTo>
                    <a:cubicBezTo>
                      <a:pt x="38" y="131"/>
                      <a:pt x="38" y="131"/>
                      <a:pt x="38" y="131"/>
                    </a:cubicBezTo>
                    <a:cubicBezTo>
                      <a:pt x="38" y="127"/>
                      <a:pt x="38" y="127"/>
                      <a:pt x="38" y="127"/>
                    </a:cubicBezTo>
                    <a:cubicBezTo>
                      <a:pt x="0" y="127"/>
                      <a:pt x="0" y="127"/>
                      <a:pt x="0" y="127"/>
                    </a:cubicBezTo>
                    <a:cubicBezTo>
                      <a:pt x="3" y="41"/>
                      <a:pt x="3" y="41"/>
                      <a:pt x="3" y="41"/>
                    </a:cubicBezTo>
                    <a:cubicBezTo>
                      <a:pt x="4" y="22"/>
                      <a:pt x="5" y="18"/>
                      <a:pt x="24" y="11"/>
                    </a:cubicBezTo>
                    <a:cubicBezTo>
                      <a:pt x="62" y="0"/>
                      <a:pt x="62" y="0"/>
                      <a:pt x="62" y="0"/>
                    </a:cubicBezTo>
                    <a:cubicBezTo>
                      <a:pt x="89" y="0"/>
                      <a:pt x="89" y="0"/>
                      <a:pt x="89" y="0"/>
                    </a:cubicBezTo>
                    <a:cubicBezTo>
                      <a:pt x="113" y="0"/>
                      <a:pt x="113" y="0"/>
                      <a:pt x="113" y="0"/>
                    </a:cubicBezTo>
                    <a:cubicBezTo>
                      <a:pt x="139" y="0"/>
                      <a:pt x="139" y="0"/>
                      <a:pt x="139" y="0"/>
                    </a:cubicBezTo>
                    <a:cubicBezTo>
                      <a:pt x="174" y="10"/>
                      <a:pt x="174" y="10"/>
                      <a:pt x="174" y="10"/>
                    </a:cubicBezTo>
                    <a:cubicBezTo>
                      <a:pt x="199" y="19"/>
                      <a:pt x="198" y="19"/>
                      <a:pt x="199" y="46"/>
                    </a:cubicBezTo>
                    <a:cubicBezTo>
                      <a:pt x="202" y="115"/>
                      <a:pt x="202" y="115"/>
                      <a:pt x="202" y="115"/>
                    </a:cubicBezTo>
                    <a:cubicBezTo>
                      <a:pt x="164" y="115"/>
                      <a:pt x="164" y="115"/>
                      <a:pt x="164" y="115"/>
                    </a:cubicBezTo>
                    <a:cubicBezTo>
                      <a:pt x="164" y="78"/>
                      <a:pt x="164" y="78"/>
                      <a:pt x="164" y="78"/>
                    </a:cubicBezTo>
                    <a:cubicBezTo>
                      <a:pt x="164" y="78"/>
                      <a:pt x="164" y="78"/>
                      <a:pt x="164" y="78"/>
                    </a:cubicBezTo>
                    <a:close/>
                  </a:path>
                </a:pathLst>
              </a:custGeom>
              <a:solidFill>
                <a:srgbClr val="242424"/>
              </a:solidFill>
              <a:ln>
                <a:noFill/>
              </a:ln>
            </p:spPr>
            <p:txBody>
              <a:bodyPr vert="horz" anchor="t" wrap="square" tIns="45720" lIns="91440" bIns="45720" rIns="91440">
                <a:prstTxWarp prst="textNoShape">
                  <a:avLst/>
                </a:prstTxWarp>
              </a:bodyPr>
              <a:p>
                <a:pPr algn="l" marL="0"/>
              </a:p>
            </p:txBody>
          </p:sp>
          <p:sp>
            <p:nvSpPr>
              <p:cNvPr name="Freeform 47" id="47"/>
              <p:cNvSpPr/>
              <p:nvPr/>
            </p:nvSpPr>
            <p:spPr>
              <a:xfrm>
                <a:off x="8764019" y="2564640"/>
                <a:ext cx="885681" cy="1898418"/>
              </a:xfrm>
              <a:custGeom>
                <a:avLst/>
                <a:gdLst/>
                <a:ahLst/>
                <a:cxnLst/>
                <a:rect r="r" b="b" t="t" l="l"/>
                <a:pathLst>
                  <a:path w="100" h="214" stroke="true" fill="norm" extrusionOk="true">
                    <a:moveTo>
                      <a:pt x="100" y="214"/>
                    </a:moveTo>
                    <a:cubicBezTo>
                      <a:pt x="38" y="214"/>
                      <a:pt x="38" y="214"/>
                      <a:pt x="38" y="214"/>
                    </a:cubicBezTo>
                    <a:cubicBezTo>
                      <a:pt x="38" y="131"/>
                      <a:pt x="38" y="131"/>
                      <a:pt x="38" y="131"/>
                    </a:cubicBezTo>
                    <a:cubicBezTo>
                      <a:pt x="38" y="127"/>
                      <a:pt x="38" y="127"/>
                      <a:pt x="38" y="127"/>
                    </a:cubicBezTo>
                    <a:cubicBezTo>
                      <a:pt x="0" y="127"/>
                      <a:pt x="0" y="127"/>
                      <a:pt x="0" y="127"/>
                    </a:cubicBezTo>
                    <a:cubicBezTo>
                      <a:pt x="3" y="41"/>
                      <a:pt x="3" y="41"/>
                      <a:pt x="3" y="41"/>
                    </a:cubicBezTo>
                    <a:cubicBezTo>
                      <a:pt x="4" y="22"/>
                      <a:pt x="5" y="18"/>
                      <a:pt x="24" y="11"/>
                    </a:cubicBezTo>
                    <a:cubicBezTo>
                      <a:pt x="62" y="0"/>
                      <a:pt x="62" y="0"/>
                      <a:pt x="62" y="0"/>
                    </a:cubicBezTo>
                    <a:cubicBezTo>
                      <a:pt x="89" y="0"/>
                      <a:pt x="89" y="0"/>
                      <a:pt x="89" y="0"/>
                    </a:cubicBezTo>
                    <a:cubicBezTo>
                      <a:pt x="100" y="0"/>
                      <a:pt x="100" y="0"/>
                      <a:pt x="100" y="0"/>
                    </a:cubicBezTo>
                    <a:lnTo>
                      <a:pt x="100" y="214"/>
                    </a:lnTo>
                    <a:close/>
                  </a:path>
                </a:pathLst>
              </a:custGeom>
              <a:solidFill>
                <a:srgbClr val="484848"/>
              </a:solidFill>
              <a:ln>
                <a:noFill/>
              </a:ln>
            </p:spPr>
            <p:txBody>
              <a:bodyPr vert="horz" anchor="t" wrap="square" tIns="45720" lIns="91440" bIns="45720" rIns="91440">
                <a:prstTxWarp prst="textNoShape">
                  <a:avLst/>
                </a:prstTxWarp>
              </a:bodyPr>
              <a:p>
                <a:pPr algn="l" marL="0"/>
              </a:p>
            </p:txBody>
          </p:sp>
          <p:sp>
            <p:nvSpPr>
              <p:cNvPr name="Freeform 48" id="48"/>
              <p:cNvSpPr/>
              <p:nvPr/>
            </p:nvSpPr>
            <p:spPr>
              <a:xfrm>
                <a:off x="9313365" y="2299308"/>
                <a:ext cx="672668" cy="896892"/>
              </a:xfrm>
              <a:custGeom>
                <a:avLst/>
                <a:gdLst/>
                <a:ahLst/>
                <a:cxnLst/>
                <a:rect r="r" b="b" t="t" l="l"/>
                <a:pathLst>
                  <a:path w="180" h="240" stroke="true" fill="norm" extrusionOk="true">
                    <a:moveTo>
                      <a:pt x="180" y="71"/>
                    </a:moveTo>
                    <a:lnTo>
                      <a:pt x="92" y="240"/>
                    </a:lnTo>
                    <a:lnTo>
                      <a:pt x="0" y="71"/>
                    </a:lnTo>
                    <a:lnTo>
                      <a:pt x="33" y="69"/>
                    </a:lnTo>
                    <a:lnTo>
                      <a:pt x="33" y="0"/>
                    </a:lnTo>
                    <a:lnTo>
                      <a:pt x="151" y="0"/>
                    </a:lnTo>
                    <a:lnTo>
                      <a:pt x="151" y="69"/>
                    </a:lnTo>
                    <a:lnTo>
                      <a:pt x="180" y="71"/>
                    </a:lnTo>
                    <a:close/>
                  </a:path>
                </a:pathLst>
              </a:custGeom>
              <a:solidFill>
                <a:srgbClr val="E5E5E5"/>
              </a:solidFill>
              <a:ln>
                <a:noFill/>
              </a:ln>
            </p:spPr>
            <p:txBody>
              <a:bodyPr vert="horz" anchor="t" wrap="square" tIns="45720" lIns="91440" bIns="45720" rIns="91440">
                <a:prstTxWarp prst="textNoShape">
                  <a:avLst/>
                </a:prstTxWarp>
              </a:bodyPr>
              <a:p>
                <a:pPr algn="l" marL="0"/>
              </a:p>
            </p:txBody>
          </p:sp>
          <p:sp>
            <p:nvSpPr>
              <p:cNvPr name="Freeform 49" id="49"/>
              <p:cNvSpPr/>
              <p:nvPr/>
            </p:nvSpPr>
            <p:spPr>
              <a:xfrm>
                <a:off x="9418003" y="2299308"/>
                <a:ext cx="459658" cy="373704"/>
              </a:xfrm>
              <a:custGeom>
                <a:avLst/>
                <a:gdLst/>
                <a:ahLst/>
                <a:cxnLst/>
                <a:rect r="r" b="b" t="t" l="l"/>
                <a:pathLst>
                  <a:path w="52" h="42" stroke="true" fill="norm" extrusionOk="true">
                    <a:moveTo>
                      <a:pt x="0" y="29"/>
                    </a:moveTo>
                    <a:cubicBezTo>
                      <a:pt x="2" y="29"/>
                      <a:pt x="2" y="29"/>
                      <a:pt x="2" y="29"/>
                    </a:cubicBezTo>
                    <a:cubicBezTo>
                      <a:pt x="2" y="0"/>
                      <a:pt x="2" y="0"/>
                      <a:pt x="2" y="0"/>
                    </a:cubicBezTo>
                    <a:cubicBezTo>
                      <a:pt x="52" y="0"/>
                      <a:pt x="52" y="0"/>
                      <a:pt x="52" y="0"/>
                    </a:cubicBezTo>
                    <a:cubicBezTo>
                      <a:pt x="52" y="29"/>
                      <a:pt x="52" y="29"/>
                      <a:pt x="52" y="29"/>
                    </a:cubicBezTo>
                    <a:cubicBezTo>
                      <a:pt x="52" y="29"/>
                      <a:pt x="52" y="29"/>
                      <a:pt x="52" y="29"/>
                    </a:cubicBezTo>
                    <a:cubicBezTo>
                      <a:pt x="46" y="37"/>
                      <a:pt x="37" y="42"/>
                      <a:pt x="26" y="42"/>
                    </a:cubicBezTo>
                    <a:cubicBezTo>
                      <a:pt x="16" y="42"/>
                      <a:pt x="6" y="37"/>
                      <a:pt x="0" y="29"/>
                    </a:cubicBezTo>
                    <a:close/>
                  </a:path>
                </a:pathLst>
              </a:custGeom>
              <a:solidFill>
                <a:srgbClr val="E0DAAF"/>
              </a:solidFill>
              <a:ln>
                <a:noFill/>
              </a:ln>
            </p:spPr>
            <p:txBody>
              <a:bodyPr vert="horz" anchor="t" wrap="square" tIns="45720" lIns="91440" bIns="45720" rIns="91440">
                <a:prstTxWarp prst="textNoShape">
                  <a:avLst/>
                </a:prstTxWarp>
              </a:bodyPr>
              <a:p>
                <a:pPr algn="l" marL="0"/>
              </a:p>
            </p:txBody>
          </p:sp>
          <p:sp>
            <p:nvSpPr>
              <p:cNvPr name="Freeform 50" id="50"/>
              <p:cNvSpPr/>
              <p:nvPr/>
            </p:nvSpPr>
            <p:spPr>
              <a:xfrm>
                <a:off x="9436687" y="2299308"/>
                <a:ext cx="440971" cy="284016"/>
              </a:xfrm>
              <a:custGeom>
                <a:avLst/>
                <a:gdLst/>
                <a:ahLst/>
                <a:cxnLst/>
                <a:rect r="r" b="b" t="t" l="l"/>
                <a:pathLst>
                  <a:path w="50" h="32" stroke="true" fill="norm" extrusionOk="true">
                    <a:moveTo>
                      <a:pt x="0" y="28"/>
                    </a:moveTo>
                    <a:cubicBezTo>
                      <a:pt x="0" y="0"/>
                      <a:pt x="0" y="0"/>
                      <a:pt x="0" y="0"/>
                    </a:cubicBezTo>
                    <a:cubicBezTo>
                      <a:pt x="50" y="0"/>
                      <a:pt x="50" y="0"/>
                      <a:pt x="50" y="0"/>
                    </a:cubicBezTo>
                    <a:cubicBezTo>
                      <a:pt x="50" y="28"/>
                      <a:pt x="50" y="28"/>
                      <a:pt x="50" y="28"/>
                    </a:cubicBezTo>
                    <a:cubicBezTo>
                      <a:pt x="42" y="30"/>
                      <a:pt x="33" y="32"/>
                      <a:pt x="25" y="32"/>
                    </a:cubicBezTo>
                    <a:cubicBezTo>
                      <a:pt x="16" y="32"/>
                      <a:pt x="8" y="30"/>
                      <a:pt x="0" y="28"/>
                    </a:cubicBezTo>
                    <a:close/>
                  </a:path>
                </a:pathLst>
              </a:custGeom>
              <a:solidFill>
                <a:srgbClr val="CAC59E"/>
              </a:solidFill>
              <a:ln>
                <a:noFill/>
              </a:ln>
            </p:spPr>
            <p:txBody>
              <a:bodyPr vert="horz" anchor="t" wrap="square" tIns="45720" lIns="91440" bIns="45720" rIns="91440">
                <a:prstTxWarp prst="textNoShape">
                  <a:avLst/>
                </a:prstTxWarp>
              </a:bodyPr>
              <a:p>
                <a:pPr algn="l" marL="0"/>
              </a:p>
            </p:txBody>
          </p:sp>
          <p:sp>
            <p:nvSpPr>
              <p:cNvPr name="Freeform 51" id="51"/>
              <p:cNvSpPr/>
              <p:nvPr/>
            </p:nvSpPr>
            <p:spPr>
              <a:xfrm>
                <a:off x="9376894" y="2299308"/>
                <a:ext cx="272805" cy="627824"/>
              </a:xfrm>
              <a:custGeom>
                <a:avLst/>
                <a:gdLst/>
                <a:ahLst/>
                <a:cxnLst/>
                <a:rect r="r" b="b" t="t" l="l"/>
                <a:pathLst>
                  <a:path w="73" h="168" stroke="true" fill="norm" extrusionOk="true">
                    <a:moveTo>
                      <a:pt x="73" y="168"/>
                    </a:moveTo>
                    <a:lnTo>
                      <a:pt x="0" y="71"/>
                    </a:lnTo>
                    <a:lnTo>
                      <a:pt x="16" y="69"/>
                    </a:lnTo>
                    <a:lnTo>
                      <a:pt x="16" y="0"/>
                    </a:lnTo>
                    <a:lnTo>
                      <a:pt x="73" y="0"/>
                    </a:lnTo>
                    <a:lnTo>
                      <a:pt x="73" y="168"/>
                    </a:lnTo>
                    <a:close/>
                  </a:path>
                </a:pathLst>
              </a:custGeom>
              <a:solidFill>
                <a:srgbClr val="E5E5E5"/>
              </a:solidFill>
              <a:ln>
                <a:noFill/>
              </a:ln>
            </p:spPr>
            <p:txBody>
              <a:bodyPr vert="horz" anchor="t" wrap="square" tIns="45720" lIns="91440" bIns="45720" rIns="91440">
                <a:prstTxWarp prst="textNoShape">
                  <a:avLst/>
                </a:prstTxWarp>
              </a:bodyPr>
              <a:p>
                <a:pPr algn="l" marL="0"/>
              </a:p>
            </p:txBody>
          </p:sp>
          <p:sp>
            <p:nvSpPr>
              <p:cNvPr name="Freeform 52" id="52"/>
              <p:cNvSpPr/>
              <p:nvPr/>
            </p:nvSpPr>
            <p:spPr>
              <a:xfrm>
                <a:off x="9418003" y="2299308"/>
                <a:ext cx="231697" cy="373704"/>
              </a:xfrm>
              <a:custGeom>
                <a:avLst/>
                <a:gdLst/>
                <a:ahLst/>
                <a:cxnLst/>
                <a:rect r="r" b="b" t="t" l="l"/>
                <a:pathLst>
                  <a:path w="26" h="42" stroke="true" fill="norm" extrusionOk="true">
                    <a:moveTo>
                      <a:pt x="0" y="29"/>
                    </a:moveTo>
                    <a:cubicBezTo>
                      <a:pt x="2" y="29"/>
                      <a:pt x="2" y="29"/>
                      <a:pt x="2" y="29"/>
                    </a:cubicBezTo>
                    <a:cubicBezTo>
                      <a:pt x="2" y="0"/>
                      <a:pt x="2" y="0"/>
                      <a:pt x="2" y="0"/>
                    </a:cubicBezTo>
                    <a:cubicBezTo>
                      <a:pt x="26" y="0"/>
                      <a:pt x="26" y="0"/>
                      <a:pt x="26" y="0"/>
                    </a:cubicBezTo>
                    <a:cubicBezTo>
                      <a:pt x="26" y="42"/>
                      <a:pt x="26" y="42"/>
                      <a:pt x="26" y="42"/>
                    </a:cubicBezTo>
                    <a:cubicBezTo>
                      <a:pt x="26" y="42"/>
                      <a:pt x="26" y="42"/>
                      <a:pt x="26" y="42"/>
                    </a:cubicBezTo>
                    <a:cubicBezTo>
                      <a:pt x="16" y="42"/>
                      <a:pt x="6" y="37"/>
                      <a:pt x="0" y="29"/>
                    </a:cubicBezTo>
                    <a:close/>
                  </a:path>
                </a:pathLst>
              </a:custGeom>
              <a:solidFill>
                <a:srgbClr val="EAE5C6"/>
              </a:solidFill>
              <a:ln>
                <a:noFill/>
              </a:ln>
            </p:spPr>
            <p:txBody>
              <a:bodyPr vert="horz" anchor="t" wrap="square" tIns="45720" lIns="91440" bIns="45720" rIns="91440">
                <a:prstTxWarp prst="textNoShape">
                  <a:avLst/>
                </a:prstTxWarp>
              </a:bodyPr>
              <a:p>
                <a:pPr algn="l" marL="0"/>
              </a:p>
            </p:txBody>
          </p:sp>
          <p:sp>
            <p:nvSpPr>
              <p:cNvPr name="Freeform 53" id="53"/>
              <p:cNvSpPr/>
              <p:nvPr/>
            </p:nvSpPr>
            <p:spPr>
              <a:xfrm>
                <a:off x="9436687" y="2299308"/>
                <a:ext cx="213013" cy="284016"/>
              </a:xfrm>
              <a:custGeom>
                <a:avLst/>
                <a:gdLst/>
                <a:ahLst/>
                <a:cxnLst/>
                <a:rect r="r" b="b" t="t" l="l"/>
                <a:pathLst>
                  <a:path w="24" h="32" stroke="true" fill="norm" extrusionOk="true">
                    <a:moveTo>
                      <a:pt x="0" y="28"/>
                    </a:moveTo>
                    <a:cubicBezTo>
                      <a:pt x="0" y="0"/>
                      <a:pt x="0" y="0"/>
                      <a:pt x="0" y="0"/>
                    </a:cubicBezTo>
                    <a:cubicBezTo>
                      <a:pt x="24" y="0"/>
                      <a:pt x="24" y="0"/>
                      <a:pt x="24" y="0"/>
                    </a:cubicBezTo>
                    <a:cubicBezTo>
                      <a:pt x="24" y="32"/>
                      <a:pt x="24" y="32"/>
                      <a:pt x="24" y="32"/>
                    </a:cubicBezTo>
                    <a:cubicBezTo>
                      <a:pt x="16" y="32"/>
                      <a:pt x="8" y="30"/>
                      <a:pt x="0" y="28"/>
                    </a:cubicBezTo>
                    <a:close/>
                  </a:path>
                </a:pathLst>
              </a:custGeom>
              <a:solidFill>
                <a:srgbClr val="DAD6B9"/>
              </a:solidFill>
              <a:ln>
                <a:noFill/>
              </a:ln>
            </p:spPr>
            <p:txBody>
              <a:bodyPr vert="horz" anchor="t" wrap="square" tIns="45720" lIns="91440" bIns="45720" rIns="91440">
                <a:prstTxWarp prst="textNoShape">
                  <a:avLst/>
                </a:prstTxWarp>
              </a:bodyPr>
              <a:p>
                <a:pPr algn="l" marL="0"/>
              </a:p>
            </p:txBody>
          </p:sp>
          <p:sp>
            <p:nvSpPr>
              <p:cNvPr name="Freeform 54" id="54"/>
              <p:cNvSpPr/>
              <p:nvPr/>
            </p:nvSpPr>
            <p:spPr>
              <a:xfrm>
                <a:off x="8950871" y="1103455"/>
                <a:ext cx="1412603" cy="1401393"/>
              </a:xfrm>
              <a:custGeom>
                <a:avLst/>
                <a:gdLst/>
                <a:ahLst/>
                <a:cxnLst/>
                <a:rect r="r" b="b" t="t" l="l"/>
                <a:pathLst>
                  <a:path w="160" h="158" stroke="true" fill="norm" extrusionOk="true">
                    <a:moveTo>
                      <a:pt x="80" y="0"/>
                    </a:moveTo>
                    <a:cubicBezTo>
                      <a:pt x="81" y="0"/>
                      <a:pt x="83" y="1"/>
                      <a:pt x="85" y="1"/>
                    </a:cubicBezTo>
                    <a:cubicBezTo>
                      <a:pt x="139" y="1"/>
                      <a:pt x="139" y="1"/>
                      <a:pt x="139" y="1"/>
                    </a:cubicBezTo>
                    <a:cubicBezTo>
                      <a:pt x="143" y="18"/>
                      <a:pt x="143" y="18"/>
                      <a:pt x="143" y="18"/>
                    </a:cubicBezTo>
                    <a:cubicBezTo>
                      <a:pt x="160" y="35"/>
                      <a:pt x="160" y="35"/>
                      <a:pt x="160" y="35"/>
                    </a:cubicBezTo>
                    <a:cubicBezTo>
                      <a:pt x="160" y="77"/>
                      <a:pt x="160" y="77"/>
                      <a:pt x="160" y="77"/>
                    </a:cubicBezTo>
                    <a:cubicBezTo>
                      <a:pt x="159" y="77"/>
                      <a:pt x="159" y="77"/>
                      <a:pt x="159" y="77"/>
                    </a:cubicBezTo>
                    <a:cubicBezTo>
                      <a:pt x="159" y="78"/>
                      <a:pt x="159" y="79"/>
                      <a:pt x="159" y="79"/>
                    </a:cubicBezTo>
                    <a:cubicBezTo>
                      <a:pt x="159" y="123"/>
                      <a:pt x="124" y="158"/>
                      <a:pt x="80" y="158"/>
                    </a:cubicBezTo>
                    <a:cubicBezTo>
                      <a:pt x="36" y="158"/>
                      <a:pt x="0" y="123"/>
                      <a:pt x="0" y="79"/>
                    </a:cubicBezTo>
                    <a:cubicBezTo>
                      <a:pt x="0" y="77"/>
                      <a:pt x="0" y="75"/>
                      <a:pt x="0" y="73"/>
                    </a:cubicBezTo>
                    <a:cubicBezTo>
                      <a:pt x="0" y="17"/>
                      <a:pt x="0" y="17"/>
                      <a:pt x="0" y="17"/>
                    </a:cubicBezTo>
                    <a:cubicBezTo>
                      <a:pt x="12" y="1"/>
                      <a:pt x="12" y="1"/>
                      <a:pt x="12" y="1"/>
                    </a:cubicBezTo>
                    <a:cubicBezTo>
                      <a:pt x="75" y="1"/>
                      <a:pt x="75" y="1"/>
                      <a:pt x="75" y="1"/>
                    </a:cubicBezTo>
                    <a:cubicBezTo>
                      <a:pt x="76" y="1"/>
                      <a:pt x="78" y="0"/>
                      <a:pt x="80" y="0"/>
                    </a:cubicBezTo>
                    <a:close/>
                  </a:path>
                </a:pathLst>
              </a:custGeom>
              <a:solidFill>
                <a:srgbClr val="F7C2AB"/>
              </a:solidFill>
              <a:ln>
                <a:noFill/>
              </a:ln>
            </p:spPr>
            <p:txBody>
              <a:bodyPr vert="horz" anchor="t" wrap="square" tIns="45720" lIns="91440" bIns="45720" rIns="91440">
                <a:prstTxWarp prst="textNoShape">
                  <a:avLst/>
                </a:prstTxWarp>
              </a:bodyPr>
              <a:p>
                <a:pPr algn="l" marL="0"/>
              </a:p>
            </p:txBody>
          </p:sp>
          <p:sp>
            <p:nvSpPr>
              <p:cNvPr name="Freeform 55" id="55"/>
              <p:cNvSpPr/>
              <p:nvPr/>
            </p:nvSpPr>
            <p:spPr>
              <a:xfrm>
                <a:off x="8950871" y="1110929"/>
                <a:ext cx="609140" cy="1382707"/>
              </a:xfrm>
              <a:custGeom>
                <a:avLst/>
                <a:gdLst/>
                <a:ahLst/>
                <a:cxnLst/>
                <a:rect r="r" b="b" t="t" l="l"/>
                <a:pathLst>
                  <a:path w="69" h="156" stroke="true" fill="norm" extrusionOk="true">
                    <a:moveTo>
                      <a:pt x="69" y="156"/>
                    </a:moveTo>
                    <a:cubicBezTo>
                      <a:pt x="30" y="151"/>
                      <a:pt x="0" y="118"/>
                      <a:pt x="0" y="78"/>
                    </a:cubicBezTo>
                    <a:cubicBezTo>
                      <a:pt x="0" y="76"/>
                      <a:pt x="0" y="74"/>
                      <a:pt x="0" y="72"/>
                    </a:cubicBezTo>
                    <a:cubicBezTo>
                      <a:pt x="0" y="16"/>
                      <a:pt x="0" y="16"/>
                      <a:pt x="0" y="16"/>
                    </a:cubicBezTo>
                    <a:cubicBezTo>
                      <a:pt x="12" y="0"/>
                      <a:pt x="12" y="0"/>
                      <a:pt x="12" y="0"/>
                    </a:cubicBezTo>
                    <a:cubicBezTo>
                      <a:pt x="69" y="0"/>
                      <a:pt x="69" y="0"/>
                      <a:pt x="69" y="0"/>
                    </a:cubicBezTo>
                    <a:lnTo>
                      <a:pt x="69" y="156"/>
                    </a:lnTo>
                    <a:close/>
                  </a:path>
                </a:pathLst>
              </a:custGeom>
              <a:solidFill>
                <a:srgbClr val="FAD9CA"/>
              </a:solidFill>
              <a:ln>
                <a:noFill/>
              </a:ln>
            </p:spPr>
            <p:txBody>
              <a:bodyPr vert="horz" anchor="t" wrap="square" tIns="45720" lIns="91440" bIns="45720" rIns="91440">
                <a:prstTxWarp prst="textNoShape">
                  <a:avLst/>
                </a:prstTxWarp>
              </a:bodyPr>
              <a:p>
                <a:pPr algn="l" marL="0"/>
              </a:p>
            </p:txBody>
          </p:sp>
          <p:sp>
            <p:nvSpPr>
              <p:cNvPr name="Freeform 56" id="56"/>
              <p:cNvSpPr/>
              <p:nvPr/>
            </p:nvSpPr>
            <p:spPr>
              <a:xfrm>
                <a:off x="8879868" y="980132"/>
                <a:ext cx="1483608" cy="594192"/>
              </a:xfrm>
              <a:custGeom>
                <a:avLst/>
                <a:gdLst/>
                <a:ahLst/>
                <a:cxnLst/>
                <a:rect r="r" b="b" t="t" l="l"/>
                <a:pathLst>
                  <a:path w="168" h="67" stroke="true" fill="norm" extrusionOk="true">
                    <a:moveTo>
                      <a:pt x="168" y="43"/>
                    </a:moveTo>
                    <a:cubicBezTo>
                      <a:pt x="168" y="67"/>
                      <a:pt x="168" y="67"/>
                      <a:pt x="168" y="67"/>
                    </a:cubicBezTo>
                    <a:cubicBezTo>
                      <a:pt x="143" y="67"/>
                      <a:pt x="143" y="67"/>
                      <a:pt x="143" y="67"/>
                    </a:cubicBezTo>
                    <a:cubicBezTo>
                      <a:pt x="136" y="67"/>
                      <a:pt x="136" y="67"/>
                      <a:pt x="136" y="67"/>
                    </a:cubicBezTo>
                    <a:cubicBezTo>
                      <a:pt x="136" y="43"/>
                      <a:pt x="136" y="43"/>
                      <a:pt x="136" y="43"/>
                    </a:cubicBezTo>
                    <a:cubicBezTo>
                      <a:pt x="135" y="43"/>
                      <a:pt x="135" y="43"/>
                      <a:pt x="135" y="43"/>
                    </a:cubicBezTo>
                    <a:cubicBezTo>
                      <a:pt x="134" y="54"/>
                      <a:pt x="128" y="63"/>
                      <a:pt x="119" y="66"/>
                    </a:cubicBezTo>
                    <a:cubicBezTo>
                      <a:pt x="116" y="67"/>
                      <a:pt x="113" y="67"/>
                      <a:pt x="110" y="67"/>
                    </a:cubicBezTo>
                    <a:cubicBezTo>
                      <a:pt x="110" y="67"/>
                      <a:pt x="109" y="67"/>
                      <a:pt x="109" y="67"/>
                    </a:cubicBezTo>
                    <a:cubicBezTo>
                      <a:pt x="107" y="67"/>
                      <a:pt x="107" y="67"/>
                      <a:pt x="107" y="67"/>
                    </a:cubicBezTo>
                    <a:cubicBezTo>
                      <a:pt x="107" y="67"/>
                      <a:pt x="107" y="67"/>
                      <a:pt x="107" y="67"/>
                    </a:cubicBezTo>
                    <a:cubicBezTo>
                      <a:pt x="88" y="67"/>
                      <a:pt x="88" y="67"/>
                      <a:pt x="88" y="67"/>
                    </a:cubicBezTo>
                    <a:cubicBezTo>
                      <a:pt x="88" y="67"/>
                      <a:pt x="88" y="67"/>
                      <a:pt x="88" y="67"/>
                    </a:cubicBezTo>
                    <a:cubicBezTo>
                      <a:pt x="88" y="67"/>
                      <a:pt x="88" y="67"/>
                      <a:pt x="88" y="67"/>
                    </a:cubicBezTo>
                    <a:cubicBezTo>
                      <a:pt x="24" y="67"/>
                      <a:pt x="24" y="67"/>
                      <a:pt x="24" y="67"/>
                    </a:cubicBezTo>
                    <a:cubicBezTo>
                      <a:pt x="11" y="67"/>
                      <a:pt x="0" y="56"/>
                      <a:pt x="0" y="43"/>
                    </a:cubicBezTo>
                    <a:cubicBezTo>
                      <a:pt x="0" y="0"/>
                      <a:pt x="0" y="0"/>
                      <a:pt x="0" y="0"/>
                    </a:cubicBezTo>
                    <a:cubicBezTo>
                      <a:pt x="41" y="0"/>
                      <a:pt x="41" y="0"/>
                      <a:pt x="41" y="0"/>
                    </a:cubicBezTo>
                    <a:cubicBezTo>
                      <a:pt x="90" y="0"/>
                      <a:pt x="90" y="0"/>
                      <a:pt x="90" y="0"/>
                    </a:cubicBezTo>
                    <a:cubicBezTo>
                      <a:pt x="90" y="0"/>
                      <a:pt x="90" y="0"/>
                      <a:pt x="90" y="0"/>
                    </a:cubicBezTo>
                    <a:cubicBezTo>
                      <a:pt x="116" y="0"/>
                      <a:pt x="116" y="0"/>
                      <a:pt x="116" y="0"/>
                    </a:cubicBezTo>
                    <a:cubicBezTo>
                      <a:pt x="116" y="0"/>
                      <a:pt x="116" y="0"/>
                      <a:pt x="116" y="0"/>
                    </a:cubicBezTo>
                    <a:cubicBezTo>
                      <a:pt x="124" y="0"/>
                      <a:pt x="124" y="0"/>
                      <a:pt x="124" y="0"/>
                    </a:cubicBezTo>
                    <a:cubicBezTo>
                      <a:pt x="148" y="0"/>
                      <a:pt x="167" y="18"/>
                      <a:pt x="168" y="41"/>
                    </a:cubicBezTo>
                    <a:cubicBezTo>
                      <a:pt x="168" y="43"/>
                      <a:pt x="168" y="43"/>
                      <a:pt x="168" y="43"/>
                    </a:cubicBezTo>
                    <a:close/>
                  </a:path>
                </a:pathLst>
              </a:custGeom>
              <a:solidFill>
                <a:srgbClr val="755243"/>
              </a:solidFill>
              <a:ln>
                <a:noFill/>
              </a:ln>
            </p:spPr>
            <p:txBody>
              <a:bodyPr vert="horz" anchor="t" wrap="square" tIns="45720" lIns="91440" bIns="45720" rIns="91440">
                <a:prstTxWarp prst="textNoShape">
                  <a:avLst/>
                </a:prstTxWarp>
              </a:bodyPr>
              <a:p>
                <a:pPr algn="l" marL="0"/>
              </a:p>
            </p:txBody>
          </p:sp>
          <p:sp>
            <p:nvSpPr>
              <p:cNvPr name="Freeform 57" id="57"/>
              <p:cNvSpPr/>
              <p:nvPr/>
            </p:nvSpPr>
            <p:spPr>
              <a:xfrm>
                <a:off x="8879868" y="980132"/>
                <a:ext cx="691355" cy="594192"/>
              </a:xfrm>
              <a:custGeom>
                <a:avLst/>
                <a:gdLst/>
                <a:ahLst/>
                <a:cxnLst/>
                <a:rect r="r" b="b" t="t" l="l"/>
                <a:pathLst>
                  <a:path w="78" h="67" stroke="true" fill="norm" extrusionOk="true">
                    <a:moveTo>
                      <a:pt x="78" y="67"/>
                    </a:moveTo>
                    <a:cubicBezTo>
                      <a:pt x="24" y="67"/>
                      <a:pt x="24" y="67"/>
                      <a:pt x="24" y="67"/>
                    </a:cubicBezTo>
                    <a:cubicBezTo>
                      <a:pt x="11" y="67"/>
                      <a:pt x="0" y="56"/>
                      <a:pt x="0" y="43"/>
                    </a:cubicBezTo>
                    <a:cubicBezTo>
                      <a:pt x="0" y="0"/>
                      <a:pt x="0" y="0"/>
                      <a:pt x="0" y="0"/>
                    </a:cubicBezTo>
                    <a:cubicBezTo>
                      <a:pt x="41" y="0"/>
                      <a:pt x="41" y="0"/>
                      <a:pt x="41" y="0"/>
                    </a:cubicBezTo>
                    <a:cubicBezTo>
                      <a:pt x="78" y="0"/>
                      <a:pt x="78" y="0"/>
                      <a:pt x="78" y="0"/>
                    </a:cubicBezTo>
                    <a:lnTo>
                      <a:pt x="78" y="67"/>
                    </a:lnTo>
                    <a:close/>
                  </a:path>
                </a:pathLst>
              </a:custGeom>
              <a:solidFill>
                <a:srgbClr val="8A6250"/>
              </a:solidFill>
              <a:ln>
                <a:noFill/>
              </a:ln>
            </p:spPr>
            <p:txBody>
              <a:bodyPr vert="horz" anchor="t" wrap="square" tIns="45720" lIns="91440" bIns="45720" rIns="91440">
                <a:prstTxWarp prst="textNoShape">
                  <a:avLst/>
                </a:prstTxWarp>
              </a:bodyPr>
              <a:p>
                <a:pPr algn="l" marL="0"/>
              </a:p>
            </p:txBody>
          </p:sp>
          <p:sp>
            <p:nvSpPr>
              <p:cNvPr name="Freeform 58" id="58"/>
              <p:cNvSpPr/>
              <p:nvPr/>
            </p:nvSpPr>
            <p:spPr>
              <a:xfrm>
                <a:off x="10071984" y="995806"/>
                <a:ext cx="284015" cy="866996"/>
              </a:xfrm>
              <a:custGeom>
                <a:avLst/>
                <a:gdLst/>
                <a:ahLst/>
                <a:cxnLst/>
                <a:rect r="r" b="b" t="t" l="l"/>
                <a:pathLst>
                  <a:path w="32" h="98" stroke="true" fill="norm" extrusionOk="true">
                    <a:moveTo>
                      <a:pt x="2" y="0"/>
                    </a:moveTo>
                    <a:cubicBezTo>
                      <a:pt x="0" y="3"/>
                      <a:pt x="1" y="9"/>
                      <a:pt x="1" y="16"/>
                    </a:cubicBezTo>
                    <a:cubicBezTo>
                      <a:pt x="1" y="80"/>
                      <a:pt x="1" y="80"/>
                      <a:pt x="1" y="80"/>
                    </a:cubicBezTo>
                    <a:cubicBezTo>
                      <a:pt x="1" y="90"/>
                      <a:pt x="8" y="98"/>
                      <a:pt x="17" y="98"/>
                    </a:cubicBezTo>
                    <a:cubicBezTo>
                      <a:pt x="17" y="98"/>
                      <a:pt x="17" y="98"/>
                      <a:pt x="17" y="98"/>
                    </a:cubicBezTo>
                    <a:cubicBezTo>
                      <a:pt x="17" y="98"/>
                      <a:pt x="18" y="98"/>
                      <a:pt x="18" y="98"/>
                    </a:cubicBezTo>
                    <a:cubicBezTo>
                      <a:pt x="32" y="98"/>
                      <a:pt x="32" y="98"/>
                      <a:pt x="32" y="98"/>
                    </a:cubicBezTo>
                    <a:cubicBezTo>
                      <a:pt x="32" y="82"/>
                      <a:pt x="32" y="82"/>
                      <a:pt x="32" y="82"/>
                    </a:cubicBezTo>
                    <a:cubicBezTo>
                      <a:pt x="32" y="81"/>
                      <a:pt x="32" y="81"/>
                      <a:pt x="32" y="80"/>
                    </a:cubicBezTo>
                    <a:cubicBezTo>
                      <a:pt x="32" y="36"/>
                      <a:pt x="32" y="36"/>
                      <a:pt x="32" y="36"/>
                    </a:cubicBezTo>
                    <a:cubicBezTo>
                      <a:pt x="30" y="19"/>
                      <a:pt x="18" y="5"/>
                      <a:pt x="2" y="0"/>
                    </a:cubicBezTo>
                    <a:close/>
                  </a:path>
                </a:pathLst>
              </a:custGeom>
              <a:solidFill>
                <a:srgbClr val="755243"/>
              </a:solidFill>
              <a:ln>
                <a:noFill/>
              </a:ln>
            </p:spPr>
            <p:txBody>
              <a:bodyPr vert="horz" anchor="t" wrap="square" tIns="45720" lIns="91440" bIns="45720" rIns="91440">
                <a:prstTxWarp prst="textNoShape">
                  <a:avLst/>
                </a:prstTxWarp>
              </a:bodyPr>
              <a:p>
                <a:pPr algn="l" marL="0"/>
              </a:p>
            </p:txBody>
          </p:sp>
          <p:sp>
            <p:nvSpPr>
              <p:cNvPr name="Freeform 59" id="59"/>
              <p:cNvSpPr/>
              <p:nvPr/>
            </p:nvSpPr>
            <p:spPr>
              <a:xfrm>
                <a:off x="8704226" y="3532534"/>
                <a:ext cx="467132" cy="396126"/>
              </a:xfrm>
              <a:custGeom>
                <a:avLst/>
                <a:gdLst/>
                <a:ahLst/>
                <a:cxnLst/>
                <a:rect r="r" b="b" t="t" l="l"/>
                <a:pathLst>
                  <a:path w="53" h="45" stroke="true" fill="norm" extrusionOk="true">
                    <a:moveTo>
                      <a:pt x="53" y="25"/>
                    </a:moveTo>
                    <a:cubicBezTo>
                      <a:pt x="39" y="40"/>
                      <a:pt x="39" y="40"/>
                      <a:pt x="39" y="40"/>
                    </a:cubicBezTo>
                    <a:cubicBezTo>
                      <a:pt x="36" y="43"/>
                      <a:pt x="32" y="44"/>
                      <a:pt x="28" y="44"/>
                    </a:cubicBezTo>
                    <a:cubicBezTo>
                      <a:pt x="23" y="45"/>
                      <a:pt x="20" y="44"/>
                      <a:pt x="16" y="41"/>
                    </a:cubicBezTo>
                    <a:cubicBezTo>
                      <a:pt x="0" y="26"/>
                      <a:pt x="0" y="26"/>
                      <a:pt x="0" y="26"/>
                    </a:cubicBezTo>
                    <a:cubicBezTo>
                      <a:pt x="25" y="0"/>
                      <a:pt x="25" y="0"/>
                      <a:pt x="25" y="0"/>
                    </a:cubicBezTo>
                    <a:lnTo>
                      <a:pt x="53" y="25"/>
                    </a:lnTo>
                    <a:close/>
                  </a:path>
                </a:pathLst>
              </a:custGeom>
              <a:solidFill>
                <a:srgbClr val="484848"/>
              </a:solidFill>
              <a:ln>
                <a:noFill/>
              </a:ln>
            </p:spPr>
            <p:txBody>
              <a:bodyPr vert="horz" anchor="t" wrap="square" tIns="45720" lIns="91440" bIns="45720" rIns="91440">
                <a:prstTxWarp prst="textNoShape">
                  <a:avLst/>
                </a:prstTxWarp>
              </a:bodyPr>
              <a:p>
                <a:pPr algn="l" marL="0"/>
              </a:p>
            </p:txBody>
          </p:sp>
          <p:sp>
            <p:nvSpPr>
              <p:cNvPr name="Freeform 60" id="60"/>
              <p:cNvSpPr/>
              <p:nvPr/>
            </p:nvSpPr>
            <p:spPr>
              <a:xfrm>
                <a:off x="10213992" y="3353157"/>
                <a:ext cx="336334" cy="1020215"/>
              </a:xfrm>
              <a:custGeom>
                <a:avLst/>
                <a:gdLst/>
                <a:ahLst/>
                <a:cxnLst/>
                <a:rect r="r" b="b" t="t" l="l"/>
                <a:pathLst>
                  <a:path w="38" h="115" stroke="true" fill="norm" extrusionOk="true">
                    <a:moveTo>
                      <a:pt x="38" y="20"/>
                    </a:moveTo>
                    <a:cubicBezTo>
                      <a:pt x="38" y="96"/>
                      <a:pt x="38" y="96"/>
                      <a:pt x="38" y="96"/>
                    </a:cubicBezTo>
                    <a:cubicBezTo>
                      <a:pt x="38" y="106"/>
                      <a:pt x="30" y="115"/>
                      <a:pt x="19" y="115"/>
                    </a:cubicBezTo>
                    <a:cubicBezTo>
                      <a:pt x="19" y="115"/>
                      <a:pt x="19" y="115"/>
                      <a:pt x="19" y="115"/>
                    </a:cubicBezTo>
                    <a:cubicBezTo>
                      <a:pt x="9" y="115"/>
                      <a:pt x="0" y="106"/>
                      <a:pt x="0" y="96"/>
                    </a:cubicBezTo>
                    <a:cubicBezTo>
                      <a:pt x="0" y="0"/>
                      <a:pt x="0" y="0"/>
                      <a:pt x="0" y="0"/>
                    </a:cubicBezTo>
                    <a:cubicBezTo>
                      <a:pt x="6" y="0"/>
                      <a:pt x="6" y="0"/>
                      <a:pt x="6" y="0"/>
                    </a:cubicBezTo>
                    <a:lnTo>
                      <a:pt x="38" y="20"/>
                    </a:lnTo>
                    <a:close/>
                  </a:path>
                </a:pathLst>
              </a:custGeom>
              <a:solidFill>
                <a:srgbClr val="242424"/>
              </a:solidFill>
              <a:ln>
                <a:noFill/>
              </a:ln>
            </p:spPr>
            <p:txBody>
              <a:bodyPr vert="horz" anchor="t" wrap="square" tIns="45720" lIns="91440" bIns="45720" rIns="91440">
                <a:prstTxWarp prst="textNoShape">
                  <a:avLst/>
                </a:prstTxWarp>
              </a:bodyPr>
              <a:p>
                <a:pPr algn="l" marL="0"/>
              </a:p>
            </p:txBody>
          </p:sp>
          <p:sp>
            <p:nvSpPr>
              <p:cNvPr name="Freeform 61" id="61"/>
              <p:cNvSpPr/>
              <p:nvPr/>
            </p:nvSpPr>
            <p:spPr>
              <a:xfrm>
                <a:off x="9552536" y="2673013"/>
                <a:ext cx="201800" cy="213014"/>
              </a:xfrm>
              <a:custGeom>
                <a:avLst/>
                <a:gdLst/>
                <a:ahLst/>
                <a:cxnLst/>
                <a:rect r="r" b="b" t="t" l="l"/>
                <a:pathLst>
                  <a:path w="54" h="57" stroke="true" fill="norm" extrusionOk="true">
                    <a:moveTo>
                      <a:pt x="0" y="14"/>
                    </a:moveTo>
                    <a:lnTo>
                      <a:pt x="28" y="57"/>
                    </a:lnTo>
                    <a:lnTo>
                      <a:pt x="54" y="14"/>
                    </a:lnTo>
                    <a:lnTo>
                      <a:pt x="28" y="0"/>
                    </a:lnTo>
                    <a:lnTo>
                      <a:pt x="0" y="14"/>
                    </a:lnTo>
                    <a:close/>
                  </a:path>
                </a:pathLst>
              </a:custGeom>
              <a:solidFill>
                <a:srgbClr val="B0B0B0"/>
              </a:solidFill>
              <a:ln>
                <a:noFill/>
              </a:ln>
            </p:spPr>
            <p:txBody>
              <a:bodyPr vert="horz" anchor="t" wrap="square" tIns="45720" lIns="91440" bIns="45720" rIns="91440">
                <a:prstTxWarp prst="textNoShape">
                  <a:avLst/>
                </a:prstTxWarp>
              </a:bodyPr>
              <a:p>
                <a:pPr algn="l" marL="0"/>
              </a:p>
            </p:txBody>
          </p:sp>
          <p:sp>
            <p:nvSpPr>
              <p:cNvPr name="Freeform 62" id="62"/>
              <p:cNvSpPr/>
              <p:nvPr/>
            </p:nvSpPr>
            <p:spPr>
              <a:xfrm>
                <a:off x="9552536" y="2673013"/>
                <a:ext cx="89689" cy="194325"/>
              </a:xfrm>
              <a:custGeom>
                <a:avLst/>
                <a:gdLst/>
                <a:ahLst/>
                <a:cxnLst/>
                <a:rect r="r" b="b" t="t" l="l"/>
                <a:pathLst>
                  <a:path w="24" h="52" stroke="true" fill="norm" extrusionOk="true">
                    <a:moveTo>
                      <a:pt x="0" y="14"/>
                    </a:moveTo>
                    <a:lnTo>
                      <a:pt x="24" y="52"/>
                    </a:lnTo>
                    <a:lnTo>
                      <a:pt x="24" y="0"/>
                    </a:lnTo>
                    <a:lnTo>
                      <a:pt x="0" y="14"/>
                    </a:lnTo>
                    <a:close/>
                  </a:path>
                </a:pathLst>
              </a:custGeom>
              <a:solidFill>
                <a:srgbClr val="BFBFBF"/>
              </a:solidFill>
              <a:ln>
                <a:noFill/>
              </a:ln>
            </p:spPr>
            <p:txBody>
              <a:bodyPr vert="horz" anchor="t" wrap="square" tIns="45720" lIns="91440" bIns="45720" rIns="91440">
                <a:prstTxWarp prst="textNoShape">
                  <a:avLst/>
                </a:prstTxWarp>
              </a:bodyPr>
              <a:p>
                <a:pPr algn="l" marL="0"/>
              </a:p>
            </p:txBody>
          </p:sp>
          <p:sp>
            <p:nvSpPr>
              <p:cNvPr name="Freeform 63" id="63"/>
              <p:cNvSpPr/>
              <p:nvPr/>
            </p:nvSpPr>
            <p:spPr>
              <a:xfrm>
                <a:off x="9313365" y="2557166"/>
                <a:ext cx="336334" cy="239172"/>
              </a:xfrm>
              <a:custGeom>
                <a:avLst/>
                <a:gdLst/>
                <a:ahLst/>
                <a:cxnLst/>
                <a:rect r="r" b="b" t="t" l="l"/>
                <a:pathLst>
                  <a:path w="90" h="64" stroke="true" fill="norm" extrusionOk="true">
                    <a:moveTo>
                      <a:pt x="33" y="0"/>
                    </a:moveTo>
                    <a:lnTo>
                      <a:pt x="0" y="0"/>
                    </a:lnTo>
                    <a:lnTo>
                      <a:pt x="35" y="64"/>
                    </a:lnTo>
                    <a:lnTo>
                      <a:pt x="90" y="31"/>
                    </a:lnTo>
                    <a:lnTo>
                      <a:pt x="33" y="0"/>
                    </a:lnTo>
                    <a:close/>
                  </a:path>
                </a:pathLst>
              </a:custGeom>
              <a:solidFill>
                <a:srgbClr val="FFFFFF"/>
              </a:solidFill>
              <a:ln>
                <a:noFill/>
              </a:ln>
            </p:spPr>
            <p:txBody>
              <a:bodyPr vert="horz" anchor="t" wrap="square" tIns="45720" lIns="91440" bIns="45720" rIns="91440">
                <a:prstTxWarp prst="textNoShape">
                  <a:avLst/>
                </a:prstTxWarp>
              </a:bodyPr>
              <a:p>
                <a:pPr algn="l" marL="0"/>
              </a:p>
            </p:txBody>
          </p:sp>
          <p:sp>
            <p:nvSpPr>
              <p:cNvPr name="Freeform 64" id="64"/>
              <p:cNvSpPr/>
              <p:nvPr/>
            </p:nvSpPr>
            <p:spPr>
              <a:xfrm>
                <a:off x="9657174" y="2557166"/>
                <a:ext cx="336334" cy="239172"/>
              </a:xfrm>
              <a:custGeom>
                <a:avLst/>
                <a:gdLst/>
                <a:ahLst/>
                <a:cxnLst/>
                <a:rect r="r" b="b" t="t" l="l"/>
                <a:pathLst>
                  <a:path w="90" h="64" stroke="true" fill="norm" extrusionOk="true">
                    <a:moveTo>
                      <a:pt x="57" y="0"/>
                    </a:moveTo>
                    <a:lnTo>
                      <a:pt x="90" y="0"/>
                    </a:lnTo>
                    <a:lnTo>
                      <a:pt x="55" y="64"/>
                    </a:lnTo>
                    <a:lnTo>
                      <a:pt x="0" y="31"/>
                    </a:lnTo>
                    <a:lnTo>
                      <a:pt x="57" y="0"/>
                    </a:lnTo>
                    <a:close/>
                  </a:path>
                </a:pathLst>
              </a:custGeom>
              <a:solidFill>
                <a:srgbClr val="FFFFFF"/>
              </a:solidFill>
              <a:ln>
                <a:noFill/>
              </a:ln>
            </p:spPr>
            <p:txBody>
              <a:bodyPr vert="horz" anchor="t" wrap="square" tIns="45720" lIns="91440" bIns="45720" rIns="91440">
                <a:prstTxWarp prst="textNoShape">
                  <a:avLst/>
                </a:prstTxWarp>
              </a:bodyPr>
              <a:p>
                <a:pPr algn="l" marL="0"/>
              </a:p>
            </p:txBody>
          </p:sp>
          <p:sp>
            <p:nvSpPr>
              <p:cNvPr name="Freeform 65" id="65"/>
              <p:cNvSpPr/>
              <p:nvPr/>
            </p:nvSpPr>
            <p:spPr>
              <a:xfrm>
                <a:off x="9571220" y="2785126"/>
                <a:ext cx="168168" cy="411075"/>
              </a:xfrm>
              <a:custGeom>
                <a:avLst/>
                <a:gdLst/>
                <a:ahLst/>
                <a:cxnLst/>
                <a:rect r="r" b="b" t="t" l="l"/>
                <a:pathLst>
                  <a:path w="45" h="110" stroke="true" fill="norm" extrusionOk="true">
                    <a:moveTo>
                      <a:pt x="0" y="67"/>
                    </a:moveTo>
                    <a:lnTo>
                      <a:pt x="23" y="0"/>
                    </a:lnTo>
                    <a:lnTo>
                      <a:pt x="45" y="69"/>
                    </a:lnTo>
                    <a:lnTo>
                      <a:pt x="23" y="110"/>
                    </a:lnTo>
                    <a:lnTo>
                      <a:pt x="0" y="67"/>
                    </a:lnTo>
                    <a:close/>
                  </a:path>
                </a:pathLst>
              </a:custGeom>
              <a:solidFill>
                <a:srgbClr val="B0B0B0"/>
              </a:solidFill>
              <a:ln>
                <a:noFill/>
              </a:ln>
            </p:spPr>
            <p:txBody>
              <a:bodyPr vert="horz" anchor="t" wrap="square" tIns="45720" lIns="91440" bIns="45720" rIns="91440">
                <a:prstTxWarp prst="textNoShape">
                  <a:avLst/>
                </a:prstTxWarp>
              </a:bodyPr>
              <a:p>
                <a:pPr algn="l" marL="0"/>
              </a:p>
            </p:txBody>
          </p:sp>
          <p:sp>
            <p:nvSpPr>
              <p:cNvPr name="Freeform 66" id="66"/>
              <p:cNvSpPr/>
              <p:nvPr/>
            </p:nvSpPr>
            <p:spPr>
              <a:xfrm>
                <a:off x="9571220" y="2815022"/>
                <a:ext cx="78479" cy="362494"/>
              </a:xfrm>
              <a:custGeom>
                <a:avLst/>
                <a:gdLst/>
                <a:ahLst/>
                <a:cxnLst/>
                <a:rect r="r" b="b" t="t" l="l"/>
                <a:pathLst>
                  <a:path w="21" h="97" stroke="true" fill="norm" extrusionOk="true">
                    <a:moveTo>
                      <a:pt x="0" y="59"/>
                    </a:moveTo>
                    <a:lnTo>
                      <a:pt x="21" y="0"/>
                    </a:lnTo>
                    <a:lnTo>
                      <a:pt x="21" y="97"/>
                    </a:lnTo>
                    <a:lnTo>
                      <a:pt x="0" y="59"/>
                    </a:lnTo>
                    <a:close/>
                  </a:path>
                </a:pathLst>
              </a:custGeom>
              <a:solidFill>
                <a:srgbClr val="BFBFBF"/>
              </a:solidFill>
              <a:ln>
                <a:noFill/>
              </a:ln>
            </p:spPr>
            <p:txBody>
              <a:bodyPr vert="horz" anchor="t" wrap="square" tIns="45720" lIns="91440" bIns="45720" rIns="91440">
                <a:prstTxWarp prst="textNoShape">
                  <a:avLst/>
                </a:prstTxWarp>
              </a:bodyPr>
              <a:p>
                <a:pPr algn="l" marL="0"/>
              </a:p>
            </p:txBody>
          </p:sp>
          <p:sp>
            <p:nvSpPr>
              <p:cNvPr name="Freeform 67" id="67"/>
              <p:cNvSpPr/>
              <p:nvPr/>
            </p:nvSpPr>
            <p:spPr>
              <a:xfrm>
                <a:off x="9190042" y="2564640"/>
                <a:ext cx="467132" cy="949210"/>
              </a:xfrm>
              <a:custGeom>
                <a:avLst/>
                <a:gdLst/>
                <a:ahLst/>
                <a:cxnLst/>
                <a:rect r="r" b="b" t="t" l="l"/>
                <a:pathLst>
                  <a:path w="125" h="254" stroke="true" fill="norm" extrusionOk="true">
                    <a:moveTo>
                      <a:pt x="33" y="0"/>
                    </a:moveTo>
                    <a:lnTo>
                      <a:pt x="0" y="83"/>
                    </a:lnTo>
                    <a:lnTo>
                      <a:pt x="54" y="81"/>
                    </a:lnTo>
                    <a:lnTo>
                      <a:pt x="12" y="128"/>
                    </a:lnTo>
                    <a:lnTo>
                      <a:pt x="123" y="254"/>
                    </a:lnTo>
                    <a:lnTo>
                      <a:pt x="125" y="169"/>
                    </a:lnTo>
                    <a:lnTo>
                      <a:pt x="33" y="0"/>
                    </a:lnTo>
                    <a:close/>
                  </a:path>
                </a:pathLst>
              </a:custGeom>
              <a:solidFill>
                <a:srgbClr val="5E5E5E"/>
              </a:solidFill>
              <a:ln>
                <a:noFill/>
              </a:ln>
            </p:spPr>
            <p:txBody>
              <a:bodyPr vert="horz" anchor="t" wrap="square" tIns="45720" lIns="91440" bIns="45720" rIns="91440">
                <a:prstTxWarp prst="textNoShape">
                  <a:avLst/>
                </a:prstTxWarp>
              </a:bodyPr>
              <a:p>
                <a:pPr algn="l" marL="0"/>
              </a:p>
            </p:txBody>
          </p:sp>
          <p:sp>
            <p:nvSpPr>
              <p:cNvPr name="Freeform 68" id="68"/>
              <p:cNvSpPr/>
              <p:nvPr/>
            </p:nvSpPr>
            <p:spPr>
              <a:xfrm>
                <a:off x="9649700" y="2564640"/>
                <a:ext cx="467132" cy="949210"/>
              </a:xfrm>
              <a:custGeom>
                <a:avLst/>
                <a:gdLst/>
                <a:ahLst/>
                <a:cxnLst/>
                <a:rect r="r" b="b" t="t" l="l"/>
                <a:pathLst>
                  <a:path w="125" h="254" stroke="true" fill="norm" extrusionOk="true">
                    <a:moveTo>
                      <a:pt x="92" y="0"/>
                    </a:moveTo>
                    <a:lnTo>
                      <a:pt x="125" y="83"/>
                    </a:lnTo>
                    <a:lnTo>
                      <a:pt x="71" y="81"/>
                    </a:lnTo>
                    <a:lnTo>
                      <a:pt x="113" y="128"/>
                    </a:lnTo>
                    <a:lnTo>
                      <a:pt x="0" y="254"/>
                    </a:lnTo>
                    <a:lnTo>
                      <a:pt x="0" y="169"/>
                    </a:lnTo>
                    <a:lnTo>
                      <a:pt x="92" y="0"/>
                    </a:lnTo>
                    <a:close/>
                  </a:path>
                </a:pathLst>
              </a:custGeom>
              <a:solidFill>
                <a:srgbClr val="4C4C4C"/>
              </a:solidFill>
              <a:ln>
                <a:noFill/>
              </a:ln>
            </p:spPr>
            <p:txBody>
              <a:bodyPr vert="horz" anchor="t" wrap="square" tIns="45720" lIns="91440" bIns="45720" rIns="91440">
                <a:prstTxWarp prst="textNoShape">
                  <a:avLst/>
                </a:prstTxWarp>
              </a:bodyPr>
              <a:p>
                <a:pPr algn="l" marL="0"/>
              </a:p>
            </p:txBody>
          </p:sp>
          <p:sp>
            <p:nvSpPr>
              <p:cNvPr name="Freeform 69" id="69"/>
              <p:cNvSpPr/>
              <p:nvPr/>
            </p:nvSpPr>
            <p:spPr>
              <a:xfrm>
                <a:off x="8199726" y="3061667"/>
                <a:ext cx="369969" cy="373704"/>
              </a:xfrm>
              <a:custGeom>
                <a:avLst/>
                <a:gdLst/>
                <a:ahLst/>
                <a:cxnLst/>
                <a:rect r="r" b="b" t="t" l="l"/>
                <a:pathLst>
                  <a:path w="42" h="42" stroke="true" fill="norm" extrusionOk="true">
                    <a:moveTo>
                      <a:pt x="42" y="14"/>
                    </a:moveTo>
                    <a:cubicBezTo>
                      <a:pt x="34" y="7"/>
                      <a:pt x="34" y="7"/>
                      <a:pt x="34" y="7"/>
                    </a:cubicBezTo>
                    <a:cubicBezTo>
                      <a:pt x="27" y="0"/>
                      <a:pt x="14" y="0"/>
                      <a:pt x="7" y="8"/>
                    </a:cubicBezTo>
                    <a:cubicBezTo>
                      <a:pt x="7" y="8"/>
                      <a:pt x="7" y="8"/>
                      <a:pt x="7" y="8"/>
                    </a:cubicBezTo>
                    <a:cubicBezTo>
                      <a:pt x="0" y="16"/>
                      <a:pt x="1" y="28"/>
                      <a:pt x="8" y="35"/>
                    </a:cubicBezTo>
                    <a:cubicBezTo>
                      <a:pt x="17" y="42"/>
                      <a:pt x="17" y="42"/>
                      <a:pt x="17" y="42"/>
                    </a:cubicBezTo>
                    <a:lnTo>
                      <a:pt x="42" y="14"/>
                    </a:lnTo>
                    <a:close/>
                  </a:path>
                </a:pathLst>
              </a:custGeom>
              <a:solidFill>
                <a:srgbClr val="F7C2AB"/>
              </a:solidFill>
              <a:ln>
                <a:noFill/>
              </a:ln>
            </p:spPr>
            <p:txBody>
              <a:bodyPr vert="horz" anchor="t" wrap="square" tIns="45720" lIns="91440" bIns="45720" rIns="91440">
                <a:prstTxWarp prst="textNoShape">
                  <a:avLst/>
                </a:prstTxWarp>
              </a:bodyPr>
              <a:p>
                <a:pPr algn="l" marL="0"/>
              </a:p>
            </p:txBody>
          </p:sp>
          <p:sp>
            <p:nvSpPr>
              <p:cNvPr name="Freeform 70" id="70"/>
              <p:cNvSpPr/>
              <p:nvPr/>
            </p:nvSpPr>
            <p:spPr>
              <a:xfrm>
                <a:off x="8233358" y="2919658"/>
                <a:ext cx="257857" cy="239172"/>
              </a:xfrm>
              <a:custGeom>
                <a:avLst/>
                <a:gdLst/>
                <a:ahLst/>
                <a:cxnLst/>
                <a:rect r="r" b="b" t="t" l="l"/>
                <a:pathLst>
                  <a:path w="29" h="27" stroke="true" fill="norm" extrusionOk="true">
                    <a:moveTo>
                      <a:pt x="2" y="8"/>
                    </a:moveTo>
                    <a:cubicBezTo>
                      <a:pt x="0" y="7"/>
                      <a:pt x="0" y="4"/>
                      <a:pt x="1" y="2"/>
                    </a:cubicBezTo>
                    <a:cubicBezTo>
                      <a:pt x="2" y="1"/>
                      <a:pt x="5" y="0"/>
                      <a:pt x="7" y="2"/>
                    </a:cubicBezTo>
                    <a:cubicBezTo>
                      <a:pt x="27" y="19"/>
                      <a:pt x="27" y="19"/>
                      <a:pt x="27" y="19"/>
                    </a:cubicBezTo>
                    <a:cubicBezTo>
                      <a:pt x="28" y="21"/>
                      <a:pt x="29" y="23"/>
                      <a:pt x="27" y="25"/>
                    </a:cubicBezTo>
                    <a:cubicBezTo>
                      <a:pt x="26" y="27"/>
                      <a:pt x="23" y="27"/>
                      <a:pt x="22" y="26"/>
                    </a:cubicBezTo>
                    <a:lnTo>
                      <a:pt x="2" y="8"/>
                    </a:lnTo>
                    <a:close/>
                  </a:path>
                </a:pathLst>
              </a:custGeom>
              <a:solidFill>
                <a:srgbClr val="F7C2AB"/>
              </a:solidFill>
              <a:ln>
                <a:noFill/>
              </a:ln>
            </p:spPr>
            <p:txBody>
              <a:bodyPr vert="horz" anchor="t" wrap="square" tIns="45720" lIns="91440" bIns="45720" rIns="91440">
                <a:prstTxWarp prst="textNoShape">
                  <a:avLst/>
                </a:prstTxWarp>
              </a:bodyPr>
              <a:p>
                <a:pPr algn="l" marL="0"/>
              </a:p>
            </p:txBody>
          </p:sp>
          <p:sp>
            <p:nvSpPr>
              <p:cNvPr name="Freeform 71" id="71"/>
              <p:cNvSpPr/>
              <p:nvPr/>
            </p:nvSpPr>
            <p:spPr>
              <a:xfrm>
                <a:off x="8412736" y="2957031"/>
                <a:ext cx="168168" cy="254120"/>
              </a:xfrm>
              <a:custGeom>
                <a:avLst/>
                <a:gdLst/>
                <a:ahLst/>
                <a:cxnLst/>
                <a:rect r="r" b="b" t="t" l="l"/>
                <a:pathLst>
                  <a:path w="19" h="29" stroke="true" fill="norm" extrusionOk="true">
                    <a:moveTo>
                      <a:pt x="2" y="7"/>
                    </a:moveTo>
                    <a:cubicBezTo>
                      <a:pt x="0" y="2"/>
                      <a:pt x="7" y="0"/>
                      <a:pt x="9" y="4"/>
                    </a:cubicBezTo>
                    <a:cubicBezTo>
                      <a:pt x="14" y="10"/>
                      <a:pt x="14" y="10"/>
                      <a:pt x="14" y="10"/>
                    </a:cubicBezTo>
                    <a:cubicBezTo>
                      <a:pt x="18" y="23"/>
                      <a:pt x="18" y="23"/>
                      <a:pt x="18" y="23"/>
                    </a:cubicBezTo>
                    <a:cubicBezTo>
                      <a:pt x="19" y="25"/>
                      <a:pt x="18" y="27"/>
                      <a:pt x="16" y="28"/>
                    </a:cubicBezTo>
                    <a:cubicBezTo>
                      <a:pt x="14" y="29"/>
                      <a:pt x="11" y="28"/>
                      <a:pt x="11" y="26"/>
                    </a:cubicBezTo>
                    <a:cubicBezTo>
                      <a:pt x="7" y="15"/>
                      <a:pt x="7" y="15"/>
                      <a:pt x="7" y="15"/>
                    </a:cubicBezTo>
                    <a:lnTo>
                      <a:pt x="2" y="7"/>
                    </a:lnTo>
                    <a:close/>
                  </a:path>
                </a:pathLst>
              </a:custGeom>
              <a:solidFill>
                <a:srgbClr val="F7C2AB"/>
              </a:solidFill>
              <a:ln>
                <a:noFill/>
              </a:ln>
            </p:spPr>
            <p:txBody>
              <a:bodyPr vert="horz" anchor="t" wrap="square" tIns="45720" lIns="91440" bIns="45720" rIns="91440">
                <a:prstTxWarp prst="textNoShape">
                  <a:avLst/>
                </a:prstTxWarp>
              </a:bodyPr>
              <a:p>
                <a:pPr algn="l" marL="0"/>
              </a:p>
            </p:txBody>
          </p:sp>
          <p:sp>
            <p:nvSpPr>
              <p:cNvPr name="Freeform 72" id="72"/>
              <p:cNvSpPr/>
              <p:nvPr/>
            </p:nvSpPr>
            <p:spPr>
              <a:xfrm>
                <a:off x="10083197" y="4212677"/>
                <a:ext cx="627824" cy="302702"/>
              </a:xfrm>
              <a:custGeom>
                <a:avLst/>
                <a:gdLst/>
                <a:ahLst/>
                <a:cxnLst/>
                <a:rect r="r" b="b" t="t" l="l"/>
                <a:pathLst>
                  <a:path w="71" h="34" stroke="true" fill="norm" extrusionOk="true">
                    <a:moveTo>
                      <a:pt x="23" y="0"/>
                    </a:moveTo>
                    <a:cubicBezTo>
                      <a:pt x="49" y="0"/>
                      <a:pt x="49" y="0"/>
                      <a:pt x="49" y="0"/>
                    </a:cubicBezTo>
                    <a:cubicBezTo>
                      <a:pt x="49" y="0"/>
                      <a:pt x="49" y="0"/>
                      <a:pt x="49" y="0"/>
                    </a:cubicBezTo>
                    <a:cubicBezTo>
                      <a:pt x="49" y="0"/>
                      <a:pt x="49" y="0"/>
                      <a:pt x="49" y="0"/>
                    </a:cubicBezTo>
                    <a:cubicBezTo>
                      <a:pt x="55" y="0"/>
                      <a:pt x="61" y="3"/>
                      <a:pt x="65" y="7"/>
                    </a:cubicBezTo>
                    <a:cubicBezTo>
                      <a:pt x="69" y="11"/>
                      <a:pt x="71" y="16"/>
                      <a:pt x="71" y="22"/>
                    </a:cubicBezTo>
                    <a:cubicBezTo>
                      <a:pt x="71" y="22"/>
                      <a:pt x="71" y="22"/>
                      <a:pt x="71" y="22"/>
                    </a:cubicBezTo>
                    <a:cubicBezTo>
                      <a:pt x="71" y="22"/>
                      <a:pt x="71" y="22"/>
                      <a:pt x="71" y="22"/>
                    </a:cubicBezTo>
                    <a:cubicBezTo>
                      <a:pt x="71" y="34"/>
                      <a:pt x="71" y="34"/>
                      <a:pt x="71" y="34"/>
                    </a:cubicBezTo>
                    <a:cubicBezTo>
                      <a:pt x="62" y="34"/>
                      <a:pt x="62" y="34"/>
                      <a:pt x="62" y="34"/>
                    </a:cubicBezTo>
                    <a:cubicBezTo>
                      <a:pt x="62" y="22"/>
                      <a:pt x="62" y="22"/>
                      <a:pt x="62" y="22"/>
                    </a:cubicBezTo>
                    <a:cubicBezTo>
                      <a:pt x="62" y="22"/>
                      <a:pt x="62" y="22"/>
                      <a:pt x="62" y="22"/>
                    </a:cubicBezTo>
                    <a:cubicBezTo>
                      <a:pt x="62" y="22"/>
                      <a:pt x="62" y="22"/>
                      <a:pt x="62" y="22"/>
                    </a:cubicBezTo>
                    <a:cubicBezTo>
                      <a:pt x="62" y="19"/>
                      <a:pt x="60" y="16"/>
                      <a:pt x="58" y="14"/>
                    </a:cubicBezTo>
                    <a:cubicBezTo>
                      <a:pt x="56" y="11"/>
                      <a:pt x="53" y="10"/>
                      <a:pt x="49" y="10"/>
                    </a:cubicBezTo>
                    <a:cubicBezTo>
                      <a:pt x="49" y="10"/>
                      <a:pt x="49" y="10"/>
                      <a:pt x="49" y="10"/>
                    </a:cubicBezTo>
                    <a:cubicBezTo>
                      <a:pt x="49" y="10"/>
                      <a:pt x="49" y="10"/>
                      <a:pt x="49" y="10"/>
                    </a:cubicBezTo>
                    <a:cubicBezTo>
                      <a:pt x="23" y="10"/>
                      <a:pt x="23" y="10"/>
                      <a:pt x="23" y="10"/>
                    </a:cubicBezTo>
                    <a:cubicBezTo>
                      <a:pt x="23" y="10"/>
                      <a:pt x="23" y="10"/>
                      <a:pt x="23" y="10"/>
                    </a:cubicBezTo>
                    <a:cubicBezTo>
                      <a:pt x="23" y="10"/>
                      <a:pt x="23" y="10"/>
                      <a:pt x="23" y="10"/>
                    </a:cubicBezTo>
                    <a:cubicBezTo>
                      <a:pt x="19" y="10"/>
                      <a:pt x="16" y="11"/>
                      <a:pt x="14" y="14"/>
                    </a:cubicBezTo>
                    <a:cubicBezTo>
                      <a:pt x="11" y="16"/>
                      <a:pt x="10" y="19"/>
                      <a:pt x="10" y="22"/>
                    </a:cubicBezTo>
                    <a:cubicBezTo>
                      <a:pt x="10" y="22"/>
                      <a:pt x="10" y="22"/>
                      <a:pt x="10" y="22"/>
                    </a:cubicBezTo>
                    <a:cubicBezTo>
                      <a:pt x="10" y="22"/>
                      <a:pt x="10" y="22"/>
                      <a:pt x="10" y="22"/>
                    </a:cubicBezTo>
                    <a:cubicBezTo>
                      <a:pt x="10" y="34"/>
                      <a:pt x="10" y="34"/>
                      <a:pt x="10" y="34"/>
                    </a:cubicBezTo>
                    <a:cubicBezTo>
                      <a:pt x="0" y="34"/>
                      <a:pt x="0" y="34"/>
                      <a:pt x="0" y="34"/>
                    </a:cubicBezTo>
                    <a:cubicBezTo>
                      <a:pt x="0" y="22"/>
                      <a:pt x="0" y="22"/>
                      <a:pt x="0" y="22"/>
                    </a:cubicBezTo>
                    <a:cubicBezTo>
                      <a:pt x="0" y="22"/>
                      <a:pt x="0" y="22"/>
                      <a:pt x="0" y="22"/>
                    </a:cubicBezTo>
                    <a:cubicBezTo>
                      <a:pt x="0" y="22"/>
                      <a:pt x="0" y="22"/>
                      <a:pt x="0" y="22"/>
                    </a:cubicBezTo>
                    <a:cubicBezTo>
                      <a:pt x="0" y="16"/>
                      <a:pt x="3" y="11"/>
                      <a:pt x="7" y="7"/>
                    </a:cubicBezTo>
                    <a:cubicBezTo>
                      <a:pt x="11" y="3"/>
                      <a:pt x="17" y="1"/>
                      <a:pt x="23" y="0"/>
                    </a:cubicBezTo>
                    <a:cubicBezTo>
                      <a:pt x="23" y="0"/>
                      <a:pt x="23" y="0"/>
                      <a:pt x="23" y="0"/>
                    </a:cubicBezTo>
                    <a:close/>
                  </a:path>
                </a:pathLst>
              </a:custGeom>
              <a:solidFill>
                <a:srgbClr val="7C7A79"/>
              </a:solidFill>
              <a:ln>
                <a:noFill/>
              </a:ln>
            </p:spPr>
            <p:txBody>
              <a:bodyPr vert="horz" anchor="t" wrap="square" tIns="45720" lIns="91440" bIns="45720" rIns="91440">
                <a:prstTxWarp prst="textNoShape">
                  <a:avLst/>
                </a:prstTxWarp>
              </a:bodyPr>
              <a:p>
                <a:pPr algn="l" marL="0"/>
              </a:p>
            </p:txBody>
          </p:sp>
          <p:sp>
            <p:nvSpPr>
              <p:cNvPr name="AutoShape 73" id="73"/>
              <p:cNvSpPr/>
              <p:nvPr/>
            </p:nvSpPr>
            <p:spPr>
              <a:xfrm>
                <a:off x="9739389" y="4470534"/>
                <a:ext cx="1322914" cy="982844"/>
              </a:xfrm>
              <a:prstGeom prst="rect">
                <a:avLst/>
              </a:prstGeom>
              <a:solidFill>
                <a:srgbClr val="242424"/>
              </a:solidFill>
              <a:ln>
                <a:noFill/>
              </a:ln>
            </p:spPr>
            <p:txBody>
              <a:bodyPr vert="horz" anchor="t" wrap="square" tIns="45720" lIns="91440" bIns="45720" rIns="91440">
                <a:prstTxWarp prst="textNoShape">
                  <a:avLst/>
                </a:prstTxWarp>
              </a:bodyPr>
              <a:p>
                <a:pPr algn="l" marL="0"/>
              </a:p>
            </p:txBody>
          </p:sp>
          <p:sp>
            <p:nvSpPr>
              <p:cNvPr name="Freeform 74" id="74"/>
              <p:cNvSpPr/>
              <p:nvPr/>
            </p:nvSpPr>
            <p:spPr>
              <a:xfrm>
                <a:off x="9739389" y="4515379"/>
                <a:ext cx="1322914" cy="646510"/>
              </a:xfrm>
              <a:custGeom>
                <a:avLst/>
                <a:gdLst/>
                <a:ahLst/>
                <a:cxnLst/>
                <a:rect r="r" b="b" t="t" l="l"/>
                <a:pathLst>
                  <a:path w="354" h="173" stroke="true" fill="norm" extrusionOk="true">
                    <a:moveTo>
                      <a:pt x="354" y="0"/>
                    </a:moveTo>
                    <a:lnTo>
                      <a:pt x="354" y="133"/>
                    </a:lnTo>
                    <a:lnTo>
                      <a:pt x="182" y="173"/>
                    </a:lnTo>
                    <a:lnTo>
                      <a:pt x="0" y="133"/>
                    </a:lnTo>
                    <a:lnTo>
                      <a:pt x="0" y="0"/>
                    </a:lnTo>
                    <a:lnTo>
                      <a:pt x="354" y="0"/>
                    </a:lnTo>
                    <a:close/>
                  </a:path>
                </a:pathLst>
              </a:custGeom>
              <a:solidFill>
                <a:srgbClr val="420B26"/>
              </a:solidFill>
              <a:ln>
                <a:noFill/>
              </a:ln>
            </p:spPr>
            <p:txBody>
              <a:bodyPr vert="horz" anchor="t" wrap="square" tIns="45720" lIns="91440" bIns="45720" rIns="91440">
                <a:prstTxWarp prst="textNoShape">
                  <a:avLst/>
                </a:prstTxWarp>
              </a:bodyPr>
              <a:p>
                <a:pPr algn="l" marL="0"/>
              </a:p>
            </p:txBody>
          </p:sp>
          <p:sp>
            <p:nvSpPr>
              <p:cNvPr name="Freeform 75" id="75"/>
              <p:cNvSpPr/>
              <p:nvPr/>
            </p:nvSpPr>
            <p:spPr>
              <a:xfrm>
                <a:off x="9702018" y="4451848"/>
                <a:ext cx="1397655" cy="683881"/>
              </a:xfrm>
              <a:custGeom>
                <a:avLst/>
                <a:gdLst/>
                <a:ahLst/>
                <a:cxnLst/>
                <a:rect r="r" b="b" t="t" l="l"/>
                <a:pathLst>
                  <a:path w="374" h="183" stroke="true" fill="norm" extrusionOk="true">
                    <a:moveTo>
                      <a:pt x="0" y="0"/>
                    </a:moveTo>
                    <a:lnTo>
                      <a:pt x="374" y="0"/>
                    </a:lnTo>
                    <a:lnTo>
                      <a:pt x="374" y="140"/>
                    </a:lnTo>
                    <a:lnTo>
                      <a:pt x="194" y="183"/>
                    </a:lnTo>
                    <a:lnTo>
                      <a:pt x="0" y="140"/>
                    </a:lnTo>
                    <a:lnTo>
                      <a:pt x="0" y="0"/>
                    </a:lnTo>
                    <a:close/>
                  </a:path>
                </a:pathLst>
              </a:custGeom>
              <a:solidFill>
                <a:srgbClr val="4C4C4C"/>
              </a:solidFill>
              <a:ln>
                <a:noFill/>
              </a:ln>
            </p:spPr>
            <p:txBody>
              <a:bodyPr vert="horz" anchor="t" wrap="square" tIns="45720" lIns="91440" bIns="45720" rIns="91440">
                <a:prstTxWarp prst="textNoShape">
                  <a:avLst/>
                </a:prstTxWarp>
              </a:bodyPr>
              <a:p>
                <a:pPr algn="l" marL="0"/>
              </a:p>
            </p:txBody>
          </p:sp>
          <p:sp>
            <p:nvSpPr>
              <p:cNvPr name="AutoShape 76" id="76"/>
              <p:cNvSpPr/>
              <p:nvPr/>
            </p:nvSpPr>
            <p:spPr>
              <a:xfrm>
                <a:off x="10348526" y="5038564"/>
                <a:ext cx="149482" cy="149483"/>
              </a:xfrm>
              <a:prstGeom prst="rect">
                <a:avLst/>
              </a:prstGeom>
              <a:solidFill>
                <a:schemeClr val="bg1"/>
              </a:solidFill>
              <a:ln>
                <a:noFill/>
              </a:ln>
            </p:spPr>
            <p:txBody>
              <a:bodyPr vert="horz" anchor="t" wrap="square" tIns="45720" lIns="91440" bIns="45720" rIns="91440">
                <a:prstTxWarp prst="textNoShape">
                  <a:avLst/>
                </a:prstTxWarp>
              </a:bodyPr>
              <a:p>
                <a:pPr algn="l" marL="0"/>
              </a:p>
            </p:txBody>
          </p:sp>
          <p:sp>
            <p:nvSpPr>
              <p:cNvPr name="AutoShape 77" id="77"/>
              <p:cNvSpPr/>
              <p:nvPr/>
            </p:nvSpPr>
            <p:spPr>
              <a:xfrm>
                <a:off x="10348526" y="5038564"/>
                <a:ext cx="78479" cy="149483"/>
              </a:xfrm>
              <a:prstGeom prst="rect">
                <a:avLst/>
              </a:prstGeom>
              <a:solidFill>
                <a:schemeClr val="bg1">
                  <a:lumMod val="95000"/>
                </a:schemeClr>
              </a:solidFill>
              <a:ln>
                <a:noFill/>
              </a:ln>
            </p:spPr>
            <p:txBody>
              <a:bodyPr vert="horz" anchor="t" wrap="square" tIns="45720" lIns="91440" bIns="45720" rIns="91440">
                <a:prstTxWarp prst="textNoShape">
                  <a:avLst/>
                </a:prstTxWarp>
              </a:bodyPr>
              <a:p>
                <a:pPr algn="l" marL="0"/>
              </a:p>
            </p:txBody>
          </p:sp>
          <p:sp>
            <p:nvSpPr>
              <p:cNvPr name="Freeform 78" id="78"/>
              <p:cNvSpPr/>
              <p:nvPr/>
            </p:nvSpPr>
            <p:spPr>
              <a:xfrm>
                <a:off x="10206520" y="4089356"/>
                <a:ext cx="362495" cy="291490"/>
              </a:xfrm>
              <a:custGeom>
                <a:avLst/>
                <a:gdLst/>
                <a:ahLst/>
                <a:cxnLst/>
                <a:rect r="r" b="b" t="t" l="l"/>
                <a:pathLst>
                  <a:path w="41" h="33" stroke="true" fill="norm" extrusionOk="true">
                    <a:moveTo>
                      <a:pt x="40" y="0"/>
                    </a:moveTo>
                    <a:cubicBezTo>
                      <a:pt x="40" y="11"/>
                      <a:pt x="40" y="11"/>
                      <a:pt x="40" y="11"/>
                    </a:cubicBezTo>
                    <a:cubicBezTo>
                      <a:pt x="41" y="22"/>
                      <a:pt x="32" y="31"/>
                      <a:pt x="21" y="32"/>
                    </a:cubicBezTo>
                    <a:cubicBezTo>
                      <a:pt x="21" y="32"/>
                      <a:pt x="21" y="32"/>
                      <a:pt x="21" y="32"/>
                    </a:cubicBezTo>
                    <a:cubicBezTo>
                      <a:pt x="11" y="33"/>
                      <a:pt x="1" y="24"/>
                      <a:pt x="1" y="14"/>
                    </a:cubicBezTo>
                    <a:cubicBezTo>
                      <a:pt x="0" y="2"/>
                      <a:pt x="0" y="2"/>
                      <a:pt x="0" y="2"/>
                    </a:cubicBezTo>
                    <a:lnTo>
                      <a:pt x="40" y="0"/>
                    </a:lnTo>
                    <a:close/>
                  </a:path>
                </a:pathLst>
              </a:custGeom>
              <a:solidFill>
                <a:srgbClr val="F7C2AB"/>
              </a:solidFill>
              <a:ln>
                <a:noFill/>
              </a:ln>
            </p:spPr>
            <p:txBody>
              <a:bodyPr vert="horz" anchor="t" wrap="square" tIns="45720" lIns="91440" bIns="45720" rIns="91440">
                <a:prstTxWarp prst="textNoShape">
                  <a:avLst/>
                </a:prstTxWarp>
              </a:bodyPr>
              <a:p>
                <a:pPr algn="l" marL="0"/>
              </a:p>
            </p:txBody>
          </p:sp>
        </p:grpSp>
      </p:grpSp>
      <p:sp>
        <p:nvSpPr>
          <p:cNvPr name="AutoShape 79" id="79"/>
          <p:cNvSpPr/>
          <p:nvPr/>
        </p:nvSpPr>
        <p:spPr>
          <a:xfrm>
            <a:off x="10795000" y="6540500"/>
            <a:ext cx="1270000" cy="190500"/>
          </a:xfrm>
          <a:prstGeom prst="rect">
            <a:avLst/>
          </a:prstGeom>
          <a:solidFill>
            <a:srgbClr val="000000">
              <a:alpha val="0"/>
            </a:srgbClr>
          </a:solidFill>
        </p:spPr>
        <p:txBody>
          <a:bodyPr anchor="t" rtlCol="false"/>
          <a:lstStyle/>
          <a:p>
            <a:pPr algn="r">
              <a:defRPr/>
            </a:pPr>
            <a:r>
              <a:rPr lang="en-US" b="false" i="false" sz="800" baseline="0" u="none">
                <a:solidFill>
                  <a:srgbClr val="808080"/>
                </a:solidFill>
                <a:latin typeface="Microsoft YaHei"/>
                <a:ea typeface="Microsoft YaHei"/>
              </a:rPr>
              <a:t>内容由AI生成</a:t>
            </a:r>
            <a:endParaRPr lang="en-US" sz="1100"/>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blipFill rotWithShape="true">
          <a:blip r:embed="rId2"/>
          <a:srcRect/>
          <a:stretch>
            <a:fillRect t="0" l="0" b="0" r="0"/>
          </a:stretch>
        </a:blipFill>
      </p:bgPr>
    </p:bg>
    <p:spTree>
      <p:nvGrpSpPr>
        <p:cNvPr id="1" name=""/>
        <p:cNvGrpSpPr/>
        <p:nvPr/>
      </p:nvGrpSpPr>
      <p:grpSpPr>
        <a:xfrm>
          <a:off x="0" y="0"/>
          <a:ext cx="0" cy="0"/>
          <a:chOff x="0" y="0"/>
          <a:chExt cx="0" cy="0"/>
        </a:xfrm>
      </p:grpSpPr>
      <p:sp>
        <p:nvSpPr>
          <p:cNvPr name="AutoShape 2" id="2"/>
          <p:cNvSpPr/>
          <p:nvPr/>
        </p:nvSpPr>
        <p:spPr>
          <a:xfrm>
            <a:off x="0" y="0"/>
            <a:ext cx="12192000" cy="6858000"/>
          </a:xfrm>
          <a:prstGeom prst="rect">
            <a:avLst/>
          </a:prstGeom>
          <a:gradFill rotWithShape="true" flip="none">
            <a:gsLst>
              <a:gs pos="0">
                <a:srgbClr val="0A854D"/>
              </a:gs>
              <a:gs pos="100000">
                <a:srgbClr val="318B49">
                  <a:alpha val="0"/>
                </a:srgbClr>
              </a:gs>
            </a:gsLst>
            <a:lin ang="5400000"/>
            <a:tileRect/>
          </a:gradFill>
          <a:ln>
            <a:noFill/>
          </a:ln>
        </p:spPr>
        <p:txBody>
          <a:bodyPr vert="horz" anchor="ctr" tIns="45720" lIns="91440" bIns="45720" rIns="91440"/>
          <a:p>
            <a:pPr algn="ctr" marL="0"/>
          </a:p>
        </p:txBody>
      </p:sp>
      <p:sp>
        <p:nvSpPr>
          <p:cNvPr name="TextBox 3" id="3"/>
          <p:cNvSpPr txBox="true"/>
          <p:nvPr/>
        </p:nvSpPr>
        <p:spPr>
          <a:xfrm>
            <a:off x="1665296" y="2971817"/>
            <a:ext cx="8861408" cy="830997"/>
          </a:xfrm>
          <a:prstGeom prst="rect">
            <a:avLst/>
          </a:prstGeom>
          <a:noFill/>
        </p:spPr>
        <p:txBody>
          <a:bodyPr anchor="t" rtlCol="false" vert="horz" wrap="square" tIns="45720" lIns="91440" bIns="45720" rIns="91440">
            <a:spAutoFit/>
          </a:bodyPr>
          <a:lstStyle/>
          <a:p>
            <a:pPr algn="ctr" marL="0">
              <a:defRPr/>
            </a:pPr>
            <a:r>
              <a:rPr lang="zh-CN" b="true" i="false" sz="4800" baseline="0" u="none" altLang="en-US">
                <a:solidFill>
                  <a:schemeClr val="bg1"/>
                </a:solidFill>
                <a:latin typeface="微软雅黑"/>
                <a:ea typeface="微软雅黑"/>
              </a:rPr>
              <a:t>栈和队列</a:t>
            </a:r>
            <a:endParaRPr lang="en-US" sz="1100"/>
          </a:p>
        </p:txBody>
      </p:sp>
      <p:sp>
        <p:nvSpPr>
          <p:cNvPr name="Freeform 4" id="4"/>
          <p:cNvSpPr/>
          <p:nvPr/>
        </p:nvSpPr>
        <p:spPr>
          <a:xfrm>
            <a:off x="650240" y="893196"/>
            <a:ext cx="378355" cy="378355"/>
          </a:xfrm>
          <a:custGeom>
            <a:avLst/>
            <a:gdLst/>
            <a:ahLst/>
            <a:cxnLst/>
            <a:rect r="r" b="b" t="t" l="l"/>
            <a:pathLst>
              <a:path w="634790" h="634790" stroke="true" fill="norm" extrusionOk="true">
                <a:moveTo>
                  <a:pt x="268240" y="235406"/>
                </a:moveTo>
                <a:lnTo>
                  <a:pt x="268240" y="486178"/>
                </a:lnTo>
                <a:lnTo>
                  <a:pt x="368960" y="486178"/>
                </a:lnTo>
                <a:lnTo>
                  <a:pt x="368960" y="235406"/>
                </a:lnTo>
                <a:close/>
                <a:moveTo>
                  <a:pt x="319337" y="127942"/>
                </a:moveTo>
                <a:cubicBezTo>
                  <a:pt x="305602" y="127942"/>
                  <a:pt x="294063" y="132613"/>
                  <a:pt x="284721" y="141955"/>
                </a:cubicBezTo>
                <a:cubicBezTo>
                  <a:pt x="275379" y="151296"/>
                  <a:pt x="270709" y="162667"/>
                  <a:pt x="270709" y="176066"/>
                </a:cubicBezTo>
                <a:cubicBezTo>
                  <a:pt x="270709" y="189754"/>
                  <a:pt x="275391" y="201281"/>
                  <a:pt x="284757" y="210646"/>
                </a:cubicBezTo>
                <a:cubicBezTo>
                  <a:pt x="294122" y="220012"/>
                  <a:pt x="305649" y="224695"/>
                  <a:pt x="319337" y="224695"/>
                </a:cubicBezTo>
                <a:cubicBezTo>
                  <a:pt x="332973" y="224695"/>
                  <a:pt x="344487" y="219999"/>
                  <a:pt x="353878" y="210607"/>
                </a:cubicBezTo>
                <a:cubicBezTo>
                  <a:pt x="363270" y="201215"/>
                  <a:pt x="367966" y="189701"/>
                  <a:pt x="367966" y="176066"/>
                </a:cubicBezTo>
                <a:cubicBezTo>
                  <a:pt x="367966" y="162719"/>
                  <a:pt x="363282" y="151362"/>
                  <a:pt x="353914" y="141994"/>
                </a:cubicBezTo>
                <a:cubicBezTo>
                  <a:pt x="344546" y="132626"/>
                  <a:pt x="333020" y="127942"/>
                  <a:pt x="319337" y="127942"/>
                </a:cubicBezTo>
                <a:close/>
                <a:moveTo>
                  <a:pt x="317395" y="0"/>
                </a:moveTo>
                <a:cubicBezTo>
                  <a:pt x="492687" y="0"/>
                  <a:pt x="634790" y="142103"/>
                  <a:pt x="634790" y="317395"/>
                </a:cubicBezTo>
                <a:cubicBezTo>
                  <a:pt x="634790" y="492687"/>
                  <a:pt x="492687" y="634790"/>
                  <a:pt x="317395" y="634790"/>
                </a:cubicBezTo>
                <a:cubicBezTo>
                  <a:pt x="142103" y="634790"/>
                  <a:pt x="0" y="492687"/>
                  <a:pt x="0" y="317395"/>
                </a:cubicBezTo>
                <a:cubicBezTo>
                  <a:pt x="0" y="142103"/>
                  <a:pt x="142103" y="0"/>
                  <a:pt x="317395" y="0"/>
                </a:cubicBezTo>
                <a:close/>
              </a:path>
            </a:pathLst>
          </a:custGeom>
          <a:solidFill>
            <a:schemeClr val="bg1"/>
          </a:solidFill>
          <a:ln>
            <a:noFill/>
          </a:ln>
        </p:spPr>
        <p:txBody>
          <a:bodyPr vert="horz" anchor="ctr" wrap="square" tIns="45720" lIns="91440" bIns="45720" rIns="91440">
            <a:noAutofit/>
          </a:bodyPr>
          <a:p>
            <a:pPr algn="ctr" marL="0"/>
          </a:p>
        </p:txBody>
      </p:sp>
      <p:sp>
        <p:nvSpPr>
          <p:cNvPr name="TextBox 5" id="5"/>
          <p:cNvSpPr txBox="true"/>
          <p:nvPr/>
        </p:nvSpPr>
        <p:spPr>
          <a:xfrm>
            <a:off x="1051967" y="890172"/>
            <a:ext cx="2569777" cy="400110"/>
          </a:xfrm>
          <a:prstGeom prst="rect">
            <a:avLst/>
          </a:prstGeom>
          <a:noFill/>
        </p:spPr>
        <p:txBody>
          <a:bodyPr anchor="t" rtlCol="false" vert="horz" wrap="square" tIns="45720" lIns="91440" bIns="45720" rIns="91440">
            <a:spAutoFit/>
          </a:bodyPr>
          <a:lstStyle/>
          <a:p>
            <a:pPr algn="l" marL="0">
              <a:defRPr/>
            </a:pPr>
            <a:r>
              <a:rPr lang="en-US" b="true" i="false" sz="2000" baseline="0" u="none">
                <a:solidFill>
                  <a:schemeClr val="bg1"/>
                </a:solidFill>
                <a:latin typeface="微软雅黑"/>
                <a:ea typeface="微软雅黑"/>
              </a:rPr>
              <a:t>YOUR LOGO</a:t>
            </a:r>
            <a:endParaRPr lang="en-US" sz="1100"/>
          </a:p>
        </p:txBody>
      </p:sp>
      <p:sp>
        <p:nvSpPr>
          <p:cNvPr name="TextBox 6" id="6"/>
          <p:cNvSpPr txBox="true"/>
          <p:nvPr/>
        </p:nvSpPr>
        <p:spPr>
          <a:xfrm>
            <a:off x="4283777" y="4106376"/>
            <a:ext cx="3624446" cy="369332"/>
          </a:xfrm>
          <a:prstGeom prst="rect">
            <a:avLst/>
          </a:prstGeom>
          <a:noFill/>
        </p:spPr>
        <p:txBody>
          <a:bodyPr anchor="t" rtlCol="false" vert="horz" wrap="square" tIns="45720" lIns="91440" bIns="45720" rIns="91440">
            <a:spAutoFit/>
          </a:bodyPr>
          <a:lstStyle/>
          <a:p>
            <a:pPr algn="l" marL="0">
              <a:defRPr/>
            </a:pPr>
            <a:r>
              <a:rPr lang="en-US" b="false" i="false" sz="1800" baseline="0" u="none">
                <a:solidFill>
                  <a:schemeClr val="bg1"/>
                </a:solidFill>
                <a:latin typeface="微软雅黑"/>
                <a:ea typeface="微软雅黑"/>
              </a:rPr>
              <a:t>Power point design</a:t>
            </a:r>
            <a:endParaRPr lang="en-US" sz="1100"/>
          </a:p>
        </p:txBody>
      </p:sp>
      <p:cxnSp>
        <p:nvCxnSpPr>
          <p:cNvPr name="Connector 7" id="7"/>
          <p:cNvCxnSpPr/>
          <p:nvPr/>
        </p:nvCxnSpPr>
        <p:spPr>
          <a:xfrm>
            <a:off x="6647813" y="4291042"/>
            <a:ext cx="1260410" cy="0"/>
          </a:xfrm>
          <a:prstGeom prst="line">
            <a:avLst/>
          </a:prstGeom>
          <a:ln w="9525">
            <a:solidFill>
              <a:schemeClr val="bg1"/>
            </a:solidFill>
          </a:ln>
        </p:spPr>
      </p:cxnSp>
      <p:grpSp>
        <p:nvGrpSpPr>
          <p:cNvPr name="Group 8" id="8"/>
          <p:cNvGrpSpPr/>
          <p:nvPr/>
        </p:nvGrpSpPr>
        <p:grpSpPr>
          <a:xfrm>
            <a:off x="4682966" y="1963176"/>
            <a:ext cx="2826067" cy="858555"/>
            <a:chOff x="4263846" y="2243095"/>
            <a:chExt cx="2826067" cy="858555"/>
          </a:xfrm>
        </p:grpSpPr>
        <p:sp>
          <p:nvSpPr>
            <p:cNvPr name="TextBox 9" id="9"/>
            <p:cNvSpPr txBox="true"/>
            <p:nvPr/>
          </p:nvSpPr>
          <p:spPr>
            <a:xfrm>
              <a:off x="4263846" y="2270653"/>
              <a:ext cx="1988820" cy="830997"/>
            </a:xfrm>
            <a:prstGeom prst="rect">
              <a:avLst/>
            </a:prstGeom>
            <a:noFill/>
          </p:spPr>
          <p:txBody>
            <a:bodyPr anchor="t" rtlCol="false" vert="horz" wrap="square" tIns="45720" lIns="91440" bIns="45720" rIns="91440">
              <a:spAutoFit/>
            </a:bodyPr>
            <a:lstStyle/>
            <a:p>
              <a:pPr algn="l" marL="0">
                <a:defRPr/>
              </a:pPr>
              <a:r>
                <a:rPr lang="en-US" b="false" i="false" sz="4800" baseline="0" u="none">
                  <a:solidFill>
                    <a:schemeClr val="bg1"/>
                  </a:solidFill>
                  <a:latin typeface="微软雅黑"/>
                  <a:ea typeface="微软雅黑"/>
                </a:rPr>
                <a:t>PART</a:t>
              </a:r>
              <a:endParaRPr lang="en-US" sz="1100"/>
            </a:p>
          </p:txBody>
        </p:sp>
        <p:sp>
          <p:nvSpPr>
            <p:cNvPr name="TextBox 10" id="10"/>
            <p:cNvSpPr txBox="true"/>
            <p:nvPr/>
          </p:nvSpPr>
          <p:spPr>
            <a:xfrm>
              <a:off x="6008599" y="2243095"/>
              <a:ext cx="1081314" cy="830997"/>
            </a:xfrm>
            <a:prstGeom prst="rect">
              <a:avLst/>
            </a:prstGeom>
            <a:noFill/>
          </p:spPr>
          <p:txBody>
            <a:bodyPr anchor="t" rtlCol="false" vert="horz" wrap="square" tIns="45720" lIns="91440" bIns="45720" rIns="91440">
              <a:spAutoFit/>
            </a:bodyPr>
            <a:lstStyle/>
            <a:p>
              <a:pPr algn="l" marL="0">
                <a:defRPr/>
              </a:pPr>
              <a:r>
                <a:rPr lang="en-US" b="false" i="false" sz="4800" baseline="0" u="none">
                  <a:solidFill>
                    <a:schemeClr val="bg1"/>
                  </a:solidFill>
                  <a:latin typeface="微软雅黑"/>
                  <a:ea typeface="微软雅黑"/>
                </a:rPr>
                <a:t>03</a:t>
              </a:r>
              <a:endParaRPr lang="en-US" sz="1100"/>
            </a:p>
          </p:txBody>
        </p:sp>
      </p:grpSp>
      <p:sp>
        <p:nvSpPr>
          <p:cNvPr name="AutoShape 11" id="11"/>
          <p:cNvSpPr/>
          <p:nvPr/>
        </p:nvSpPr>
        <p:spPr>
          <a:xfrm>
            <a:off x="10795000" y="6540500"/>
            <a:ext cx="1270000" cy="190500"/>
          </a:xfrm>
          <a:prstGeom prst="rect">
            <a:avLst/>
          </a:prstGeom>
          <a:solidFill>
            <a:srgbClr val="000000">
              <a:alpha val="0"/>
            </a:srgbClr>
          </a:solidFill>
        </p:spPr>
        <p:txBody>
          <a:bodyPr anchor="t" rtlCol="false"/>
          <a:lstStyle/>
          <a:p>
            <a:pPr algn="r">
              <a:defRPr/>
            </a:pPr>
            <a:r>
              <a:rPr lang="en-US" b="false" i="false" sz="800" baseline="0" u="none">
                <a:solidFill>
                  <a:srgbClr val="808080"/>
                </a:solidFill>
                <a:latin typeface="Microsoft YaHei"/>
                <a:ea typeface="Microsoft YaHei"/>
              </a:rPr>
              <a:t>内容由AI生成</a:t>
            </a:r>
            <a:endParaRPr lang="en-US" sz="1100"/>
          </a:p>
        </p:txBody>
      </p:sp>
    </p:spTree>
  </p:cSld>
  <p:clrMapOvr>
    <a:masterClrMapping/>
  </p:clrMapOvr>
</p:sld>
</file>

<file path=ppt/slides/slide13.xml><?xml version="1.0" encoding="utf-8"?>
<p:sld xmlns:p="http://schemas.openxmlformats.org/presentationml/2006/main" xmlns:a="http://schemas.openxmlformats.org/drawingml/2006/main">
  <p:cSld>
    <p:bg>
      <p:bgPr>
        <a:solidFill>
          <a:schemeClr val="bg1"/>
        </a:solidFill>
      </p:bgPr>
    </p:bg>
    <p:spTree>
      <p:nvGrpSpPr>
        <p:cNvPr id="1" name=""/>
        <p:cNvGrpSpPr/>
        <p:nvPr/>
      </p:nvGrpSpPr>
      <p:grpSpPr>
        <a:xfrm>
          <a:off x="0" y="0"/>
          <a:ext cx="0" cy="0"/>
          <a:chOff x="0" y="0"/>
          <a:chExt cx="0" cy="0"/>
        </a:xfrm>
      </p:grpSpPr>
      <p:grpSp>
        <p:nvGrpSpPr>
          <p:cNvPr name="Group 2" id="2"/>
          <p:cNvGrpSpPr/>
          <p:nvPr/>
        </p:nvGrpSpPr>
        <p:grpSpPr>
          <a:xfrm>
            <a:off x="7021747" y="1595174"/>
            <a:ext cx="4498506" cy="4493340"/>
            <a:chOff x="3359020" y="1758340"/>
            <a:chExt cx="4498506" cy="4317936"/>
          </a:xfrm>
        </p:grpSpPr>
        <p:sp>
          <p:nvSpPr>
            <p:cNvPr name="Freeform 3" id="3"/>
            <p:cNvSpPr/>
            <p:nvPr/>
          </p:nvSpPr>
          <p:spPr>
            <a:xfrm>
              <a:off x="3361724" y="1761048"/>
              <a:ext cx="446314" cy="2242457"/>
            </a:xfrm>
            <a:custGeom>
              <a:avLst/>
              <a:gdLst/>
              <a:ahLst/>
              <a:cxnLst/>
              <a:rect r="r" b="b" t="t" l="l"/>
              <a:pathLst>
                <a:path w="446314" h="2242457" stroke="true" fill="norm" extrusionOk="true">
                  <a:moveTo>
                    <a:pt x="446314" y="0"/>
                  </a:moveTo>
                  <a:lnTo>
                    <a:pt x="446314" y="5410"/>
                  </a:lnTo>
                  <a:lnTo>
                    <a:pt x="2721" y="446313"/>
                  </a:lnTo>
                  <a:lnTo>
                    <a:pt x="446314" y="446313"/>
                  </a:lnTo>
                  <a:lnTo>
                    <a:pt x="446314" y="1796142"/>
                  </a:lnTo>
                  <a:lnTo>
                    <a:pt x="2721" y="1796142"/>
                  </a:lnTo>
                  <a:lnTo>
                    <a:pt x="2722" y="1796143"/>
                  </a:lnTo>
                  <a:lnTo>
                    <a:pt x="446314" y="1796143"/>
                  </a:lnTo>
                  <a:lnTo>
                    <a:pt x="446314" y="2237045"/>
                  </a:lnTo>
                  <a:lnTo>
                    <a:pt x="446314" y="2237046"/>
                  </a:lnTo>
                  <a:lnTo>
                    <a:pt x="446314" y="2242457"/>
                  </a:lnTo>
                  <a:lnTo>
                    <a:pt x="0" y="1793420"/>
                  </a:lnTo>
                  <a:lnTo>
                    <a:pt x="0" y="449037"/>
                  </a:lnTo>
                  <a:close/>
                </a:path>
              </a:pathLst>
            </a:custGeom>
            <a:solidFill>
              <a:schemeClr val="accent6">
                <a:lumMod val="60000"/>
                <a:lumOff val="40000"/>
              </a:schemeClr>
            </a:solidFill>
            <a:ln>
              <a:noFill/>
            </a:ln>
          </p:spPr>
          <p:txBody>
            <a:bodyPr vert="horz" anchor="ctr" wrap="square" tIns="45720" lIns="91440" bIns="45720" rIns="91440">
              <a:noAutofit/>
            </a:bodyPr>
            <a:p>
              <a:pPr algn="ctr" marL="0"/>
            </a:p>
          </p:txBody>
        </p:sp>
        <p:sp>
          <p:nvSpPr>
            <p:cNvPr name="Freeform 4" id="4"/>
            <p:cNvSpPr/>
            <p:nvPr/>
          </p:nvSpPr>
          <p:spPr>
            <a:xfrm>
              <a:off x="3364446" y="1761047"/>
              <a:ext cx="1796143" cy="446315"/>
            </a:xfrm>
            <a:custGeom>
              <a:avLst/>
              <a:gdLst/>
              <a:ahLst/>
              <a:cxnLst/>
              <a:rect r="r" b="b" t="t" l="l"/>
              <a:pathLst>
                <a:path w="1796143" h="446315" stroke="true" fill="norm" extrusionOk="true">
                  <a:moveTo>
                    <a:pt x="449037" y="0"/>
                  </a:moveTo>
                  <a:lnTo>
                    <a:pt x="1793420" y="0"/>
                  </a:lnTo>
                  <a:lnTo>
                    <a:pt x="1796143" y="2707"/>
                  </a:lnTo>
                  <a:lnTo>
                    <a:pt x="1796143" y="446314"/>
                  </a:lnTo>
                  <a:lnTo>
                    <a:pt x="443593" y="446314"/>
                  </a:lnTo>
                  <a:lnTo>
                    <a:pt x="443593" y="446315"/>
                  </a:lnTo>
                  <a:lnTo>
                    <a:pt x="0" y="446315"/>
                  </a:lnTo>
                  <a:lnTo>
                    <a:pt x="443593" y="5412"/>
                  </a:lnTo>
                  <a:lnTo>
                    <a:pt x="443593" y="5411"/>
                  </a:lnTo>
                  <a:close/>
                </a:path>
              </a:pathLst>
            </a:custGeom>
            <a:solidFill>
              <a:schemeClr val="accent6">
                <a:lumMod val="60000"/>
                <a:lumOff val="40000"/>
              </a:schemeClr>
            </a:solidFill>
            <a:ln>
              <a:noFill/>
            </a:ln>
          </p:spPr>
          <p:txBody>
            <a:bodyPr vert="horz" anchor="ctr" wrap="square" tIns="45720" lIns="91440" bIns="45720" rIns="91440">
              <a:noAutofit/>
            </a:bodyPr>
            <a:p>
              <a:pPr algn="ctr" marL="0"/>
            </a:p>
          </p:txBody>
        </p:sp>
        <p:sp>
          <p:nvSpPr>
            <p:cNvPr name="Freeform 5" id="5"/>
            <p:cNvSpPr/>
            <p:nvPr/>
          </p:nvSpPr>
          <p:spPr>
            <a:xfrm>
              <a:off x="5160589" y="1761047"/>
              <a:ext cx="222479" cy="223836"/>
            </a:xfrm>
            <a:custGeom>
              <a:avLst/>
              <a:gdLst/>
              <a:ahLst/>
              <a:cxnLst/>
              <a:rect r="r" b="b" t="t" l="l"/>
              <a:pathLst>
                <a:path w="222479" h="223836" stroke="true" fill="norm" extrusionOk="true">
                  <a:moveTo>
                    <a:pt x="0" y="0"/>
                  </a:moveTo>
                  <a:lnTo>
                    <a:pt x="222479" y="223836"/>
                  </a:lnTo>
                  <a:lnTo>
                    <a:pt x="0" y="2707"/>
                  </a:lnTo>
                  <a:lnTo>
                    <a:pt x="0" y="0"/>
                  </a:lnTo>
                  <a:close/>
                </a:path>
              </a:pathLst>
            </a:custGeom>
            <a:solidFill>
              <a:srgbClr val="B7372A"/>
            </a:solidFill>
            <a:ln>
              <a:noFill/>
            </a:ln>
          </p:spPr>
          <p:txBody>
            <a:bodyPr vert="horz" anchor="ctr" tIns="45720" lIns="91440" bIns="45720" rIns="91440"/>
            <a:p>
              <a:pPr algn="ctr" marL="0"/>
            </a:p>
          </p:txBody>
        </p:sp>
        <p:sp>
          <p:nvSpPr>
            <p:cNvPr name="Freeform 6" id="6"/>
            <p:cNvSpPr/>
            <p:nvPr/>
          </p:nvSpPr>
          <p:spPr>
            <a:xfrm>
              <a:off x="5383068" y="1984883"/>
              <a:ext cx="223835" cy="222478"/>
            </a:xfrm>
            <a:custGeom>
              <a:avLst/>
              <a:gdLst/>
              <a:ahLst/>
              <a:cxnLst/>
              <a:rect r="r" b="b" t="t" l="l"/>
              <a:pathLst>
                <a:path w="223835" h="222478" stroke="true" fill="norm" extrusionOk="true">
                  <a:moveTo>
                    <a:pt x="0" y="0"/>
                  </a:moveTo>
                  <a:lnTo>
                    <a:pt x="223835" y="222478"/>
                  </a:lnTo>
                  <a:lnTo>
                    <a:pt x="221129" y="222478"/>
                  </a:lnTo>
                  <a:lnTo>
                    <a:pt x="0" y="0"/>
                  </a:lnTo>
                  <a:close/>
                </a:path>
              </a:pathLst>
            </a:custGeom>
            <a:solidFill>
              <a:srgbClr val="B7372A"/>
            </a:solidFill>
            <a:ln>
              <a:noFill/>
            </a:ln>
          </p:spPr>
          <p:txBody>
            <a:bodyPr vert="horz" anchor="ctr" tIns="45720" lIns="91440" bIns="45720" rIns="91440"/>
            <a:p>
              <a:pPr algn="ctr" marL="0"/>
            </a:p>
          </p:txBody>
        </p:sp>
        <p:sp>
          <p:nvSpPr>
            <p:cNvPr name="Freeform 7" id="7"/>
            <p:cNvSpPr/>
            <p:nvPr/>
          </p:nvSpPr>
          <p:spPr>
            <a:xfrm>
              <a:off x="5383068" y="3557191"/>
              <a:ext cx="223835" cy="222479"/>
            </a:xfrm>
            <a:custGeom>
              <a:avLst/>
              <a:gdLst/>
              <a:ahLst/>
              <a:cxnLst/>
              <a:rect r="r" b="b" t="t" l="l"/>
              <a:pathLst>
                <a:path w="223835" h="222479" stroke="true" fill="norm" extrusionOk="true">
                  <a:moveTo>
                    <a:pt x="221129" y="0"/>
                  </a:moveTo>
                  <a:lnTo>
                    <a:pt x="223835" y="0"/>
                  </a:lnTo>
                  <a:lnTo>
                    <a:pt x="0" y="222479"/>
                  </a:lnTo>
                  <a:lnTo>
                    <a:pt x="221129" y="0"/>
                  </a:lnTo>
                  <a:close/>
                </a:path>
              </a:pathLst>
            </a:custGeom>
            <a:solidFill>
              <a:srgbClr val="B7372A"/>
            </a:solidFill>
            <a:ln>
              <a:noFill/>
            </a:ln>
          </p:spPr>
          <p:txBody>
            <a:bodyPr vert="horz" anchor="ctr" tIns="45720" lIns="91440" bIns="45720" rIns="91440"/>
            <a:p>
              <a:pPr algn="ctr" marL="0"/>
            </a:p>
          </p:txBody>
        </p:sp>
        <p:sp>
          <p:nvSpPr>
            <p:cNvPr name="Freeform 8" id="8"/>
            <p:cNvSpPr/>
            <p:nvPr/>
          </p:nvSpPr>
          <p:spPr>
            <a:xfrm>
              <a:off x="5160589" y="3779670"/>
              <a:ext cx="222479" cy="223835"/>
            </a:xfrm>
            <a:custGeom>
              <a:avLst/>
              <a:gdLst/>
              <a:ahLst/>
              <a:cxnLst/>
              <a:rect r="r" b="b" t="t" l="l"/>
              <a:pathLst>
                <a:path w="222479" h="223835" stroke="true" fill="norm" extrusionOk="true">
                  <a:moveTo>
                    <a:pt x="222479" y="0"/>
                  </a:moveTo>
                  <a:lnTo>
                    <a:pt x="0" y="223835"/>
                  </a:lnTo>
                  <a:lnTo>
                    <a:pt x="0" y="221129"/>
                  </a:lnTo>
                  <a:lnTo>
                    <a:pt x="222479" y="0"/>
                  </a:lnTo>
                  <a:close/>
                </a:path>
              </a:pathLst>
            </a:custGeom>
            <a:solidFill>
              <a:srgbClr val="B7372A"/>
            </a:solidFill>
            <a:ln>
              <a:noFill/>
            </a:ln>
          </p:spPr>
          <p:txBody>
            <a:bodyPr vert="horz" anchor="ctr" tIns="45720" lIns="91440" bIns="45720" rIns="91440"/>
            <a:p>
              <a:pPr algn="ctr" marL="0"/>
            </a:p>
          </p:txBody>
        </p:sp>
        <p:sp>
          <p:nvSpPr>
            <p:cNvPr name="AutoShape 9" id="9"/>
            <p:cNvSpPr/>
            <p:nvPr/>
          </p:nvSpPr>
          <p:spPr>
            <a:xfrm flipH="true">
              <a:off x="5045261" y="1758340"/>
              <a:ext cx="116681" cy="446314"/>
            </a:xfrm>
            <a:prstGeom prst="rtTriangle">
              <a:avLst/>
            </a:prstGeom>
            <a:solidFill>
              <a:schemeClr val="tx1">
                <a:alpha val="85000"/>
                <a:lumMod val="75000"/>
                <a:lumOff val="25000"/>
              </a:schemeClr>
            </a:solidFill>
            <a:ln>
              <a:noFill/>
            </a:ln>
          </p:spPr>
          <p:txBody>
            <a:bodyPr vert="horz" anchor="ctr" tIns="45720" lIns="91440" bIns="45720" rIns="91440"/>
            <a:p>
              <a:pPr algn="ctr" marL="0"/>
            </a:p>
          </p:txBody>
        </p:sp>
        <p:sp>
          <p:nvSpPr>
            <p:cNvPr name="AutoShape 10" id="10"/>
            <p:cNvSpPr/>
            <p:nvPr/>
          </p:nvSpPr>
          <p:spPr>
            <a:xfrm flipH="true" rot="5400000">
              <a:off x="5325405" y="3272984"/>
              <a:ext cx="116681" cy="446314"/>
            </a:xfrm>
            <a:prstGeom prst="rtTriangle">
              <a:avLst/>
            </a:prstGeom>
            <a:solidFill>
              <a:schemeClr val="tx1">
                <a:alpha val="85000"/>
                <a:lumMod val="75000"/>
                <a:lumOff val="25000"/>
              </a:schemeClr>
            </a:solidFill>
            <a:ln>
              <a:noFill/>
            </a:ln>
          </p:spPr>
          <p:txBody>
            <a:bodyPr vert="horz" anchor="ctr" tIns="45720" lIns="91440" bIns="45720" rIns="91440"/>
            <a:p>
              <a:pPr algn="ctr" marL="0"/>
            </a:p>
          </p:txBody>
        </p:sp>
        <p:sp>
          <p:nvSpPr>
            <p:cNvPr name="AutoShape 11" id="11"/>
            <p:cNvSpPr/>
            <p:nvPr/>
          </p:nvSpPr>
          <p:spPr>
            <a:xfrm flipH="true" rot="16200000">
              <a:off x="3523836" y="2039838"/>
              <a:ext cx="116681" cy="446314"/>
            </a:xfrm>
            <a:prstGeom prst="rtTriangle">
              <a:avLst/>
            </a:prstGeom>
            <a:solidFill>
              <a:schemeClr val="tx1">
                <a:alpha val="85000"/>
                <a:lumMod val="75000"/>
                <a:lumOff val="25000"/>
              </a:schemeClr>
            </a:solidFill>
            <a:ln>
              <a:noFill/>
            </a:ln>
          </p:spPr>
          <p:txBody>
            <a:bodyPr vert="horz" anchor="ctr" tIns="45720" lIns="91440" bIns="45720" rIns="91440"/>
            <a:p>
              <a:pPr algn="ctr" marL="0"/>
            </a:p>
          </p:txBody>
        </p:sp>
        <p:sp>
          <p:nvSpPr>
            <p:cNvPr name="AutoShape 12" id="12"/>
            <p:cNvSpPr/>
            <p:nvPr/>
          </p:nvSpPr>
          <p:spPr>
            <a:xfrm flipV="true">
              <a:off x="3808039" y="3559898"/>
              <a:ext cx="116681" cy="446314"/>
            </a:xfrm>
            <a:prstGeom prst="rtTriangle">
              <a:avLst/>
            </a:prstGeom>
            <a:solidFill>
              <a:schemeClr val="tx1">
                <a:alpha val="85000"/>
                <a:lumMod val="75000"/>
                <a:lumOff val="25000"/>
              </a:schemeClr>
            </a:solidFill>
            <a:ln>
              <a:noFill/>
            </a:ln>
          </p:spPr>
          <p:txBody>
            <a:bodyPr vert="horz" anchor="ctr" tIns="45720" lIns="91440" bIns="45720" rIns="91440"/>
            <a:p>
              <a:pPr algn="ctr" marL="0"/>
            </a:p>
          </p:txBody>
        </p:sp>
        <p:sp>
          <p:nvSpPr>
            <p:cNvPr name="Freeform 13" id="13"/>
            <p:cNvSpPr/>
            <p:nvPr/>
          </p:nvSpPr>
          <p:spPr>
            <a:xfrm>
              <a:off x="5160589" y="2827688"/>
              <a:ext cx="446314" cy="446314"/>
            </a:xfrm>
            <a:custGeom>
              <a:avLst/>
              <a:gdLst/>
              <a:ahLst/>
              <a:cxnLst/>
              <a:rect r="r" b="b" t="t" l="l"/>
              <a:pathLst>
                <a:path w="446314" h="446314" stroke="true" fill="norm" extrusionOk="true">
                  <a:moveTo>
                    <a:pt x="0" y="0"/>
                  </a:moveTo>
                  <a:lnTo>
                    <a:pt x="446314" y="0"/>
                  </a:lnTo>
                  <a:lnTo>
                    <a:pt x="446314" y="446314"/>
                  </a:lnTo>
                  <a:lnTo>
                    <a:pt x="0" y="446314"/>
                  </a:lnTo>
                  <a:lnTo>
                    <a:pt x="0" y="0"/>
                  </a:lnTo>
                  <a:close/>
                </a:path>
              </a:pathLst>
            </a:custGeom>
            <a:solidFill>
              <a:srgbClr val="007448"/>
            </a:solidFill>
            <a:ln>
              <a:noFill/>
            </a:ln>
          </p:spPr>
          <p:txBody>
            <a:bodyPr vert="horz" anchor="ctr" wrap="square" tIns="45720" lIns="91440" bIns="45720" rIns="91440">
              <a:noAutofit/>
            </a:bodyPr>
            <a:p>
              <a:pPr algn="ctr" marL="0"/>
            </a:p>
          </p:txBody>
        </p:sp>
        <p:sp>
          <p:nvSpPr>
            <p:cNvPr name="Freeform 14" id="14"/>
            <p:cNvSpPr/>
            <p:nvPr/>
          </p:nvSpPr>
          <p:spPr>
            <a:xfrm>
              <a:off x="4482274" y="3557190"/>
              <a:ext cx="446314" cy="446314"/>
            </a:xfrm>
            <a:custGeom>
              <a:avLst/>
              <a:gdLst/>
              <a:ahLst/>
              <a:cxnLst/>
              <a:rect r="r" b="b" t="t" l="l"/>
              <a:pathLst>
                <a:path w="446314" h="446314" stroke="true" fill="norm" extrusionOk="true">
                  <a:moveTo>
                    <a:pt x="0" y="0"/>
                  </a:moveTo>
                  <a:lnTo>
                    <a:pt x="446314" y="0"/>
                  </a:lnTo>
                  <a:lnTo>
                    <a:pt x="446314" y="446314"/>
                  </a:lnTo>
                  <a:lnTo>
                    <a:pt x="0" y="446314"/>
                  </a:lnTo>
                  <a:lnTo>
                    <a:pt x="0" y="0"/>
                  </a:lnTo>
                  <a:close/>
                </a:path>
              </a:pathLst>
            </a:custGeom>
            <a:solidFill>
              <a:schemeClr val="accent6">
                <a:lumMod val="60000"/>
                <a:lumOff val="40000"/>
              </a:schemeClr>
            </a:solidFill>
            <a:ln>
              <a:noFill/>
            </a:ln>
          </p:spPr>
          <p:txBody>
            <a:bodyPr vert="horz" anchor="ctr" wrap="square" tIns="45720" lIns="91440" bIns="45720" rIns="91440">
              <a:noAutofit/>
            </a:bodyPr>
            <a:p>
              <a:pPr algn="ctr" marL="0"/>
            </a:p>
          </p:txBody>
        </p:sp>
        <p:sp>
          <p:nvSpPr>
            <p:cNvPr name="Freeform 15" id="15"/>
            <p:cNvSpPr/>
            <p:nvPr/>
          </p:nvSpPr>
          <p:spPr>
            <a:xfrm>
              <a:off x="6281139" y="3831111"/>
              <a:ext cx="446314" cy="446314"/>
            </a:xfrm>
            <a:custGeom>
              <a:avLst/>
              <a:gdLst/>
              <a:ahLst/>
              <a:cxnLst/>
              <a:rect r="r" b="b" t="t" l="l"/>
              <a:pathLst>
                <a:path w="446314" h="446314" stroke="true" fill="norm" extrusionOk="true">
                  <a:moveTo>
                    <a:pt x="0" y="0"/>
                  </a:moveTo>
                  <a:lnTo>
                    <a:pt x="446314" y="0"/>
                  </a:lnTo>
                  <a:lnTo>
                    <a:pt x="446314" y="446314"/>
                  </a:lnTo>
                  <a:lnTo>
                    <a:pt x="0" y="446314"/>
                  </a:lnTo>
                  <a:lnTo>
                    <a:pt x="0" y="0"/>
                  </a:lnTo>
                  <a:close/>
                </a:path>
              </a:pathLst>
            </a:custGeom>
            <a:solidFill>
              <a:srgbClr val="FEB834"/>
            </a:solidFill>
            <a:ln>
              <a:noFill/>
            </a:ln>
          </p:spPr>
          <p:txBody>
            <a:bodyPr vert="horz" anchor="ctr" wrap="square" tIns="45720" lIns="91440" bIns="45720" rIns="91440">
              <a:noAutofit/>
            </a:bodyPr>
            <a:p>
              <a:pPr algn="ctr" marL="0"/>
            </a:p>
          </p:txBody>
        </p:sp>
        <p:sp>
          <p:nvSpPr>
            <p:cNvPr name="Freeform 16" id="16"/>
            <p:cNvSpPr/>
            <p:nvPr/>
          </p:nvSpPr>
          <p:spPr>
            <a:xfrm>
              <a:off x="5612347" y="4623831"/>
              <a:ext cx="446314" cy="446314"/>
            </a:xfrm>
            <a:custGeom>
              <a:avLst/>
              <a:gdLst/>
              <a:ahLst/>
              <a:cxnLst/>
              <a:rect r="r" b="b" t="t" l="l"/>
              <a:pathLst>
                <a:path w="446314" h="446314" stroke="true" fill="norm" extrusionOk="true">
                  <a:moveTo>
                    <a:pt x="0" y="0"/>
                  </a:moveTo>
                  <a:lnTo>
                    <a:pt x="446314" y="0"/>
                  </a:lnTo>
                  <a:lnTo>
                    <a:pt x="446314" y="446314"/>
                  </a:lnTo>
                  <a:lnTo>
                    <a:pt x="0" y="446314"/>
                  </a:lnTo>
                  <a:lnTo>
                    <a:pt x="0" y="0"/>
                  </a:lnTo>
                  <a:close/>
                </a:path>
              </a:pathLst>
            </a:custGeom>
            <a:solidFill>
              <a:srgbClr val="007448"/>
            </a:solidFill>
            <a:ln>
              <a:noFill/>
            </a:ln>
          </p:spPr>
          <p:txBody>
            <a:bodyPr vert="horz" anchor="ctr" wrap="square" tIns="45720" lIns="91440" bIns="45720" rIns="91440">
              <a:noAutofit/>
            </a:bodyPr>
            <a:p>
              <a:pPr algn="ctr" marL="0"/>
            </a:p>
          </p:txBody>
        </p:sp>
        <p:sp>
          <p:nvSpPr>
            <p:cNvPr name="Freeform 17" id="17"/>
            <p:cNvSpPr/>
            <p:nvPr/>
          </p:nvSpPr>
          <p:spPr>
            <a:xfrm>
              <a:off x="5160589" y="1763755"/>
              <a:ext cx="446314" cy="1063933"/>
            </a:xfrm>
            <a:custGeom>
              <a:avLst/>
              <a:gdLst/>
              <a:ahLst/>
              <a:cxnLst/>
              <a:rect r="r" b="b" t="t" l="l"/>
              <a:pathLst>
                <a:path w="446314" h="1063933" stroke="true" fill="norm" extrusionOk="true">
                  <a:moveTo>
                    <a:pt x="0" y="0"/>
                  </a:moveTo>
                  <a:lnTo>
                    <a:pt x="222479" y="221129"/>
                  </a:lnTo>
                  <a:lnTo>
                    <a:pt x="443607" y="443606"/>
                  </a:lnTo>
                  <a:lnTo>
                    <a:pt x="443608" y="443606"/>
                  </a:lnTo>
                  <a:lnTo>
                    <a:pt x="446314" y="446329"/>
                  </a:lnTo>
                  <a:lnTo>
                    <a:pt x="446314" y="1063933"/>
                  </a:lnTo>
                  <a:lnTo>
                    <a:pt x="0" y="1063933"/>
                  </a:lnTo>
                  <a:lnTo>
                    <a:pt x="0" y="443607"/>
                  </a:lnTo>
                  <a:lnTo>
                    <a:pt x="0" y="443606"/>
                  </a:lnTo>
                  <a:lnTo>
                    <a:pt x="0" y="0"/>
                  </a:lnTo>
                  <a:close/>
                </a:path>
              </a:pathLst>
            </a:custGeom>
            <a:solidFill>
              <a:schemeClr val="accent6">
                <a:lumMod val="60000"/>
                <a:lumOff val="40000"/>
              </a:schemeClr>
            </a:solidFill>
            <a:ln>
              <a:noFill/>
            </a:ln>
          </p:spPr>
          <p:txBody>
            <a:bodyPr vert="horz" anchor="ctr" wrap="square" tIns="45720" lIns="91440" bIns="45720" rIns="91440">
              <a:noAutofit/>
            </a:bodyPr>
            <a:p>
              <a:pPr algn="ctr" marL="0"/>
            </a:p>
          </p:txBody>
        </p:sp>
        <p:sp>
          <p:nvSpPr>
            <p:cNvPr name="Freeform 18" id="18"/>
            <p:cNvSpPr/>
            <p:nvPr/>
          </p:nvSpPr>
          <p:spPr>
            <a:xfrm>
              <a:off x="4484997" y="2827688"/>
              <a:ext cx="675592" cy="446315"/>
            </a:xfrm>
            <a:custGeom>
              <a:avLst/>
              <a:gdLst/>
              <a:ahLst/>
              <a:cxnLst/>
              <a:rect r="r" b="b" t="t" l="l"/>
              <a:pathLst>
                <a:path w="675592" h="446315" stroke="true" fill="norm" extrusionOk="true">
                  <a:moveTo>
                    <a:pt x="449036" y="0"/>
                  </a:moveTo>
                  <a:lnTo>
                    <a:pt x="675592" y="0"/>
                  </a:lnTo>
                  <a:lnTo>
                    <a:pt x="675592" y="446314"/>
                  </a:lnTo>
                  <a:lnTo>
                    <a:pt x="443592" y="446314"/>
                  </a:lnTo>
                  <a:lnTo>
                    <a:pt x="443592" y="446315"/>
                  </a:lnTo>
                  <a:lnTo>
                    <a:pt x="443591" y="446315"/>
                  </a:lnTo>
                  <a:lnTo>
                    <a:pt x="443591" y="446314"/>
                  </a:lnTo>
                  <a:lnTo>
                    <a:pt x="0" y="446314"/>
                  </a:lnTo>
                  <a:lnTo>
                    <a:pt x="443592" y="5412"/>
                  </a:lnTo>
                  <a:lnTo>
                    <a:pt x="443592" y="5411"/>
                  </a:lnTo>
                  <a:lnTo>
                    <a:pt x="449036" y="0"/>
                  </a:lnTo>
                  <a:close/>
                </a:path>
              </a:pathLst>
            </a:custGeom>
            <a:solidFill>
              <a:srgbClr val="007448"/>
            </a:solidFill>
            <a:ln>
              <a:noFill/>
            </a:ln>
          </p:spPr>
          <p:txBody>
            <a:bodyPr vert="horz" anchor="ctr" wrap="square" tIns="45720" lIns="91440" bIns="45720" rIns="91440">
              <a:noAutofit/>
            </a:bodyPr>
            <a:p>
              <a:pPr algn="ctr" marL="0"/>
            </a:p>
          </p:txBody>
        </p:sp>
        <p:sp>
          <p:nvSpPr>
            <p:cNvPr name="Freeform 19" id="19"/>
            <p:cNvSpPr/>
            <p:nvPr/>
          </p:nvSpPr>
          <p:spPr>
            <a:xfrm>
              <a:off x="5606903" y="2827688"/>
              <a:ext cx="1120550" cy="1003423"/>
            </a:xfrm>
            <a:custGeom>
              <a:avLst/>
              <a:gdLst/>
              <a:ahLst/>
              <a:cxnLst/>
              <a:rect r="r" b="b" t="t" l="l"/>
              <a:pathLst>
                <a:path w="1120550" h="1003423" stroke="true" fill="norm" extrusionOk="true">
                  <a:moveTo>
                    <a:pt x="0" y="0"/>
                  </a:moveTo>
                  <a:lnTo>
                    <a:pt x="671513" y="0"/>
                  </a:lnTo>
                  <a:lnTo>
                    <a:pt x="674236" y="2707"/>
                  </a:lnTo>
                  <a:lnTo>
                    <a:pt x="674236" y="2708"/>
                  </a:lnTo>
                  <a:lnTo>
                    <a:pt x="896715" y="223837"/>
                  </a:lnTo>
                  <a:lnTo>
                    <a:pt x="1117843" y="446314"/>
                  </a:lnTo>
                  <a:lnTo>
                    <a:pt x="1117844" y="446314"/>
                  </a:lnTo>
                  <a:lnTo>
                    <a:pt x="1120550" y="449037"/>
                  </a:lnTo>
                  <a:lnTo>
                    <a:pt x="1120550" y="1003423"/>
                  </a:lnTo>
                  <a:lnTo>
                    <a:pt x="674236" y="1003423"/>
                  </a:lnTo>
                  <a:lnTo>
                    <a:pt x="674236" y="446315"/>
                  </a:lnTo>
                  <a:lnTo>
                    <a:pt x="674236" y="446314"/>
                  </a:lnTo>
                  <a:lnTo>
                    <a:pt x="0" y="446314"/>
                  </a:lnTo>
                  <a:lnTo>
                    <a:pt x="0" y="0"/>
                  </a:lnTo>
                  <a:close/>
                </a:path>
              </a:pathLst>
            </a:custGeom>
            <a:solidFill>
              <a:srgbClr val="007448"/>
            </a:solidFill>
            <a:ln>
              <a:noFill/>
            </a:ln>
          </p:spPr>
          <p:txBody>
            <a:bodyPr vert="horz" anchor="ctr" wrap="square" tIns="45720" lIns="91440" bIns="45720" rIns="91440">
              <a:noAutofit/>
            </a:bodyPr>
            <a:p>
              <a:pPr algn="ctr" marL="0"/>
            </a:p>
          </p:txBody>
        </p:sp>
        <p:sp>
          <p:nvSpPr>
            <p:cNvPr name="Freeform 20" id="20"/>
            <p:cNvSpPr/>
            <p:nvPr/>
          </p:nvSpPr>
          <p:spPr>
            <a:xfrm>
              <a:off x="4482274" y="2827689"/>
              <a:ext cx="446314" cy="729501"/>
            </a:xfrm>
            <a:custGeom>
              <a:avLst/>
              <a:gdLst/>
              <a:ahLst/>
              <a:cxnLst/>
              <a:rect r="r" b="b" t="t" l="l"/>
              <a:pathLst>
                <a:path w="446314" h="729501" stroke="true" fill="norm" extrusionOk="true">
                  <a:moveTo>
                    <a:pt x="446314" y="0"/>
                  </a:moveTo>
                  <a:lnTo>
                    <a:pt x="446314" y="5410"/>
                  </a:lnTo>
                  <a:lnTo>
                    <a:pt x="2721" y="446313"/>
                  </a:lnTo>
                  <a:lnTo>
                    <a:pt x="2723" y="446313"/>
                  </a:lnTo>
                  <a:lnTo>
                    <a:pt x="2722" y="446314"/>
                  </a:lnTo>
                  <a:lnTo>
                    <a:pt x="446314" y="446314"/>
                  </a:lnTo>
                  <a:lnTo>
                    <a:pt x="446314" y="729501"/>
                  </a:lnTo>
                  <a:lnTo>
                    <a:pt x="0" y="729501"/>
                  </a:lnTo>
                  <a:lnTo>
                    <a:pt x="0" y="449037"/>
                  </a:lnTo>
                  <a:lnTo>
                    <a:pt x="446314" y="0"/>
                  </a:lnTo>
                  <a:close/>
                </a:path>
              </a:pathLst>
            </a:custGeom>
            <a:solidFill>
              <a:srgbClr val="007448"/>
            </a:solidFill>
            <a:ln>
              <a:noFill/>
            </a:ln>
          </p:spPr>
          <p:txBody>
            <a:bodyPr vert="horz" anchor="ctr" wrap="square" tIns="45720" lIns="91440" bIns="45720" rIns="91440">
              <a:noAutofit/>
            </a:bodyPr>
            <a:p>
              <a:pPr algn="ctr" marL="0"/>
            </a:p>
          </p:txBody>
        </p:sp>
        <p:sp>
          <p:nvSpPr>
            <p:cNvPr name="Freeform 21" id="21"/>
            <p:cNvSpPr/>
            <p:nvPr/>
          </p:nvSpPr>
          <p:spPr>
            <a:xfrm>
              <a:off x="4928588" y="3274002"/>
              <a:ext cx="678315" cy="729502"/>
            </a:xfrm>
            <a:custGeom>
              <a:avLst/>
              <a:gdLst/>
              <a:ahLst/>
              <a:cxnLst/>
              <a:rect r="r" b="b" t="t" l="l"/>
              <a:pathLst>
                <a:path w="678315" h="729502" stroke="true" fill="norm" extrusionOk="true">
                  <a:moveTo>
                    <a:pt x="232001" y="0"/>
                  </a:moveTo>
                  <a:lnTo>
                    <a:pt x="678315" y="0"/>
                  </a:lnTo>
                  <a:lnTo>
                    <a:pt x="678315" y="280465"/>
                  </a:lnTo>
                  <a:lnTo>
                    <a:pt x="675609" y="283188"/>
                  </a:lnTo>
                  <a:lnTo>
                    <a:pt x="454480" y="505667"/>
                  </a:lnTo>
                  <a:lnTo>
                    <a:pt x="232001" y="726796"/>
                  </a:lnTo>
                  <a:lnTo>
                    <a:pt x="229278" y="729502"/>
                  </a:lnTo>
                  <a:lnTo>
                    <a:pt x="0" y="729502"/>
                  </a:lnTo>
                  <a:lnTo>
                    <a:pt x="0" y="283188"/>
                  </a:lnTo>
                  <a:lnTo>
                    <a:pt x="232001" y="283188"/>
                  </a:lnTo>
                  <a:lnTo>
                    <a:pt x="232001" y="0"/>
                  </a:lnTo>
                  <a:close/>
                </a:path>
              </a:pathLst>
            </a:custGeom>
            <a:solidFill>
              <a:schemeClr val="accent6">
                <a:lumMod val="60000"/>
                <a:lumOff val="40000"/>
              </a:schemeClr>
            </a:solidFill>
            <a:ln>
              <a:noFill/>
            </a:ln>
          </p:spPr>
          <p:txBody>
            <a:bodyPr vert="horz" anchor="ctr" wrap="square" tIns="45720" lIns="91440" bIns="45720" rIns="91440">
              <a:noAutofit/>
            </a:bodyPr>
            <a:p>
              <a:pPr algn="ctr" marL="0"/>
            </a:p>
          </p:txBody>
        </p:sp>
        <p:sp>
          <p:nvSpPr>
            <p:cNvPr name="Freeform 22" id="22"/>
            <p:cNvSpPr/>
            <p:nvPr/>
          </p:nvSpPr>
          <p:spPr>
            <a:xfrm>
              <a:off x="3808039" y="3557190"/>
              <a:ext cx="674235" cy="446314"/>
            </a:xfrm>
            <a:custGeom>
              <a:avLst/>
              <a:gdLst/>
              <a:ahLst/>
              <a:cxnLst/>
              <a:rect r="r" b="b" t="t" l="l"/>
              <a:pathLst>
                <a:path w="674235" h="446314" stroke="true" fill="norm" extrusionOk="true">
                  <a:moveTo>
                    <a:pt x="0" y="0"/>
                  </a:moveTo>
                  <a:lnTo>
                    <a:pt x="674235" y="0"/>
                  </a:lnTo>
                  <a:lnTo>
                    <a:pt x="674235" y="446314"/>
                  </a:lnTo>
                  <a:lnTo>
                    <a:pt x="5444" y="446314"/>
                  </a:lnTo>
                  <a:lnTo>
                    <a:pt x="0" y="440903"/>
                  </a:lnTo>
                  <a:lnTo>
                    <a:pt x="0" y="0"/>
                  </a:lnTo>
                  <a:close/>
                </a:path>
              </a:pathLst>
            </a:custGeom>
            <a:solidFill>
              <a:schemeClr val="accent6">
                <a:lumMod val="60000"/>
                <a:lumOff val="40000"/>
              </a:schemeClr>
            </a:solidFill>
            <a:ln>
              <a:noFill/>
            </a:ln>
          </p:spPr>
          <p:txBody>
            <a:bodyPr vert="horz" anchor="ctr" wrap="square" tIns="45720" lIns="91440" bIns="45720" rIns="91440">
              <a:noAutofit/>
            </a:bodyPr>
            <a:p>
              <a:pPr algn="ctr" marL="0"/>
            </a:p>
          </p:txBody>
        </p:sp>
        <p:sp>
          <p:nvSpPr>
            <p:cNvPr name="Freeform 23" id="23"/>
            <p:cNvSpPr/>
            <p:nvPr/>
          </p:nvSpPr>
          <p:spPr>
            <a:xfrm>
              <a:off x="5615070" y="3831111"/>
              <a:ext cx="666069" cy="446315"/>
            </a:xfrm>
            <a:custGeom>
              <a:avLst/>
              <a:gdLst/>
              <a:ahLst/>
              <a:cxnLst/>
              <a:rect r="r" b="b" t="t" l="l"/>
              <a:pathLst>
                <a:path w="666069" h="446315" stroke="true" fill="norm" extrusionOk="true">
                  <a:moveTo>
                    <a:pt x="449036" y="0"/>
                  </a:moveTo>
                  <a:lnTo>
                    <a:pt x="666069" y="0"/>
                  </a:lnTo>
                  <a:lnTo>
                    <a:pt x="666069" y="446314"/>
                  </a:lnTo>
                  <a:lnTo>
                    <a:pt x="443592" y="446314"/>
                  </a:lnTo>
                  <a:lnTo>
                    <a:pt x="443592" y="446315"/>
                  </a:lnTo>
                  <a:lnTo>
                    <a:pt x="443591" y="446315"/>
                  </a:lnTo>
                  <a:lnTo>
                    <a:pt x="443591" y="446314"/>
                  </a:lnTo>
                  <a:lnTo>
                    <a:pt x="0" y="446314"/>
                  </a:lnTo>
                  <a:lnTo>
                    <a:pt x="443592" y="5412"/>
                  </a:lnTo>
                  <a:lnTo>
                    <a:pt x="443592" y="5411"/>
                  </a:lnTo>
                  <a:lnTo>
                    <a:pt x="449036" y="0"/>
                  </a:lnTo>
                  <a:close/>
                </a:path>
              </a:pathLst>
            </a:custGeom>
            <a:solidFill>
              <a:srgbClr val="FEB834"/>
            </a:solidFill>
            <a:ln>
              <a:noFill/>
            </a:ln>
          </p:spPr>
          <p:txBody>
            <a:bodyPr vert="horz" anchor="ctr" wrap="square" tIns="45720" lIns="91440" bIns="45720" rIns="91440">
              <a:noAutofit/>
            </a:bodyPr>
            <a:p>
              <a:pPr algn="ctr" marL="0"/>
            </a:p>
          </p:txBody>
        </p:sp>
        <p:sp>
          <p:nvSpPr>
            <p:cNvPr name="Freeform 24" id="24"/>
            <p:cNvSpPr/>
            <p:nvPr/>
          </p:nvSpPr>
          <p:spPr>
            <a:xfrm>
              <a:off x="6058662" y="3831111"/>
              <a:ext cx="1798864" cy="2242457"/>
            </a:xfrm>
            <a:custGeom>
              <a:avLst/>
              <a:gdLst/>
              <a:ahLst/>
              <a:cxnLst/>
              <a:rect r="r" b="b" t="t" l="l"/>
              <a:pathLst>
                <a:path w="1798864" h="2242457" stroke="true" fill="norm" extrusionOk="true">
                  <a:moveTo>
                    <a:pt x="668791" y="0"/>
                  </a:moveTo>
                  <a:lnTo>
                    <a:pt x="1349827" y="0"/>
                  </a:lnTo>
                  <a:lnTo>
                    <a:pt x="1352550" y="2707"/>
                  </a:lnTo>
                  <a:lnTo>
                    <a:pt x="1352550" y="2708"/>
                  </a:lnTo>
                  <a:lnTo>
                    <a:pt x="1575029" y="223837"/>
                  </a:lnTo>
                  <a:lnTo>
                    <a:pt x="1796157" y="446314"/>
                  </a:lnTo>
                  <a:lnTo>
                    <a:pt x="1796158" y="446314"/>
                  </a:lnTo>
                  <a:lnTo>
                    <a:pt x="1798864" y="449037"/>
                  </a:lnTo>
                  <a:lnTo>
                    <a:pt x="1798864" y="1793420"/>
                  </a:lnTo>
                  <a:lnTo>
                    <a:pt x="1796158" y="1796143"/>
                  </a:lnTo>
                  <a:lnTo>
                    <a:pt x="1575029" y="2018622"/>
                  </a:lnTo>
                  <a:lnTo>
                    <a:pt x="1352550" y="2239751"/>
                  </a:lnTo>
                  <a:lnTo>
                    <a:pt x="1349827" y="2242457"/>
                  </a:lnTo>
                  <a:lnTo>
                    <a:pt x="5444" y="2242457"/>
                  </a:lnTo>
                  <a:lnTo>
                    <a:pt x="0" y="2237046"/>
                  </a:lnTo>
                  <a:lnTo>
                    <a:pt x="0" y="1796143"/>
                  </a:lnTo>
                  <a:lnTo>
                    <a:pt x="1352550" y="1796143"/>
                  </a:lnTo>
                  <a:lnTo>
                    <a:pt x="1352550" y="446315"/>
                  </a:lnTo>
                  <a:lnTo>
                    <a:pt x="1352550" y="446314"/>
                  </a:lnTo>
                  <a:lnTo>
                    <a:pt x="668791" y="446314"/>
                  </a:lnTo>
                  <a:lnTo>
                    <a:pt x="668791" y="0"/>
                  </a:lnTo>
                  <a:close/>
                </a:path>
              </a:pathLst>
            </a:custGeom>
            <a:solidFill>
              <a:srgbClr val="FEB834"/>
            </a:solidFill>
            <a:ln>
              <a:noFill/>
            </a:ln>
          </p:spPr>
          <p:txBody>
            <a:bodyPr vert="horz" anchor="ctr" wrap="square" tIns="45720" lIns="91440" bIns="45720" rIns="91440">
              <a:noAutofit/>
            </a:bodyPr>
            <a:p>
              <a:pPr algn="ctr" marL="0"/>
            </a:p>
          </p:txBody>
        </p:sp>
        <p:sp>
          <p:nvSpPr>
            <p:cNvPr name="Freeform 25" id="25"/>
            <p:cNvSpPr/>
            <p:nvPr/>
          </p:nvSpPr>
          <p:spPr>
            <a:xfrm>
              <a:off x="5612347" y="3831112"/>
              <a:ext cx="446314" cy="792719"/>
            </a:xfrm>
            <a:custGeom>
              <a:avLst/>
              <a:gdLst/>
              <a:ahLst/>
              <a:cxnLst/>
              <a:rect r="r" b="b" t="t" l="l"/>
              <a:pathLst>
                <a:path w="446314" h="792719" stroke="true" fill="norm" extrusionOk="true">
                  <a:moveTo>
                    <a:pt x="446314" y="0"/>
                  </a:moveTo>
                  <a:lnTo>
                    <a:pt x="446314" y="5410"/>
                  </a:lnTo>
                  <a:lnTo>
                    <a:pt x="2721" y="446313"/>
                  </a:lnTo>
                  <a:lnTo>
                    <a:pt x="2723" y="446313"/>
                  </a:lnTo>
                  <a:lnTo>
                    <a:pt x="2722" y="446314"/>
                  </a:lnTo>
                  <a:lnTo>
                    <a:pt x="446314" y="446314"/>
                  </a:lnTo>
                  <a:lnTo>
                    <a:pt x="446314" y="792719"/>
                  </a:lnTo>
                  <a:lnTo>
                    <a:pt x="0" y="792719"/>
                  </a:lnTo>
                  <a:lnTo>
                    <a:pt x="0" y="449037"/>
                  </a:lnTo>
                  <a:lnTo>
                    <a:pt x="446314" y="0"/>
                  </a:lnTo>
                  <a:close/>
                </a:path>
              </a:pathLst>
            </a:custGeom>
            <a:solidFill>
              <a:srgbClr val="FEB834"/>
            </a:solidFill>
            <a:ln>
              <a:noFill/>
            </a:ln>
          </p:spPr>
          <p:txBody>
            <a:bodyPr vert="horz" anchor="ctr" wrap="square" tIns="45720" lIns="91440" bIns="45720" rIns="91440">
              <a:noAutofit/>
            </a:bodyPr>
            <a:p>
              <a:pPr algn="ctr" marL="0"/>
            </a:p>
          </p:txBody>
        </p:sp>
        <p:sp>
          <p:nvSpPr>
            <p:cNvPr name="Freeform 26" id="26"/>
            <p:cNvSpPr/>
            <p:nvPr/>
          </p:nvSpPr>
          <p:spPr>
            <a:xfrm>
              <a:off x="4482274" y="4003504"/>
              <a:ext cx="446314" cy="1066642"/>
            </a:xfrm>
            <a:custGeom>
              <a:avLst/>
              <a:gdLst/>
              <a:ahLst/>
              <a:cxnLst/>
              <a:rect r="r" b="b" t="t" l="l"/>
              <a:pathLst>
                <a:path w="446314" h="1066642" stroke="true" fill="norm" extrusionOk="true">
                  <a:moveTo>
                    <a:pt x="0" y="0"/>
                  </a:moveTo>
                  <a:lnTo>
                    <a:pt x="446314" y="0"/>
                  </a:lnTo>
                  <a:lnTo>
                    <a:pt x="446314" y="620327"/>
                  </a:lnTo>
                  <a:lnTo>
                    <a:pt x="2721" y="620327"/>
                  </a:lnTo>
                  <a:lnTo>
                    <a:pt x="2722" y="620328"/>
                  </a:lnTo>
                  <a:lnTo>
                    <a:pt x="446314" y="620328"/>
                  </a:lnTo>
                  <a:lnTo>
                    <a:pt x="446314" y="1061230"/>
                  </a:lnTo>
                  <a:lnTo>
                    <a:pt x="446314" y="1061231"/>
                  </a:lnTo>
                  <a:lnTo>
                    <a:pt x="446314" y="1066642"/>
                  </a:lnTo>
                  <a:lnTo>
                    <a:pt x="0" y="617605"/>
                  </a:lnTo>
                  <a:lnTo>
                    <a:pt x="0" y="0"/>
                  </a:lnTo>
                  <a:close/>
                </a:path>
              </a:pathLst>
            </a:custGeom>
            <a:solidFill>
              <a:srgbClr val="007448"/>
            </a:solidFill>
            <a:ln>
              <a:noFill/>
            </a:ln>
          </p:spPr>
          <p:txBody>
            <a:bodyPr vert="horz" anchor="ctr" wrap="square" tIns="45720" lIns="91440" bIns="45720" rIns="91440">
              <a:noAutofit/>
            </a:bodyPr>
            <a:p>
              <a:pPr algn="ctr" marL="0"/>
            </a:p>
          </p:txBody>
        </p:sp>
        <p:sp>
          <p:nvSpPr>
            <p:cNvPr name="Freeform 27" id="27"/>
            <p:cNvSpPr/>
            <p:nvPr/>
          </p:nvSpPr>
          <p:spPr>
            <a:xfrm>
              <a:off x="6058661" y="4277425"/>
              <a:ext cx="668792" cy="792720"/>
            </a:xfrm>
            <a:custGeom>
              <a:avLst/>
              <a:gdLst/>
              <a:ahLst/>
              <a:cxnLst/>
              <a:rect r="r" b="b" t="t" l="l"/>
              <a:pathLst>
                <a:path w="668792" h="792720" stroke="true" fill="norm" extrusionOk="true">
                  <a:moveTo>
                    <a:pt x="222478" y="0"/>
                  </a:moveTo>
                  <a:lnTo>
                    <a:pt x="668792" y="0"/>
                  </a:lnTo>
                  <a:lnTo>
                    <a:pt x="668792" y="343683"/>
                  </a:lnTo>
                  <a:lnTo>
                    <a:pt x="666086" y="346406"/>
                  </a:lnTo>
                  <a:lnTo>
                    <a:pt x="444957" y="568885"/>
                  </a:lnTo>
                  <a:lnTo>
                    <a:pt x="222478" y="790014"/>
                  </a:lnTo>
                  <a:lnTo>
                    <a:pt x="219755" y="792720"/>
                  </a:lnTo>
                  <a:lnTo>
                    <a:pt x="0" y="792720"/>
                  </a:lnTo>
                  <a:lnTo>
                    <a:pt x="0" y="346406"/>
                  </a:lnTo>
                  <a:lnTo>
                    <a:pt x="222478" y="346406"/>
                  </a:lnTo>
                  <a:lnTo>
                    <a:pt x="222478" y="0"/>
                  </a:lnTo>
                  <a:close/>
                </a:path>
              </a:pathLst>
            </a:custGeom>
            <a:solidFill>
              <a:srgbClr val="007448"/>
            </a:solidFill>
            <a:ln>
              <a:noFill/>
            </a:ln>
          </p:spPr>
          <p:txBody>
            <a:bodyPr vert="horz" anchor="ctr" wrap="square" tIns="45720" lIns="91440" bIns="45720" rIns="91440">
              <a:noAutofit/>
            </a:bodyPr>
            <a:p>
              <a:pPr algn="ctr" marL="0"/>
            </a:p>
          </p:txBody>
        </p:sp>
        <p:sp>
          <p:nvSpPr>
            <p:cNvPr name="Freeform 28" id="28"/>
            <p:cNvSpPr/>
            <p:nvPr/>
          </p:nvSpPr>
          <p:spPr>
            <a:xfrm>
              <a:off x="4928589" y="4623831"/>
              <a:ext cx="683758" cy="446314"/>
            </a:xfrm>
            <a:custGeom>
              <a:avLst/>
              <a:gdLst/>
              <a:ahLst/>
              <a:cxnLst/>
              <a:rect r="r" b="b" t="t" l="l"/>
              <a:pathLst>
                <a:path w="683758" h="446314" stroke="true" fill="norm" extrusionOk="true">
                  <a:moveTo>
                    <a:pt x="0" y="0"/>
                  </a:moveTo>
                  <a:lnTo>
                    <a:pt x="683758" y="0"/>
                  </a:lnTo>
                  <a:lnTo>
                    <a:pt x="683758" y="446314"/>
                  </a:lnTo>
                  <a:lnTo>
                    <a:pt x="5444" y="446314"/>
                  </a:lnTo>
                  <a:lnTo>
                    <a:pt x="0" y="440903"/>
                  </a:lnTo>
                  <a:lnTo>
                    <a:pt x="0" y="0"/>
                  </a:lnTo>
                  <a:close/>
                </a:path>
              </a:pathLst>
            </a:custGeom>
            <a:solidFill>
              <a:srgbClr val="007448"/>
            </a:solidFill>
            <a:ln>
              <a:noFill/>
            </a:ln>
          </p:spPr>
          <p:txBody>
            <a:bodyPr vert="horz" anchor="ctr" wrap="square" tIns="45720" lIns="91440" bIns="45720" rIns="91440">
              <a:noAutofit/>
            </a:bodyPr>
            <a:p>
              <a:pPr algn="ctr" marL="0"/>
            </a:p>
          </p:txBody>
        </p:sp>
        <p:sp>
          <p:nvSpPr>
            <p:cNvPr name="Freeform 29" id="29"/>
            <p:cNvSpPr/>
            <p:nvPr/>
          </p:nvSpPr>
          <p:spPr>
            <a:xfrm>
              <a:off x="5612347" y="5070145"/>
              <a:ext cx="446314" cy="1003424"/>
            </a:xfrm>
            <a:custGeom>
              <a:avLst/>
              <a:gdLst/>
              <a:ahLst/>
              <a:cxnLst/>
              <a:rect r="r" b="b" t="t" l="l"/>
              <a:pathLst>
                <a:path w="446314" h="1003424" stroke="true" fill="norm" extrusionOk="true">
                  <a:moveTo>
                    <a:pt x="0" y="0"/>
                  </a:moveTo>
                  <a:lnTo>
                    <a:pt x="446314" y="0"/>
                  </a:lnTo>
                  <a:lnTo>
                    <a:pt x="446314" y="557109"/>
                  </a:lnTo>
                  <a:lnTo>
                    <a:pt x="2721" y="557109"/>
                  </a:lnTo>
                  <a:lnTo>
                    <a:pt x="2722" y="557110"/>
                  </a:lnTo>
                  <a:lnTo>
                    <a:pt x="446314" y="557110"/>
                  </a:lnTo>
                  <a:lnTo>
                    <a:pt x="446314" y="998012"/>
                  </a:lnTo>
                  <a:lnTo>
                    <a:pt x="446314" y="998013"/>
                  </a:lnTo>
                  <a:lnTo>
                    <a:pt x="446314" y="1003424"/>
                  </a:lnTo>
                  <a:lnTo>
                    <a:pt x="0" y="554387"/>
                  </a:lnTo>
                  <a:lnTo>
                    <a:pt x="0" y="0"/>
                  </a:lnTo>
                  <a:close/>
                </a:path>
              </a:pathLst>
            </a:custGeom>
            <a:solidFill>
              <a:srgbClr val="FEB834"/>
            </a:solidFill>
            <a:ln>
              <a:noFill/>
            </a:ln>
          </p:spPr>
          <p:txBody>
            <a:bodyPr vert="horz" anchor="ctr" wrap="square" tIns="45720" lIns="91440" bIns="45720" rIns="91440">
              <a:noAutofit/>
            </a:bodyPr>
            <a:p>
              <a:pPr algn="ctr" marL="0"/>
            </a:p>
          </p:txBody>
        </p:sp>
        <p:sp>
          <p:nvSpPr>
            <p:cNvPr name="Freeform 30" id="30"/>
            <p:cNvSpPr/>
            <p:nvPr/>
          </p:nvSpPr>
          <p:spPr>
            <a:xfrm>
              <a:off x="6281139" y="2827688"/>
              <a:ext cx="222479" cy="223836"/>
            </a:xfrm>
            <a:custGeom>
              <a:avLst/>
              <a:gdLst/>
              <a:ahLst/>
              <a:cxnLst/>
              <a:rect r="r" b="b" t="t" l="l"/>
              <a:pathLst>
                <a:path w="222479" h="223836" stroke="true" fill="norm" extrusionOk="true">
                  <a:moveTo>
                    <a:pt x="0" y="0"/>
                  </a:moveTo>
                  <a:lnTo>
                    <a:pt x="222479" y="223836"/>
                  </a:lnTo>
                  <a:lnTo>
                    <a:pt x="0" y="2707"/>
                  </a:lnTo>
                  <a:lnTo>
                    <a:pt x="0" y="0"/>
                  </a:lnTo>
                  <a:close/>
                </a:path>
              </a:pathLst>
            </a:custGeom>
            <a:solidFill>
              <a:srgbClr val="B7372A"/>
            </a:solidFill>
            <a:ln>
              <a:noFill/>
            </a:ln>
          </p:spPr>
          <p:txBody>
            <a:bodyPr vert="horz" anchor="ctr" tIns="45720" lIns="91440" bIns="45720" rIns="91440"/>
            <a:p>
              <a:pPr algn="ctr" marL="0"/>
            </a:p>
          </p:txBody>
        </p:sp>
        <p:sp>
          <p:nvSpPr>
            <p:cNvPr name="Freeform 31" id="31"/>
            <p:cNvSpPr/>
            <p:nvPr/>
          </p:nvSpPr>
          <p:spPr>
            <a:xfrm>
              <a:off x="6503618" y="3051524"/>
              <a:ext cx="223835" cy="222478"/>
            </a:xfrm>
            <a:custGeom>
              <a:avLst/>
              <a:gdLst/>
              <a:ahLst/>
              <a:cxnLst/>
              <a:rect r="r" b="b" t="t" l="l"/>
              <a:pathLst>
                <a:path w="223835" h="222478" stroke="true" fill="norm" extrusionOk="true">
                  <a:moveTo>
                    <a:pt x="0" y="0"/>
                  </a:moveTo>
                  <a:lnTo>
                    <a:pt x="223835" y="222478"/>
                  </a:lnTo>
                  <a:lnTo>
                    <a:pt x="221129" y="222478"/>
                  </a:lnTo>
                  <a:lnTo>
                    <a:pt x="0" y="0"/>
                  </a:lnTo>
                  <a:close/>
                </a:path>
              </a:pathLst>
            </a:custGeom>
            <a:solidFill>
              <a:srgbClr val="B7372A"/>
            </a:solidFill>
            <a:ln>
              <a:noFill/>
            </a:ln>
          </p:spPr>
          <p:txBody>
            <a:bodyPr vert="horz" anchor="ctr" tIns="45720" lIns="91440" bIns="45720" rIns="91440"/>
            <a:p>
              <a:pPr algn="ctr" marL="0"/>
            </a:p>
          </p:txBody>
        </p:sp>
        <p:sp>
          <p:nvSpPr>
            <p:cNvPr name="Freeform 32" id="32"/>
            <p:cNvSpPr/>
            <p:nvPr/>
          </p:nvSpPr>
          <p:spPr>
            <a:xfrm>
              <a:off x="6503618" y="4623832"/>
              <a:ext cx="223835" cy="222479"/>
            </a:xfrm>
            <a:custGeom>
              <a:avLst/>
              <a:gdLst/>
              <a:ahLst/>
              <a:cxnLst/>
              <a:rect r="r" b="b" t="t" l="l"/>
              <a:pathLst>
                <a:path w="223835" h="222479" stroke="true" fill="norm" extrusionOk="true">
                  <a:moveTo>
                    <a:pt x="221129" y="0"/>
                  </a:moveTo>
                  <a:lnTo>
                    <a:pt x="223835" y="0"/>
                  </a:lnTo>
                  <a:lnTo>
                    <a:pt x="0" y="222479"/>
                  </a:lnTo>
                  <a:lnTo>
                    <a:pt x="221129" y="0"/>
                  </a:lnTo>
                  <a:close/>
                </a:path>
              </a:pathLst>
            </a:custGeom>
            <a:solidFill>
              <a:srgbClr val="B7372A"/>
            </a:solidFill>
            <a:ln>
              <a:noFill/>
            </a:ln>
          </p:spPr>
          <p:txBody>
            <a:bodyPr vert="horz" anchor="ctr" tIns="45720" lIns="91440" bIns="45720" rIns="91440"/>
            <a:p>
              <a:pPr algn="ctr" marL="0"/>
            </a:p>
          </p:txBody>
        </p:sp>
        <p:sp>
          <p:nvSpPr>
            <p:cNvPr name="Freeform 33" id="33"/>
            <p:cNvSpPr/>
            <p:nvPr/>
          </p:nvSpPr>
          <p:spPr>
            <a:xfrm>
              <a:off x="6281139" y="4846311"/>
              <a:ext cx="222479" cy="223835"/>
            </a:xfrm>
            <a:custGeom>
              <a:avLst/>
              <a:gdLst/>
              <a:ahLst/>
              <a:cxnLst/>
              <a:rect r="r" b="b" t="t" l="l"/>
              <a:pathLst>
                <a:path w="222479" h="223835" stroke="true" fill="norm" extrusionOk="true">
                  <a:moveTo>
                    <a:pt x="222479" y="0"/>
                  </a:moveTo>
                  <a:lnTo>
                    <a:pt x="0" y="223835"/>
                  </a:lnTo>
                  <a:lnTo>
                    <a:pt x="0" y="221129"/>
                  </a:lnTo>
                  <a:lnTo>
                    <a:pt x="222479" y="0"/>
                  </a:lnTo>
                  <a:close/>
                </a:path>
              </a:pathLst>
            </a:custGeom>
            <a:solidFill>
              <a:srgbClr val="B7372A"/>
            </a:solidFill>
            <a:ln>
              <a:noFill/>
            </a:ln>
          </p:spPr>
          <p:txBody>
            <a:bodyPr vert="horz" anchor="ctr" tIns="45720" lIns="91440" bIns="45720" rIns="91440"/>
            <a:p>
              <a:pPr algn="ctr" marL="0"/>
            </a:p>
          </p:txBody>
        </p:sp>
        <p:sp>
          <p:nvSpPr>
            <p:cNvPr name="AutoShape 34" id="34"/>
            <p:cNvSpPr/>
            <p:nvPr/>
          </p:nvSpPr>
          <p:spPr>
            <a:xfrm flipH="true">
              <a:off x="6165811" y="2824981"/>
              <a:ext cx="116681" cy="446314"/>
            </a:xfrm>
            <a:prstGeom prst="rtTriangle">
              <a:avLst/>
            </a:prstGeom>
            <a:solidFill>
              <a:schemeClr val="tx1">
                <a:alpha val="85000"/>
                <a:lumMod val="75000"/>
                <a:lumOff val="25000"/>
              </a:schemeClr>
            </a:solidFill>
            <a:ln>
              <a:noFill/>
            </a:ln>
          </p:spPr>
          <p:txBody>
            <a:bodyPr vert="horz" anchor="ctr" tIns="45720" lIns="91440" bIns="45720" rIns="91440"/>
            <a:p>
              <a:pPr algn="ctr" marL="0"/>
            </a:p>
          </p:txBody>
        </p:sp>
        <p:sp>
          <p:nvSpPr>
            <p:cNvPr name="AutoShape 35" id="35"/>
            <p:cNvSpPr/>
            <p:nvPr/>
          </p:nvSpPr>
          <p:spPr>
            <a:xfrm flipH="true" rot="5400000">
              <a:off x="6445955" y="4339625"/>
              <a:ext cx="116681" cy="446314"/>
            </a:xfrm>
            <a:prstGeom prst="rtTriangle">
              <a:avLst/>
            </a:prstGeom>
            <a:solidFill>
              <a:schemeClr val="tx1">
                <a:alpha val="85000"/>
                <a:lumMod val="75000"/>
                <a:lumOff val="25000"/>
              </a:schemeClr>
            </a:solidFill>
            <a:ln>
              <a:noFill/>
            </a:ln>
          </p:spPr>
          <p:txBody>
            <a:bodyPr vert="horz" anchor="ctr" tIns="45720" lIns="91440" bIns="45720" rIns="91440"/>
            <a:p>
              <a:pPr algn="ctr" marL="0"/>
            </a:p>
          </p:txBody>
        </p:sp>
        <p:sp>
          <p:nvSpPr>
            <p:cNvPr name="AutoShape 36" id="36"/>
            <p:cNvSpPr/>
            <p:nvPr/>
          </p:nvSpPr>
          <p:spPr>
            <a:xfrm flipH="true" rot="16200000">
              <a:off x="4644386" y="3106479"/>
              <a:ext cx="116681" cy="446314"/>
            </a:xfrm>
            <a:prstGeom prst="rtTriangle">
              <a:avLst/>
            </a:prstGeom>
            <a:solidFill>
              <a:schemeClr val="tx1">
                <a:alpha val="85000"/>
                <a:lumMod val="75000"/>
                <a:lumOff val="25000"/>
              </a:schemeClr>
            </a:solidFill>
            <a:ln>
              <a:noFill/>
            </a:ln>
          </p:spPr>
          <p:txBody>
            <a:bodyPr vert="horz" anchor="ctr" tIns="45720" lIns="91440" bIns="45720" rIns="91440"/>
            <a:p>
              <a:pPr algn="ctr" marL="0"/>
            </a:p>
          </p:txBody>
        </p:sp>
        <p:sp>
          <p:nvSpPr>
            <p:cNvPr name="AutoShape 37" id="37"/>
            <p:cNvSpPr/>
            <p:nvPr/>
          </p:nvSpPr>
          <p:spPr>
            <a:xfrm flipV="true">
              <a:off x="4928589" y="4626539"/>
              <a:ext cx="116681" cy="446314"/>
            </a:xfrm>
            <a:prstGeom prst="rtTriangle">
              <a:avLst/>
            </a:prstGeom>
            <a:solidFill>
              <a:schemeClr val="tx1">
                <a:alpha val="85000"/>
                <a:lumMod val="75000"/>
                <a:lumOff val="25000"/>
              </a:schemeClr>
            </a:solidFill>
            <a:ln>
              <a:noFill/>
            </a:ln>
          </p:spPr>
          <p:txBody>
            <a:bodyPr vert="horz" anchor="ctr" tIns="45720" lIns="91440" bIns="45720" rIns="91440"/>
            <a:p>
              <a:pPr algn="ctr" marL="0"/>
            </a:p>
          </p:txBody>
        </p:sp>
        <p:sp>
          <p:nvSpPr>
            <p:cNvPr name="Freeform 38" id="38"/>
            <p:cNvSpPr/>
            <p:nvPr/>
          </p:nvSpPr>
          <p:spPr>
            <a:xfrm>
              <a:off x="7411212" y="3831111"/>
              <a:ext cx="222479" cy="223836"/>
            </a:xfrm>
            <a:custGeom>
              <a:avLst/>
              <a:gdLst/>
              <a:ahLst/>
              <a:cxnLst/>
              <a:rect r="r" b="b" t="t" l="l"/>
              <a:pathLst>
                <a:path w="222479" h="223836" stroke="true" fill="norm" extrusionOk="true">
                  <a:moveTo>
                    <a:pt x="0" y="0"/>
                  </a:moveTo>
                  <a:lnTo>
                    <a:pt x="222479" y="223836"/>
                  </a:lnTo>
                  <a:lnTo>
                    <a:pt x="0" y="2707"/>
                  </a:lnTo>
                  <a:lnTo>
                    <a:pt x="0" y="0"/>
                  </a:lnTo>
                  <a:close/>
                </a:path>
              </a:pathLst>
            </a:custGeom>
            <a:solidFill>
              <a:srgbClr val="B7372A"/>
            </a:solidFill>
            <a:ln>
              <a:noFill/>
            </a:ln>
          </p:spPr>
          <p:txBody>
            <a:bodyPr vert="horz" anchor="ctr" tIns="45720" lIns="91440" bIns="45720" rIns="91440"/>
            <a:p>
              <a:pPr algn="ctr" marL="0"/>
            </a:p>
          </p:txBody>
        </p:sp>
        <p:sp>
          <p:nvSpPr>
            <p:cNvPr name="Freeform 39" id="39"/>
            <p:cNvSpPr/>
            <p:nvPr/>
          </p:nvSpPr>
          <p:spPr>
            <a:xfrm>
              <a:off x="7633691" y="4054947"/>
              <a:ext cx="223835" cy="222478"/>
            </a:xfrm>
            <a:custGeom>
              <a:avLst/>
              <a:gdLst/>
              <a:ahLst/>
              <a:cxnLst/>
              <a:rect r="r" b="b" t="t" l="l"/>
              <a:pathLst>
                <a:path w="223835" h="222478" stroke="true" fill="norm" extrusionOk="true">
                  <a:moveTo>
                    <a:pt x="0" y="0"/>
                  </a:moveTo>
                  <a:lnTo>
                    <a:pt x="223835" y="222478"/>
                  </a:lnTo>
                  <a:lnTo>
                    <a:pt x="221129" y="222478"/>
                  </a:lnTo>
                  <a:lnTo>
                    <a:pt x="0" y="0"/>
                  </a:lnTo>
                  <a:close/>
                </a:path>
              </a:pathLst>
            </a:custGeom>
            <a:solidFill>
              <a:srgbClr val="B7372A"/>
            </a:solidFill>
            <a:ln>
              <a:noFill/>
            </a:ln>
          </p:spPr>
          <p:txBody>
            <a:bodyPr vert="horz" anchor="ctr" tIns="45720" lIns="91440" bIns="45720" rIns="91440"/>
            <a:p>
              <a:pPr algn="ctr" marL="0"/>
            </a:p>
          </p:txBody>
        </p:sp>
        <p:sp>
          <p:nvSpPr>
            <p:cNvPr name="Freeform 40" id="40"/>
            <p:cNvSpPr/>
            <p:nvPr/>
          </p:nvSpPr>
          <p:spPr>
            <a:xfrm>
              <a:off x="7633691" y="5627255"/>
              <a:ext cx="223835" cy="222479"/>
            </a:xfrm>
            <a:custGeom>
              <a:avLst/>
              <a:gdLst/>
              <a:ahLst/>
              <a:cxnLst/>
              <a:rect r="r" b="b" t="t" l="l"/>
              <a:pathLst>
                <a:path w="223835" h="222479" stroke="true" fill="norm" extrusionOk="true">
                  <a:moveTo>
                    <a:pt x="221129" y="0"/>
                  </a:moveTo>
                  <a:lnTo>
                    <a:pt x="223835" y="0"/>
                  </a:lnTo>
                  <a:lnTo>
                    <a:pt x="0" y="222479"/>
                  </a:lnTo>
                  <a:lnTo>
                    <a:pt x="221129" y="0"/>
                  </a:lnTo>
                  <a:close/>
                </a:path>
              </a:pathLst>
            </a:custGeom>
            <a:solidFill>
              <a:srgbClr val="B7372A"/>
            </a:solidFill>
            <a:ln>
              <a:noFill/>
            </a:ln>
          </p:spPr>
          <p:txBody>
            <a:bodyPr vert="horz" anchor="ctr" tIns="45720" lIns="91440" bIns="45720" rIns="91440"/>
            <a:p>
              <a:pPr algn="ctr" marL="0"/>
            </a:p>
          </p:txBody>
        </p:sp>
        <p:sp>
          <p:nvSpPr>
            <p:cNvPr name="Freeform 41" id="41"/>
            <p:cNvSpPr/>
            <p:nvPr/>
          </p:nvSpPr>
          <p:spPr>
            <a:xfrm>
              <a:off x="7411212" y="5849734"/>
              <a:ext cx="222479" cy="223835"/>
            </a:xfrm>
            <a:custGeom>
              <a:avLst/>
              <a:gdLst/>
              <a:ahLst/>
              <a:cxnLst/>
              <a:rect r="r" b="b" t="t" l="l"/>
              <a:pathLst>
                <a:path w="222479" h="223835" stroke="true" fill="norm" extrusionOk="true">
                  <a:moveTo>
                    <a:pt x="222479" y="0"/>
                  </a:moveTo>
                  <a:lnTo>
                    <a:pt x="0" y="223835"/>
                  </a:lnTo>
                  <a:lnTo>
                    <a:pt x="0" y="221129"/>
                  </a:lnTo>
                  <a:lnTo>
                    <a:pt x="222479" y="0"/>
                  </a:lnTo>
                  <a:close/>
                </a:path>
              </a:pathLst>
            </a:custGeom>
            <a:solidFill>
              <a:srgbClr val="B7372A"/>
            </a:solidFill>
            <a:ln>
              <a:noFill/>
            </a:ln>
          </p:spPr>
          <p:txBody>
            <a:bodyPr vert="horz" anchor="ctr" tIns="45720" lIns="91440" bIns="45720" rIns="91440"/>
            <a:p>
              <a:pPr algn="ctr" marL="0"/>
            </a:p>
          </p:txBody>
        </p:sp>
        <p:sp>
          <p:nvSpPr>
            <p:cNvPr name="AutoShape 42" id="42"/>
            <p:cNvSpPr/>
            <p:nvPr/>
          </p:nvSpPr>
          <p:spPr>
            <a:xfrm flipH="true">
              <a:off x="7295884" y="3828404"/>
              <a:ext cx="116681" cy="446314"/>
            </a:xfrm>
            <a:prstGeom prst="rtTriangle">
              <a:avLst/>
            </a:prstGeom>
            <a:solidFill>
              <a:schemeClr val="tx1">
                <a:alpha val="85000"/>
                <a:lumMod val="75000"/>
                <a:lumOff val="25000"/>
              </a:schemeClr>
            </a:solidFill>
            <a:ln>
              <a:noFill/>
            </a:ln>
          </p:spPr>
          <p:txBody>
            <a:bodyPr vert="horz" anchor="ctr" tIns="45720" lIns="91440" bIns="45720" rIns="91440"/>
            <a:p>
              <a:pPr algn="ctr" marL="0"/>
            </a:p>
          </p:txBody>
        </p:sp>
        <p:sp>
          <p:nvSpPr>
            <p:cNvPr name="AutoShape 43" id="43"/>
            <p:cNvSpPr/>
            <p:nvPr/>
          </p:nvSpPr>
          <p:spPr>
            <a:xfrm flipH="true" rot="5400000">
              <a:off x="7576028" y="5343048"/>
              <a:ext cx="116681" cy="446314"/>
            </a:xfrm>
            <a:prstGeom prst="rtTriangle">
              <a:avLst/>
            </a:prstGeom>
            <a:solidFill>
              <a:schemeClr val="tx1">
                <a:alpha val="85000"/>
                <a:lumMod val="75000"/>
                <a:lumOff val="25000"/>
              </a:schemeClr>
            </a:solidFill>
            <a:ln>
              <a:noFill/>
            </a:ln>
          </p:spPr>
          <p:txBody>
            <a:bodyPr vert="horz" anchor="ctr" tIns="45720" lIns="91440" bIns="45720" rIns="91440"/>
            <a:p>
              <a:pPr algn="ctr" marL="0"/>
            </a:p>
          </p:txBody>
        </p:sp>
        <p:sp>
          <p:nvSpPr>
            <p:cNvPr name="AutoShape 44" id="44"/>
            <p:cNvSpPr/>
            <p:nvPr/>
          </p:nvSpPr>
          <p:spPr>
            <a:xfrm flipH="true" rot="16200000">
              <a:off x="5774459" y="4109902"/>
              <a:ext cx="116681" cy="446314"/>
            </a:xfrm>
            <a:prstGeom prst="rtTriangle">
              <a:avLst/>
            </a:prstGeom>
            <a:solidFill>
              <a:schemeClr val="tx1">
                <a:alpha val="85000"/>
                <a:lumMod val="75000"/>
                <a:lumOff val="25000"/>
              </a:schemeClr>
            </a:solidFill>
            <a:ln>
              <a:noFill/>
            </a:ln>
          </p:spPr>
          <p:txBody>
            <a:bodyPr vert="horz" anchor="ctr" tIns="45720" lIns="91440" bIns="45720" rIns="91440"/>
            <a:p>
              <a:pPr algn="ctr" marL="0"/>
            </a:p>
          </p:txBody>
        </p:sp>
        <p:sp>
          <p:nvSpPr>
            <p:cNvPr name="AutoShape 45" id="45"/>
            <p:cNvSpPr/>
            <p:nvPr/>
          </p:nvSpPr>
          <p:spPr>
            <a:xfrm flipV="true">
              <a:off x="6058662" y="5629962"/>
              <a:ext cx="116681" cy="446314"/>
            </a:xfrm>
            <a:prstGeom prst="rtTriangle">
              <a:avLst/>
            </a:prstGeom>
            <a:solidFill>
              <a:schemeClr val="tx1">
                <a:alpha val="85000"/>
                <a:lumMod val="75000"/>
                <a:lumOff val="25000"/>
              </a:schemeClr>
            </a:solidFill>
            <a:ln>
              <a:noFill/>
            </a:ln>
          </p:spPr>
          <p:txBody>
            <a:bodyPr vert="horz" anchor="ctr" tIns="45720" lIns="91440" bIns="45720" rIns="91440"/>
            <a:p>
              <a:pPr algn="ctr" marL="0"/>
            </a:p>
          </p:txBody>
        </p:sp>
        <p:sp>
          <p:nvSpPr>
            <p:cNvPr name="AutoShape 46" id="46"/>
            <p:cNvSpPr/>
            <p:nvPr/>
          </p:nvSpPr>
          <p:spPr>
            <a:xfrm flipH="true" rot="5400000">
              <a:off x="5330170" y="3264733"/>
              <a:ext cx="116681" cy="446314"/>
            </a:xfrm>
            <a:prstGeom prst="rtTriangle">
              <a:avLst/>
            </a:prstGeom>
            <a:solidFill>
              <a:schemeClr val="tx1">
                <a:alpha val="85000"/>
                <a:lumMod val="75000"/>
                <a:lumOff val="25000"/>
              </a:schemeClr>
            </a:solidFill>
            <a:ln>
              <a:noFill/>
            </a:ln>
          </p:spPr>
          <p:txBody>
            <a:bodyPr vert="horz" anchor="ctr" tIns="45720" lIns="91440" bIns="45720" rIns="91440"/>
            <a:p>
              <a:pPr algn="ctr" marL="0"/>
            </a:p>
          </p:txBody>
        </p:sp>
        <p:sp>
          <p:nvSpPr>
            <p:cNvPr name="AutoShape 47" id="47"/>
            <p:cNvSpPr/>
            <p:nvPr/>
          </p:nvSpPr>
          <p:spPr>
            <a:xfrm flipV="true">
              <a:off x="3797162" y="3557190"/>
              <a:ext cx="116681" cy="446314"/>
            </a:xfrm>
            <a:prstGeom prst="rtTriangle">
              <a:avLst/>
            </a:prstGeom>
            <a:solidFill>
              <a:schemeClr val="tx1">
                <a:alpha val="85000"/>
                <a:lumMod val="75000"/>
                <a:lumOff val="25000"/>
              </a:schemeClr>
            </a:solidFill>
            <a:ln>
              <a:noFill/>
            </a:ln>
          </p:spPr>
          <p:txBody>
            <a:bodyPr vert="horz" anchor="ctr" tIns="45720" lIns="91440" bIns="45720" rIns="91440"/>
            <a:p>
              <a:pPr algn="ctr" marL="0"/>
            </a:p>
          </p:txBody>
        </p:sp>
      </p:grpSp>
      <p:sp>
        <p:nvSpPr>
          <p:cNvPr name="TextBox 48" id="48"/>
          <p:cNvSpPr txBox="true"/>
          <p:nvPr/>
        </p:nvSpPr>
        <p:spPr>
          <a:xfrm>
            <a:off x="677174" y="1569712"/>
            <a:ext cx="652743" cy="584775"/>
          </a:xfrm>
          <a:prstGeom prst="rect">
            <a:avLst/>
          </a:prstGeom>
          <a:noFill/>
        </p:spPr>
        <p:txBody>
          <a:bodyPr anchor="t" rtlCol="false" vert="horz" wrap="none" tIns="45720" lIns="91440" bIns="45720" rIns="91440">
            <a:spAutoFit/>
          </a:bodyPr>
          <a:lstStyle/>
          <a:p>
            <a:pPr algn="l" marL="0">
              <a:defRPr/>
            </a:pPr>
            <a:r>
              <a:rPr lang="en-US" b="true" i="false" sz="3200" baseline="0" u="none">
                <a:solidFill>
                  <a:srgbClr val="68A042"/>
                </a:solidFill>
                <a:latin typeface="Open Sans"/>
                <a:ea typeface="Open Sans"/>
              </a:rPr>
              <a:t>01</a:t>
            </a:r>
            <a:endParaRPr lang="en-US" sz="1100"/>
          </a:p>
        </p:txBody>
      </p:sp>
      <p:sp>
        <p:nvSpPr>
          <p:cNvPr name="TextBox 49" id="49"/>
          <p:cNvSpPr txBox="true"/>
          <p:nvPr/>
        </p:nvSpPr>
        <p:spPr>
          <a:xfrm>
            <a:off x="677174" y="3243165"/>
            <a:ext cx="652743" cy="584775"/>
          </a:xfrm>
          <a:prstGeom prst="rect">
            <a:avLst/>
          </a:prstGeom>
          <a:noFill/>
        </p:spPr>
        <p:txBody>
          <a:bodyPr anchor="t" rtlCol="false" vert="horz" wrap="none" tIns="45720" lIns="91440" bIns="45720" rIns="91440">
            <a:spAutoFit/>
          </a:bodyPr>
          <a:lstStyle/>
          <a:p>
            <a:pPr algn="l" marL="0">
              <a:defRPr/>
            </a:pPr>
            <a:r>
              <a:rPr lang="en-US" b="true" i="false" sz="3200" baseline="0" u="none">
                <a:solidFill>
                  <a:srgbClr val="009E17"/>
                </a:solidFill>
                <a:latin typeface="Open Sans"/>
                <a:ea typeface="Open Sans"/>
              </a:rPr>
              <a:t>02</a:t>
            </a:r>
            <a:endParaRPr lang="en-US" sz="1100"/>
          </a:p>
        </p:txBody>
      </p:sp>
      <p:sp>
        <p:nvSpPr>
          <p:cNvPr name="TextBox 50" id="50"/>
          <p:cNvSpPr txBox="true"/>
          <p:nvPr/>
        </p:nvSpPr>
        <p:spPr>
          <a:xfrm>
            <a:off x="677174" y="5036956"/>
            <a:ext cx="652743" cy="584775"/>
          </a:xfrm>
          <a:prstGeom prst="rect">
            <a:avLst/>
          </a:prstGeom>
          <a:noFill/>
        </p:spPr>
        <p:txBody>
          <a:bodyPr anchor="t" rtlCol="false" vert="horz" wrap="none" tIns="45720" lIns="91440" bIns="45720" rIns="91440">
            <a:spAutoFit/>
          </a:bodyPr>
          <a:lstStyle/>
          <a:p>
            <a:pPr algn="l" marL="0">
              <a:defRPr/>
            </a:pPr>
            <a:r>
              <a:rPr lang="en-US" b="true" i="false" sz="3200" baseline="0" u="none">
                <a:solidFill>
                  <a:srgbClr val="00AC6A"/>
                </a:solidFill>
                <a:latin typeface="Open Sans"/>
                <a:ea typeface="Open Sans"/>
              </a:rPr>
              <a:t>03</a:t>
            </a:r>
            <a:endParaRPr lang="en-US" sz="1100"/>
          </a:p>
        </p:txBody>
      </p:sp>
      <p:sp>
        <p:nvSpPr>
          <p:cNvPr name="TextBox 51" id="51"/>
          <p:cNvSpPr txBox="true"/>
          <p:nvPr/>
        </p:nvSpPr>
        <p:spPr>
          <a:xfrm>
            <a:off x="1325858" y="1574786"/>
            <a:ext cx="4717397" cy="307777"/>
          </a:xfrm>
          <a:prstGeom prst="rect">
            <a:avLst/>
          </a:prstGeom>
          <a:noFill/>
        </p:spPr>
        <p:txBody>
          <a:bodyPr anchor="t" rtlCol="false" vert="horz" wrap="square" tIns="45720" lIns="91440" bIns="45720" rIns="91440">
            <a:spAutoFit/>
          </a:bodyPr>
          <a:lstStyle/>
          <a:p>
            <a:pPr algn="l" marL="0">
              <a:defRPr/>
            </a:pPr>
            <a:r>
              <a:rPr lang="zh-CN" b="true" i="false" sz="1400" baseline="0" u="none" altLang="en-US">
                <a:solidFill>
                  <a:schemeClr val="tx1"/>
                </a:solidFill>
                <a:latin typeface="微软雅黑"/>
                <a:ea typeface="微软雅黑"/>
              </a:rPr>
              <a:t>栈的概念与特点</a:t>
            </a:r>
            <a:endParaRPr lang="en-US" sz="1100"/>
          </a:p>
        </p:txBody>
      </p:sp>
      <p:sp>
        <p:nvSpPr>
          <p:cNvPr name="TextBox 52" id="52"/>
          <p:cNvSpPr txBox="true"/>
          <p:nvPr/>
        </p:nvSpPr>
        <p:spPr>
          <a:xfrm>
            <a:off x="1327211" y="1862100"/>
            <a:ext cx="5321281" cy="1167692"/>
          </a:xfrm>
          <a:prstGeom prst="rect">
            <a:avLst/>
          </a:prstGeom>
          <a:noFill/>
        </p:spPr>
        <p:txBody>
          <a:bodyPr anchor="t" rtlCol="false" vert="horz" wrap="square" tIns="45720" lIns="91440" bIns="45720" rIns="91440">
            <a:spAutoFit/>
          </a:bodyPr>
          <a:lstStyle/>
          <a:p>
            <a:pPr algn="l" marL="0">
              <a:lnSpc>
                <a:spcPct val="150000"/>
              </a:lnSpc>
              <a:defRPr/>
            </a:pPr>
            <a:r>
              <a:rPr lang="zh-CN" b="false" i="false" sz="1200" baseline="0" u="none" altLang="en-US">
                <a:solidFill>
                  <a:schemeClr val="tx1"/>
                </a:solidFill>
                <a:latin typeface="微软雅黑"/>
                <a:ea typeface="微软雅黑"/>
              </a:rPr>
              <a:t>栈是限定仅在表尾进行插入和删除操作的线性表，后进先出（LIFO）。栈顶是允许操作的一端，栈底固定。基本操作有入栈（push）、出栈（pop）、取栈顶（top）、判空等。</a:t>
            </a:r>
            <a:endParaRPr lang="en-US" sz="1100"/>
          </a:p>
        </p:txBody>
      </p:sp>
      <p:sp>
        <p:nvSpPr>
          <p:cNvPr name="TextBox 53" id="53"/>
          <p:cNvSpPr txBox="true"/>
          <p:nvPr/>
        </p:nvSpPr>
        <p:spPr>
          <a:xfrm>
            <a:off x="1327211" y="3306790"/>
            <a:ext cx="4717397" cy="307777"/>
          </a:xfrm>
          <a:prstGeom prst="rect">
            <a:avLst/>
          </a:prstGeom>
          <a:noFill/>
        </p:spPr>
        <p:txBody>
          <a:bodyPr anchor="t" rtlCol="false" vert="horz" wrap="square" tIns="45720" lIns="91440" bIns="45720" rIns="91440">
            <a:spAutoFit/>
          </a:bodyPr>
          <a:lstStyle/>
          <a:p>
            <a:pPr algn="l" marL="0">
              <a:defRPr/>
            </a:pPr>
            <a:r>
              <a:rPr lang="zh-CN" b="true" i="false" sz="1400" baseline="0" u="none" altLang="en-US">
                <a:solidFill>
                  <a:schemeClr val="tx1"/>
                </a:solidFill>
                <a:latin typeface="微软雅黑"/>
                <a:ea typeface="微软雅黑"/>
              </a:rPr>
              <a:t>顺序栈实现</a:t>
            </a:r>
            <a:endParaRPr lang="en-US" sz="1100"/>
          </a:p>
        </p:txBody>
      </p:sp>
      <p:sp>
        <p:nvSpPr>
          <p:cNvPr name="TextBox 54" id="54"/>
          <p:cNvSpPr txBox="true"/>
          <p:nvPr/>
        </p:nvSpPr>
        <p:spPr>
          <a:xfrm>
            <a:off x="1328564" y="3594104"/>
            <a:ext cx="5622282" cy="1167692"/>
          </a:xfrm>
          <a:prstGeom prst="rect">
            <a:avLst/>
          </a:prstGeom>
          <a:noFill/>
        </p:spPr>
        <p:txBody>
          <a:bodyPr anchor="t" rtlCol="false" vert="horz" wrap="square" tIns="45720" lIns="91440" bIns="45720" rIns="91440">
            <a:spAutoFit/>
          </a:bodyPr>
          <a:lstStyle/>
          <a:p>
            <a:pPr algn="l" marL="0">
              <a:lnSpc>
                <a:spcPct val="150000"/>
              </a:lnSpc>
              <a:defRPr/>
            </a:pPr>
            <a:r>
              <a:rPr lang="zh-CN" b="false" i="false" sz="1200" baseline="0" u="none" altLang="en-US">
                <a:solidFill>
                  <a:schemeClr val="tx1"/>
                </a:solidFill>
                <a:latin typeface="微软雅黑"/>
                <a:ea typeface="微软雅黑"/>
              </a:rPr>
              <a:t>使用数组存储栈元素，设置栈顶指针top指示栈顶位置。入栈时top++，出栈时top--。需注意栈满条件及动态扩容策略。顺序栈操作时间复杂度均为O(1)。</a:t>
            </a:r>
            <a:endParaRPr lang="en-US" sz="1100"/>
          </a:p>
        </p:txBody>
      </p:sp>
      <p:sp>
        <p:nvSpPr>
          <p:cNvPr name="TextBox 55" id="55"/>
          <p:cNvSpPr txBox="true"/>
          <p:nvPr/>
        </p:nvSpPr>
        <p:spPr>
          <a:xfrm>
            <a:off x="1327211" y="5058826"/>
            <a:ext cx="4717397" cy="307777"/>
          </a:xfrm>
          <a:prstGeom prst="rect">
            <a:avLst/>
          </a:prstGeom>
          <a:noFill/>
        </p:spPr>
        <p:txBody>
          <a:bodyPr anchor="t" rtlCol="false" vert="horz" wrap="square" tIns="45720" lIns="91440" bIns="45720" rIns="91440">
            <a:spAutoFit/>
          </a:bodyPr>
          <a:lstStyle/>
          <a:p>
            <a:pPr algn="l" marL="0">
              <a:defRPr/>
            </a:pPr>
            <a:r>
              <a:rPr lang="zh-CN" b="true" i="false" sz="1400" baseline="0" u="none" altLang="en-US">
                <a:solidFill>
                  <a:schemeClr val="tx1"/>
                </a:solidFill>
                <a:latin typeface="微软雅黑"/>
                <a:ea typeface="微软雅黑"/>
              </a:rPr>
              <a:t>链栈实现</a:t>
            </a:r>
            <a:endParaRPr lang="en-US" sz="1100"/>
          </a:p>
        </p:txBody>
      </p:sp>
      <p:sp>
        <p:nvSpPr>
          <p:cNvPr name="TextBox 56" id="56"/>
          <p:cNvSpPr txBox="true"/>
          <p:nvPr/>
        </p:nvSpPr>
        <p:spPr>
          <a:xfrm>
            <a:off x="1328564" y="5346140"/>
            <a:ext cx="6819159" cy="890693"/>
          </a:xfrm>
          <a:prstGeom prst="rect">
            <a:avLst/>
          </a:prstGeom>
          <a:noFill/>
        </p:spPr>
        <p:txBody>
          <a:bodyPr anchor="t" rtlCol="false" vert="horz" wrap="square" tIns="45720" lIns="91440" bIns="45720" rIns="91440">
            <a:spAutoFit/>
          </a:bodyPr>
          <a:lstStyle/>
          <a:p>
            <a:pPr algn="l" marL="0">
              <a:lnSpc>
                <a:spcPct val="150000"/>
              </a:lnSpc>
              <a:defRPr/>
            </a:pPr>
            <a:r>
              <a:rPr lang="zh-CN" b="false" i="false" sz="1200" baseline="0" u="none" altLang="en-US">
                <a:solidFill>
                  <a:schemeClr val="tx1"/>
                </a:solidFill>
                <a:latin typeface="微软雅黑"/>
                <a:ea typeface="微软雅黑"/>
              </a:rPr>
              <a:t>以链表为存储结构，栈顶在链表头部。入栈采用头插法，出栈删除头节点。链栈不会出现栈满情况，但需额外指针空间。适用于数据量不确定的场景。</a:t>
            </a:r>
            <a:endParaRPr lang="en-US" sz="1100"/>
          </a:p>
        </p:txBody>
      </p:sp>
      <p:sp>
        <p:nvSpPr>
          <p:cNvPr name="TextBox 57" id="57"/>
          <p:cNvSpPr txBox="true"/>
          <p:nvPr/>
        </p:nvSpPr>
        <p:spPr>
          <a:xfrm>
            <a:off x="1547970" y="609538"/>
            <a:ext cx="9096059" cy="480131"/>
          </a:xfrm>
          <a:prstGeom prst="rect">
            <a:avLst/>
          </a:prstGeom>
        </p:spPr>
        <p:txBody>
          <a:bodyPr anchor="ctr" rtlCol="false" vert="horz" wrap="square" tIns="45720" lIns="91440" bIns="45720" rIns="91440">
            <a:spAutoFit/>
          </a:bodyPr>
          <a:lstStyle/>
          <a:p>
            <a:pPr algn="l" marL="0">
              <a:lnSpc>
                <a:spcPct val="90000"/>
              </a:lnSpc>
              <a:spcBef>
                <a:spcPct val="0"/>
              </a:spcBef>
              <a:defRPr/>
            </a:pPr>
            <a:r>
              <a:rPr lang="zh-CN" b="true" i="false" sz="2800" baseline="0" u="none" altLang="en-US">
                <a:solidFill>
                  <a:srgbClr val="000000"/>
                </a:solidFill>
                <a:latin typeface="微软雅黑"/>
                <a:ea typeface="微软雅黑"/>
              </a:rPr>
              <a:t>栈的定义与实现</a:t>
            </a:r>
            <a:endParaRPr lang="en-US" sz="1100"/>
          </a:p>
        </p:txBody>
      </p:sp>
      <p:sp>
        <p:nvSpPr>
          <p:cNvPr name="AutoShape 58" id="58"/>
          <p:cNvSpPr/>
          <p:nvPr/>
        </p:nvSpPr>
        <p:spPr>
          <a:xfrm>
            <a:off x="10795000" y="6540500"/>
            <a:ext cx="1270000" cy="190500"/>
          </a:xfrm>
          <a:prstGeom prst="rect">
            <a:avLst/>
          </a:prstGeom>
          <a:solidFill>
            <a:srgbClr val="000000">
              <a:alpha val="0"/>
            </a:srgbClr>
          </a:solidFill>
        </p:spPr>
        <p:txBody>
          <a:bodyPr anchor="t" rtlCol="false"/>
          <a:lstStyle/>
          <a:p>
            <a:pPr algn="r">
              <a:defRPr/>
            </a:pPr>
            <a:r>
              <a:rPr lang="en-US" b="false" i="false" sz="800" baseline="0" u="none">
                <a:solidFill>
                  <a:srgbClr val="808080"/>
                </a:solidFill>
                <a:latin typeface="Microsoft YaHei"/>
                <a:ea typeface="Microsoft YaHei"/>
              </a:rPr>
              <a:t>内容由AI生成</a:t>
            </a:r>
            <a:endParaRPr lang="en-US" sz="1100"/>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chemeClr val="bg1"/>
        </a:solidFill>
      </p:bgPr>
    </p:bg>
    <p:spTree>
      <p:nvGrpSpPr>
        <p:cNvPr id="1" name=""/>
        <p:cNvGrpSpPr/>
        <p:nvPr/>
      </p:nvGrpSpPr>
      <p:grpSpPr>
        <a:xfrm>
          <a:off x="0" y="0"/>
          <a:ext cx="0" cy="0"/>
          <a:chOff x="0" y="0"/>
          <a:chExt cx="0" cy="0"/>
        </a:xfrm>
      </p:grpSpPr>
      <p:sp>
        <p:nvSpPr>
          <p:cNvPr name="Freeform 2" id="2"/>
          <p:cNvSpPr/>
          <p:nvPr/>
        </p:nvSpPr>
        <p:spPr>
          <a:xfrm>
            <a:off x="0" y="1842644"/>
            <a:ext cx="1618672" cy="1037008"/>
          </a:xfrm>
          <a:custGeom>
            <a:avLst/>
            <a:gdLst/>
            <a:ahLst/>
            <a:cxnLst/>
            <a:rect r="r" b="b" t="t" l="l"/>
            <a:pathLst>
              <a:path w="1618672" h="1037008" stroke="true" fill="norm" extrusionOk="true">
                <a:moveTo>
                  <a:pt x="0" y="0"/>
                </a:moveTo>
                <a:lnTo>
                  <a:pt x="1100168" y="0"/>
                </a:lnTo>
                <a:cubicBezTo>
                  <a:pt x="1386530" y="0"/>
                  <a:pt x="1618672" y="232142"/>
                  <a:pt x="1618672" y="518504"/>
                </a:cubicBezTo>
                <a:cubicBezTo>
                  <a:pt x="1618672" y="804866"/>
                  <a:pt x="1386530" y="1037008"/>
                  <a:pt x="1100168" y="1037008"/>
                </a:cubicBezTo>
                <a:lnTo>
                  <a:pt x="0" y="1037008"/>
                </a:lnTo>
                <a:close/>
              </a:path>
            </a:pathLst>
          </a:custGeom>
          <a:solidFill>
            <a:srgbClr val="007611"/>
          </a:solidFill>
          <a:ln>
            <a:noFill/>
          </a:ln>
          <a:effectLst>
            <a:outerShdw algn="bl" blurRad="101600" dir="18900000" dist="38100" rotWithShape="false">
              <a:schemeClr val="accent2">
                <a:alpha val="40000"/>
                <a:lumMod val="20000"/>
                <a:lumOff val="80000"/>
              </a:schemeClr>
            </a:outerShdw>
          </a:effectLst>
        </p:spPr>
        <p:txBody>
          <a:bodyPr vert="horz" anchor="ctr" wrap="square" tIns="45720" lIns="91440" bIns="45720" rIns="91440">
            <a:noAutofit/>
          </a:bodyPr>
          <a:p>
            <a:pPr algn="ctr" marL="0"/>
          </a:p>
        </p:txBody>
      </p:sp>
      <p:sp>
        <p:nvSpPr>
          <p:cNvPr name="Freeform 3" id="3"/>
          <p:cNvSpPr/>
          <p:nvPr/>
        </p:nvSpPr>
        <p:spPr>
          <a:xfrm>
            <a:off x="0" y="3404967"/>
            <a:ext cx="1618672" cy="1037008"/>
          </a:xfrm>
          <a:custGeom>
            <a:avLst/>
            <a:gdLst/>
            <a:ahLst/>
            <a:cxnLst/>
            <a:rect r="r" b="b" t="t" l="l"/>
            <a:pathLst>
              <a:path w="1618672" h="1037008" stroke="true" fill="norm" extrusionOk="true">
                <a:moveTo>
                  <a:pt x="0" y="0"/>
                </a:moveTo>
                <a:lnTo>
                  <a:pt x="1100168" y="0"/>
                </a:lnTo>
                <a:cubicBezTo>
                  <a:pt x="1386530" y="0"/>
                  <a:pt x="1618672" y="232142"/>
                  <a:pt x="1618672" y="518504"/>
                </a:cubicBezTo>
                <a:cubicBezTo>
                  <a:pt x="1618672" y="804866"/>
                  <a:pt x="1386530" y="1037008"/>
                  <a:pt x="1100168" y="1037008"/>
                </a:cubicBezTo>
                <a:lnTo>
                  <a:pt x="0" y="1037008"/>
                </a:lnTo>
                <a:close/>
              </a:path>
            </a:pathLst>
          </a:custGeom>
          <a:solidFill>
            <a:schemeClr val="accent6">
              <a:lumMod val="75000"/>
            </a:schemeClr>
          </a:solidFill>
          <a:ln>
            <a:noFill/>
          </a:ln>
          <a:effectLst>
            <a:outerShdw algn="bl" blurRad="101600" dir="18900000" dist="38100" rotWithShape="false">
              <a:schemeClr val="accent2">
                <a:alpha val="40000"/>
                <a:lumMod val="20000"/>
                <a:lumOff val="80000"/>
              </a:schemeClr>
            </a:outerShdw>
          </a:effectLst>
        </p:spPr>
        <p:txBody>
          <a:bodyPr vert="horz" anchor="ctr" wrap="square" tIns="45720" lIns="91440" bIns="45720" rIns="91440">
            <a:noAutofit/>
          </a:bodyPr>
          <a:p>
            <a:pPr algn="ctr" marL="0"/>
          </a:p>
        </p:txBody>
      </p:sp>
      <p:sp>
        <p:nvSpPr>
          <p:cNvPr name="Freeform 4" id="4"/>
          <p:cNvSpPr/>
          <p:nvPr/>
        </p:nvSpPr>
        <p:spPr>
          <a:xfrm>
            <a:off x="0" y="4967290"/>
            <a:ext cx="1618672" cy="1037008"/>
          </a:xfrm>
          <a:custGeom>
            <a:avLst/>
            <a:gdLst/>
            <a:ahLst/>
            <a:cxnLst/>
            <a:rect r="r" b="b" t="t" l="l"/>
            <a:pathLst>
              <a:path w="1618672" h="1037008" stroke="true" fill="norm" extrusionOk="true">
                <a:moveTo>
                  <a:pt x="0" y="0"/>
                </a:moveTo>
                <a:lnTo>
                  <a:pt x="1100168" y="0"/>
                </a:lnTo>
                <a:cubicBezTo>
                  <a:pt x="1386530" y="0"/>
                  <a:pt x="1618672" y="232142"/>
                  <a:pt x="1618672" y="518504"/>
                </a:cubicBezTo>
                <a:cubicBezTo>
                  <a:pt x="1618672" y="804866"/>
                  <a:pt x="1386530" y="1037008"/>
                  <a:pt x="1100168" y="1037008"/>
                </a:cubicBezTo>
                <a:lnTo>
                  <a:pt x="0" y="1037008"/>
                </a:lnTo>
                <a:close/>
              </a:path>
            </a:pathLst>
          </a:custGeom>
          <a:solidFill>
            <a:schemeClr val="accent6">
              <a:lumMod val="50000"/>
            </a:schemeClr>
          </a:solidFill>
          <a:ln>
            <a:noFill/>
          </a:ln>
          <a:effectLst>
            <a:outerShdw algn="bl" blurRad="101600" dir="18900000" dist="38100" rotWithShape="false">
              <a:schemeClr val="accent2">
                <a:alpha val="40000"/>
                <a:lumMod val="20000"/>
                <a:lumOff val="80000"/>
              </a:schemeClr>
            </a:outerShdw>
          </a:effectLst>
        </p:spPr>
        <p:txBody>
          <a:bodyPr vert="horz" anchor="ctr" wrap="square" tIns="45720" lIns="91440" bIns="45720" rIns="91440">
            <a:noAutofit/>
          </a:bodyPr>
          <a:p>
            <a:pPr algn="ctr" marL="0"/>
          </a:p>
        </p:txBody>
      </p:sp>
      <p:grpSp>
        <p:nvGrpSpPr>
          <p:cNvPr name="Group 5" id="5"/>
          <p:cNvGrpSpPr/>
          <p:nvPr/>
        </p:nvGrpSpPr>
        <p:grpSpPr>
          <a:xfrm>
            <a:off x="7428345" y="2473111"/>
            <a:ext cx="4219821" cy="2772616"/>
            <a:chOff x="892823" y="2277027"/>
            <a:chExt cx="4219821" cy="3197745"/>
          </a:xfrm>
        </p:grpSpPr>
        <p:pic>
          <p:nvPicPr>
            <p:cNvPr name="image26.png" id="6"/>
            <p:cNvPicPr>
              <a:picLocks noChangeAspect="true"/>
            </p:cNvPicPr>
            <p:nvPr/>
          </p:nvPicPr>
          <p:blipFill>
            <a:blip r:embed="rId2"/>
            <a:stretch>
              <a:fillRect t="0" l="0" b="0" r="0"/>
            </a:stretch>
          </p:blipFill>
          <p:spPr>
            <a:xfrm>
              <a:off x="1859925" y="2277027"/>
              <a:ext cx="3252719" cy="2109169"/>
            </a:xfrm>
            <a:prstGeom prst="rect">
              <a:avLst/>
            </a:prstGeom>
            <a:ln>
              <a:noFill/>
            </a:ln>
            <a:effectLst>
              <a:outerShdw algn="tl" blurRad="50800" dir="2700000" dist="38100" rotWithShape="false">
                <a:srgbClr val="000000">
                  <a:alpha val="40000"/>
                </a:srgbClr>
              </a:outerShdw>
            </a:effectLst>
          </p:spPr>
        </p:pic>
        <p:pic>
          <p:nvPicPr>
            <p:cNvPr name="image28.png" id="7"/>
            <p:cNvPicPr>
              <a:picLocks noChangeAspect="true"/>
            </p:cNvPicPr>
            <p:nvPr/>
          </p:nvPicPr>
          <p:blipFill>
            <a:blip r:embed="rId3"/>
            <a:stretch>
              <a:fillRect t="0" l="0" b="0" r="0"/>
            </a:stretch>
          </p:blipFill>
          <p:spPr>
            <a:xfrm>
              <a:off x="892823" y="3886709"/>
              <a:ext cx="2287578" cy="1588063"/>
            </a:xfrm>
            <a:prstGeom prst="rect">
              <a:avLst/>
            </a:prstGeom>
            <a:ln>
              <a:noFill/>
            </a:ln>
            <a:effectLst>
              <a:outerShdw algn="tl" blurRad="50800" dir="2700000" dist="38100" rotWithShape="false">
                <a:srgbClr val="000000">
                  <a:alpha val="40000"/>
                </a:srgbClr>
              </a:outerShdw>
            </a:effectLst>
          </p:spPr>
        </p:pic>
      </p:grpSp>
      <p:sp>
        <p:nvSpPr>
          <p:cNvPr name="TextBox 8" id="8"/>
          <p:cNvSpPr txBox="true"/>
          <p:nvPr/>
        </p:nvSpPr>
        <p:spPr>
          <a:xfrm>
            <a:off x="1621881" y="1789322"/>
            <a:ext cx="5370830" cy="337185"/>
          </a:xfrm>
          <a:prstGeom prst="rect">
            <a:avLst/>
          </a:prstGeom>
          <a:noFill/>
        </p:spPr>
        <p:txBody>
          <a:bodyPr anchor="t" rtlCol="false" vert="horz" wrap="square" tIns="45720" lIns="91440" bIns="45720" rIns="91440">
            <a:spAutoFit/>
          </a:bodyPr>
          <a:lstStyle/>
          <a:p>
            <a:pPr algn="l" marL="0">
              <a:defRPr/>
            </a:pPr>
            <a:r>
              <a:rPr lang="zh-CN" b="true" i="false" sz="1600" baseline="0" u="none" altLang="en-US">
                <a:solidFill>
                  <a:schemeClr val="tx1"/>
                </a:solidFill>
                <a:latin typeface="微软雅黑"/>
                <a:ea typeface="微软雅黑"/>
              </a:rPr>
              <a:t>括号匹配检查</a:t>
            </a:r>
            <a:endParaRPr lang="en-US" sz="1100"/>
          </a:p>
        </p:txBody>
      </p:sp>
      <p:sp>
        <p:nvSpPr>
          <p:cNvPr name="TextBox 9" id="9"/>
          <p:cNvSpPr txBox="true"/>
          <p:nvPr/>
        </p:nvSpPr>
        <p:spPr>
          <a:xfrm>
            <a:off x="1621881" y="2126507"/>
            <a:ext cx="5743575" cy="953135"/>
          </a:xfrm>
          <a:prstGeom prst="rect">
            <a:avLst/>
          </a:prstGeom>
          <a:noFill/>
        </p:spPr>
        <p:txBody>
          <a:bodyPr anchor="t" rtlCol="false" vert="horz" wrap="square" tIns="45720" lIns="91440" bIns="45720" rIns="91440">
            <a:spAutoFit/>
          </a:bodyPr>
          <a:lstStyle/>
          <a:p>
            <a:pPr algn="l" marL="0">
              <a:defRPr/>
            </a:pPr>
            <a:r>
              <a:rPr lang="zh-CN" b="false" i="false" sz="1400" baseline="0" u="none" altLang="en-US">
                <a:solidFill>
                  <a:schemeClr val="tx1"/>
                </a:solidFill>
                <a:latin typeface="微软雅黑"/>
                <a:ea typeface="微软雅黑"/>
              </a:rPr>
              <a:t>利用栈判断表达式中的括号是否正确配对。遍历字符串，遇左括号入栈，遇右括号时检查栈顶是否匹配，不匹配则错误。若遍历结束栈为空则匹配成功。</a:t>
            </a:r>
            <a:endParaRPr lang="en-US" sz="1100"/>
          </a:p>
        </p:txBody>
      </p:sp>
      <p:sp>
        <p:nvSpPr>
          <p:cNvPr name="TextBox 10" id="10"/>
          <p:cNvSpPr txBox="true"/>
          <p:nvPr/>
        </p:nvSpPr>
        <p:spPr>
          <a:xfrm>
            <a:off x="1604115" y="3334149"/>
            <a:ext cx="5370830" cy="337185"/>
          </a:xfrm>
          <a:prstGeom prst="rect">
            <a:avLst/>
          </a:prstGeom>
          <a:noFill/>
        </p:spPr>
        <p:txBody>
          <a:bodyPr anchor="t" rtlCol="false" vert="horz" wrap="square" tIns="45720" lIns="91440" bIns="45720" rIns="91440">
            <a:spAutoFit/>
          </a:bodyPr>
          <a:lstStyle/>
          <a:p>
            <a:pPr algn="l" marL="0">
              <a:defRPr/>
            </a:pPr>
            <a:r>
              <a:rPr lang="zh-CN" b="true" i="false" sz="1600" baseline="0" u="none" altLang="en-US">
                <a:solidFill>
                  <a:schemeClr val="tx1"/>
                </a:solidFill>
                <a:latin typeface="微软雅黑"/>
                <a:ea typeface="微软雅黑"/>
              </a:rPr>
              <a:t>表达式求值</a:t>
            </a:r>
            <a:endParaRPr lang="en-US" sz="1100"/>
          </a:p>
        </p:txBody>
      </p:sp>
      <p:sp>
        <p:nvSpPr>
          <p:cNvPr name="TextBox 11" id="11"/>
          <p:cNvSpPr txBox="true"/>
          <p:nvPr/>
        </p:nvSpPr>
        <p:spPr>
          <a:xfrm>
            <a:off x="1604115" y="3671334"/>
            <a:ext cx="5743575" cy="953135"/>
          </a:xfrm>
          <a:prstGeom prst="rect">
            <a:avLst/>
          </a:prstGeom>
          <a:noFill/>
        </p:spPr>
        <p:txBody>
          <a:bodyPr anchor="t" rtlCol="false" vert="horz" wrap="square" tIns="45720" lIns="91440" bIns="45720" rIns="91440">
            <a:spAutoFit/>
          </a:bodyPr>
          <a:lstStyle/>
          <a:p>
            <a:pPr algn="l" marL="0">
              <a:defRPr/>
            </a:pPr>
            <a:r>
              <a:rPr lang="zh-CN" b="false" i="false" sz="1400" baseline="0" u="none" altLang="en-US">
                <a:solidFill>
                  <a:schemeClr val="tx1"/>
                </a:solidFill>
                <a:latin typeface="微软雅黑"/>
                <a:ea typeface="微软雅黑"/>
              </a:rPr>
              <a:t>中缀表达式转换为后缀表达式（逆波兰式）时使用运算符栈。扫描表达式，数字直接输出，运算符根据优先级决定入栈或弹出。后缀求值时将数字压栈，遇到运算符则弹出两个数计算结果再压栈。</a:t>
            </a:r>
            <a:endParaRPr lang="en-US" sz="1100"/>
          </a:p>
        </p:txBody>
      </p:sp>
      <p:sp>
        <p:nvSpPr>
          <p:cNvPr name="TextBox 12" id="12"/>
          <p:cNvSpPr txBox="true"/>
          <p:nvPr/>
        </p:nvSpPr>
        <p:spPr>
          <a:xfrm>
            <a:off x="1621881" y="4872993"/>
            <a:ext cx="5370830" cy="337185"/>
          </a:xfrm>
          <a:prstGeom prst="rect">
            <a:avLst/>
          </a:prstGeom>
          <a:noFill/>
        </p:spPr>
        <p:txBody>
          <a:bodyPr anchor="t" rtlCol="false" vert="horz" wrap="square" tIns="45720" lIns="91440" bIns="45720" rIns="91440">
            <a:spAutoFit/>
          </a:bodyPr>
          <a:lstStyle/>
          <a:p>
            <a:pPr algn="l" marL="0">
              <a:defRPr/>
            </a:pPr>
            <a:r>
              <a:rPr lang="zh-CN" b="true" i="false" sz="1600" baseline="0" u="none" altLang="en-US">
                <a:solidFill>
                  <a:schemeClr val="tx1"/>
                </a:solidFill>
                <a:latin typeface="微软雅黑"/>
                <a:ea typeface="微软雅黑"/>
              </a:rPr>
              <a:t>函数调用与递归</a:t>
            </a:r>
            <a:endParaRPr lang="en-US" sz="1100"/>
          </a:p>
        </p:txBody>
      </p:sp>
      <p:sp>
        <p:nvSpPr>
          <p:cNvPr name="TextBox 13" id="13"/>
          <p:cNvSpPr txBox="true"/>
          <p:nvPr/>
        </p:nvSpPr>
        <p:spPr>
          <a:xfrm>
            <a:off x="1621881" y="5210178"/>
            <a:ext cx="5743575" cy="953135"/>
          </a:xfrm>
          <a:prstGeom prst="rect">
            <a:avLst/>
          </a:prstGeom>
          <a:noFill/>
        </p:spPr>
        <p:txBody>
          <a:bodyPr anchor="t" rtlCol="false" vert="horz" wrap="square" tIns="45720" lIns="91440" bIns="45720" rIns="91440">
            <a:spAutoFit/>
          </a:bodyPr>
          <a:lstStyle/>
          <a:p>
            <a:pPr algn="l" marL="0">
              <a:defRPr/>
            </a:pPr>
            <a:r>
              <a:rPr lang="zh-CN" b="false" i="false" sz="1400" baseline="0" u="none" altLang="en-US">
                <a:solidFill>
                  <a:schemeClr val="tx1"/>
                </a:solidFill>
                <a:latin typeface="微软雅黑"/>
                <a:ea typeface="微软雅黑"/>
              </a:rPr>
              <a:t>系统使用函数调用栈来管理程序执行。每次函数调用创建一个栈帧，包含局部变量、返回地址等。递归函数调用时不断压栈，直到终止条件后逐层返回。栈溢出常因递归过深引起。</a:t>
            </a:r>
            <a:endParaRPr lang="en-US" sz="1100"/>
          </a:p>
        </p:txBody>
      </p:sp>
      <p:sp>
        <p:nvSpPr>
          <p:cNvPr name="TextBox 14" id="14"/>
          <p:cNvSpPr txBox="true"/>
          <p:nvPr/>
        </p:nvSpPr>
        <p:spPr>
          <a:xfrm>
            <a:off x="1521997" y="814543"/>
            <a:ext cx="9148005" cy="480131"/>
          </a:xfrm>
          <a:prstGeom prst="rect">
            <a:avLst/>
          </a:prstGeom>
        </p:spPr>
        <p:txBody>
          <a:bodyPr anchor="ctr" rtlCol="false" vert="horz" wrap="square" tIns="45720" lIns="91440" bIns="45720" rIns="91440">
            <a:spAutoFit/>
          </a:bodyPr>
          <a:lstStyle/>
          <a:p>
            <a:pPr algn="ctr" marL="0">
              <a:lnSpc>
                <a:spcPct val="90000"/>
              </a:lnSpc>
              <a:spcBef>
                <a:spcPct val="0"/>
              </a:spcBef>
              <a:defRPr/>
            </a:pPr>
            <a:r>
              <a:rPr lang="zh-CN" b="true" i="false" sz="2800" baseline="0" u="none" altLang="en-US">
                <a:solidFill>
                  <a:srgbClr val="000000"/>
                </a:solidFill>
                <a:latin typeface="微软雅黑"/>
                <a:ea typeface="微软雅黑"/>
              </a:rPr>
              <a:t>栈的应用</a:t>
            </a:r>
            <a:endParaRPr lang="en-US" sz="1100"/>
          </a:p>
        </p:txBody>
      </p:sp>
      <p:pic>
        <p:nvPicPr>
          <p:cNvPr name="image29.png" id="15"/>
          <p:cNvPicPr>
            <a:picLocks noChangeAspect="true"/>
          </p:cNvPicPr>
          <p:nvPr/>
        </p:nvPicPr>
        <p:blipFill>
          <a:blip r:embed="rId4"/>
          <a:stretch>
            <a:fillRect t="0" l="0" b="0" r="0"/>
          </a:stretch>
        </p:blipFill>
        <p:spPr>
          <a:xfrm>
            <a:off x="667045" y="5245728"/>
            <a:ext cx="480131" cy="480131"/>
          </a:xfrm>
          <a:prstGeom prst="rect">
            <a:avLst/>
          </a:prstGeom>
        </p:spPr>
      </p:pic>
      <p:pic>
        <p:nvPicPr>
          <p:cNvPr name="image30.png" id="16"/>
          <p:cNvPicPr>
            <a:picLocks noChangeAspect="true"/>
          </p:cNvPicPr>
          <p:nvPr/>
        </p:nvPicPr>
        <p:blipFill>
          <a:blip r:embed="rId5"/>
          <a:stretch>
            <a:fillRect t="0" l="0" b="0" r="0"/>
          </a:stretch>
        </p:blipFill>
        <p:spPr>
          <a:xfrm>
            <a:off x="671224" y="3759223"/>
            <a:ext cx="471776" cy="388678"/>
          </a:xfrm>
          <a:prstGeom prst="rect">
            <a:avLst/>
          </a:prstGeom>
        </p:spPr>
      </p:pic>
      <p:pic>
        <p:nvPicPr>
          <p:cNvPr name="image31.png" id="17"/>
          <p:cNvPicPr>
            <a:picLocks noChangeAspect="true"/>
          </p:cNvPicPr>
          <p:nvPr/>
        </p:nvPicPr>
        <p:blipFill>
          <a:blip r:embed="rId6"/>
          <a:stretch>
            <a:fillRect t="0" l="0" b="0" r="0"/>
          </a:stretch>
        </p:blipFill>
        <p:spPr>
          <a:xfrm>
            <a:off x="671223" y="2108601"/>
            <a:ext cx="471777" cy="471777"/>
          </a:xfrm>
          <a:prstGeom prst="rect">
            <a:avLst/>
          </a:prstGeom>
        </p:spPr>
      </p:pic>
      <p:sp>
        <p:nvSpPr>
          <p:cNvPr name="AutoShape 18" id="18"/>
          <p:cNvSpPr/>
          <p:nvPr/>
        </p:nvSpPr>
        <p:spPr>
          <a:xfrm>
            <a:off x="0" y="0"/>
            <a:ext cx="12192000" cy="6858000"/>
          </a:xfrm>
          <a:prstGeom prst="frame">
            <a:avLst>
              <a:gd name="adj1" fmla="val 2731"/>
            </a:avLst>
          </a:prstGeom>
          <a:solidFill>
            <a:srgbClr val="007448"/>
          </a:solidFill>
          <a:ln>
            <a:noFill/>
          </a:ln>
        </p:spPr>
        <p:txBody>
          <a:bodyPr vert="horz" anchor="ctr" tIns="45720" lIns="91440" bIns="45720" rIns="91440"/>
          <a:p>
            <a:pPr algn="ctr" marL="0"/>
          </a:p>
        </p:txBody>
      </p:sp>
      <p:sp>
        <p:nvSpPr>
          <p:cNvPr name="AutoShape 19" id="19"/>
          <p:cNvSpPr/>
          <p:nvPr/>
        </p:nvSpPr>
        <p:spPr>
          <a:xfrm>
            <a:off x="7570453" y="1959719"/>
            <a:ext cx="141092" cy="141092"/>
          </a:xfrm>
          <a:prstGeom prst="ellipse">
            <a:avLst/>
          </a:prstGeom>
          <a:solidFill>
            <a:schemeClr val="accent6">
              <a:lumMod val="60000"/>
              <a:lumOff val="40000"/>
            </a:schemeClr>
          </a:solidFill>
          <a:ln>
            <a:noFill/>
          </a:ln>
        </p:spPr>
        <p:txBody>
          <a:bodyPr vert="horz" anchor="ctr" tIns="45720" lIns="91440" bIns="45720" rIns="91440"/>
          <a:p>
            <a:pPr algn="ctr" marL="0"/>
          </a:p>
        </p:txBody>
      </p:sp>
      <p:sp>
        <p:nvSpPr>
          <p:cNvPr name="AutoShape 20" id="20"/>
          <p:cNvSpPr/>
          <p:nvPr/>
        </p:nvSpPr>
        <p:spPr>
          <a:xfrm>
            <a:off x="7770478" y="1959717"/>
            <a:ext cx="141092" cy="141092"/>
          </a:xfrm>
          <a:prstGeom prst="ellipse">
            <a:avLst/>
          </a:prstGeom>
          <a:solidFill>
            <a:schemeClr val="accent6">
              <a:lumMod val="75000"/>
            </a:schemeClr>
          </a:solidFill>
          <a:ln>
            <a:noFill/>
          </a:ln>
        </p:spPr>
        <p:txBody>
          <a:bodyPr vert="horz" anchor="ctr" tIns="45720" lIns="91440" bIns="45720" rIns="91440"/>
          <a:p>
            <a:pPr algn="ctr" marL="0"/>
          </a:p>
        </p:txBody>
      </p:sp>
      <p:sp>
        <p:nvSpPr>
          <p:cNvPr name="AutoShape 21" id="21"/>
          <p:cNvSpPr/>
          <p:nvPr/>
        </p:nvSpPr>
        <p:spPr>
          <a:xfrm>
            <a:off x="7967752" y="1959717"/>
            <a:ext cx="141092" cy="141092"/>
          </a:xfrm>
          <a:prstGeom prst="ellipse">
            <a:avLst/>
          </a:prstGeom>
          <a:solidFill>
            <a:schemeClr val="accent6">
              <a:lumMod val="50000"/>
            </a:schemeClr>
          </a:solidFill>
          <a:ln>
            <a:noFill/>
          </a:ln>
        </p:spPr>
        <p:txBody>
          <a:bodyPr vert="horz" anchor="ctr" tIns="45720" lIns="91440" bIns="45720" rIns="91440"/>
          <a:p>
            <a:pPr algn="ctr" marL="0"/>
          </a:p>
        </p:txBody>
      </p:sp>
      <p:sp>
        <p:nvSpPr>
          <p:cNvPr name="AutoShape 22" id="22"/>
          <p:cNvSpPr/>
          <p:nvPr/>
        </p:nvSpPr>
        <p:spPr>
          <a:xfrm>
            <a:off x="8165026" y="1959717"/>
            <a:ext cx="141092" cy="141092"/>
          </a:xfrm>
          <a:prstGeom prst="ellipse">
            <a:avLst/>
          </a:prstGeom>
          <a:solidFill>
            <a:srgbClr val="233616"/>
          </a:solidFill>
          <a:ln>
            <a:noFill/>
          </a:ln>
        </p:spPr>
        <p:txBody>
          <a:bodyPr vert="horz" anchor="ctr" tIns="45720" lIns="91440" bIns="45720" rIns="91440"/>
          <a:p>
            <a:pPr algn="ctr" marL="0"/>
          </a:p>
        </p:txBody>
      </p:sp>
      <p:sp>
        <p:nvSpPr>
          <p:cNvPr name="AutoShape 23" id="23"/>
          <p:cNvSpPr/>
          <p:nvPr/>
        </p:nvSpPr>
        <p:spPr>
          <a:xfrm>
            <a:off x="10912967" y="5863206"/>
            <a:ext cx="141092" cy="141092"/>
          </a:xfrm>
          <a:prstGeom prst="ellipse">
            <a:avLst/>
          </a:prstGeom>
          <a:solidFill>
            <a:schemeClr val="accent6">
              <a:lumMod val="60000"/>
              <a:lumOff val="40000"/>
            </a:schemeClr>
          </a:solidFill>
          <a:ln>
            <a:noFill/>
          </a:ln>
        </p:spPr>
        <p:txBody>
          <a:bodyPr vert="horz" anchor="ctr" tIns="45720" lIns="91440" bIns="45720" rIns="91440"/>
          <a:p>
            <a:pPr algn="ctr" marL="0"/>
          </a:p>
        </p:txBody>
      </p:sp>
      <p:sp>
        <p:nvSpPr>
          <p:cNvPr name="AutoShape 24" id="24"/>
          <p:cNvSpPr/>
          <p:nvPr/>
        </p:nvSpPr>
        <p:spPr>
          <a:xfrm>
            <a:off x="11112992" y="5863204"/>
            <a:ext cx="141092" cy="141092"/>
          </a:xfrm>
          <a:prstGeom prst="ellipse">
            <a:avLst/>
          </a:prstGeom>
          <a:solidFill>
            <a:schemeClr val="accent6">
              <a:lumMod val="75000"/>
            </a:schemeClr>
          </a:solidFill>
          <a:ln>
            <a:noFill/>
          </a:ln>
        </p:spPr>
        <p:txBody>
          <a:bodyPr vert="horz" anchor="ctr" tIns="45720" lIns="91440" bIns="45720" rIns="91440"/>
          <a:p>
            <a:pPr algn="ctr" marL="0"/>
          </a:p>
        </p:txBody>
      </p:sp>
      <p:sp>
        <p:nvSpPr>
          <p:cNvPr name="AutoShape 25" id="25"/>
          <p:cNvSpPr/>
          <p:nvPr/>
        </p:nvSpPr>
        <p:spPr>
          <a:xfrm>
            <a:off x="11310266" y="5863204"/>
            <a:ext cx="141092" cy="141092"/>
          </a:xfrm>
          <a:prstGeom prst="ellipse">
            <a:avLst/>
          </a:prstGeom>
          <a:solidFill>
            <a:schemeClr val="accent6">
              <a:lumMod val="50000"/>
            </a:schemeClr>
          </a:solidFill>
          <a:ln>
            <a:noFill/>
          </a:ln>
        </p:spPr>
        <p:txBody>
          <a:bodyPr vert="horz" anchor="ctr" tIns="45720" lIns="91440" bIns="45720" rIns="91440"/>
          <a:p>
            <a:pPr algn="ctr" marL="0"/>
          </a:p>
        </p:txBody>
      </p:sp>
      <p:sp>
        <p:nvSpPr>
          <p:cNvPr name="AutoShape 26" id="26"/>
          <p:cNvSpPr/>
          <p:nvPr/>
        </p:nvSpPr>
        <p:spPr>
          <a:xfrm>
            <a:off x="11507540" y="5863204"/>
            <a:ext cx="141092" cy="141092"/>
          </a:xfrm>
          <a:prstGeom prst="ellipse">
            <a:avLst/>
          </a:prstGeom>
          <a:solidFill>
            <a:srgbClr val="233616"/>
          </a:solidFill>
          <a:ln>
            <a:noFill/>
          </a:ln>
        </p:spPr>
        <p:txBody>
          <a:bodyPr vert="horz" anchor="ctr" tIns="45720" lIns="91440" bIns="45720" rIns="91440"/>
          <a:p>
            <a:pPr algn="ctr" marL="0"/>
          </a:p>
        </p:txBody>
      </p:sp>
      <p:sp>
        <p:nvSpPr>
          <p:cNvPr name="AutoShape 27" id="27"/>
          <p:cNvSpPr/>
          <p:nvPr/>
        </p:nvSpPr>
        <p:spPr>
          <a:xfrm>
            <a:off x="10795000" y="6540500"/>
            <a:ext cx="1270000" cy="190500"/>
          </a:xfrm>
          <a:prstGeom prst="rect">
            <a:avLst/>
          </a:prstGeom>
          <a:solidFill>
            <a:srgbClr val="000000">
              <a:alpha val="0"/>
            </a:srgbClr>
          </a:solidFill>
        </p:spPr>
        <p:txBody>
          <a:bodyPr anchor="t" rtlCol="false"/>
          <a:lstStyle/>
          <a:p>
            <a:pPr algn="r">
              <a:defRPr/>
            </a:pPr>
            <a:r>
              <a:rPr lang="en-US" b="false" i="false" sz="800" baseline="0" u="none">
                <a:solidFill>
                  <a:srgbClr val="808080"/>
                </a:solidFill>
                <a:latin typeface="Microsoft YaHei"/>
                <a:ea typeface="Microsoft YaHei"/>
              </a:rPr>
              <a:t>内容由AI生成</a:t>
            </a:r>
            <a:endParaRPr lang="en-US" sz="1100"/>
          </a:p>
        </p:txBody>
      </p:sp>
    </p:spTree>
  </p:cSld>
  <p:clrMapOvr>
    <a:masterClrMapping/>
  </p:clrMapOvr>
</p:sld>
</file>

<file path=ppt/slides/slide15.xml><?xml version="1.0" encoding="utf-8"?>
<p:sld xmlns:p="http://schemas.openxmlformats.org/presentationml/2006/main" xmlns:a="http://schemas.openxmlformats.org/drawingml/2006/main">
  <p:cSld>
    <p:bg>
      <p:bgPr>
        <a:solidFill>
          <a:schemeClr val="bg1"/>
        </a:solidFill>
      </p:bgPr>
    </p:bg>
    <p:spTree>
      <p:nvGrpSpPr>
        <p:cNvPr id="1" name=""/>
        <p:cNvGrpSpPr/>
        <p:nvPr/>
      </p:nvGrpSpPr>
      <p:grpSpPr>
        <a:xfrm>
          <a:off x="0" y="0"/>
          <a:ext cx="0" cy="0"/>
          <a:chOff x="0" y="0"/>
          <a:chExt cx="0" cy="0"/>
        </a:xfrm>
      </p:grpSpPr>
      <p:grpSp>
        <p:nvGrpSpPr>
          <p:cNvPr name="Group 2" id="2"/>
          <p:cNvGrpSpPr/>
          <p:nvPr/>
        </p:nvGrpSpPr>
        <p:grpSpPr>
          <a:xfrm>
            <a:off x="1014322" y="1768153"/>
            <a:ext cx="3607217" cy="4615599"/>
            <a:chOff x="537274" y="1004849"/>
            <a:chExt cx="2908879" cy="3722044"/>
          </a:xfrm>
        </p:grpSpPr>
        <p:sp>
          <p:nvSpPr>
            <p:cNvPr name="Freeform 3" id="3"/>
            <p:cNvSpPr/>
            <p:nvPr/>
          </p:nvSpPr>
          <p:spPr>
            <a:xfrm>
              <a:off x="1199495" y="1389877"/>
              <a:ext cx="922821" cy="2566982"/>
            </a:xfrm>
            <a:custGeom>
              <a:avLst/>
              <a:gdLst/>
              <a:ahLst/>
              <a:cxnLst/>
              <a:rect r="r" b="b" t="t" l="l"/>
              <a:pathLst>
                <a:path w="49970" h="139000" stroke="true" fill="norm" extrusionOk="false">
                  <a:moveTo>
                    <a:pt x="49803" y="0"/>
                  </a:moveTo>
                  <a:lnTo>
                    <a:pt x="1" y="28754"/>
                  </a:lnTo>
                  <a:lnTo>
                    <a:pt x="168" y="139000"/>
                  </a:lnTo>
                  <a:lnTo>
                    <a:pt x="49970" y="110246"/>
                  </a:lnTo>
                  <a:lnTo>
                    <a:pt x="49803" y="0"/>
                  </a:lnTo>
                  <a:close/>
                </a:path>
              </a:pathLst>
            </a:custGeom>
            <a:solidFill>
              <a:schemeClr val="accent6">
                <a:lumMod val="75000"/>
              </a:schemeClr>
            </a:solidFill>
            <a:ln>
              <a:noFill/>
            </a:ln>
          </p:spPr>
          <p:txBody>
            <a:bodyPr vert="horz" anchor="ctr" wrap="square" tIns="91425" lIns="91425" bIns="91425" rIns="91425">
              <a:noAutofit/>
            </a:bodyPr>
            <a:p>
              <a:pPr algn="l" rtl="false" indent="0" marL="0">
                <a:spcBef>
                  <a:spcPct val="0"/>
                </a:spcBef>
                <a:spcAft>
                  <a:spcPct val="0"/>
                </a:spcAft>
                <a:buNone/>
              </a:pPr>
            </a:p>
          </p:txBody>
        </p:sp>
        <p:sp>
          <p:nvSpPr>
            <p:cNvPr name="Freeform 4" id="4"/>
            <p:cNvSpPr/>
            <p:nvPr/>
          </p:nvSpPr>
          <p:spPr>
            <a:xfrm>
              <a:off x="537274" y="1004849"/>
              <a:ext cx="1581981" cy="916062"/>
            </a:xfrm>
            <a:custGeom>
              <a:avLst/>
              <a:gdLst/>
              <a:ahLst/>
              <a:cxnLst/>
              <a:rect r="r" b="b" t="t" l="l"/>
              <a:pathLst>
                <a:path w="85663" h="49604" stroke="true" fill="norm" extrusionOk="false">
                  <a:moveTo>
                    <a:pt x="49803" y="1"/>
                  </a:moveTo>
                  <a:lnTo>
                    <a:pt x="1" y="28755"/>
                  </a:lnTo>
                  <a:lnTo>
                    <a:pt x="35860" y="49603"/>
                  </a:lnTo>
                  <a:lnTo>
                    <a:pt x="85662" y="20849"/>
                  </a:lnTo>
                  <a:lnTo>
                    <a:pt x="49803" y="1"/>
                  </a:lnTo>
                  <a:close/>
                </a:path>
              </a:pathLst>
            </a:custGeom>
            <a:solidFill>
              <a:srgbClr val="EEEEEE"/>
            </a:solidFill>
            <a:ln>
              <a:noFill/>
            </a:ln>
          </p:spPr>
          <p:txBody>
            <a:bodyPr vert="horz" anchor="ctr" wrap="square" tIns="91425" lIns="91425" bIns="91425" rIns="91425">
              <a:noAutofit/>
            </a:bodyPr>
            <a:p>
              <a:pPr algn="l" rtl="false" indent="0" marL="0">
                <a:spcBef>
                  <a:spcPct val="0"/>
                </a:spcBef>
                <a:spcAft>
                  <a:spcPct val="0"/>
                </a:spcAft>
                <a:buNone/>
              </a:pPr>
            </a:p>
          </p:txBody>
        </p:sp>
        <p:sp>
          <p:nvSpPr>
            <p:cNvPr name="Freeform 5" id="5"/>
            <p:cNvSpPr/>
            <p:nvPr/>
          </p:nvSpPr>
          <p:spPr>
            <a:xfrm>
              <a:off x="1862344" y="2469761"/>
              <a:ext cx="922821" cy="1872106"/>
            </a:xfrm>
            <a:custGeom>
              <a:avLst/>
              <a:gdLst/>
              <a:ahLst/>
              <a:cxnLst/>
              <a:rect r="r" b="b" t="t" l="l"/>
              <a:pathLst>
                <a:path w="49970" h="101373" stroke="true" fill="norm" extrusionOk="false">
                  <a:moveTo>
                    <a:pt x="49802" y="0"/>
                  </a:moveTo>
                  <a:lnTo>
                    <a:pt x="0" y="28788"/>
                  </a:lnTo>
                  <a:lnTo>
                    <a:pt x="167" y="101373"/>
                  </a:lnTo>
                  <a:lnTo>
                    <a:pt x="49969" y="72619"/>
                  </a:lnTo>
                  <a:lnTo>
                    <a:pt x="49802" y="0"/>
                  </a:lnTo>
                  <a:close/>
                </a:path>
              </a:pathLst>
            </a:custGeom>
            <a:solidFill>
              <a:srgbClr val="FEBB12"/>
            </a:solidFill>
            <a:ln>
              <a:noFill/>
            </a:ln>
          </p:spPr>
          <p:txBody>
            <a:bodyPr vert="horz" anchor="ctr" wrap="square" tIns="91425" lIns="91425" bIns="91425" rIns="91425">
              <a:noAutofit/>
            </a:bodyPr>
            <a:p>
              <a:pPr algn="l" rtl="false" indent="0" marL="0">
                <a:spcBef>
                  <a:spcPct val="0"/>
                </a:spcBef>
                <a:spcAft>
                  <a:spcPct val="0"/>
                </a:spcAft>
                <a:buNone/>
              </a:pPr>
            </a:p>
          </p:txBody>
        </p:sp>
        <p:sp>
          <p:nvSpPr>
            <p:cNvPr name="Freeform 6" id="6"/>
            <p:cNvSpPr/>
            <p:nvPr/>
          </p:nvSpPr>
          <p:spPr>
            <a:xfrm>
              <a:off x="1200123" y="2085361"/>
              <a:ext cx="1581963" cy="916043"/>
            </a:xfrm>
            <a:custGeom>
              <a:avLst/>
              <a:gdLst/>
              <a:ahLst/>
              <a:cxnLst/>
              <a:rect r="r" b="b" t="t" l="l"/>
              <a:pathLst>
                <a:path w="85662" h="49603" stroke="true" fill="norm" extrusionOk="false">
                  <a:moveTo>
                    <a:pt x="49802" y="1"/>
                  </a:moveTo>
                  <a:lnTo>
                    <a:pt x="0" y="28754"/>
                  </a:lnTo>
                  <a:lnTo>
                    <a:pt x="35859" y="49603"/>
                  </a:lnTo>
                  <a:lnTo>
                    <a:pt x="85661" y="20815"/>
                  </a:lnTo>
                  <a:lnTo>
                    <a:pt x="49802" y="1"/>
                  </a:lnTo>
                  <a:close/>
                </a:path>
              </a:pathLst>
            </a:custGeom>
            <a:solidFill>
              <a:srgbClr val="EEEEEE"/>
            </a:solidFill>
            <a:ln>
              <a:noFill/>
            </a:ln>
          </p:spPr>
          <p:txBody>
            <a:bodyPr vert="horz" anchor="ctr" wrap="square" tIns="91425" lIns="91425" bIns="91425" rIns="91425">
              <a:noAutofit/>
            </a:bodyPr>
            <a:p>
              <a:pPr algn="l" rtl="false" indent="0" marL="0">
                <a:spcBef>
                  <a:spcPct val="0"/>
                </a:spcBef>
                <a:spcAft>
                  <a:spcPct val="0"/>
                </a:spcAft>
                <a:buNone/>
              </a:pPr>
            </a:p>
          </p:txBody>
        </p:sp>
        <p:sp>
          <p:nvSpPr>
            <p:cNvPr name="Freeform 7" id="7"/>
            <p:cNvSpPr/>
            <p:nvPr/>
          </p:nvSpPr>
          <p:spPr>
            <a:xfrm>
              <a:off x="2522810" y="3552120"/>
              <a:ext cx="922821" cy="1174773"/>
            </a:xfrm>
            <a:custGeom>
              <a:avLst/>
              <a:gdLst/>
              <a:ahLst/>
              <a:cxnLst/>
              <a:rect r="r" b="b" t="t" l="l"/>
              <a:pathLst>
                <a:path w="49970" h="63613" stroke="true" fill="norm" extrusionOk="false">
                  <a:moveTo>
                    <a:pt x="49802" y="0"/>
                  </a:moveTo>
                  <a:lnTo>
                    <a:pt x="0" y="28754"/>
                  </a:lnTo>
                  <a:lnTo>
                    <a:pt x="167" y="63612"/>
                  </a:lnTo>
                  <a:lnTo>
                    <a:pt x="49969" y="34858"/>
                  </a:lnTo>
                  <a:lnTo>
                    <a:pt x="49802" y="0"/>
                  </a:lnTo>
                  <a:close/>
                </a:path>
              </a:pathLst>
            </a:custGeom>
            <a:solidFill>
              <a:schemeClr val="accent6">
                <a:lumMod val="50000"/>
              </a:schemeClr>
            </a:solidFill>
            <a:ln>
              <a:noFill/>
            </a:ln>
          </p:spPr>
          <p:txBody>
            <a:bodyPr vert="horz" anchor="ctr" wrap="square" tIns="91425" lIns="91425" bIns="91425" rIns="91425">
              <a:noAutofit/>
            </a:bodyPr>
            <a:p>
              <a:pPr algn="l" rtl="false" indent="0" marL="0">
                <a:spcBef>
                  <a:spcPct val="0"/>
                </a:spcBef>
                <a:spcAft>
                  <a:spcPct val="0"/>
                </a:spcAft>
                <a:buNone/>
              </a:pPr>
            </a:p>
          </p:txBody>
        </p:sp>
        <p:sp>
          <p:nvSpPr>
            <p:cNvPr name="Freeform 8" id="8"/>
            <p:cNvSpPr/>
            <p:nvPr/>
          </p:nvSpPr>
          <p:spPr>
            <a:xfrm>
              <a:off x="537274" y="1535862"/>
              <a:ext cx="1328164" cy="2806007"/>
            </a:xfrm>
            <a:custGeom>
              <a:avLst/>
              <a:gdLst/>
              <a:ahLst/>
              <a:cxnLst/>
              <a:rect r="r" b="b" t="t" l="l"/>
              <a:pathLst>
                <a:path w="71919" h="151943" stroke="true" fill="norm" extrusionOk="false">
                  <a:moveTo>
                    <a:pt x="1" y="1"/>
                  </a:moveTo>
                  <a:lnTo>
                    <a:pt x="134" y="110247"/>
                  </a:lnTo>
                  <a:lnTo>
                    <a:pt x="36027" y="131095"/>
                  </a:lnTo>
                  <a:lnTo>
                    <a:pt x="35893" y="61945"/>
                  </a:lnTo>
                  <a:lnTo>
                    <a:pt x="36060" y="131095"/>
                  </a:lnTo>
                  <a:lnTo>
                    <a:pt x="71919" y="151943"/>
                  </a:lnTo>
                  <a:lnTo>
                    <a:pt x="71752" y="79358"/>
                  </a:lnTo>
                  <a:lnTo>
                    <a:pt x="35893" y="58509"/>
                  </a:lnTo>
                  <a:lnTo>
                    <a:pt x="35860" y="20849"/>
                  </a:lnTo>
                  <a:lnTo>
                    <a:pt x="1" y="1"/>
                  </a:lnTo>
                  <a:close/>
                </a:path>
              </a:pathLst>
            </a:custGeom>
            <a:solidFill>
              <a:srgbClr val="007448"/>
            </a:solidFill>
            <a:ln>
              <a:noFill/>
            </a:ln>
          </p:spPr>
          <p:txBody>
            <a:bodyPr vert="horz" anchor="ctr" wrap="square" tIns="91425" lIns="91425" bIns="91425" rIns="91425">
              <a:noAutofit/>
            </a:bodyPr>
            <a:p>
              <a:pPr algn="l" rtl="false" indent="0" marL="0">
                <a:spcBef>
                  <a:spcPct val="0"/>
                </a:spcBef>
                <a:spcAft>
                  <a:spcPct val="0"/>
                </a:spcAft>
                <a:buNone/>
              </a:pPr>
            </a:p>
          </p:txBody>
        </p:sp>
        <p:sp>
          <p:nvSpPr>
            <p:cNvPr name="Freeform 9" id="9"/>
            <p:cNvSpPr/>
            <p:nvPr/>
          </p:nvSpPr>
          <p:spPr>
            <a:xfrm>
              <a:off x="1860589" y="3695131"/>
              <a:ext cx="665310" cy="1028160"/>
            </a:xfrm>
            <a:custGeom>
              <a:avLst/>
              <a:gdLst/>
              <a:ahLst/>
              <a:cxnLst/>
              <a:rect r="r" b="b" t="t" l="l"/>
              <a:pathLst>
                <a:path w="36026" h="55674" stroke="true" fill="norm" extrusionOk="false">
                  <a:moveTo>
                    <a:pt x="0" y="0"/>
                  </a:moveTo>
                  <a:lnTo>
                    <a:pt x="167" y="34825"/>
                  </a:lnTo>
                  <a:lnTo>
                    <a:pt x="36026" y="55673"/>
                  </a:lnTo>
                  <a:lnTo>
                    <a:pt x="35859" y="20815"/>
                  </a:lnTo>
                  <a:lnTo>
                    <a:pt x="0" y="0"/>
                  </a:lnTo>
                  <a:close/>
                </a:path>
              </a:pathLst>
            </a:custGeom>
            <a:solidFill>
              <a:srgbClr val="007448"/>
            </a:solidFill>
            <a:ln>
              <a:noFill/>
            </a:ln>
          </p:spPr>
          <p:txBody>
            <a:bodyPr vert="horz" anchor="ctr" wrap="square" tIns="91425" lIns="91425" bIns="91425" rIns="91425">
              <a:noAutofit/>
            </a:bodyPr>
            <a:p>
              <a:pPr algn="l" rtl="false" indent="0" marL="0">
                <a:spcBef>
                  <a:spcPct val="0"/>
                </a:spcBef>
                <a:spcAft>
                  <a:spcPct val="0"/>
                </a:spcAft>
                <a:buNone/>
              </a:pPr>
            </a:p>
          </p:txBody>
        </p:sp>
        <p:sp>
          <p:nvSpPr>
            <p:cNvPr name="Freeform 10" id="10"/>
            <p:cNvSpPr/>
            <p:nvPr/>
          </p:nvSpPr>
          <p:spPr>
            <a:xfrm>
              <a:off x="1864191" y="3167092"/>
              <a:ext cx="1581963" cy="916043"/>
            </a:xfrm>
            <a:custGeom>
              <a:avLst/>
              <a:gdLst/>
              <a:ahLst/>
              <a:cxnLst/>
              <a:rect r="r" b="b" t="t" l="l"/>
              <a:pathLst>
                <a:path w="85662" h="49603" stroke="true" fill="norm" extrusionOk="false">
                  <a:moveTo>
                    <a:pt x="49802" y="1"/>
                  </a:moveTo>
                  <a:lnTo>
                    <a:pt x="0" y="28788"/>
                  </a:lnTo>
                  <a:lnTo>
                    <a:pt x="35859" y="49603"/>
                  </a:lnTo>
                  <a:lnTo>
                    <a:pt x="85661" y="20849"/>
                  </a:lnTo>
                  <a:lnTo>
                    <a:pt x="49802" y="1"/>
                  </a:lnTo>
                  <a:close/>
                </a:path>
              </a:pathLst>
            </a:custGeom>
            <a:solidFill>
              <a:srgbClr val="EEEEEE"/>
            </a:solidFill>
            <a:ln>
              <a:noFill/>
            </a:ln>
          </p:spPr>
          <p:txBody>
            <a:bodyPr vert="horz" anchor="ctr" wrap="square" tIns="91425" lIns="91425" bIns="91425" rIns="91425">
              <a:noAutofit/>
            </a:bodyPr>
            <a:p>
              <a:pPr algn="l" rtl="false" indent="0" marL="0">
                <a:spcBef>
                  <a:spcPct val="0"/>
                </a:spcBef>
                <a:spcAft>
                  <a:spcPct val="0"/>
                </a:spcAft>
                <a:buNone/>
              </a:pPr>
            </a:p>
          </p:txBody>
        </p:sp>
      </p:grpSp>
      <p:grpSp>
        <p:nvGrpSpPr>
          <p:cNvPr name="Group 11" id="11"/>
          <p:cNvGrpSpPr/>
          <p:nvPr/>
        </p:nvGrpSpPr>
        <p:grpSpPr>
          <a:xfrm>
            <a:off x="986646" y="1215753"/>
            <a:ext cx="1913516" cy="1535298"/>
            <a:chOff x="457200" y="410400"/>
            <a:chExt cx="1647873" cy="1322162"/>
          </a:xfrm>
        </p:grpSpPr>
        <p:sp>
          <p:nvSpPr>
            <p:cNvPr name="Freeform 12" id="12"/>
            <p:cNvSpPr/>
            <p:nvPr/>
          </p:nvSpPr>
          <p:spPr>
            <a:xfrm>
              <a:off x="710387" y="605989"/>
              <a:ext cx="1082990" cy="1126573"/>
            </a:xfrm>
            <a:custGeom>
              <a:avLst/>
              <a:gdLst/>
              <a:ahLst/>
              <a:cxnLst/>
              <a:rect r="r" b="b" t="t" l="l"/>
              <a:pathLst>
                <a:path w="58643" h="61003" stroke="true" fill="norm" extrusionOk="false">
                  <a:moveTo>
                    <a:pt x="29221" y="0"/>
                  </a:moveTo>
                  <a:cubicBezTo>
                    <a:pt x="24284" y="0"/>
                    <a:pt x="19347" y="717"/>
                    <a:pt x="14911" y="2152"/>
                  </a:cubicBezTo>
                  <a:cubicBezTo>
                    <a:pt x="12643" y="2886"/>
                    <a:pt x="10474" y="3853"/>
                    <a:pt x="8506" y="4987"/>
                  </a:cubicBezTo>
                  <a:cubicBezTo>
                    <a:pt x="2836" y="8289"/>
                    <a:pt x="0" y="12593"/>
                    <a:pt x="0" y="16929"/>
                  </a:cubicBezTo>
                  <a:lnTo>
                    <a:pt x="0" y="43948"/>
                  </a:lnTo>
                  <a:cubicBezTo>
                    <a:pt x="0" y="48318"/>
                    <a:pt x="2869" y="52688"/>
                    <a:pt x="8640" y="56024"/>
                  </a:cubicBezTo>
                  <a:cubicBezTo>
                    <a:pt x="14394" y="59343"/>
                    <a:pt x="21908" y="61002"/>
                    <a:pt x="29409" y="61002"/>
                  </a:cubicBezTo>
                  <a:cubicBezTo>
                    <a:pt x="36910" y="61002"/>
                    <a:pt x="44399" y="59343"/>
                    <a:pt x="50103" y="56024"/>
                  </a:cubicBezTo>
                  <a:cubicBezTo>
                    <a:pt x="55807" y="52721"/>
                    <a:pt x="58642" y="48385"/>
                    <a:pt x="58642" y="44048"/>
                  </a:cubicBezTo>
                  <a:lnTo>
                    <a:pt x="58642" y="17029"/>
                  </a:lnTo>
                  <a:cubicBezTo>
                    <a:pt x="58642" y="12659"/>
                    <a:pt x="55740" y="8289"/>
                    <a:pt x="49969" y="4987"/>
                  </a:cubicBezTo>
                  <a:cubicBezTo>
                    <a:pt x="48001" y="3853"/>
                    <a:pt x="45833" y="2886"/>
                    <a:pt x="43531" y="2152"/>
                  </a:cubicBezTo>
                  <a:cubicBezTo>
                    <a:pt x="39095" y="717"/>
                    <a:pt x="34158" y="0"/>
                    <a:pt x="29221" y="0"/>
                  </a:cubicBezTo>
                  <a:close/>
                </a:path>
              </a:pathLst>
            </a:custGeom>
            <a:solidFill>
              <a:schemeClr val="lt2"/>
            </a:solidFill>
            <a:ln>
              <a:noFill/>
            </a:ln>
          </p:spPr>
          <p:txBody>
            <a:bodyPr vert="horz" anchor="ctr" wrap="square" tIns="91425" lIns="91425" bIns="91425" rIns="91425">
              <a:noAutofit/>
            </a:bodyPr>
            <a:p>
              <a:pPr algn="l" rtl="false" indent="0" marL="0">
                <a:spcBef>
                  <a:spcPct val="0"/>
                </a:spcBef>
                <a:spcAft>
                  <a:spcPct val="0"/>
                </a:spcAft>
                <a:buNone/>
              </a:pPr>
            </a:p>
          </p:txBody>
        </p:sp>
        <p:sp>
          <p:nvSpPr>
            <p:cNvPr name="Freeform 13" id="13"/>
            <p:cNvSpPr/>
            <p:nvPr/>
          </p:nvSpPr>
          <p:spPr>
            <a:xfrm>
              <a:off x="457809" y="410400"/>
              <a:ext cx="1647264" cy="954234"/>
            </a:xfrm>
            <a:custGeom>
              <a:avLst/>
              <a:gdLst/>
              <a:ahLst/>
              <a:cxnLst/>
              <a:rect r="r" b="b" t="t" l="l"/>
              <a:pathLst>
                <a:path w="89198" h="51671" stroke="true" fill="norm" extrusionOk="false">
                  <a:moveTo>
                    <a:pt x="44433" y="0"/>
                  </a:moveTo>
                  <a:lnTo>
                    <a:pt x="1" y="25819"/>
                  </a:lnTo>
                  <a:lnTo>
                    <a:pt x="44733" y="51671"/>
                  </a:lnTo>
                  <a:lnTo>
                    <a:pt x="89198" y="25819"/>
                  </a:lnTo>
                  <a:lnTo>
                    <a:pt x="44433" y="0"/>
                  </a:lnTo>
                  <a:close/>
                </a:path>
              </a:pathLst>
            </a:custGeom>
            <a:solidFill>
              <a:schemeClr val="accent6">
                <a:lumMod val="20000"/>
                <a:lumOff val="80000"/>
              </a:schemeClr>
            </a:solidFill>
            <a:ln>
              <a:noFill/>
            </a:ln>
          </p:spPr>
          <p:txBody>
            <a:bodyPr vert="horz" anchor="ctr" wrap="square" tIns="91425" lIns="91425" bIns="91425" rIns="91425">
              <a:noAutofit/>
            </a:bodyPr>
            <a:p>
              <a:pPr algn="l" rtl="false" indent="0" marL="0">
                <a:spcBef>
                  <a:spcPct val="0"/>
                </a:spcBef>
                <a:spcAft>
                  <a:spcPct val="0"/>
                </a:spcAft>
                <a:buNone/>
              </a:pPr>
            </a:p>
          </p:txBody>
        </p:sp>
        <p:sp>
          <p:nvSpPr>
            <p:cNvPr name="Freeform 14" id="14"/>
            <p:cNvSpPr/>
            <p:nvPr/>
          </p:nvSpPr>
          <p:spPr>
            <a:xfrm>
              <a:off x="1283891" y="887193"/>
              <a:ext cx="821176" cy="600028"/>
            </a:xfrm>
            <a:custGeom>
              <a:avLst/>
              <a:gdLst/>
              <a:ahLst/>
              <a:cxnLst/>
              <a:rect r="r" b="b" t="t" l="l"/>
              <a:pathLst>
                <a:path w="44466" h="32491" stroke="true" fill="norm" extrusionOk="false">
                  <a:moveTo>
                    <a:pt x="44466" y="1"/>
                  </a:moveTo>
                  <a:lnTo>
                    <a:pt x="1" y="25853"/>
                  </a:lnTo>
                  <a:lnTo>
                    <a:pt x="1" y="32491"/>
                  </a:lnTo>
                  <a:lnTo>
                    <a:pt x="44432" y="6672"/>
                  </a:lnTo>
                  <a:lnTo>
                    <a:pt x="44466" y="1"/>
                  </a:lnTo>
                  <a:close/>
                </a:path>
              </a:pathLst>
            </a:custGeom>
            <a:solidFill>
              <a:schemeClr val="tx1"/>
            </a:solidFill>
            <a:ln>
              <a:noFill/>
            </a:ln>
          </p:spPr>
          <p:txBody>
            <a:bodyPr vert="horz" anchor="ctr" wrap="square" tIns="91425" lIns="91425" bIns="91425" rIns="91425">
              <a:noAutofit/>
            </a:bodyPr>
            <a:p>
              <a:pPr algn="l" rtl="false" indent="0" marL="0">
                <a:spcBef>
                  <a:spcPct val="0"/>
                </a:spcBef>
                <a:spcAft>
                  <a:spcPct val="0"/>
                </a:spcAft>
                <a:buNone/>
              </a:pPr>
            </a:p>
          </p:txBody>
        </p:sp>
        <p:sp>
          <p:nvSpPr>
            <p:cNvPr name="Freeform 15" id="15"/>
            <p:cNvSpPr/>
            <p:nvPr/>
          </p:nvSpPr>
          <p:spPr>
            <a:xfrm>
              <a:off x="457200" y="887193"/>
              <a:ext cx="826716" cy="600028"/>
            </a:xfrm>
            <a:custGeom>
              <a:avLst/>
              <a:gdLst/>
              <a:ahLst/>
              <a:cxnLst/>
              <a:rect r="r" b="b" t="t" l="l"/>
              <a:pathLst>
                <a:path w="44766" h="32491" stroke="true" fill="norm" extrusionOk="false">
                  <a:moveTo>
                    <a:pt x="34" y="1"/>
                  </a:moveTo>
                  <a:lnTo>
                    <a:pt x="0" y="6672"/>
                  </a:lnTo>
                  <a:lnTo>
                    <a:pt x="44766" y="32491"/>
                  </a:lnTo>
                  <a:lnTo>
                    <a:pt x="44766" y="25853"/>
                  </a:lnTo>
                  <a:lnTo>
                    <a:pt x="34" y="1"/>
                  </a:lnTo>
                  <a:close/>
                </a:path>
              </a:pathLst>
            </a:custGeom>
            <a:solidFill>
              <a:schemeClr val="tx1"/>
            </a:solidFill>
            <a:ln>
              <a:noFill/>
            </a:ln>
          </p:spPr>
          <p:txBody>
            <a:bodyPr vert="horz" anchor="ctr" wrap="square" tIns="91425" lIns="91425" bIns="91425" rIns="91425">
              <a:noAutofit/>
            </a:bodyPr>
            <a:p>
              <a:pPr algn="l" rtl="false" indent="0" marL="0">
                <a:spcBef>
                  <a:spcPct val="0"/>
                </a:spcBef>
                <a:spcAft>
                  <a:spcPct val="0"/>
                </a:spcAft>
                <a:buNone/>
              </a:pPr>
            </a:p>
          </p:txBody>
        </p:sp>
        <p:sp>
          <p:nvSpPr>
            <p:cNvPr name="Freeform 16" id="16"/>
            <p:cNvSpPr/>
            <p:nvPr/>
          </p:nvSpPr>
          <p:spPr>
            <a:xfrm>
              <a:off x="1249394" y="847156"/>
              <a:ext cx="472509" cy="518087"/>
            </a:xfrm>
            <a:custGeom>
              <a:avLst/>
              <a:gdLst/>
              <a:ahLst/>
              <a:cxnLst/>
              <a:rect r="r" b="b" t="t" l="l"/>
              <a:pathLst>
                <a:path w="25586" h="28054" stroke="true" fill="none" extrusionOk="false">
                  <a:moveTo>
                    <a:pt x="1" y="1"/>
                  </a:moveTo>
                  <a:lnTo>
                    <a:pt x="25586" y="14778"/>
                  </a:lnTo>
                  <a:lnTo>
                    <a:pt x="25586" y="28054"/>
                  </a:lnTo>
                </a:path>
              </a:pathLst>
            </a:custGeom>
            <a:solidFill>
              <a:schemeClr val="dk1"/>
            </a:solidFill>
            <a:ln w="20850" cap="flat" cmpd="sng">
              <a:solidFill>
                <a:schemeClr val="dk1"/>
              </a:solidFill>
              <a:prstDash val="solid"/>
              <a:miter lim="33357"/>
              <a:headEnd w="sm" len="sm"/>
              <a:tailEnd w="sm" len="sm"/>
            </a:ln>
          </p:spPr>
          <p:txBody>
            <a:bodyPr vert="horz" anchor="ctr" wrap="square" tIns="91425" lIns="91425" bIns="91425" rIns="91425">
              <a:noAutofit/>
            </a:bodyPr>
            <a:p>
              <a:pPr algn="l" rtl="false" indent="0" marL="0">
                <a:spcBef>
                  <a:spcPct val="0"/>
                </a:spcBef>
                <a:spcAft>
                  <a:spcPct val="0"/>
                </a:spcAft>
                <a:buNone/>
              </a:pPr>
            </a:p>
          </p:txBody>
        </p:sp>
        <p:sp>
          <p:nvSpPr>
            <p:cNvPr name="Freeform 17" id="17"/>
            <p:cNvSpPr/>
            <p:nvPr/>
          </p:nvSpPr>
          <p:spPr>
            <a:xfrm>
              <a:off x="1648584" y="1286995"/>
              <a:ext cx="141701" cy="141701"/>
            </a:xfrm>
            <a:custGeom>
              <a:avLst/>
              <a:gdLst/>
              <a:ahLst/>
              <a:cxnLst/>
              <a:rect r="r" b="b" t="t" l="l"/>
              <a:pathLst>
                <a:path w="7673" h="7673" stroke="true" fill="norm" extrusionOk="false">
                  <a:moveTo>
                    <a:pt x="3836" y="1"/>
                  </a:moveTo>
                  <a:cubicBezTo>
                    <a:pt x="1735" y="1"/>
                    <a:pt x="0" y="1735"/>
                    <a:pt x="0" y="3837"/>
                  </a:cubicBezTo>
                  <a:cubicBezTo>
                    <a:pt x="0" y="5972"/>
                    <a:pt x="1735" y="7673"/>
                    <a:pt x="3836" y="7673"/>
                  </a:cubicBezTo>
                  <a:cubicBezTo>
                    <a:pt x="5938" y="7673"/>
                    <a:pt x="7672" y="5972"/>
                    <a:pt x="7672" y="3837"/>
                  </a:cubicBezTo>
                  <a:cubicBezTo>
                    <a:pt x="7672" y="1735"/>
                    <a:pt x="5938" y="1"/>
                    <a:pt x="3836" y="1"/>
                  </a:cubicBezTo>
                  <a:close/>
                </a:path>
              </a:pathLst>
            </a:custGeom>
            <a:solidFill>
              <a:schemeClr val="dk1"/>
            </a:solidFill>
            <a:ln>
              <a:noFill/>
            </a:ln>
          </p:spPr>
          <p:txBody>
            <a:bodyPr vert="horz" anchor="ctr" wrap="square" tIns="91425" lIns="91425" bIns="91425" rIns="91425">
              <a:noAutofit/>
            </a:bodyPr>
            <a:p>
              <a:pPr algn="l" rtl="false" indent="0" marL="0">
                <a:spcBef>
                  <a:spcPct val="0"/>
                </a:spcBef>
                <a:spcAft>
                  <a:spcPct val="0"/>
                </a:spcAft>
                <a:buNone/>
              </a:pPr>
            </a:p>
          </p:txBody>
        </p:sp>
        <p:sp>
          <p:nvSpPr>
            <p:cNvPr name="Freeform 18" id="18"/>
            <p:cNvSpPr/>
            <p:nvPr/>
          </p:nvSpPr>
          <p:spPr>
            <a:xfrm>
              <a:off x="1619627" y="1366460"/>
              <a:ext cx="208240" cy="253208"/>
            </a:xfrm>
            <a:custGeom>
              <a:avLst/>
              <a:gdLst/>
              <a:ahLst/>
              <a:cxnLst/>
              <a:rect r="r" b="b" t="t" l="l"/>
              <a:pathLst>
                <a:path w="11276" h="13711" stroke="true" fill="norm" extrusionOk="false">
                  <a:moveTo>
                    <a:pt x="4504" y="1"/>
                  </a:moveTo>
                  <a:lnTo>
                    <a:pt x="401" y="11442"/>
                  </a:lnTo>
                  <a:cubicBezTo>
                    <a:pt x="0" y="12576"/>
                    <a:pt x="868" y="13711"/>
                    <a:pt x="2135" y="13711"/>
                  </a:cubicBezTo>
                  <a:lnTo>
                    <a:pt x="9107" y="13711"/>
                  </a:lnTo>
                  <a:cubicBezTo>
                    <a:pt x="10374" y="13711"/>
                    <a:pt x="11275" y="12576"/>
                    <a:pt x="10875" y="11442"/>
                  </a:cubicBezTo>
                  <a:lnTo>
                    <a:pt x="6772" y="1"/>
                  </a:lnTo>
                  <a:close/>
                </a:path>
              </a:pathLst>
            </a:custGeom>
            <a:solidFill>
              <a:schemeClr val="dk1"/>
            </a:solidFill>
            <a:ln>
              <a:noFill/>
            </a:ln>
          </p:spPr>
          <p:txBody>
            <a:bodyPr vert="horz" anchor="ctr" wrap="square" tIns="91425" lIns="91425" bIns="91425" rIns="91425">
              <a:noAutofit/>
            </a:bodyPr>
            <a:p>
              <a:pPr algn="l" rtl="false" indent="0" marL="0">
                <a:spcBef>
                  <a:spcPct val="0"/>
                </a:spcBef>
                <a:spcAft>
                  <a:spcPct val="0"/>
                </a:spcAft>
                <a:buNone/>
              </a:pPr>
            </a:p>
          </p:txBody>
        </p:sp>
        <p:sp>
          <p:nvSpPr>
            <p:cNvPr name="Freeform 19" id="19"/>
            <p:cNvSpPr/>
            <p:nvPr/>
          </p:nvSpPr>
          <p:spPr>
            <a:xfrm>
              <a:off x="1659055" y="1288232"/>
              <a:ext cx="131230" cy="140464"/>
            </a:xfrm>
            <a:custGeom>
              <a:avLst/>
              <a:gdLst/>
              <a:ahLst/>
              <a:cxnLst/>
              <a:rect r="r" b="b" t="t" l="l"/>
              <a:pathLst>
                <a:path w="7106" h="7606" stroke="true" fill="norm" extrusionOk="false">
                  <a:moveTo>
                    <a:pt x="3903" y="0"/>
                  </a:moveTo>
                  <a:cubicBezTo>
                    <a:pt x="4637" y="667"/>
                    <a:pt x="5071" y="1568"/>
                    <a:pt x="5071" y="2602"/>
                  </a:cubicBezTo>
                  <a:cubicBezTo>
                    <a:pt x="5071" y="4537"/>
                    <a:pt x="3503" y="6138"/>
                    <a:pt x="1568" y="6138"/>
                  </a:cubicBezTo>
                  <a:cubicBezTo>
                    <a:pt x="1001" y="6138"/>
                    <a:pt x="467" y="5971"/>
                    <a:pt x="0" y="5738"/>
                  </a:cubicBezTo>
                  <a:lnTo>
                    <a:pt x="0" y="5738"/>
                  </a:lnTo>
                  <a:cubicBezTo>
                    <a:pt x="667" y="6839"/>
                    <a:pt x="1868" y="7606"/>
                    <a:pt x="3269" y="7606"/>
                  </a:cubicBezTo>
                  <a:cubicBezTo>
                    <a:pt x="5371" y="7606"/>
                    <a:pt x="7105" y="5905"/>
                    <a:pt x="7105" y="3770"/>
                  </a:cubicBezTo>
                  <a:cubicBezTo>
                    <a:pt x="7105" y="1902"/>
                    <a:pt x="5738" y="334"/>
                    <a:pt x="3903" y="0"/>
                  </a:cubicBezTo>
                  <a:close/>
                </a:path>
              </a:pathLst>
            </a:custGeom>
            <a:solidFill>
              <a:schemeClr val="dk1"/>
            </a:solidFill>
            <a:ln>
              <a:noFill/>
            </a:ln>
          </p:spPr>
          <p:txBody>
            <a:bodyPr vert="horz" anchor="ctr" wrap="square" tIns="91425" lIns="91425" bIns="91425" rIns="91425">
              <a:noAutofit/>
            </a:bodyPr>
            <a:p>
              <a:pPr algn="l" rtl="false" indent="0" marL="0">
                <a:spcBef>
                  <a:spcPct val="0"/>
                </a:spcBef>
                <a:spcAft>
                  <a:spcPct val="0"/>
                </a:spcAft>
                <a:buNone/>
              </a:pPr>
            </a:p>
          </p:txBody>
        </p:sp>
        <p:sp>
          <p:nvSpPr>
            <p:cNvPr name="Freeform 20" id="20"/>
            <p:cNvSpPr/>
            <p:nvPr/>
          </p:nvSpPr>
          <p:spPr>
            <a:xfrm>
              <a:off x="1184093" y="814505"/>
              <a:ext cx="199006" cy="115071"/>
            </a:xfrm>
            <a:custGeom>
              <a:avLst/>
              <a:gdLst/>
              <a:ahLst/>
              <a:cxnLst/>
              <a:rect r="r" b="b" t="t" l="l"/>
              <a:pathLst>
                <a:path w="10776" h="6231" stroke="true" fill="norm" extrusionOk="false">
                  <a:moveTo>
                    <a:pt x="5371" y="1"/>
                  </a:moveTo>
                  <a:cubicBezTo>
                    <a:pt x="3995" y="1"/>
                    <a:pt x="2619" y="301"/>
                    <a:pt x="1569" y="901"/>
                  </a:cubicBezTo>
                  <a:cubicBezTo>
                    <a:pt x="535" y="1502"/>
                    <a:pt x="1" y="2302"/>
                    <a:pt x="1" y="3103"/>
                  </a:cubicBezTo>
                  <a:cubicBezTo>
                    <a:pt x="1" y="3903"/>
                    <a:pt x="535" y="4704"/>
                    <a:pt x="1602" y="5304"/>
                  </a:cubicBezTo>
                  <a:cubicBezTo>
                    <a:pt x="2653" y="5922"/>
                    <a:pt x="4029" y="6230"/>
                    <a:pt x="5405" y="6230"/>
                  </a:cubicBezTo>
                  <a:cubicBezTo>
                    <a:pt x="6781" y="6230"/>
                    <a:pt x="8157" y="5922"/>
                    <a:pt x="9207" y="5304"/>
                  </a:cubicBezTo>
                  <a:cubicBezTo>
                    <a:pt x="10242" y="4704"/>
                    <a:pt x="10775" y="3903"/>
                    <a:pt x="10775" y="3136"/>
                  </a:cubicBezTo>
                  <a:cubicBezTo>
                    <a:pt x="10775" y="2302"/>
                    <a:pt x="10242" y="1535"/>
                    <a:pt x="9174" y="901"/>
                  </a:cubicBezTo>
                  <a:cubicBezTo>
                    <a:pt x="8123" y="301"/>
                    <a:pt x="6747" y="1"/>
                    <a:pt x="5371" y="1"/>
                  </a:cubicBezTo>
                  <a:close/>
                </a:path>
              </a:pathLst>
            </a:custGeom>
            <a:solidFill>
              <a:srgbClr val="595959"/>
            </a:solidFill>
            <a:ln>
              <a:noFill/>
            </a:ln>
          </p:spPr>
          <p:txBody>
            <a:bodyPr vert="horz" anchor="ctr" wrap="square" tIns="91425" lIns="91425" bIns="91425" rIns="91425">
              <a:noAutofit/>
            </a:bodyPr>
            <a:p>
              <a:pPr algn="l" rtl="false" indent="0" marL="0">
                <a:spcBef>
                  <a:spcPct val="0"/>
                </a:spcBef>
                <a:spcAft>
                  <a:spcPct val="0"/>
                </a:spcAft>
                <a:buNone/>
              </a:pPr>
            </a:p>
          </p:txBody>
        </p:sp>
      </p:grpSp>
      <p:grpSp>
        <p:nvGrpSpPr>
          <p:cNvPr name="Group 21" id="21"/>
          <p:cNvGrpSpPr/>
          <p:nvPr/>
        </p:nvGrpSpPr>
        <p:grpSpPr>
          <a:xfrm>
            <a:off x="2918228" y="4254708"/>
            <a:ext cx="1411728" cy="1163462"/>
            <a:chOff x="2067479" y="3066684"/>
            <a:chExt cx="1138425" cy="938222"/>
          </a:xfrm>
        </p:grpSpPr>
        <p:sp>
          <p:nvSpPr>
            <p:cNvPr name="Freeform 22" id="22"/>
            <p:cNvSpPr/>
            <p:nvPr/>
          </p:nvSpPr>
          <p:spPr>
            <a:xfrm>
              <a:off x="2067479" y="3312486"/>
              <a:ext cx="1137801" cy="658533"/>
            </a:xfrm>
            <a:custGeom>
              <a:avLst/>
              <a:gdLst/>
              <a:ahLst/>
              <a:cxnLst/>
              <a:rect r="r" b="b" t="t" l="l"/>
              <a:pathLst>
                <a:path w="61611" h="35659" stroke="true" fill="norm" extrusionOk="false">
                  <a:moveTo>
                    <a:pt x="36259" y="0"/>
                  </a:moveTo>
                  <a:lnTo>
                    <a:pt x="0" y="20948"/>
                  </a:lnTo>
                  <a:lnTo>
                    <a:pt x="25351" y="35659"/>
                  </a:lnTo>
                  <a:lnTo>
                    <a:pt x="61611" y="14711"/>
                  </a:lnTo>
                  <a:lnTo>
                    <a:pt x="36259" y="0"/>
                  </a:lnTo>
                  <a:close/>
                </a:path>
              </a:pathLst>
            </a:custGeom>
            <a:solidFill>
              <a:schemeClr val="accent4"/>
            </a:solidFill>
            <a:ln>
              <a:noFill/>
            </a:ln>
          </p:spPr>
          <p:txBody>
            <a:bodyPr vert="horz" anchor="ctr" wrap="square" tIns="91425" lIns="91425" bIns="91425" rIns="91425">
              <a:noAutofit/>
            </a:bodyPr>
            <a:p>
              <a:pPr algn="l" rtl="false" indent="0" marL="0">
                <a:spcBef>
                  <a:spcPct val="0"/>
                </a:spcBef>
                <a:spcAft>
                  <a:spcPct val="0"/>
                </a:spcAft>
                <a:buNone/>
              </a:pPr>
            </a:p>
          </p:txBody>
        </p:sp>
        <p:sp>
          <p:nvSpPr>
            <p:cNvPr name="Freeform 23" id="23"/>
            <p:cNvSpPr/>
            <p:nvPr/>
          </p:nvSpPr>
          <p:spPr>
            <a:xfrm>
              <a:off x="2535645" y="3338359"/>
              <a:ext cx="670259" cy="666547"/>
            </a:xfrm>
            <a:custGeom>
              <a:avLst/>
              <a:gdLst/>
              <a:ahLst/>
              <a:cxnLst/>
              <a:rect r="r" b="b" t="t" l="l"/>
              <a:pathLst>
                <a:path w="36294" h="36093" stroke="true" fill="norm" extrusionOk="false">
                  <a:moveTo>
                    <a:pt x="36260" y="0"/>
                  </a:moveTo>
                  <a:lnTo>
                    <a:pt x="31656" y="2669"/>
                  </a:lnTo>
                  <a:lnTo>
                    <a:pt x="18680" y="10174"/>
                  </a:lnTo>
                  <a:lnTo>
                    <a:pt x="0" y="20948"/>
                  </a:lnTo>
                  <a:lnTo>
                    <a:pt x="34" y="36093"/>
                  </a:lnTo>
                  <a:lnTo>
                    <a:pt x="18680" y="25318"/>
                  </a:lnTo>
                  <a:lnTo>
                    <a:pt x="31656" y="17813"/>
                  </a:lnTo>
                  <a:lnTo>
                    <a:pt x="36293" y="15144"/>
                  </a:lnTo>
                  <a:lnTo>
                    <a:pt x="36260" y="0"/>
                  </a:lnTo>
                  <a:close/>
                </a:path>
              </a:pathLst>
            </a:custGeom>
            <a:solidFill>
              <a:schemeClr val="accent4"/>
            </a:solidFill>
            <a:ln>
              <a:noFill/>
            </a:ln>
          </p:spPr>
          <p:txBody>
            <a:bodyPr vert="horz" anchor="ctr" wrap="square" tIns="91425" lIns="91425" bIns="91425" rIns="91425">
              <a:noAutofit/>
            </a:bodyPr>
            <a:p>
              <a:pPr algn="l" rtl="false" indent="0" marL="0">
                <a:spcBef>
                  <a:spcPct val="0"/>
                </a:spcBef>
                <a:spcAft>
                  <a:spcPct val="0"/>
                </a:spcAft>
                <a:buNone/>
              </a:pPr>
            </a:p>
          </p:txBody>
        </p:sp>
        <p:sp>
          <p:nvSpPr>
            <p:cNvPr name="Freeform 24" id="24"/>
            <p:cNvSpPr/>
            <p:nvPr/>
          </p:nvSpPr>
          <p:spPr>
            <a:xfrm>
              <a:off x="2067479" y="3453541"/>
              <a:ext cx="468797" cy="551366"/>
            </a:xfrm>
            <a:custGeom>
              <a:avLst/>
              <a:gdLst/>
              <a:ahLst/>
              <a:cxnLst/>
              <a:rect r="r" b="b" t="t" l="l"/>
              <a:pathLst>
                <a:path w="25385" h="29856" stroke="true" fill="norm" extrusionOk="false">
                  <a:moveTo>
                    <a:pt x="0" y="1"/>
                  </a:moveTo>
                  <a:lnTo>
                    <a:pt x="0" y="2569"/>
                  </a:lnTo>
                  <a:lnTo>
                    <a:pt x="24151" y="16279"/>
                  </a:lnTo>
                  <a:lnTo>
                    <a:pt x="24151" y="27087"/>
                  </a:lnTo>
                  <a:lnTo>
                    <a:pt x="0" y="13344"/>
                  </a:lnTo>
                  <a:lnTo>
                    <a:pt x="0" y="15145"/>
                  </a:lnTo>
                  <a:lnTo>
                    <a:pt x="25385" y="29856"/>
                  </a:lnTo>
                  <a:lnTo>
                    <a:pt x="25351" y="14711"/>
                  </a:lnTo>
                  <a:lnTo>
                    <a:pt x="0" y="1"/>
                  </a:lnTo>
                  <a:close/>
                </a:path>
              </a:pathLst>
            </a:custGeom>
            <a:solidFill>
              <a:schemeClr val="accent4"/>
            </a:solidFill>
            <a:ln>
              <a:noFill/>
            </a:ln>
          </p:spPr>
          <p:txBody>
            <a:bodyPr vert="horz" anchor="ctr" wrap="square" tIns="91425" lIns="91425" bIns="91425" rIns="91425">
              <a:noAutofit/>
            </a:bodyPr>
            <a:p>
              <a:pPr algn="l" rtl="false" indent="0" marL="0">
                <a:spcBef>
                  <a:spcPct val="0"/>
                </a:spcBef>
                <a:spcAft>
                  <a:spcPct val="0"/>
                </a:spcAft>
                <a:buNone/>
              </a:pPr>
            </a:p>
          </p:txBody>
        </p:sp>
        <p:sp>
          <p:nvSpPr>
            <p:cNvPr name="Freeform 25" id="25"/>
            <p:cNvSpPr/>
            <p:nvPr/>
          </p:nvSpPr>
          <p:spPr>
            <a:xfrm>
              <a:off x="2106888" y="3523163"/>
              <a:ext cx="406599" cy="430607"/>
            </a:xfrm>
            <a:custGeom>
              <a:avLst/>
              <a:gdLst/>
              <a:ahLst/>
              <a:cxnLst/>
              <a:rect r="r" b="b" t="t" l="l"/>
              <a:pathLst>
                <a:path w="22017" h="23317" stroke="true" fill="norm" extrusionOk="false">
                  <a:moveTo>
                    <a:pt x="1" y="0"/>
                  </a:moveTo>
                  <a:lnTo>
                    <a:pt x="1" y="10808"/>
                  </a:lnTo>
                  <a:lnTo>
                    <a:pt x="22017" y="23317"/>
                  </a:lnTo>
                  <a:lnTo>
                    <a:pt x="22017" y="12509"/>
                  </a:lnTo>
                  <a:lnTo>
                    <a:pt x="1" y="0"/>
                  </a:lnTo>
                  <a:close/>
                </a:path>
              </a:pathLst>
            </a:custGeom>
            <a:solidFill>
              <a:schemeClr val="lt1"/>
            </a:solidFill>
            <a:ln>
              <a:noFill/>
            </a:ln>
          </p:spPr>
          <p:txBody>
            <a:bodyPr vert="horz" anchor="ctr" wrap="square" tIns="91425" lIns="91425" bIns="91425" rIns="91425">
              <a:noAutofit/>
            </a:bodyPr>
            <a:p>
              <a:pPr algn="l" rtl="false" indent="0" marL="0">
                <a:spcBef>
                  <a:spcPct val="0"/>
                </a:spcBef>
                <a:spcAft>
                  <a:spcPct val="0"/>
                </a:spcAft>
                <a:buNone/>
              </a:pPr>
            </a:p>
          </p:txBody>
        </p:sp>
        <p:sp>
          <p:nvSpPr>
            <p:cNvPr name="Freeform 26" id="26"/>
            <p:cNvSpPr/>
            <p:nvPr/>
          </p:nvSpPr>
          <p:spPr>
            <a:xfrm>
              <a:off x="2067479" y="3066684"/>
              <a:ext cx="1137801" cy="658551"/>
            </a:xfrm>
            <a:custGeom>
              <a:avLst/>
              <a:gdLst/>
              <a:ahLst/>
              <a:cxnLst/>
              <a:rect r="r" b="b" t="t" l="l"/>
              <a:pathLst>
                <a:path w="61611" h="35660" stroke="true" fill="norm" extrusionOk="false">
                  <a:moveTo>
                    <a:pt x="36259" y="1"/>
                  </a:moveTo>
                  <a:lnTo>
                    <a:pt x="0" y="20949"/>
                  </a:lnTo>
                  <a:lnTo>
                    <a:pt x="25351" y="35659"/>
                  </a:lnTo>
                  <a:lnTo>
                    <a:pt x="61611" y="14711"/>
                  </a:lnTo>
                  <a:lnTo>
                    <a:pt x="36259" y="1"/>
                  </a:lnTo>
                  <a:close/>
                </a:path>
              </a:pathLst>
            </a:custGeom>
            <a:solidFill>
              <a:schemeClr val="accent4">
                <a:lumMod val="60000"/>
                <a:lumOff val="40000"/>
              </a:schemeClr>
            </a:solidFill>
            <a:ln>
              <a:noFill/>
            </a:ln>
          </p:spPr>
          <p:txBody>
            <a:bodyPr vert="horz" anchor="ctr" wrap="square" tIns="91425" lIns="91425" bIns="91425" rIns="91425">
              <a:noAutofit/>
            </a:bodyPr>
            <a:p>
              <a:pPr algn="l" rtl="false" indent="0" marL="0">
                <a:spcBef>
                  <a:spcPct val="0"/>
                </a:spcBef>
                <a:spcAft>
                  <a:spcPct val="0"/>
                </a:spcAft>
                <a:buNone/>
              </a:pPr>
            </a:p>
          </p:txBody>
        </p:sp>
        <p:sp>
          <p:nvSpPr>
            <p:cNvPr name="Freeform 27" id="27"/>
            <p:cNvSpPr/>
            <p:nvPr/>
          </p:nvSpPr>
          <p:spPr>
            <a:xfrm>
              <a:off x="2412449" y="3115974"/>
              <a:ext cx="707822" cy="410292"/>
            </a:xfrm>
            <a:custGeom>
              <a:avLst/>
              <a:gdLst/>
              <a:ahLst/>
              <a:cxnLst/>
              <a:rect r="r" b="b" t="t" l="l"/>
              <a:pathLst>
                <a:path w="38328" h="22217" stroke="true" fill="norm" extrusionOk="false">
                  <a:moveTo>
                    <a:pt x="12976" y="0"/>
                  </a:moveTo>
                  <a:lnTo>
                    <a:pt x="0" y="7506"/>
                  </a:lnTo>
                  <a:lnTo>
                    <a:pt x="25351" y="22216"/>
                  </a:lnTo>
                  <a:lnTo>
                    <a:pt x="38327" y="14711"/>
                  </a:lnTo>
                  <a:lnTo>
                    <a:pt x="12976" y="0"/>
                  </a:lnTo>
                  <a:close/>
                </a:path>
              </a:pathLst>
            </a:custGeom>
            <a:solidFill>
              <a:schemeClr val="tx1"/>
            </a:solidFill>
            <a:ln>
              <a:noFill/>
            </a:ln>
          </p:spPr>
          <p:txBody>
            <a:bodyPr vert="horz" anchor="ctr" wrap="square" tIns="91425" lIns="91425" bIns="91425" rIns="91425">
              <a:noAutofit/>
            </a:bodyPr>
            <a:p>
              <a:pPr algn="l" rtl="false" indent="0" marL="0">
                <a:spcBef>
                  <a:spcPct val="0"/>
                </a:spcBef>
                <a:spcAft>
                  <a:spcPct val="0"/>
                </a:spcAft>
                <a:buNone/>
              </a:pPr>
            </a:p>
          </p:txBody>
        </p:sp>
        <p:sp>
          <p:nvSpPr>
            <p:cNvPr name="Freeform 28" id="28"/>
            <p:cNvSpPr/>
            <p:nvPr/>
          </p:nvSpPr>
          <p:spPr>
            <a:xfrm>
              <a:off x="2880615" y="3387630"/>
              <a:ext cx="239653" cy="418307"/>
            </a:xfrm>
            <a:custGeom>
              <a:avLst/>
              <a:gdLst/>
              <a:ahLst/>
              <a:cxnLst/>
              <a:rect r="r" b="b" t="t" l="l"/>
              <a:pathLst>
                <a:path w="12977" h="22651" stroke="true" fill="norm" extrusionOk="false">
                  <a:moveTo>
                    <a:pt x="12976" y="1"/>
                  </a:moveTo>
                  <a:lnTo>
                    <a:pt x="0" y="7506"/>
                  </a:lnTo>
                  <a:lnTo>
                    <a:pt x="0" y="22650"/>
                  </a:lnTo>
                  <a:lnTo>
                    <a:pt x="12976" y="15145"/>
                  </a:lnTo>
                  <a:lnTo>
                    <a:pt x="12976" y="1"/>
                  </a:lnTo>
                  <a:close/>
                </a:path>
              </a:pathLst>
            </a:custGeom>
            <a:solidFill>
              <a:schemeClr val="accent2"/>
            </a:solidFill>
            <a:ln>
              <a:noFill/>
            </a:ln>
          </p:spPr>
          <p:txBody>
            <a:bodyPr vert="horz" anchor="ctr" wrap="square" tIns="91425" lIns="91425" bIns="91425" rIns="91425">
              <a:noAutofit/>
            </a:bodyPr>
            <a:p>
              <a:pPr algn="l" rtl="false" indent="0" marL="0">
                <a:spcBef>
                  <a:spcPct val="0"/>
                </a:spcBef>
                <a:spcAft>
                  <a:spcPct val="0"/>
                </a:spcAft>
                <a:buNone/>
              </a:pPr>
            </a:p>
          </p:txBody>
        </p:sp>
      </p:grpSp>
      <p:grpSp>
        <p:nvGrpSpPr>
          <p:cNvPr name="Group 29" id="29"/>
          <p:cNvGrpSpPr/>
          <p:nvPr/>
        </p:nvGrpSpPr>
        <p:grpSpPr>
          <a:xfrm>
            <a:off x="2102420" y="2896148"/>
            <a:ext cx="1412507" cy="1162707"/>
            <a:chOff x="1378758" y="1949219"/>
            <a:chExt cx="1139053" cy="937613"/>
          </a:xfrm>
        </p:grpSpPr>
        <p:sp>
          <p:nvSpPr>
            <p:cNvPr name="Freeform 30" id="30"/>
            <p:cNvSpPr/>
            <p:nvPr/>
          </p:nvSpPr>
          <p:spPr>
            <a:xfrm>
              <a:off x="1378758" y="2195021"/>
              <a:ext cx="1138429" cy="657923"/>
            </a:xfrm>
            <a:custGeom>
              <a:avLst/>
              <a:gdLst/>
              <a:ahLst/>
              <a:cxnLst/>
              <a:rect r="r" b="b" t="t" l="l"/>
              <a:pathLst>
                <a:path w="61645" h="35626" stroke="true" fill="norm" extrusionOk="false">
                  <a:moveTo>
                    <a:pt x="36260" y="0"/>
                  </a:moveTo>
                  <a:lnTo>
                    <a:pt x="1" y="20915"/>
                  </a:lnTo>
                  <a:lnTo>
                    <a:pt x="25352" y="35626"/>
                  </a:lnTo>
                  <a:lnTo>
                    <a:pt x="61645" y="14711"/>
                  </a:lnTo>
                  <a:lnTo>
                    <a:pt x="36260" y="0"/>
                  </a:lnTo>
                  <a:close/>
                </a:path>
              </a:pathLst>
            </a:custGeom>
            <a:solidFill>
              <a:schemeClr val="accent2"/>
            </a:solidFill>
            <a:ln>
              <a:noFill/>
            </a:ln>
          </p:spPr>
          <p:txBody>
            <a:bodyPr vert="horz" anchor="ctr" wrap="square" tIns="91425" lIns="91425" bIns="91425" rIns="91425">
              <a:noAutofit/>
            </a:bodyPr>
            <a:p>
              <a:pPr algn="l" rtl="false" indent="0" marL="0">
                <a:spcBef>
                  <a:spcPct val="0"/>
                </a:spcBef>
                <a:spcAft>
                  <a:spcPct val="0"/>
                </a:spcAft>
                <a:buNone/>
              </a:pPr>
            </a:p>
          </p:txBody>
        </p:sp>
        <p:sp>
          <p:nvSpPr>
            <p:cNvPr name="Freeform 31" id="31"/>
            <p:cNvSpPr/>
            <p:nvPr/>
          </p:nvSpPr>
          <p:spPr>
            <a:xfrm>
              <a:off x="1846942" y="2220894"/>
              <a:ext cx="670869" cy="665938"/>
            </a:xfrm>
            <a:custGeom>
              <a:avLst/>
              <a:gdLst/>
              <a:ahLst/>
              <a:cxnLst/>
              <a:rect r="r" b="b" t="t" l="l"/>
              <a:pathLst>
                <a:path w="36327" h="36060" stroke="true" fill="norm" extrusionOk="false">
                  <a:moveTo>
                    <a:pt x="36293" y="0"/>
                  </a:moveTo>
                  <a:lnTo>
                    <a:pt x="31689" y="2635"/>
                  </a:lnTo>
                  <a:lnTo>
                    <a:pt x="18714" y="10141"/>
                  </a:lnTo>
                  <a:lnTo>
                    <a:pt x="0" y="20915"/>
                  </a:lnTo>
                  <a:lnTo>
                    <a:pt x="34" y="36059"/>
                  </a:lnTo>
                  <a:lnTo>
                    <a:pt x="18714" y="25285"/>
                  </a:lnTo>
                  <a:lnTo>
                    <a:pt x="31689" y="17813"/>
                  </a:lnTo>
                  <a:lnTo>
                    <a:pt x="36326" y="15111"/>
                  </a:lnTo>
                  <a:lnTo>
                    <a:pt x="36293" y="0"/>
                  </a:lnTo>
                  <a:close/>
                </a:path>
              </a:pathLst>
            </a:custGeom>
            <a:solidFill>
              <a:schemeClr val="accent2"/>
            </a:solidFill>
            <a:ln>
              <a:noFill/>
            </a:ln>
          </p:spPr>
          <p:txBody>
            <a:bodyPr vert="horz" anchor="ctr" wrap="square" tIns="91425" lIns="91425" bIns="91425" rIns="91425">
              <a:noAutofit/>
            </a:bodyPr>
            <a:p>
              <a:pPr algn="l" rtl="false" indent="0" marL="0">
                <a:spcBef>
                  <a:spcPct val="0"/>
                </a:spcBef>
                <a:spcAft>
                  <a:spcPct val="0"/>
                </a:spcAft>
                <a:buNone/>
              </a:pPr>
            </a:p>
          </p:txBody>
        </p:sp>
        <p:sp>
          <p:nvSpPr>
            <p:cNvPr name="Freeform 32" id="32"/>
            <p:cNvSpPr/>
            <p:nvPr/>
          </p:nvSpPr>
          <p:spPr>
            <a:xfrm>
              <a:off x="1378758" y="2335466"/>
              <a:ext cx="468816" cy="551366"/>
            </a:xfrm>
            <a:custGeom>
              <a:avLst/>
              <a:gdLst/>
              <a:ahLst/>
              <a:cxnLst/>
              <a:rect r="r" b="b" t="t" l="l"/>
              <a:pathLst>
                <a:path w="25386" h="29856" stroke="true" fill="norm" extrusionOk="false">
                  <a:moveTo>
                    <a:pt x="1" y="1"/>
                  </a:moveTo>
                  <a:lnTo>
                    <a:pt x="1" y="2569"/>
                  </a:lnTo>
                  <a:lnTo>
                    <a:pt x="24151" y="16279"/>
                  </a:lnTo>
                  <a:lnTo>
                    <a:pt x="24185" y="27087"/>
                  </a:lnTo>
                  <a:lnTo>
                    <a:pt x="34" y="13377"/>
                  </a:lnTo>
                  <a:lnTo>
                    <a:pt x="34" y="15145"/>
                  </a:lnTo>
                  <a:lnTo>
                    <a:pt x="25386" y="29855"/>
                  </a:lnTo>
                  <a:lnTo>
                    <a:pt x="25386" y="29855"/>
                  </a:lnTo>
                  <a:lnTo>
                    <a:pt x="25352" y="14711"/>
                  </a:lnTo>
                  <a:lnTo>
                    <a:pt x="1" y="1"/>
                  </a:lnTo>
                  <a:close/>
                </a:path>
              </a:pathLst>
            </a:custGeom>
            <a:solidFill>
              <a:schemeClr val="accent2"/>
            </a:solidFill>
            <a:ln>
              <a:noFill/>
            </a:ln>
          </p:spPr>
          <p:txBody>
            <a:bodyPr vert="horz" anchor="ctr" wrap="square" tIns="91425" lIns="91425" bIns="91425" rIns="91425">
              <a:noAutofit/>
            </a:bodyPr>
            <a:p>
              <a:pPr algn="l" rtl="false" indent="0" marL="0">
                <a:spcBef>
                  <a:spcPct val="0"/>
                </a:spcBef>
                <a:spcAft>
                  <a:spcPct val="0"/>
                </a:spcAft>
                <a:buNone/>
              </a:pPr>
            </a:p>
          </p:txBody>
        </p:sp>
        <p:sp>
          <p:nvSpPr>
            <p:cNvPr name="Freeform 33" id="33"/>
            <p:cNvSpPr/>
            <p:nvPr/>
          </p:nvSpPr>
          <p:spPr>
            <a:xfrm>
              <a:off x="1418186" y="2405070"/>
              <a:ext cx="407208" cy="430625"/>
            </a:xfrm>
            <a:custGeom>
              <a:avLst/>
              <a:gdLst/>
              <a:ahLst/>
              <a:cxnLst/>
              <a:rect r="r" b="b" t="t" l="l"/>
              <a:pathLst>
                <a:path w="22050" h="23318" stroke="true" fill="norm" extrusionOk="false">
                  <a:moveTo>
                    <a:pt x="1" y="1"/>
                  </a:moveTo>
                  <a:lnTo>
                    <a:pt x="1" y="10809"/>
                  </a:lnTo>
                  <a:lnTo>
                    <a:pt x="22050" y="23318"/>
                  </a:lnTo>
                  <a:lnTo>
                    <a:pt x="22016" y="12543"/>
                  </a:lnTo>
                  <a:lnTo>
                    <a:pt x="1" y="1"/>
                  </a:lnTo>
                  <a:close/>
                </a:path>
              </a:pathLst>
            </a:custGeom>
            <a:solidFill>
              <a:schemeClr val="lt1"/>
            </a:solidFill>
            <a:ln>
              <a:noFill/>
            </a:ln>
          </p:spPr>
          <p:txBody>
            <a:bodyPr vert="horz" anchor="ctr" wrap="square" tIns="91425" lIns="91425" bIns="91425" rIns="91425">
              <a:noAutofit/>
            </a:bodyPr>
            <a:p>
              <a:pPr algn="l" rtl="false" indent="0" marL="0">
                <a:spcBef>
                  <a:spcPct val="0"/>
                </a:spcBef>
                <a:spcAft>
                  <a:spcPct val="0"/>
                </a:spcAft>
                <a:buNone/>
              </a:pPr>
            </a:p>
          </p:txBody>
        </p:sp>
        <p:sp>
          <p:nvSpPr>
            <p:cNvPr name="Freeform 34" id="34"/>
            <p:cNvSpPr/>
            <p:nvPr/>
          </p:nvSpPr>
          <p:spPr>
            <a:xfrm>
              <a:off x="1378758" y="1949219"/>
              <a:ext cx="1138429" cy="657942"/>
            </a:xfrm>
            <a:custGeom>
              <a:avLst/>
              <a:gdLst/>
              <a:ahLst/>
              <a:cxnLst/>
              <a:rect r="r" b="b" t="t" l="l"/>
              <a:pathLst>
                <a:path w="61645" h="35627" stroke="true" fill="norm" extrusionOk="false">
                  <a:moveTo>
                    <a:pt x="36260" y="1"/>
                  </a:moveTo>
                  <a:lnTo>
                    <a:pt x="1" y="20916"/>
                  </a:lnTo>
                  <a:lnTo>
                    <a:pt x="25352" y="35626"/>
                  </a:lnTo>
                  <a:lnTo>
                    <a:pt x="61645" y="14711"/>
                  </a:lnTo>
                  <a:lnTo>
                    <a:pt x="36260" y="1"/>
                  </a:lnTo>
                  <a:close/>
                </a:path>
              </a:pathLst>
            </a:custGeom>
            <a:solidFill>
              <a:schemeClr val="accent4">
                <a:lumMod val="60000"/>
                <a:lumOff val="40000"/>
              </a:schemeClr>
            </a:solidFill>
            <a:ln>
              <a:noFill/>
            </a:ln>
          </p:spPr>
          <p:txBody>
            <a:bodyPr vert="horz" anchor="ctr" wrap="square" tIns="91425" lIns="91425" bIns="91425" rIns="91425">
              <a:noAutofit/>
            </a:bodyPr>
            <a:p>
              <a:pPr algn="l" rtl="false" indent="0" marL="0">
                <a:spcBef>
                  <a:spcPct val="0"/>
                </a:spcBef>
                <a:spcAft>
                  <a:spcPct val="0"/>
                </a:spcAft>
                <a:buNone/>
              </a:pPr>
            </a:p>
          </p:txBody>
        </p:sp>
        <p:sp>
          <p:nvSpPr>
            <p:cNvPr name="Freeform 35" id="35"/>
            <p:cNvSpPr/>
            <p:nvPr/>
          </p:nvSpPr>
          <p:spPr>
            <a:xfrm>
              <a:off x="1724356" y="1997881"/>
              <a:ext cx="707822" cy="410292"/>
            </a:xfrm>
            <a:custGeom>
              <a:avLst/>
              <a:gdLst/>
              <a:ahLst/>
              <a:cxnLst/>
              <a:rect r="r" b="b" t="t" l="l"/>
              <a:pathLst>
                <a:path w="38328" h="22217" stroke="true" fill="norm" extrusionOk="false">
                  <a:moveTo>
                    <a:pt x="12976" y="1"/>
                  </a:moveTo>
                  <a:lnTo>
                    <a:pt x="0" y="7506"/>
                  </a:lnTo>
                  <a:lnTo>
                    <a:pt x="25352" y="22217"/>
                  </a:lnTo>
                  <a:lnTo>
                    <a:pt x="38327" y="14711"/>
                  </a:lnTo>
                  <a:lnTo>
                    <a:pt x="12976" y="1"/>
                  </a:lnTo>
                  <a:close/>
                </a:path>
              </a:pathLst>
            </a:custGeom>
            <a:solidFill>
              <a:schemeClr val="tx1"/>
            </a:solidFill>
            <a:ln>
              <a:noFill/>
            </a:ln>
          </p:spPr>
          <p:txBody>
            <a:bodyPr vert="horz" anchor="ctr" wrap="square" tIns="91425" lIns="91425" bIns="91425" rIns="91425">
              <a:noAutofit/>
            </a:bodyPr>
            <a:p>
              <a:pPr algn="l" rtl="false" indent="0" marL="0">
                <a:spcBef>
                  <a:spcPct val="0"/>
                </a:spcBef>
                <a:spcAft>
                  <a:spcPct val="0"/>
                </a:spcAft>
                <a:buNone/>
              </a:pPr>
            </a:p>
          </p:txBody>
        </p:sp>
        <p:sp>
          <p:nvSpPr>
            <p:cNvPr name="Freeform 36" id="36"/>
            <p:cNvSpPr/>
            <p:nvPr/>
          </p:nvSpPr>
          <p:spPr>
            <a:xfrm>
              <a:off x="2192522" y="2269555"/>
              <a:ext cx="239653" cy="418289"/>
            </a:xfrm>
            <a:custGeom>
              <a:avLst/>
              <a:gdLst/>
              <a:ahLst/>
              <a:cxnLst/>
              <a:rect r="r" b="b" t="t" l="l"/>
              <a:pathLst>
                <a:path w="12977" h="22650" stroke="true" fill="norm" extrusionOk="false">
                  <a:moveTo>
                    <a:pt x="12976" y="0"/>
                  </a:moveTo>
                  <a:lnTo>
                    <a:pt x="1" y="7506"/>
                  </a:lnTo>
                  <a:lnTo>
                    <a:pt x="1" y="22650"/>
                  </a:lnTo>
                  <a:lnTo>
                    <a:pt x="12976" y="15178"/>
                  </a:lnTo>
                  <a:lnTo>
                    <a:pt x="12976" y="0"/>
                  </a:lnTo>
                  <a:close/>
                </a:path>
              </a:pathLst>
            </a:custGeom>
            <a:solidFill>
              <a:schemeClr val="lt2"/>
            </a:solidFill>
            <a:ln>
              <a:noFill/>
            </a:ln>
          </p:spPr>
          <p:txBody>
            <a:bodyPr vert="horz" anchor="ctr" wrap="square" tIns="91425" lIns="91425" bIns="91425" rIns="91425">
              <a:noAutofit/>
            </a:bodyPr>
            <a:p>
              <a:pPr algn="l" rtl="false" indent="0" marL="0">
                <a:spcBef>
                  <a:spcPct val="0"/>
                </a:spcBef>
                <a:spcAft>
                  <a:spcPct val="0"/>
                </a:spcAft>
                <a:buNone/>
              </a:pPr>
            </a:p>
          </p:txBody>
        </p:sp>
      </p:grpSp>
      <p:sp>
        <p:nvSpPr>
          <p:cNvPr name="AutoShape 37" id="37"/>
          <p:cNvSpPr/>
          <p:nvPr/>
        </p:nvSpPr>
        <p:spPr>
          <a:xfrm>
            <a:off x="3921222" y="1492570"/>
            <a:ext cx="367722" cy="367722"/>
          </a:xfrm>
          <a:prstGeom prst="rect">
            <a:avLst/>
          </a:prstGeom>
          <a:solidFill>
            <a:schemeClr val="accent6">
              <a:lumMod val="75000"/>
            </a:schemeClr>
          </a:solidFill>
          <a:ln>
            <a:noFill/>
          </a:ln>
        </p:spPr>
        <p:txBody>
          <a:bodyPr vert="horz" anchor="ctr" wrap="square" tIns="91425" lIns="91425" bIns="91425" rIns="91425">
            <a:noAutofit/>
          </a:bodyPr>
          <a:p>
            <a:pPr algn="ctr" rtl="false" indent="0" marL="0">
              <a:spcBef>
                <a:spcPct val="0"/>
              </a:spcBef>
              <a:spcAft>
                <a:spcPct val="0"/>
              </a:spcAft>
              <a:buNone/>
            </a:pPr>
            <a:r>
              <a:rPr lang="en" b="true" i="false" sz="2500" baseline="0" u="none">
                <a:solidFill>
                  <a:srgbClr val="FFFFFF"/>
                </a:solidFill>
                <a:latin typeface="Roboto"/>
                <a:ea typeface="Roboto"/>
              </a:rPr>
              <a:t>A</a:t>
            </a:r>
          </a:p>
        </p:txBody>
      </p:sp>
      <p:sp>
        <p:nvSpPr>
          <p:cNvPr name="AutoShape 38" id="38"/>
          <p:cNvSpPr/>
          <p:nvPr/>
        </p:nvSpPr>
        <p:spPr>
          <a:xfrm>
            <a:off x="4717262" y="3190445"/>
            <a:ext cx="367722" cy="367722"/>
          </a:xfrm>
          <a:prstGeom prst="rect">
            <a:avLst/>
          </a:prstGeom>
          <a:solidFill>
            <a:srgbClr val="008A55"/>
          </a:solidFill>
          <a:ln>
            <a:noFill/>
          </a:ln>
        </p:spPr>
        <p:txBody>
          <a:bodyPr vert="horz" anchor="ctr" wrap="square" tIns="91425" lIns="91425" bIns="91425" rIns="91425">
            <a:noAutofit/>
          </a:bodyPr>
          <a:p>
            <a:pPr algn="ctr" rtl="false" indent="0" marL="0">
              <a:spcBef>
                <a:spcPct val="0"/>
              </a:spcBef>
              <a:spcAft>
                <a:spcPct val="0"/>
              </a:spcAft>
              <a:buNone/>
            </a:pPr>
            <a:r>
              <a:rPr lang="en" b="true" i="false" sz="2500" baseline="0" u="none">
                <a:solidFill>
                  <a:srgbClr val="FFFFFF"/>
                </a:solidFill>
                <a:latin typeface="Roboto"/>
                <a:ea typeface="Roboto"/>
              </a:rPr>
              <a:t>B</a:t>
            </a:r>
          </a:p>
        </p:txBody>
      </p:sp>
      <p:sp>
        <p:nvSpPr>
          <p:cNvPr name="AutoShape 39" id="39"/>
          <p:cNvSpPr/>
          <p:nvPr/>
        </p:nvSpPr>
        <p:spPr>
          <a:xfrm>
            <a:off x="5440891" y="4948984"/>
            <a:ext cx="367722" cy="367722"/>
          </a:xfrm>
          <a:prstGeom prst="rect">
            <a:avLst/>
          </a:prstGeom>
          <a:solidFill>
            <a:srgbClr val="FEB80A"/>
          </a:solidFill>
          <a:ln>
            <a:noFill/>
          </a:ln>
        </p:spPr>
        <p:txBody>
          <a:bodyPr vert="horz" anchor="ctr" wrap="square" tIns="91425" lIns="91425" bIns="91425" rIns="91425">
            <a:noAutofit/>
          </a:bodyPr>
          <a:p>
            <a:pPr algn="ctr" rtl="false" indent="0" marL="0">
              <a:spcBef>
                <a:spcPct val="0"/>
              </a:spcBef>
              <a:spcAft>
                <a:spcPct val="0"/>
              </a:spcAft>
              <a:buNone/>
            </a:pPr>
            <a:r>
              <a:rPr lang="en" b="true" i="false" sz="2500" baseline="0" u="none">
                <a:solidFill>
                  <a:srgbClr val="FFFFFF"/>
                </a:solidFill>
                <a:latin typeface="Roboto"/>
                <a:ea typeface="Roboto"/>
              </a:rPr>
              <a:t>C</a:t>
            </a:r>
          </a:p>
        </p:txBody>
      </p:sp>
      <p:sp>
        <p:nvSpPr>
          <p:cNvPr name="TextBox 40" id="40"/>
          <p:cNvSpPr txBox="true"/>
          <p:nvPr/>
        </p:nvSpPr>
        <p:spPr>
          <a:xfrm>
            <a:off x="1515419" y="537747"/>
            <a:ext cx="9161161" cy="480131"/>
          </a:xfrm>
          <a:prstGeom prst="rect">
            <a:avLst/>
          </a:prstGeom>
        </p:spPr>
        <p:txBody>
          <a:bodyPr anchor="ctr" rtlCol="false" vert="horz" wrap="square" tIns="45720" lIns="91440" bIns="45720" rIns="91440">
            <a:spAutoFit/>
          </a:bodyPr>
          <a:lstStyle/>
          <a:p>
            <a:pPr algn="r" marL="0">
              <a:lnSpc>
                <a:spcPct val="90000"/>
              </a:lnSpc>
              <a:spcBef>
                <a:spcPct val="0"/>
              </a:spcBef>
              <a:defRPr/>
            </a:pPr>
            <a:r>
              <a:rPr lang="zh-CN" b="true" i="false" sz="2800" baseline="0" u="none" altLang="en-US">
                <a:solidFill>
                  <a:schemeClr val="tx1"/>
                </a:solidFill>
                <a:latin typeface="微软雅黑"/>
                <a:ea typeface="微软雅黑"/>
              </a:rPr>
              <a:t>队列的定义与实现</a:t>
            </a:r>
            <a:endParaRPr lang="en-US" sz="1100"/>
          </a:p>
        </p:txBody>
      </p:sp>
      <p:sp>
        <p:nvSpPr>
          <p:cNvPr name="TextBox 41" id="41"/>
          <p:cNvSpPr txBox="true"/>
          <p:nvPr/>
        </p:nvSpPr>
        <p:spPr>
          <a:xfrm>
            <a:off x="3825499" y="1912290"/>
            <a:ext cx="6110173" cy="890693"/>
          </a:xfrm>
          <a:prstGeom prst="rect">
            <a:avLst/>
          </a:prstGeom>
          <a:noFill/>
        </p:spPr>
        <p:txBody>
          <a:bodyPr anchor="t" rtlCol="false" vert="horz" wrap="square" tIns="45720" lIns="91440" bIns="45720" rIns="91440">
            <a:spAutoFit/>
          </a:bodyPr>
          <a:lstStyle/>
          <a:p>
            <a:pPr algn="l" marL="0">
              <a:lnSpc>
                <a:spcPct val="150000"/>
              </a:lnSpc>
              <a:defRPr/>
            </a:pPr>
            <a:r>
              <a:rPr lang="zh-CN" b="false" i="false" sz="1200" baseline="0" u="none" altLang="en-US">
                <a:solidFill>
                  <a:schemeClr val="tx1"/>
                </a:solidFill>
                <a:latin typeface="微软雅黑"/>
                <a:ea typeface="微软雅黑"/>
              </a:rPr>
              <a:t>队列是只允许在一端进行插入（队尾），另一端进行删除（队头）的线性表，先进先出（FIFO）。基本操作有入队（enqueue）、出队（dequeue）、取队头（front）等。</a:t>
            </a:r>
            <a:endParaRPr lang="en-US" sz="1100"/>
          </a:p>
        </p:txBody>
      </p:sp>
      <p:sp>
        <p:nvSpPr>
          <p:cNvPr name="TextBox 42" id="42"/>
          <p:cNvSpPr txBox="true"/>
          <p:nvPr/>
        </p:nvSpPr>
        <p:spPr>
          <a:xfrm>
            <a:off x="4384667" y="1601113"/>
            <a:ext cx="5370830" cy="307777"/>
          </a:xfrm>
          <a:prstGeom prst="rect">
            <a:avLst/>
          </a:prstGeom>
          <a:noFill/>
        </p:spPr>
        <p:txBody>
          <a:bodyPr anchor="t" rtlCol="false" vert="horz" wrap="square" tIns="45720" lIns="91440" bIns="45720" rIns="91440">
            <a:spAutoFit/>
          </a:bodyPr>
          <a:lstStyle/>
          <a:p>
            <a:pPr algn="l" marL="0">
              <a:defRPr/>
            </a:pPr>
            <a:r>
              <a:rPr lang="zh-CN" b="true" i="false" sz="1400" baseline="0" u="none" altLang="en-US">
                <a:solidFill>
                  <a:schemeClr val="tx1"/>
                </a:solidFill>
                <a:latin typeface="微软雅黑"/>
                <a:ea typeface="微软雅黑"/>
              </a:rPr>
              <a:t>队列的概念与特点</a:t>
            </a:r>
            <a:endParaRPr lang="en-US" sz="1100"/>
          </a:p>
        </p:txBody>
      </p:sp>
      <p:sp>
        <p:nvSpPr>
          <p:cNvPr name="TextBox 43" id="43"/>
          <p:cNvSpPr txBox="true"/>
          <p:nvPr/>
        </p:nvSpPr>
        <p:spPr>
          <a:xfrm>
            <a:off x="4621539" y="3560038"/>
            <a:ext cx="6110173" cy="890693"/>
          </a:xfrm>
          <a:prstGeom prst="rect">
            <a:avLst/>
          </a:prstGeom>
          <a:noFill/>
        </p:spPr>
        <p:txBody>
          <a:bodyPr anchor="t" rtlCol="false" vert="horz" wrap="square" tIns="45720" lIns="91440" bIns="45720" rIns="91440">
            <a:spAutoFit/>
          </a:bodyPr>
          <a:lstStyle/>
          <a:p>
            <a:pPr algn="l" marL="0">
              <a:lnSpc>
                <a:spcPct val="150000"/>
              </a:lnSpc>
              <a:defRPr/>
            </a:pPr>
            <a:r>
              <a:rPr lang="zh-CN" b="false" i="false" sz="1200" baseline="0" u="none" altLang="en-US">
                <a:solidFill>
                  <a:schemeClr val="tx1"/>
                </a:solidFill>
                <a:latin typeface="微软雅黑"/>
                <a:ea typeface="微软雅黑"/>
              </a:rPr>
              <a:t>普通顺序队列存在假溢出问题，即队尾已满但队头有空位。循环队列通过取模运算将数组首尾相连，使存储空间循环使用。需牺牲一个单元区分队空和队满。</a:t>
            </a:r>
            <a:endParaRPr lang="en-US" sz="1100"/>
          </a:p>
        </p:txBody>
      </p:sp>
      <p:sp>
        <p:nvSpPr>
          <p:cNvPr name="TextBox 44" id="44"/>
          <p:cNvSpPr txBox="true"/>
          <p:nvPr/>
        </p:nvSpPr>
        <p:spPr>
          <a:xfrm>
            <a:off x="5180707" y="3248861"/>
            <a:ext cx="5370830" cy="307777"/>
          </a:xfrm>
          <a:prstGeom prst="rect">
            <a:avLst/>
          </a:prstGeom>
          <a:noFill/>
        </p:spPr>
        <p:txBody>
          <a:bodyPr anchor="t" rtlCol="false" vert="horz" wrap="square" tIns="45720" lIns="91440" bIns="45720" rIns="91440">
            <a:spAutoFit/>
          </a:bodyPr>
          <a:lstStyle/>
          <a:p>
            <a:pPr algn="l" marL="0">
              <a:defRPr/>
            </a:pPr>
            <a:r>
              <a:rPr lang="zh-CN" b="true" i="false" sz="1400" baseline="0" u="none" altLang="en-US">
                <a:solidFill>
                  <a:schemeClr val="tx1"/>
                </a:solidFill>
                <a:latin typeface="微软雅黑"/>
                <a:ea typeface="微软雅黑"/>
              </a:rPr>
              <a:t>顺序队列及循环队列</a:t>
            </a:r>
            <a:endParaRPr lang="en-US" sz="1100"/>
          </a:p>
        </p:txBody>
      </p:sp>
      <p:sp>
        <p:nvSpPr>
          <p:cNvPr name="TextBox 45" id="45"/>
          <p:cNvSpPr txBox="true"/>
          <p:nvPr/>
        </p:nvSpPr>
        <p:spPr>
          <a:xfrm>
            <a:off x="5368229" y="5328722"/>
            <a:ext cx="6110173" cy="890693"/>
          </a:xfrm>
          <a:prstGeom prst="rect">
            <a:avLst/>
          </a:prstGeom>
          <a:noFill/>
        </p:spPr>
        <p:txBody>
          <a:bodyPr anchor="t" rtlCol="false" vert="horz" wrap="square" tIns="45720" lIns="91440" bIns="45720" rIns="91440">
            <a:spAutoFit/>
          </a:bodyPr>
          <a:lstStyle/>
          <a:p>
            <a:pPr algn="l" marL="0">
              <a:lnSpc>
                <a:spcPct val="150000"/>
              </a:lnSpc>
              <a:defRPr/>
            </a:pPr>
            <a:r>
              <a:rPr lang="zh-CN" b="false" i="false" sz="1200" baseline="0" u="none" altLang="en-US">
                <a:solidFill>
                  <a:schemeClr val="tx1"/>
                </a:solidFill>
                <a:latin typeface="微软雅黑"/>
                <a:ea typeface="微软雅黑"/>
              </a:rPr>
              <a:t>链队列采用带头节点的不带头节点的单链表实现，设置队头指针front和队尾指针rear。入队在队尾插入，出队在队头删除。链队列无固定容量限制，适合数据量波动的场景。</a:t>
            </a:r>
            <a:endParaRPr lang="en-US" sz="1100"/>
          </a:p>
        </p:txBody>
      </p:sp>
      <p:sp>
        <p:nvSpPr>
          <p:cNvPr name="TextBox 46" id="46"/>
          <p:cNvSpPr txBox="true"/>
          <p:nvPr/>
        </p:nvSpPr>
        <p:spPr>
          <a:xfrm>
            <a:off x="5927397" y="5017545"/>
            <a:ext cx="5370830" cy="307777"/>
          </a:xfrm>
          <a:prstGeom prst="rect">
            <a:avLst/>
          </a:prstGeom>
          <a:noFill/>
        </p:spPr>
        <p:txBody>
          <a:bodyPr anchor="t" rtlCol="false" vert="horz" wrap="square" tIns="45720" lIns="91440" bIns="45720" rIns="91440">
            <a:spAutoFit/>
          </a:bodyPr>
          <a:lstStyle/>
          <a:p>
            <a:pPr algn="l" marL="0">
              <a:defRPr/>
            </a:pPr>
            <a:r>
              <a:rPr lang="zh-CN" b="true" i="false" sz="1400" baseline="0" u="none" altLang="en-US">
                <a:solidFill>
                  <a:schemeClr val="tx1"/>
                </a:solidFill>
                <a:latin typeface="微软雅黑"/>
                <a:ea typeface="微软雅黑"/>
              </a:rPr>
              <a:t>链队列实现</a:t>
            </a:r>
            <a:endParaRPr lang="en-US" sz="1100"/>
          </a:p>
        </p:txBody>
      </p:sp>
      <p:sp>
        <p:nvSpPr>
          <p:cNvPr name="AutoShape 47" id="47"/>
          <p:cNvSpPr/>
          <p:nvPr/>
        </p:nvSpPr>
        <p:spPr>
          <a:xfrm>
            <a:off x="0" y="0"/>
            <a:ext cx="12192000" cy="6858000"/>
          </a:xfrm>
          <a:prstGeom prst="frame">
            <a:avLst>
              <a:gd name="adj1" fmla="val 2731"/>
            </a:avLst>
          </a:prstGeom>
          <a:solidFill>
            <a:srgbClr val="008A55"/>
          </a:solidFill>
          <a:ln>
            <a:noFill/>
          </a:ln>
        </p:spPr>
        <p:txBody>
          <a:bodyPr vert="horz" anchor="ctr" tIns="45720" lIns="91440" bIns="45720" rIns="91440"/>
          <a:p>
            <a:pPr algn="ctr" marL="0"/>
          </a:p>
        </p:txBody>
      </p:sp>
      <p:sp>
        <p:nvSpPr>
          <p:cNvPr name="AutoShape 48" id="48"/>
          <p:cNvSpPr/>
          <p:nvPr/>
        </p:nvSpPr>
        <p:spPr>
          <a:xfrm>
            <a:off x="10795000" y="6540500"/>
            <a:ext cx="1270000" cy="190500"/>
          </a:xfrm>
          <a:prstGeom prst="rect">
            <a:avLst/>
          </a:prstGeom>
          <a:solidFill>
            <a:srgbClr val="000000">
              <a:alpha val="0"/>
            </a:srgbClr>
          </a:solidFill>
        </p:spPr>
        <p:txBody>
          <a:bodyPr anchor="t" rtlCol="false"/>
          <a:lstStyle/>
          <a:p>
            <a:pPr algn="r">
              <a:defRPr/>
            </a:pPr>
            <a:r>
              <a:rPr lang="en-US" b="false" i="false" sz="800" baseline="0" u="none">
                <a:solidFill>
                  <a:srgbClr val="808080"/>
                </a:solidFill>
                <a:latin typeface="Microsoft YaHei"/>
                <a:ea typeface="Microsoft YaHei"/>
              </a:rPr>
              <a:t>内容由AI生成</a:t>
            </a:r>
            <a:endParaRPr lang="en-US" sz="1100"/>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chemeClr val="bg1"/>
        </a:solidFill>
      </p:bgPr>
    </p:bg>
    <p:spTree>
      <p:nvGrpSpPr>
        <p:cNvPr id="1" name=""/>
        <p:cNvGrpSpPr/>
        <p:nvPr/>
      </p:nvGrpSpPr>
      <p:grpSpPr>
        <a:xfrm>
          <a:off x="0" y="0"/>
          <a:ext cx="0" cy="0"/>
          <a:chOff x="0" y="0"/>
          <a:chExt cx="0" cy="0"/>
        </a:xfrm>
      </p:grpSpPr>
      <p:sp>
        <p:nvSpPr>
          <p:cNvPr name="AutoShape 2" id="2"/>
          <p:cNvSpPr/>
          <p:nvPr/>
        </p:nvSpPr>
        <p:spPr>
          <a:xfrm>
            <a:off x="674853" y="1856857"/>
            <a:ext cx="8492853" cy="4262029"/>
          </a:xfrm>
          <a:prstGeom prst="roundRect">
            <a:avLst>
              <a:gd name="adj" fmla="val 3558"/>
            </a:avLst>
          </a:prstGeom>
          <a:solidFill>
            <a:schemeClr val="accent6">
              <a:alpha val="20000"/>
              <a:lumMod val="20000"/>
              <a:lumOff val="80000"/>
            </a:schemeClr>
          </a:solidFill>
          <a:ln>
            <a:noFill/>
          </a:ln>
          <a:effectLst/>
        </p:spPr>
        <p:txBody>
          <a:bodyPr vert="horz" anchor="ctr" wrap="square" tIns="45720" lIns="91440" bIns="45720" rIns="91440">
            <a:noAutofit/>
          </a:bodyPr>
          <a:p>
            <a:pPr algn="ctr" marL="0"/>
          </a:p>
        </p:txBody>
      </p:sp>
      <p:sp>
        <p:nvSpPr>
          <p:cNvPr name="AutoShape 3" id="3"/>
          <p:cNvSpPr/>
          <p:nvPr/>
        </p:nvSpPr>
        <p:spPr>
          <a:xfrm>
            <a:off x="7877592" y="1977537"/>
            <a:ext cx="4019550" cy="3975082"/>
          </a:xfrm>
          <a:prstGeom prst="ellipse">
            <a:avLst/>
          </a:prstGeom>
          <a:solidFill>
            <a:schemeClr val="accent6">
              <a:lumMod val="40000"/>
              <a:lumOff val="60000"/>
            </a:schemeClr>
          </a:solidFill>
          <a:ln>
            <a:noFill/>
          </a:ln>
        </p:spPr>
        <p:txBody>
          <a:bodyPr vert="horz" anchor="ctr" tIns="45720" lIns="91440" bIns="45720" rIns="91440"/>
          <a:p>
            <a:pPr algn="ctr" marL="0"/>
          </a:p>
        </p:txBody>
      </p:sp>
      <p:grpSp>
        <p:nvGrpSpPr>
          <p:cNvPr name="Group 4" id="4"/>
          <p:cNvGrpSpPr/>
          <p:nvPr/>
        </p:nvGrpSpPr>
        <p:grpSpPr>
          <a:xfrm>
            <a:off x="516426" y="2612643"/>
            <a:ext cx="288032" cy="2777232"/>
            <a:chOff x="832505" y="3083818"/>
            <a:chExt cx="288032" cy="2777232"/>
          </a:xfrm>
        </p:grpSpPr>
        <p:sp>
          <p:nvSpPr>
            <p:cNvPr name="AutoShape 5" id="5"/>
            <p:cNvSpPr/>
            <p:nvPr/>
          </p:nvSpPr>
          <p:spPr>
            <a:xfrm>
              <a:off x="832505" y="3083818"/>
              <a:ext cx="288032" cy="288032"/>
            </a:xfrm>
            <a:prstGeom prst="ellipse">
              <a:avLst/>
            </a:prstGeom>
            <a:solidFill>
              <a:srgbClr val="FFCC00"/>
            </a:solidFill>
            <a:ln>
              <a:noFill/>
            </a:ln>
            <a:effectLst>
              <a:outerShdw blurRad="228600" dir="3600000" dist="127000" rotWithShape="false">
                <a:schemeClr val="accent2">
                  <a:alpha val="25000"/>
                </a:schemeClr>
              </a:outerShdw>
            </a:effectLst>
          </p:spPr>
          <p:txBody>
            <a:bodyPr vert="horz" anchor="ctr" tIns="48463" lIns="96926" bIns="48463" rIns="96926"/>
            <a:p>
              <a:pPr algn="ctr" marL="0"/>
            </a:p>
          </p:txBody>
        </p:sp>
        <p:cxnSp>
          <p:nvCxnSpPr>
            <p:cNvPr name="Connector 6" id="6"/>
            <p:cNvCxnSpPr/>
            <p:nvPr/>
          </p:nvCxnSpPr>
          <p:spPr>
            <a:xfrm>
              <a:off x="976521" y="3371850"/>
              <a:ext cx="3016" cy="2432397"/>
            </a:xfrm>
            <a:prstGeom prst="line">
              <a:avLst/>
            </a:prstGeom>
            <a:ln w="9525">
              <a:solidFill>
                <a:schemeClr val="accent6">
                  <a:lumMod val="50000"/>
                </a:schemeClr>
              </a:solidFill>
            </a:ln>
          </p:spPr>
        </p:cxnSp>
        <p:sp>
          <p:nvSpPr>
            <p:cNvPr name="AutoShape 7" id="7"/>
            <p:cNvSpPr/>
            <p:nvPr/>
          </p:nvSpPr>
          <p:spPr>
            <a:xfrm>
              <a:off x="832505" y="4337943"/>
              <a:ext cx="288032" cy="288032"/>
            </a:xfrm>
            <a:prstGeom prst="ellipse">
              <a:avLst/>
            </a:prstGeom>
            <a:solidFill>
              <a:srgbClr val="FFCC00"/>
            </a:solidFill>
            <a:ln>
              <a:noFill/>
            </a:ln>
            <a:effectLst>
              <a:outerShdw blurRad="228600" dir="3600000" dist="127000" rotWithShape="false">
                <a:schemeClr val="accent2">
                  <a:alpha val="25000"/>
                </a:schemeClr>
              </a:outerShdw>
            </a:effectLst>
          </p:spPr>
          <p:txBody>
            <a:bodyPr vert="horz" anchor="ctr" tIns="48463" lIns="96926" bIns="48463" rIns="96926"/>
            <a:p>
              <a:pPr algn="ctr" marL="0"/>
            </a:p>
          </p:txBody>
        </p:sp>
        <p:sp>
          <p:nvSpPr>
            <p:cNvPr name="AutoShape 8" id="8"/>
            <p:cNvSpPr/>
            <p:nvPr/>
          </p:nvSpPr>
          <p:spPr>
            <a:xfrm>
              <a:off x="832505" y="5573018"/>
              <a:ext cx="288032" cy="288032"/>
            </a:xfrm>
            <a:prstGeom prst="ellipse">
              <a:avLst/>
            </a:prstGeom>
            <a:solidFill>
              <a:srgbClr val="FFCC00"/>
            </a:solidFill>
            <a:ln>
              <a:noFill/>
            </a:ln>
            <a:effectLst>
              <a:outerShdw blurRad="228600" dir="3600000" dist="127000" rotWithShape="false">
                <a:schemeClr val="accent2">
                  <a:alpha val="25000"/>
                </a:schemeClr>
              </a:outerShdw>
            </a:effectLst>
          </p:spPr>
          <p:txBody>
            <a:bodyPr vert="horz" anchor="ctr" tIns="48463" lIns="96926" bIns="48463" rIns="96926"/>
            <a:p>
              <a:pPr algn="ctr" marL="0"/>
            </a:p>
          </p:txBody>
        </p:sp>
      </p:grpSp>
      <p:sp>
        <p:nvSpPr>
          <p:cNvPr name="AutoShape 9" id="9"/>
          <p:cNvSpPr/>
          <p:nvPr/>
        </p:nvSpPr>
        <p:spPr>
          <a:xfrm>
            <a:off x="938621" y="3303561"/>
            <a:ext cx="6710619" cy="1338951"/>
          </a:xfrm>
          <a:prstGeom prst="roundRect">
            <a:avLst>
              <a:gd name="adj" fmla="val 12909"/>
            </a:avLst>
          </a:prstGeom>
          <a:solidFill>
            <a:srgbClr val="385723"/>
          </a:solidFill>
          <a:ln>
            <a:noFill/>
          </a:ln>
          <a:effectLst>
            <a:outerShdw blurRad="228600" dir="3600000" dist="127000" rotWithShape="false">
              <a:schemeClr val="accent2">
                <a:alpha val="25000"/>
                <a:lumMod val="20000"/>
                <a:lumOff val="80000"/>
              </a:schemeClr>
            </a:outerShdw>
          </a:effectLst>
        </p:spPr>
        <p:txBody>
          <a:bodyPr vert="horz" anchor="ctr" wrap="square" tIns="48463" lIns="96926" bIns="48463" rIns="96926">
            <a:noAutofit/>
          </a:bodyPr>
          <a:p>
            <a:pPr algn="ctr" marL="0"/>
          </a:p>
        </p:txBody>
      </p:sp>
      <p:pic>
        <p:nvPicPr>
          <p:cNvPr name="image33.jpeg" id="10"/>
          <p:cNvPicPr>
            <a:picLocks noChangeAspect="true"/>
          </p:cNvPicPr>
          <p:nvPr/>
        </p:nvPicPr>
        <p:blipFill>
          <a:blip r:embed="rId2"/>
          <a:srcRect t="17242" b="17242"/>
          <a:stretch>
            <a:fillRect t="0" l="0" b="0" r="0"/>
          </a:stretch>
        </p:blipFill>
        <p:spPr>
          <a:xfrm>
            <a:off x="7807092" y="2018484"/>
            <a:ext cx="4019550" cy="3975082"/>
          </a:xfrm>
          <a:prstGeom prst="ellipse">
            <a:avLst/>
          </a:prstGeom>
        </p:spPr>
      </p:pic>
      <p:sp>
        <p:nvSpPr>
          <p:cNvPr name="TextBox 11" id="11"/>
          <p:cNvSpPr txBox="true"/>
          <p:nvPr/>
        </p:nvSpPr>
        <p:spPr>
          <a:xfrm>
            <a:off x="1343025" y="739114"/>
            <a:ext cx="9505949" cy="523220"/>
          </a:xfrm>
          <a:prstGeom prst="rect">
            <a:avLst/>
          </a:prstGeom>
          <a:noFill/>
        </p:spPr>
        <p:txBody>
          <a:bodyPr anchor="t" rtlCol="false" vert="horz" wrap="square" tIns="45720" lIns="91440" bIns="45720" rIns="91440">
            <a:spAutoFit/>
          </a:bodyPr>
          <a:lstStyle/>
          <a:p>
            <a:pPr algn="ctr" marL="0">
              <a:defRPr/>
            </a:pPr>
            <a:r>
              <a:rPr lang="zh-CN" b="true" i="false" sz="2800" baseline="0" u="none" altLang="en-US">
                <a:solidFill>
                  <a:schemeClr val="tx1"/>
                </a:solidFill>
                <a:latin typeface="微软雅黑"/>
                <a:ea typeface="微软雅黑"/>
              </a:rPr>
              <a:t>队列的应用</a:t>
            </a:r>
            <a:endParaRPr lang="en-US" sz="1100"/>
          </a:p>
        </p:txBody>
      </p:sp>
      <p:sp>
        <p:nvSpPr>
          <p:cNvPr name="AutoShape 12" id="12"/>
          <p:cNvSpPr/>
          <p:nvPr/>
        </p:nvSpPr>
        <p:spPr>
          <a:xfrm>
            <a:off x="1039647" y="1947588"/>
            <a:ext cx="5313528" cy="381000"/>
          </a:xfrm>
          <a:prstGeom prst="rect">
            <a:avLst/>
          </a:prstGeom>
          <a:noFill/>
          <a:ln cap="flat" cmpd="sng">
            <a:noFill/>
            <a:prstDash val="solid"/>
          </a:ln>
        </p:spPr>
        <p:txBody>
          <a:bodyPr vert="horz" anchor="ctr" wrap="square" tIns="0" lIns="0" bIns="0" rIns="0"/>
          <a:p>
            <a:pPr algn="l" indent="0" marL="0">
              <a:lnSpc>
                <a:spcPct val="125000"/>
              </a:lnSpc>
            </a:pPr>
            <a:r>
              <a:rPr lang="zh-CN" b="true" i="false" sz="1400" baseline="0" u="none" altLang="en-US">
                <a:solidFill>
                  <a:schemeClr val="tx1"/>
                </a:solidFill>
                <a:latin typeface="微软雅黑"/>
                <a:ea typeface="微软雅黑"/>
              </a:rPr>
              <a:t>广度优先搜索</a:t>
            </a:r>
          </a:p>
        </p:txBody>
      </p:sp>
      <p:sp>
        <p:nvSpPr>
          <p:cNvPr name="TextBox 13" id="13"/>
          <p:cNvSpPr txBox="true"/>
          <p:nvPr/>
        </p:nvSpPr>
        <p:spPr>
          <a:xfrm>
            <a:off x="943179" y="2328588"/>
            <a:ext cx="6569619" cy="890372"/>
          </a:xfrm>
          <a:prstGeom prst="rect">
            <a:avLst/>
          </a:prstGeom>
          <a:noFill/>
        </p:spPr>
        <p:txBody>
          <a:bodyPr anchor="t" rtlCol="false" vert="horz" wrap="square" tIns="45720" lIns="91440" bIns="45720" rIns="91440">
            <a:spAutoFit/>
          </a:bodyPr>
          <a:lstStyle/>
          <a:p>
            <a:pPr algn="l" marL="0">
              <a:lnSpc>
                <a:spcPct val="150000"/>
              </a:lnSpc>
              <a:defRPr/>
            </a:pPr>
            <a:r>
              <a:rPr lang="zh-CN" b="false" i="false" sz="1200" baseline="0" u="none" altLang="en-US">
                <a:solidFill>
                  <a:schemeClr val="tx1"/>
                </a:solidFill>
                <a:latin typeface="微软雅黑"/>
                <a:ea typeface="微软雅黑"/>
              </a:rPr>
              <a:t>图的广度优先遍历（BFS）借助队列实现。从起点开始，访问当前顶点后将所有未被访问的邻接顶点入队，然后从队头取出下一顶点继续。BFS可求无权图的最短路径。</a:t>
            </a:r>
            <a:endParaRPr lang="en-US" sz="1100"/>
          </a:p>
        </p:txBody>
      </p:sp>
      <p:sp>
        <p:nvSpPr>
          <p:cNvPr name="AutoShape 14" id="14"/>
          <p:cNvSpPr/>
          <p:nvPr/>
        </p:nvSpPr>
        <p:spPr>
          <a:xfrm>
            <a:off x="1136281" y="3303561"/>
            <a:ext cx="5313528" cy="381000"/>
          </a:xfrm>
          <a:prstGeom prst="rect">
            <a:avLst/>
          </a:prstGeom>
          <a:noFill/>
          <a:ln cap="flat" cmpd="sng">
            <a:noFill/>
            <a:prstDash val="solid"/>
          </a:ln>
        </p:spPr>
        <p:txBody>
          <a:bodyPr vert="horz" anchor="ctr" wrap="square" tIns="0" lIns="0" bIns="0" rIns="0"/>
          <a:p>
            <a:pPr algn="l" indent="0" marL="0">
              <a:lnSpc>
                <a:spcPct val="125000"/>
              </a:lnSpc>
            </a:pPr>
            <a:r>
              <a:rPr lang="zh-CN" b="true" i="false" sz="1400" baseline="0" u="none" altLang="en-US">
                <a:solidFill>
                  <a:schemeClr val="bg1"/>
                </a:solidFill>
                <a:latin typeface="微软雅黑"/>
                <a:ea typeface="微软雅黑"/>
              </a:rPr>
              <a:t>缓冲与调度</a:t>
            </a:r>
          </a:p>
        </p:txBody>
      </p:sp>
      <p:sp>
        <p:nvSpPr>
          <p:cNvPr name="TextBox 15" id="15"/>
          <p:cNvSpPr txBox="true"/>
          <p:nvPr/>
        </p:nvSpPr>
        <p:spPr>
          <a:xfrm>
            <a:off x="1039813" y="3684561"/>
            <a:ext cx="6569619" cy="890372"/>
          </a:xfrm>
          <a:prstGeom prst="rect">
            <a:avLst/>
          </a:prstGeom>
          <a:noFill/>
        </p:spPr>
        <p:txBody>
          <a:bodyPr anchor="t" rtlCol="false" vert="horz" wrap="square" tIns="45720" lIns="91440" bIns="45720" rIns="91440">
            <a:spAutoFit/>
          </a:bodyPr>
          <a:lstStyle/>
          <a:p>
            <a:pPr algn="l" marL="0">
              <a:lnSpc>
                <a:spcPct val="150000"/>
              </a:lnSpc>
              <a:defRPr/>
            </a:pPr>
            <a:r>
              <a:rPr lang="zh-CN" b="false" i="false" sz="1200" baseline="0" u="none" altLang="en-US">
                <a:solidFill>
                  <a:schemeClr val="bg1"/>
                </a:solidFill>
                <a:latin typeface="微软雅黑"/>
                <a:ea typeface="微软雅黑"/>
              </a:rPr>
              <a:t>队列广泛应用于计算机系统的缓冲管理（如打印机任务队列、CPU任务调度）、消息队列（如Kafka、RabbitMQ）以及蚂蚁森林的能量收取顺序等。</a:t>
            </a:r>
            <a:endParaRPr lang="en-US" sz="1100"/>
          </a:p>
        </p:txBody>
      </p:sp>
      <p:sp>
        <p:nvSpPr>
          <p:cNvPr name="AutoShape 16" id="16"/>
          <p:cNvSpPr/>
          <p:nvPr/>
        </p:nvSpPr>
        <p:spPr>
          <a:xfrm>
            <a:off x="1105589" y="4758943"/>
            <a:ext cx="5313528" cy="381000"/>
          </a:xfrm>
          <a:prstGeom prst="rect">
            <a:avLst/>
          </a:prstGeom>
          <a:noFill/>
          <a:ln cap="flat" cmpd="sng">
            <a:noFill/>
            <a:prstDash val="solid"/>
          </a:ln>
        </p:spPr>
        <p:txBody>
          <a:bodyPr vert="horz" anchor="ctr" wrap="square" tIns="0" lIns="0" bIns="0" rIns="0"/>
          <a:p>
            <a:pPr algn="l" indent="0" marL="0">
              <a:lnSpc>
                <a:spcPct val="125000"/>
              </a:lnSpc>
            </a:pPr>
            <a:r>
              <a:rPr lang="zh-CN" b="true" i="false" sz="1400" baseline="0" u="none" altLang="en-US">
                <a:solidFill>
                  <a:schemeClr val="tx1"/>
                </a:solidFill>
                <a:latin typeface="微软雅黑"/>
                <a:ea typeface="微软雅黑"/>
              </a:rPr>
              <a:t>银行排号系统</a:t>
            </a:r>
          </a:p>
        </p:txBody>
      </p:sp>
      <p:sp>
        <p:nvSpPr>
          <p:cNvPr name="TextBox 17" id="17"/>
          <p:cNvSpPr txBox="true"/>
          <p:nvPr/>
        </p:nvSpPr>
        <p:spPr>
          <a:xfrm>
            <a:off x="1009121" y="5139943"/>
            <a:ext cx="6569619" cy="890372"/>
          </a:xfrm>
          <a:prstGeom prst="rect">
            <a:avLst/>
          </a:prstGeom>
          <a:noFill/>
        </p:spPr>
        <p:txBody>
          <a:bodyPr anchor="t" rtlCol="false" vert="horz" wrap="square" tIns="45720" lIns="91440" bIns="45720" rIns="91440">
            <a:spAutoFit/>
          </a:bodyPr>
          <a:lstStyle/>
          <a:p>
            <a:pPr algn="l" marL="0">
              <a:lnSpc>
                <a:spcPct val="150000"/>
              </a:lnSpc>
              <a:defRPr/>
            </a:pPr>
            <a:r>
              <a:rPr lang="zh-CN" b="false" i="false" sz="1200" baseline="0" u="none" altLang="en-US">
                <a:solidFill>
                  <a:schemeClr val="tx1"/>
                </a:solidFill>
                <a:latin typeface="微软雅黑"/>
                <a:ea typeface="微软雅黑"/>
              </a:rPr>
              <a:t>实际场景中的排队算法常用队列模拟。不同优先级用户可能需要设计优先队列（基于堆实现）。队列长度、等待时间等指标可用于优化服务效率。</a:t>
            </a:r>
            <a:endParaRPr lang="en-US" sz="1100"/>
          </a:p>
        </p:txBody>
      </p:sp>
      <p:sp>
        <p:nvSpPr>
          <p:cNvPr name="Freeform 18" id="18"/>
          <p:cNvSpPr/>
          <p:nvPr/>
        </p:nvSpPr>
        <p:spPr>
          <a:xfrm flipV="true">
            <a:off x="0" y="-3205"/>
            <a:ext cx="12192000" cy="230049"/>
          </a:xfrm>
          <a:custGeom>
            <a:avLst/>
            <a:gdLst/>
            <a:ahLst/>
            <a:cxnLst/>
            <a:rect r="r" b="b" t="t" l="l"/>
            <a:pathLst>
              <a:path w="12192000" h="368971" stroke="true" fill="norm" extrusionOk="true">
                <a:moveTo>
                  <a:pt x="146784" y="0"/>
                </a:moveTo>
                <a:lnTo>
                  <a:pt x="12045216" y="0"/>
                </a:lnTo>
                <a:cubicBezTo>
                  <a:pt x="12126283" y="0"/>
                  <a:pt x="12192000" y="65717"/>
                  <a:pt x="12192000" y="146784"/>
                </a:cubicBezTo>
                <a:lnTo>
                  <a:pt x="12192000" y="368971"/>
                </a:lnTo>
                <a:lnTo>
                  <a:pt x="0" y="368971"/>
                </a:lnTo>
                <a:lnTo>
                  <a:pt x="0" y="146784"/>
                </a:lnTo>
                <a:cubicBezTo>
                  <a:pt x="0" y="65717"/>
                  <a:pt x="65717" y="0"/>
                  <a:pt x="146784" y="0"/>
                </a:cubicBezTo>
                <a:close/>
              </a:path>
            </a:pathLst>
          </a:custGeom>
          <a:solidFill>
            <a:schemeClr val="accent6">
              <a:lumMod val="75000"/>
            </a:schemeClr>
          </a:solidFill>
          <a:ln>
            <a:noFill/>
          </a:ln>
        </p:spPr>
        <p:txBody>
          <a:bodyPr vert="horz" anchor="ctr" wrap="square" tIns="45720" lIns="91440" bIns="45720" rIns="91440">
            <a:noAutofit/>
          </a:bodyPr>
          <a:p>
            <a:pPr algn="ctr" marL="0"/>
          </a:p>
        </p:txBody>
      </p:sp>
      <p:sp>
        <p:nvSpPr>
          <p:cNvPr name="Freeform 19" id="19"/>
          <p:cNvSpPr/>
          <p:nvPr/>
        </p:nvSpPr>
        <p:spPr>
          <a:xfrm>
            <a:off x="0" y="6638203"/>
            <a:ext cx="12192000" cy="230049"/>
          </a:xfrm>
          <a:custGeom>
            <a:avLst/>
            <a:gdLst/>
            <a:ahLst/>
            <a:cxnLst/>
            <a:rect r="r" b="b" t="t" l="l"/>
            <a:pathLst>
              <a:path w="12192000" h="368971" stroke="true" fill="norm" extrusionOk="true">
                <a:moveTo>
                  <a:pt x="146784" y="0"/>
                </a:moveTo>
                <a:lnTo>
                  <a:pt x="12045216" y="0"/>
                </a:lnTo>
                <a:cubicBezTo>
                  <a:pt x="12126283" y="0"/>
                  <a:pt x="12192000" y="65717"/>
                  <a:pt x="12192000" y="146784"/>
                </a:cubicBezTo>
                <a:lnTo>
                  <a:pt x="12192000" y="368971"/>
                </a:lnTo>
                <a:lnTo>
                  <a:pt x="0" y="368971"/>
                </a:lnTo>
                <a:lnTo>
                  <a:pt x="0" y="146784"/>
                </a:lnTo>
                <a:cubicBezTo>
                  <a:pt x="0" y="65717"/>
                  <a:pt x="65717" y="0"/>
                  <a:pt x="146784" y="0"/>
                </a:cubicBezTo>
                <a:close/>
              </a:path>
            </a:pathLst>
          </a:custGeom>
          <a:solidFill>
            <a:schemeClr val="accent6">
              <a:lumMod val="50000"/>
            </a:schemeClr>
          </a:solidFill>
          <a:ln>
            <a:noFill/>
          </a:ln>
        </p:spPr>
        <p:txBody>
          <a:bodyPr vert="horz" anchor="ctr" wrap="square" tIns="45720" lIns="91440" bIns="45720" rIns="91440">
            <a:noAutofit/>
          </a:bodyPr>
          <a:p>
            <a:pPr algn="ctr" marL="0"/>
          </a:p>
        </p:txBody>
      </p:sp>
      <p:sp>
        <p:nvSpPr>
          <p:cNvPr name="AutoShape 20" id="20"/>
          <p:cNvSpPr/>
          <p:nvPr/>
        </p:nvSpPr>
        <p:spPr>
          <a:xfrm>
            <a:off x="10795000" y="6540500"/>
            <a:ext cx="1270000" cy="190500"/>
          </a:xfrm>
          <a:prstGeom prst="rect">
            <a:avLst/>
          </a:prstGeom>
          <a:solidFill>
            <a:srgbClr val="000000">
              <a:alpha val="0"/>
            </a:srgbClr>
          </a:solidFill>
        </p:spPr>
        <p:txBody>
          <a:bodyPr anchor="t" rtlCol="false"/>
          <a:lstStyle/>
          <a:p>
            <a:pPr algn="r">
              <a:defRPr/>
            </a:pPr>
            <a:r>
              <a:rPr lang="en-US" b="false" i="false" sz="800" baseline="0" u="none">
                <a:solidFill>
                  <a:srgbClr val="808080"/>
                </a:solidFill>
                <a:latin typeface="Microsoft YaHei"/>
                <a:ea typeface="Microsoft YaHei"/>
              </a:rPr>
              <a:t>内容由AI生成</a:t>
            </a:r>
            <a:endParaRPr lang="en-US" sz="1100"/>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blipFill rotWithShape="true">
          <a:blip r:embed="rId2"/>
          <a:srcRect/>
          <a:stretch>
            <a:fillRect t="0" l="0" b="0" r="0"/>
          </a:stretch>
        </a:blipFill>
      </p:bgPr>
    </p:bg>
    <p:spTree>
      <p:nvGrpSpPr>
        <p:cNvPr id="1" name=""/>
        <p:cNvGrpSpPr/>
        <p:nvPr/>
      </p:nvGrpSpPr>
      <p:grpSpPr>
        <a:xfrm>
          <a:off x="0" y="0"/>
          <a:ext cx="0" cy="0"/>
          <a:chOff x="0" y="0"/>
          <a:chExt cx="0" cy="0"/>
        </a:xfrm>
      </p:grpSpPr>
      <p:sp>
        <p:nvSpPr>
          <p:cNvPr name="AutoShape 2" id="2"/>
          <p:cNvSpPr/>
          <p:nvPr/>
        </p:nvSpPr>
        <p:spPr>
          <a:xfrm>
            <a:off x="0" y="0"/>
            <a:ext cx="12192000" cy="6858000"/>
          </a:xfrm>
          <a:prstGeom prst="rect">
            <a:avLst/>
          </a:prstGeom>
          <a:gradFill rotWithShape="true" flip="none">
            <a:gsLst>
              <a:gs pos="0">
                <a:srgbClr val="0A854D"/>
              </a:gs>
              <a:gs pos="100000">
                <a:srgbClr val="318B49">
                  <a:alpha val="0"/>
                </a:srgbClr>
              </a:gs>
            </a:gsLst>
            <a:lin ang="5400000"/>
            <a:tileRect/>
          </a:gradFill>
          <a:ln>
            <a:noFill/>
          </a:ln>
        </p:spPr>
        <p:txBody>
          <a:bodyPr vert="horz" anchor="ctr" tIns="45720" lIns="91440" bIns="45720" rIns="91440"/>
          <a:p>
            <a:pPr algn="ctr" marL="0"/>
          </a:p>
        </p:txBody>
      </p:sp>
      <p:sp>
        <p:nvSpPr>
          <p:cNvPr name="TextBox 3" id="3"/>
          <p:cNvSpPr txBox="true"/>
          <p:nvPr/>
        </p:nvSpPr>
        <p:spPr>
          <a:xfrm>
            <a:off x="1665296" y="2971817"/>
            <a:ext cx="8861408" cy="830997"/>
          </a:xfrm>
          <a:prstGeom prst="rect">
            <a:avLst/>
          </a:prstGeom>
          <a:noFill/>
        </p:spPr>
        <p:txBody>
          <a:bodyPr anchor="t" rtlCol="false" vert="horz" wrap="square" tIns="45720" lIns="91440" bIns="45720" rIns="91440">
            <a:spAutoFit/>
          </a:bodyPr>
          <a:lstStyle/>
          <a:p>
            <a:pPr algn="ctr" marL="0">
              <a:defRPr/>
            </a:pPr>
            <a:r>
              <a:rPr lang="zh-CN" b="true" i="false" sz="4800" baseline="0" u="none" altLang="en-US">
                <a:solidFill>
                  <a:schemeClr val="bg1"/>
                </a:solidFill>
                <a:latin typeface="微软雅黑"/>
                <a:ea typeface="微软雅黑"/>
              </a:rPr>
              <a:t>树和二叉树</a:t>
            </a:r>
            <a:endParaRPr lang="en-US" sz="1100"/>
          </a:p>
        </p:txBody>
      </p:sp>
      <p:sp>
        <p:nvSpPr>
          <p:cNvPr name="Freeform 4" id="4"/>
          <p:cNvSpPr/>
          <p:nvPr/>
        </p:nvSpPr>
        <p:spPr>
          <a:xfrm>
            <a:off x="650240" y="893196"/>
            <a:ext cx="378355" cy="378355"/>
          </a:xfrm>
          <a:custGeom>
            <a:avLst/>
            <a:gdLst/>
            <a:ahLst/>
            <a:cxnLst/>
            <a:rect r="r" b="b" t="t" l="l"/>
            <a:pathLst>
              <a:path w="634790" h="634790" stroke="true" fill="norm" extrusionOk="true">
                <a:moveTo>
                  <a:pt x="268240" y="235406"/>
                </a:moveTo>
                <a:lnTo>
                  <a:pt x="268240" y="486178"/>
                </a:lnTo>
                <a:lnTo>
                  <a:pt x="368960" y="486178"/>
                </a:lnTo>
                <a:lnTo>
                  <a:pt x="368960" y="235406"/>
                </a:lnTo>
                <a:close/>
                <a:moveTo>
                  <a:pt x="319337" y="127942"/>
                </a:moveTo>
                <a:cubicBezTo>
                  <a:pt x="305602" y="127942"/>
                  <a:pt x="294063" y="132613"/>
                  <a:pt x="284721" y="141955"/>
                </a:cubicBezTo>
                <a:cubicBezTo>
                  <a:pt x="275379" y="151296"/>
                  <a:pt x="270709" y="162667"/>
                  <a:pt x="270709" y="176066"/>
                </a:cubicBezTo>
                <a:cubicBezTo>
                  <a:pt x="270709" y="189754"/>
                  <a:pt x="275391" y="201281"/>
                  <a:pt x="284757" y="210646"/>
                </a:cubicBezTo>
                <a:cubicBezTo>
                  <a:pt x="294122" y="220012"/>
                  <a:pt x="305649" y="224695"/>
                  <a:pt x="319337" y="224695"/>
                </a:cubicBezTo>
                <a:cubicBezTo>
                  <a:pt x="332973" y="224695"/>
                  <a:pt x="344487" y="219999"/>
                  <a:pt x="353878" y="210607"/>
                </a:cubicBezTo>
                <a:cubicBezTo>
                  <a:pt x="363270" y="201215"/>
                  <a:pt x="367966" y="189701"/>
                  <a:pt x="367966" y="176066"/>
                </a:cubicBezTo>
                <a:cubicBezTo>
                  <a:pt x="367966" y="162719"/>
                  <a:pt x="363282" y="151362"/>
                  <a:pt x="353914" y="141994"/>
                </a:cubicBezTo>
                <a:cubicBezTo>
                  <a:pt x="344546" y="132626"/>
                  <a:pt x="333020" y="127942"/>
                  <a:pt x="319337" y="127942"/>
                </a:cubicBezTo>
                <a:close/>
                <a:moveTo>
                  <a:pt x="317395" y="0"/>
                </a:moveTo>
                <a:cubicBezTo>
                  <a:pt x="492687" y="0"/>
                  <a:pt x="634790" y="142103"/>
                  <a:pt x="634790" y="317395"/>
                </a:cubicBezTo>
                <a:cubicBezTo>
                  <a:pt x="634790" y="492687"/>
                  <a:pt x="492687" y="634790"/>
                  <a:pt x="317395" y="634790"/>
                </a:cubicBezTo>
                <a:cubicBezTo>
                  <a:pt x="142103" y="634790"/>
                  <a:pt x="0" y="492687"/>
                  <a:pt x="0" y="317395"/>
                </a:cubicBezTo>
                <a:cubicBezTo>
                  <a:pt x="0" y="142103"/>
                  <a:pt x="142103" y="0"/>
                  <a:pt x="317395" y="0"/>
                </a:cubicBezTo>
                <a:close/>
              </a:path>
            </a:pathLst>
          </a:custGeom>
          <a:solidFill>
            <a:schemeClr val="bg1"/>
          </a:solidFill>
          <a:ln>
            <a:noFill/>
          </a:ln>
        </p:spPr>
        <p:txBody>
          <a:bodyPr vert="horz" anchor="ctr" wrap="square" tIns="45720" lIns="91440" bIns="45720" rIns="91440">
            <a:noAutofit/>
          </a:bodyPr>
          <a:p>
            <a:pPr algn="ctr" marL="0"/>
          </a:p>
        </p:txBody>
      </p:sp>
      <p:sp>
        <p:nvSpPr>
          <p:cNvPr name="TextBox 5" id="5"/>
          <p:cNvSpPr txBox="true"/>
          <p:nvPr/>
        </p:nvSpPr>
        <p:spPr>
          <a:xfrm>
            <a:off x="1051967" y="890172"/>
            <a:ext cx="2569777" cy="400110"/>
          </a:xfrm>
          <a:prstGeom prst="rect">
            <a:avLst/>
          </a:prstGeom>
          <a:noFill/>
        </p:spPr>
        <p:txBody>
          <a:bodyPr anchor="t" rtlCol="false" vert="horz" wrap="square" tIns="45720" lIns="91440" bIns="45720" rIns="91440">
            <a:spAutoFit/>
          </a:bodyPr>
          <a:lstStyle/>
          <a:p>
            <a:pPr algn="l" marL="0">
              <a:defRPr/>
            </a:pPr>
            <a:r>
              <a:rPr lang="en-US" b="true" i="false" sz="2000" baseline="0" u="none">
                <a:solidFill>
                  <a:schemeClr val="bg1"/>
                </a:solidFill>
                <a:latin typeface="微软雅黑"/>
                <a:ea typeface="微软雅黑"/>
              </a:rPr>
              <a:t>YOUR LOGO</a:t>
            </a:r>
            <a:endParaRPr lang="en-US" sz="1100"/>
          </a:p>
        </p:txBody>
      </p:sp>
      <p:sp>
        <p:nvSpPr>
          <p:cNvPr name="TextBox 6" id="6"/>
          <p:cNvSpPr txBox="true"/>
          <p:nvPr/>
        </p:nvSpPr>
        <p:spPr>
          <a:xfrm>
            <a:off x="4283777" y="4106376"/>
            <a:ext cx="3624446" cy="369332"/>
          </a:xfrm>
          <a:prstGeom prst="rect">
            <a:avLst/>
          </a:prstGeom>
          <a:noFill/>
        </p:spPr>
        <p:txBody>
          <a:bodyPr anchor="t" rtlCol="false" vert="horz" wrap="square" tIns="45720" lIns="91440" bIns="45720" rIns="91440">
            <a:spAutoFit/>
          </a:bodyPr>
          <a:lstStyle/>
          <a:p>
            <a:pPr algn="l" marL="0">
              <a:defRPr/>
            </a:pPr>
            <a:r>
              <a:rPr lang="en-US" b="false" i="false" sz="1800" baseline="0" u="none">
                <a:solidFill>
                  <a:schemeClr val="bg1"/>
                </a:solidFill>
                <a:latin typeface="微软雅黑"/>
                <a:ea typeface="微软雅黑"/>
              </a:rPr>
              <a:t>Power point design</a:t>
            </a:r>
            <a:endParaRPr lang="en-US" sz="1100"/>
          </a:p>
        </p:txBody>
      </p:sp>
      <p:cxnSp>
        <p:nvCxnSpPr>
          <p:cNvPr name="Connector 7" id="7"/>
          <p:cNvCxnSpPr/>
          <p:nvPr/>
        </p:nvCxnSpPr>
        <p:spPr>
          <a:xfrm>
            <a:off x="6647813" y="4291042"/>
            <a:ext cx="1260410" cy="0"/>
          </a:xfrm>
          <a:prstGeom prst="line">
            <a:avLst/>
          </a:prstGeom>
          <a:ln w="9525">
            <a:solidFill>
              <a:schemeClr val="bg1"/>
            </a:solidFill>
          </a:ln>
        </p:spPr>
      </p:cxnSp>
      <p:grpSp>
        <p:nvGrpSpPr>
          <p:cNvPr name="Group 8" id="8"/>
          <p:cNvGrpSpPr/>
          <p:nvPr/>
        </p:nvGrpSpPr>
        <p:grpSpPr>
          <a:xfrm>
            <a:off x="4682966" y="1963176"/>
            <a:ext cx="2826067" cy="858555"/>
            <a:chOff x="4263846" y="2243095"/>
            <a:chExt cx="2826067" cy="858555"/>
          </a:xfrm>
        </p:grpSpPr>
        <p:sp>
          <p:nvSpPr>
            <p:cNvPr name="TextBox 9" id="9"/>
            <p:cNvSpPr txBox="true"/>
            <p:nvPr/>
          </p:nvSpPr>
          <p:spPr>
            <a:xfrm>
              <a:off x="4263846" y="2270653"/>
              <a:ext cx="1988820" cy="830997"/>
            </a:xfrm>
            <a:prstGeom prst="rect">
              <a:avLst/>
            </a:prstGeom>
            <a:noFill/>
          </p:spPr>
          <p:txBody>
            <a:bodyPr anchor="t" rtlCol="false" vert="horz" wrap="square" tIns="45720" lIns="91440" bIns="45720" rIns="91440">
              <a:spAutoFit/>
            </a:bodyPr>
            <a:lstStyle/>
            <a:p>
              <a:pPr algn="l" marL="0">
                <a:defRPr/>
              </a:pPr>
              <a:r>
                <a:rPr lang="en-US" b="false" i="false" sz="4800" baseline="0" u="none">
                  <a:solidFill>
                    <a:schemeClr val="bg1"/>
                  </a:solidFill>
                  <a:latin typeface="微软雅黑"/>
                  <a:ea typeface="微软雅黑"/>
                </a:rPr>
                <a:t>PART</a:t>
              </a:r>
              <a:endParaRPr lang="en-US" sz="1100"/>
            </a:p>
          </p:txBody>
        </p:sp>
        <p:sp>
          <p:nvSpPr>
            <p:cNvPr name="TextBox 10" id="10"/>
            <p:cNvSpPr txBox="true"/>
            <p:nvPr/>
          </p:nvSpPr>
          <p:spPr>
            <a:xfrm>
              <a:off x="6008599" y="2243095"/>
              <a:ext cx="1081314" cy="830997"/>
            </a:xfrm>
            <a:prstGeom prst="rect">
              <a:avLst/>
            </a:prstGeom>
            <a:noFill/>
          </p:spPr>
          <p:txBody>
            <a:bodyPr anchor="t" rtlCol="false" vert="horz" wrap="square" tIns="45720" lIns="91440" bIns="45720" rIns="91440">
              <a:spAutoFit/>
            </a:bodyPr>
            <a:lstStyle/>
            <a:p>
              <a:pPr algn="l" marL="0">
                <a:defRPr/>
              </a:pPr>
              <a:r>
                <a:rPr lang="en-US" b="false" i="false" sz="4800" baseline="0" u="none">
                  <a:solidFill>
                    <a:schemeClr val="bg1"/>
                  </a:solidFill>
                  <a:latin typeface="微软雅黑"/>
                  <a:ea typeface="微软雅黑"/>
                </a:rPr>
                <a:t>04</a:t>
              </a:r>
              <a:endParaRPr lang="en-US" sz="1100"/>
            </a:p>
          </p:txBody>
        </p:sp>
      </p:grpSp>
      <p:sp>
        <p:nvSpPr>
          <p:cNvPr name="AutoShape 11" id="11"/>
          <p:cNvSpPr/>
          <p:nvPr/>
        </p:nvSpPr>
        <p:spPr>
          <a:xfrm>
            <a:off x="10795000" y="6540500"/>
            <a:ext cx="1270000" cy="190500"/>
          </a:xfrm>
          <a:prstGeom prst="rect">
            <a:avLst/>
          </a:prstGeom>
          <a:solidFill>
            <a:srgbClr val="000000">
              <a:alpha val="0"/>
            </a:srgbClr>
          </a:solidFill>
        </p:spPr>
        <p:txBody>
          <a:bodyPr anchor="t" rtlCol="false"/>
          <a:lstStyle/>
          <a:p>
            <a:pPr algn="r">
              <a:defRPr/>
            </a:pPr>
            <a:r>
              <a:rPr lang="en-US" b="false" i="false" sz="800" baseline="0" u="none">
                <a:solidFill>
                  <a:srgbClr val="808080"/>
                </a:solidFill>
                <a:latin typeface="Microsoft YaHei"/>
                <a:ea typeface="Microsoft YaHei"/>
              </a:rPr>
              <a:t>内容由AI生成</a:t>
            </a:r>
            <a:endParaRPr lang="en-US" sz="1100"/>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chemeClr val="bg1"/>
        </a:solidFill>
      </p:bgPr>
    </p:bg>
    <p:spTree>
      <p:nvGrpSpPr>
        <p:cNvPr id="1" name=""/>
        <p:cNvGrpSpPr/>
        <p:nvPr/>
      </p:nvGrpSpPr>
      <p:grpSpPr>
        <a:xfrm>
          <a:off x="0" y="0"/>
          <a:ext cx="0" cy="0"/>
          <a:chOff x="0" y="0"/>
          <a:chExt cx="0" cy="0"/>
        </a:xfrm>
      </p:grpSpPr>
      <p:sp>
        <p:nvSpPr>
          <p:cNvPr name="AutoShape 2" id="2"/>
          <p:cNvSpPr/>
          <p:nvPr/>
        </p:nvSpPr>
        <p:spPr>
          <a:xfrm>
            <a:off x="7699518" y="1914187"/>
            <a:ext cx="3193970" cy="4186396"/>
          </a:xfrm>
          <a:prstGeom prst="roundRect">
            <a:avLst>
              <a:gd name="adj" fmla="val 48"/>
            </a:avLst>
          </a:prstGeom>
          <a:blipFill>
            <a:blip r:embed="rId2"/>
            <a:stretch>
              <a:fillRect t="0" l="0" b="0" r="0"/>
            </a:stretch>
          </a:blipFill>
          <a:ln>
            <a:noFill/>
          </a:ln>
          <a:effectLst/>
        </p:spPr>
        <p:txBody>
          <a:bodyPr vert="horz" anchor="ctr" wrap="square" tIns="45720" lIns="91440" bIns="45720" rIns="91440">
            <a:noAutofit/>
          </a:bodyPr>
          <a:p>
            <a:pPr algn="ctr" marL="0"/>
          </a:p>
        </p:txBody>
      </p:sp>
      <p:sp>
        <p:nvSpPr>
          <p:cNvPr name="AutoShape 3" id="3"/>
          <p:cNvSpPr/>
          <p:nvPr/>
        </p:nvSpPr>
        <p:spPr>
          <a:xfrm>
            <a:off x="1228271" y="4773501"/>
            <a:ext cx="8084458" cy="1380527"/>
          </a:xfrm>
          <a:prstGeom prst="rect">
            <a:avLst/>
          </a:prstGeom>
          <a:solidFill>
            <a:srgbClr val="00680F"/>
          </a:solidFill>
          <a:ln>
            <a:noFill/>
          </a:ln>
        </p:spPr>
        <p:txBody>
          <a:bodyPr vert="horz" anchor="ctr" tIns="45720" lIns="91440" bIns="45720" rIns="91440"/>
          <a:p>
            <a:pPr algn="ctr" marL="0"/>
          </a:p>
        </p:txBody>
      </p:sp>
      <p:sp>
        <p:nvSpPr>
          <p:cNvPr name="TextBox 4" id="4"/>
          <p:cNvSpPr txBox="true"/>
          <p:nvPr/>
        </p:nvSpPr>
        <p:spPr>
          <a:xfrm>
            <a:off x="1050381" y="1914187"/>
            <a:ext cx="5370830" cy="337185"/>
          </a:xfrm>
          <a:prstGeom prst="rect">
            <a:avLst/>
          </a:prstGeom>
          <a:noFill/>
        </p:spPr>
        <p:txBody>
          <a:bodyPr anchor="t" rtlCol="false" vert="horz" wrap="square" tIns="45720" lIns="91440" bIns="45720" rIns="91440">
            <a:spAutoFit/>
          </a:bodyPr>
          <a:lstStyle/>
          <a:p>
            <a:pPr algn="l" marL="0">
              <a:defRPr/>
            </a:pPr>
            <a:r>
              <a:rPr lang="zh-CN" b="true" i="false" sz="1600" baseline="0" u="none" altLang="en-US">
                <a:solidFill>
                  <a:schemeClr val="tx1"/>
                </a:solidFill>
                <a:latin typeface="微软雅黑"/>
                <a:ea typeface="微软雅黑"/>
              </a:rPr>
              <a:t>树的基本概念</a:t>
            </a:r>
            <a:endParaRPr lang="en-US" sz="1100"/>
          </a:p>
        </p:txBody>
      </p:sp>
      <p:sp>
        <p:nvSpPr>
          <p:cNvPr name="TextBox 5" id="5"/>
          <p:cNvSpPr txBox="true"/>
          <p:nvPr/>
        </p:nvSpPr>
        <p:spPr>
          <a:xfrm>
            <a:off x="1050381" y="2251372"/>
            <a:ext cx="5743575" cy="953135"/>
          </a:xfrm>
          <a:prstGeom prst="rect">
            <a:avLst/>
          </a:prstGeom>
          <a:noFill/>
        </p:spPr>
        <p:txBody>
          <a:bodyPr anchor="t" rtlCol="false" vert="horz" wrap="square" tIns="45720" lIns="91440" bIns="45720" rIns="91440">
            <a:spAutoFit/>
          </a:bodyPr>
          <a:lstStyle/>
          <a:p>
            <a:pPr algn="l" marL="0">
              <a:defRPr/>
            </a:pPr>
            <a:r>
              <a:rPr lang="zh-CN" b="false" i="false" sz="1400" baseline="0" u="none" altLang="en-US">
                <a:solidFill>
                  <a:schemeClr val="tx1"/>
                </a:solidFill>
                <a:latin typeface="微软雅黑"/>
                <a:ea typeface="微软雅黑"/>
              </a:rPr>
              <a:t>树是n（n≥0）个节点的有限集合。当n=0时称为空树；任意非空树满足：有且仅有一个根节点；除根节点外，其余节点分为若干互不相交的子树。树是递归定义的结构。</a:t>
            </a:r>
            <a:endParaRPr lang="en-US" sz="1100"/>
          </a:p>
        </p:txBody>
      </p:sp>
      <p:sp>
        <p:nvSpPr>
          <p:cNvPr name="TextBox 6" id="6"/>
          <p:cNvSpPr txBox="true"/>
          <p:nvPr/>
        </p:nvSpPr>
        <p:spPr>
          <a:xfrm>
            <a:off x="1050381" y="3343844"/>
            <a:ext cx="5370830" cy="337185"/>
          </a:xfrm>
          <a:prstGeom prst="rect">
            <a:avLst/>
          </a:prstGeom>
          <a:noFill/>
        </p:spPr>
        <p:txBody>
          <a:bodyPr anchor="t" rtlCol="false" vert="horz" wrap="square" tIns="45720" lIns="91440" bIns="45720" rIns="91440">
            <a:spAutoFit/>
          </a:bodyPr>
          <a:lstStyle/>
          <a:p>
            <a:pPr algn="l" marL="0">
              <a:defRPr/>
            </a:pPr>
            <a:r>
              <a:rPr lang="zh-CN" b="true" i="false" sz="1600" baseline="0" u="none" altLang="en-US">
                <a:solidFill>
                  <a:schemeClr val="tx1"/>
                </a:solidFill>
                <a:latin typeface="微软雅黑"/>
                <a:ea typeface="微软雅黑"/>
              </a:rPr>
              <a:t>树的相关术语</a:t>
            </a:r>
            <a:endParaRPr lang="en-US" sz="1100"/>
          </a:p>
        </p:txBody>
      </p:sp>
      <p:sp>
        <p:nvSpPr>
          <p:cNvPr name="TextBox 7" id="7"/>
          <p:cNvSpPr txBox="true"/>
          <p:nvPr/>
        </p:nvSpPr>
        <p:spPr>
          <a:xfrm>
            <a:off x="1050381" y="3681029"/>
            <a:ext cx="5743575" cy="953135"/>
          </a:xfrm>
          <a:prstGeom prst="rect">
            <a:avLst/>
          </a:prstGeom>
          <a:noFill/>
        </p:spPr>
        <p:txBody>
          <a:bodyPr anchor="t" rtlCol="false" vert="horz" wrap="square" tIns="45720" lIns="91440" bIns="45720" rIns="91440">
            <a:spAutoFit/>
          </a:bodyPr>
          <a:lstStyle/>
          <a:p>
            <a:pPr algn="l" marL="0">
              <a:defRPr/>
            </a:pPr>
            <a:r>
              <a:rPr lang="zh-CN" b="false" i="false" sz="1400" baseline="0" u="none" altLang="en-US">
                <a:solidFill>
                  <a:schemeClr val="tx1"/>
                </a:solidFill>
                <a:latin typeface="微软雅黑"/>
                <a:ea typeface="微软雅黑"/>
              </a:rPr>
              <a:t>节点度：该节点拥有的子树个数；树的度：所有节点中的最大度；叶子节点：度为0的节点；内部节点：度大于0的节点。节点层次从根开始定义（根为第一层）；树的深度（高度）是节点最大层次。</a:t>
            </a:r>
            <a:endParaRPr lang="en-US" sz="1100"/>
          </a:p>
        </p:txBody>
      </p:sp>
      <p:sp>
        <p:nvSpPr>
          <p:cNvPr name="TextBox 8" id="8"/>
          <p:cNvSpPr txBox="true"/>
          <p:nvPr/>
        </p:nvSpPr>
        <p:spPr>
          <a:xfrm>
            <a:off x="1236753" y="4912838"/>
            <a:ext cx="5370830" cy="337185"/>
          </a:xfrm>
          <a:prstGeom prst="rect">
            <a:avLst/>
          </a:prstGeom>
          <a:noFill/>
        </p:spPr>
        <p:txBody>
          <a:bodyPr anchor="t" rtlCol="false" vert="horz" wrap="square" tIns="45720" lIns="91440" bIns="45720" rIns="91440">
            <a:spAutoFit/>
          </a:bodyPr>
          <a:lstStyle/>
          <a:p>
            <a:pPr algn="l" marL="0">
              <a:defRPr/>
            </a:pPr>
            <a:r>
              <a:rPr lang="zh-CN" b="true" i="false" sz="1600" baseline="0" u="none" altLang="en-US">
                <a:solidFill>
                  <a:schemeClr val="bg1"/>
                </a:solidFill>
                <a:latin typeface="微软雅黑"/>
                <a:ea typeface="微软雅黑"/>
              </a:rPr>
              <a:t>树与线性表对比</a:t>
            </a:r>
            <a:endParaRPr lang="en-US" sz="1100"/>
          </a:p>
        </p:txBody>
      </p:sp>
      <p:sp>
        <p:nvSpPr>
          <p:cNvPr name="TextBox 9" id="9"/>
          <p:cNvSpPr txBox="true"/>
          <p:nvPr/>
        </p:nvSpPr>
        <p:spPr>
          <a:xfrm>
            <a:off x="1236753" y="5305653"/>
            <a:ext cx="7982404" cy="738664"/>
          </a:xfrm>
          <a:prstGeom prst="rect">
            <a:avLst/>
          </a:prstGeom>
          <a:noFill/>
        </p:spPr>
        <p:txBody>
          <a:bodyPr anchor="t" rtlCol="false" vert="horz" wrap="square" tIns="45720" lIns="91440" bIns="45720" rIns="91440">
            <a:spAutoFit/>
          </a:bodyPr>
          <a:lstStyle/>
          <a:p>
            <a:pPr algn="l" marL="0">
              <a:defRPr/>
            </a:pPr>
            <a:r>
              <a:rPr lang="zh-CN" b="false" i="false" sz="1400" baseline="0" u="none" altLang="en-US">
                <a:solidFill>
                  <a:schemeClr val="bg1"/>
                </a:solidFill>
                <a:latin typeface="微软雅黑"/>
                <a:ea typeface="微软雅黑"/>
              </a:rPr>
              <a:t>树形结构元素之间存在一对多关系，而线性表是一对一；树能更自然地表示层次化数据（如文件系统、HTML DOM树）。存储上通常使用孩子兄弟表示法或双亲表示法。</a:t>
            </a:r>
            <a:endParaRPr lang="en-US" sz="1100"/>
          </a:p>
        </p:txBody>
      </p:sp>
      <p:sp>
        <p:nvSpPr>
          <p:cNvPr name="TextBox 10" id="10"/>
          <p:cNvSpPr txBox="true"/>
          <p:nvPr/>
        </p:nvSpPr>
        <p:spPr>
          <a:xfrm>
            <a:off x="1521997" y="544175"/>
            <a:ext cx="9148005" cy="480131"/>
          </a:xfrm>
          <a:prstGeom prst="rect">
            <a:avLst/>
          </a:prstGeom>
        </p:spPr>
        <p:txBody>
          <a:bodyPr anchor="ctr" rtlCol="false" vert="horz" wrap="square" tIns="45720" lIns="91440" bIns="45720" rIns="91440">
            <a:spAutoFit/>
          </a:bodyPr>
          <a:lstStyle/>
          <a:p>
            <a:pPr algn="ctr" marL="0">
              <a:lnSpc>
                <a:spcPct val="90000"/>
              </a:lnSpc>
              <a:spcBef>
                <a:spcPct val="0"/>
              </a:spcBef>
              <a:defRPr/>
            </a:pPr>
            <a:r>
              <a:rPr lang="zh-CN" b="true" i="false" sz="2800" baseline="0" u="none" altLang="en-US">
                <a:solidFill>
                  <a:srgbClr val="000000"/>
                </a:solidFill>
                <a:latin typeface="微软雅黑"/>
                <a:ea typeface="微软雅黑"/>
              </a:rPr>
              <a:t>树的定义与术语</a:t>
            </a:r>
            <a:endParaRPr lang="en-US" sz="1100"/>
          </a:p>
        </p:txBody>
      </p:sp>
      <p:sp>
        <p:nvSpPr>
          <p:cNvPr name="AutoShape 11" id="11"/>
          <p:cNvSpPr/>
          <p:nvPr/>
        </p:nvSpPr>
        <p:spPr>
          <a:xfrm>
            <a:off x="1369759" y="1344969"/>
            <a:ext cx="9690848" cy="155455"/>
          </a:xfrm>
          <a:prstGeom prst="round2SameRect">
            <a:avLst/>
          </a:prstGeom>
          <a:gradFill rotWithShape="true" flip="none">
            <a:gsLst>
              <a:gs pos="0">
                <a:schemeClr val="accent6">
                  <a:alpha val="0"/>
                  <a:lumMod val="75000"/>
                </a:schemeClr>
              </a:gs>
              <a:gs pos="55700">
                <a:schemeClr val="accent6">
                  <a:lumMod val="75000"/>
                </a:schemeClr>
              </a:gs>
              <a:gs pos="100000">
                <a:schemeClr val="accent6">
                  <a:alpha val="0"/>
                  <a:lumMod val="75000"/>
                </a:schemeClr>
              </a:gs>
            </a:gsLst>
            <a:lin ang="10800000"/>
            <a:tileRect/>
          </a:gradFill>
          <a:ln>
            <a:noFill/>
          </a:ln>
        </p:spPr>
        <p:txBody>
          <a:bodyPr vert="horz" anchor="ctr" tIns="45720" lIns="91440" bIns="45720" rIns="91440"/>
          <a:p>
            <a:pPr algn="ctr" marL="0"/>
          </a:p>
        </p:txBody>
      </p:sp>
      <p:sp>
        <p:nvSpPr>
          <p:cNvPr name="AutoShape 12" id="12"/>
          <p:cNvSpPr/>
          <p:nvPr/>
        </p:nvSpPr>
        <p:spPr>
          <a:xfrm>
            <a:off x="0" y="0"/>
            <a:ext cx="12192000" cy="6858000"/>
          </a:xfrm>
          <a:prstGeom prst="frame">
            <a:avLst>
              <a:gd name="adj1" fmla="val 2731"/>
            </a:avLst>
          </a:prstGeom>
          <a:solidFill>
            <a:srgbClr val="007448"/>
          </a:solidFill>
          <a:ln>
            <a:noFill/>
          </a:ln>
        </p:spPr>
        <p:txBody>
          <a:bodyPr vert="horz" anchor="ctr" tIns="45720" lIns="91440" bIns="45720" rIns="91440"/>
          <a:p>
            <a:pPr algn="ctr" marL="0"/>
          </a:p>
        </p:txBody>
      </p:sp>
      <p:sp>
        <p:nvSpPr>
          <p:cNvPr name="AutoShape 13" id="13"/>
          <p:cNvSpPr/>
          <p:nvPr/>
        </p:nvSpPr>
        <p:spPr>
          <a:xfrm>
            <a:off x="10795000" y="6540500"/>
            <a:ext cx="1270000" cy="190500"/>
          </a:xfrm>
          <a:prstGeom prst="rect">
            <a:avLst/>
          </a:prstGeom>
          <a:solidFill>
            <a:srgbClr val="000000">
              <a:alpha val="0"/>
            </a:srgbClr>
          </a:solidFill>
        </p:spPr>
        <p:txBody>
          <a:bodyPr anchor="t" rtlCol="false"/>
          <a:lstStyle/>
          <a:p>
            <a:pPr algn="r">
              <a:defRPr/>
            </a:pPr>
            <a:r>
              <a:rPr lang="en-US" b="false" i="false" sz="800" baseline="0" u="none">
                <a:solidFill>
                  <a:srgbClr val="808080"/>
                </a:solidFill>
                <a:latin typeface="Microsoft YaHei"/>
                <a:ea typeface="Microsoft YaHei"/>
              </a:rPr>
              <a:t>内容由AI生成</a:t>
            </a:r>
            <a:endParaRPr lang="en-US" sz="1100"/>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chemeClr val="bg1"/>
        </a:solidFill>
      </p:bgPr>
    </p:bg>
    <p:spTree>
      <p:nvGrpSpPr>
        <p:cNvPr id="1" name=""/>
        <p:cNvGrpSpPr/>
        <p:nvPr/>
      </p:nvGrpSpPr>
      <p:grpSpPr>
        <a:xfrm>
          <a:off x="0" y="0"/>
          <a:ext cx="0" cy="0"/>
          <a:chOff x="0" y="0"/>
          <a:chExt cx="0" cy="0"/>
        </a:xfrm>
      </p:grpSpPr>
      <p:sp>
        <p:nvSpPr>
          <p:cNvPr name="AutoShape 2" id="2"/>
          <p:cNvSpPr/>
          <p:nvPr>
            <p:ph type="body" sz="quarter" idx="4294967295"/>
          </p:nvPr>
        </p:nvSpPr>
        <p:spPr>
          <a:xfrm>
            <a:off x="6343378" y="1136894"/>
            <a:ext cx="5164367" cy="954107"/>
          </a:xfrm>
        </p:spPr>
        <p:txBody>
          <a:bodyPr vert="horz" anchor="t" wrap="square" tIns="45720" lIns="91440" bIns="45720" rIns="91440">
            <a:spAutoFit/>
          </a:bodyPr>
          <a:p>
            <a:pPr algn="l" indent="0" marL="0">
              <a:lnSpc>
                <a:spcPct val="90000"/>
              </a:lnSpc>
              <a:spcBef>
                <a:spcPts val="1000"/>
              </a:spcBef>
            </a:pPr>
            <a:r>
              <a:rPr lang="zh-CN" b="true" i="false" sz="2800" baseline="0" u="none" altLang="en-US">
                <a:solidFill>
                  <a:schemeClr val="tx1"/>
                </a:solidFill>
                <a:latin typeface="微软雅黑"/>
                <a:ea typeface="微软雅黑"/>
              </a:rPr>
              <a:t>二叉树定义与性质</a:t>
            </a:r>
          </a:p>
        </p:txBody>
      </p:sp>
      <p:sp>
        <p:nvSpPr>
          <p:cNvPr name="AutoShape 3" id="3"/>
          <p:cNvSpPr/>
          <p:nvPr/>
        </p:nvSpPr>
        <p:spPr>
          <a:xfrm flipH="true">
            <a:off x="1491780" y="2235444"/>
            <a:ext cx="2484000" cy="14400"/>
          </a:xfrm>
          <a:prstGeom prst="rect">
            <a:avLst/>
          </a:prstGeom>
          <a:gradFill>
            <a:gsLst>
              <a:gs pos="0">
                <a:srgbClr val="7ECEF4">
                  <a:alpha val="0"/>
                </a:srgbClr>
              </a:gs>
              <a:gs pos="100000">
                <a:srgbClr val="7ECEF4"/>
              </a:gs>
            </a:gsLst>
          </a:gradFill>
          <a:ln>
            <a:noFill/>
          </a:ln>
        </p:spPr>
        <p:txBody>
          <a:bodyPr vert="horz" anchor="ctr" tIns="45720" lIns="91440" bIns="45720" rIns="91440">
            <a:spAutoFit/>
          </a:bodyPr>
          <a:p>
            <a:pPr algn="ctr" marL="0"/>
          </a:p>
        </p:txBody>
      </p:sp>
      <p:sp>
        <p:nvSpPr>
          <p:cNvPr name="TextBox 4" id="4"/>
          <p:cNvSpPr txBox="true"/>
          <p:nvPr/>
        </p:nvSpPr>
        <p:spPr>
          <a:xfrm>
            <a:off x="977566" y="1723110"/>
            <a:ext cx="514214" cy="460704"/>
          </a:xfrm>
          <a:prstGeom prst="rect">
            <a:avLst/>
          </a:prstGeom>
          <a:noFill/>
        </p:spPr>
        <p:txBody>
          <a:bodyPr anchor="t" rtlCol="false" vert="horz" wrap="square" tIns="45720" lIns="91440" bIns="45720" rIns="91440">
            <a:spAutoFit/>
          </a:bodyPr>
          <a:lstStyle/>
          <a:p>
            <a:pPr algn="ctr" marL="0">
              <a:lnSpc>
                <a:spcPct val="150000"/>
              </a:lnSpc>
              <a:spcBef>
                <a:spcPct val="0"/>
              </a:spcBef>
              <a:defRPr/>
            </a:pPr>
            <a:r>
              <a:rPr lang="en-US" b="false" i="false" sz="1800" baseline="0" u="none">
                <a:solidFill>
                  <a:schemeClr val="tx1"/>
                </a:solidFill>
                <a:latin typeface="微软雅黑"/>
                <a:ea typeface="微软雅黑"/>
              </a:rPr>
              <a:t>01</a:t>
            </a:r>
            <a:endParaRPr lang="en-US" sz="1100"/>
          </a:p>
        </p:txBody>
      </p:sp>
      <p:sp>
        <p:nvSpPr>
          <p:cNvPr name="TextBox 5" id="5"/>
          <p:cNvSpPr txBox="true"/>
          <p:nvPr/>
        </p:nvSpPr>
        <p:spPr>
          <a:xfrm>
            <a:off x="1460515" y="1842411"/>
            <a:ext cx="2743200" cy="313932"/>
          </a:xfrm>
          <a:prstGeom prst="rect">
            <a:avLst/>
          </a:prstGeom>
          <a:noFill/>
        </p:spPr>
        <p:txBody>
          <a:bodyPr anchor="b" rtlCol="false" vert="horz" wrap="square" tIns="45720" lIns="91440" bIns="45720" rIns="91440">
            <a:spAutoFit/>
          </a:bodyPr>
          <a:lstStyle/>
          <a:p>
            <a:pPr algn="l" marL="0">
              <a:lnSpc>
                <a:spcPct val="90000"/>
              </a:lnSpc>
              <a:spcBef>
                <a:spcPct val="0"/>
              </a:spcBef>
              <a:defRPr/>
            </a:pPr>
            <a:r>
              <a:rPr lang="zh-CN" b="true" i="false" sz="1600" baseline="0" u="none" altLang="en-US">
                <a:solidFill>
                  <a:schemeClr val="tx1"/>
                </a:solidFill>
                <a:latin typeface="微软雅黑"/>
                <a:ea typeface="微软雅黑"/>
              </a:rPr>
              <a:t>二叉树的概念</a:t>
            </a:r>
            <a:endParaRPr lang="en-US" sz="1100"/>
          </a:p>
        </p:txBody>
      </p:sp>
      <p:sp>
        <p:nvSpPr>
          <p:cNvPr name="TextBox 6" id="6"/>
          <p:cNvSpPr txBox="true"/>
          <p:nvPr/>
        </p:nvSpPr>
        <p:spPr>
          <a:xfrm>
            <a:off x="977566" y="4377323"/>
            <a:ext cx="2914696" cy="1710690"/>
          </a:xfrm>
          <a:prstGeom prst="rect">
            <a:avLst/>
          </a:prstGeom>
          <a:noFill/>
        </p:spPr>
        <p:txBody>
          <a:bodyPr anchor="t" rtlCol="false" vert="horz" wrap="square" tIns="45720" lIns="91440" bIns="45720" rIns="91440">
            <a:spAutoFit/>
          </a:bodyPr>
          <a:lstStyle/>
          <a:p>
            <a:pPr algn="l" marL="0">
              <a:lnSpc>
                <a:spcPct val="150000"/>
              </a:lnSpc>
              <a:spcBef>
                <a:spcPct val="0"/>
              </a:spcBef>
              <a:defRPr/>
            </a:pPr>
            <a:r>
              <a:rPr lang="zh-CN" b="false" i="false" sz="1400" baseline="0" u="none" altLang="en-US">
                <a:solidFill>
                  <a:schemeClr val="tx1"/>
                </a:solidFill>
                <a:latin typeface="微软雅黑"/>
                <a:ea typeface="微软雅黑"/>
              </a:rPr>
              <a:t>二叉树是每个节点最多有两棵子树的树结构，子树有左右之分。二叉树是树的特例，也是研究树的基础。满二叉树：所有层节点数达到最大；完全二叉树：除最后一层外全满，且最后一层节点从左到右排列。</a:t>
            </a:r>
            <a:endParaRPr lang="en-US" sz="1100"/>
          </a:p>
        </p:txBody>
      </p:sp>
      <p:sp>
        <p:nvSpPr>
          <p:cNvPr name="AutoShape 7" id="7"/>
          <p:cNvSpPr/>
          <p:nvPr/>
        </p:nvSpPr>
        <p:spPr>
          <a:xfrm>
            <a:off x="1035686" y="2376863"/>
            <a:ext cx="2848303" cy="1834308"/>
          </a:xfrm>
          <a:prstGeom prst="rect">
            <a:avLst/>
          </a:prstGeom>
          <a:blipFill>
            <a:blip r:embed="rId2"/>
            <a:stretch>
              <a:fillRect t="0" l="0" b="0" r="0"/>
            </a:stretch>
          </a:blipFill>
          <a:ln>
            <a:noFill/>
          </a:ln>
        </p:spPr>
        <p:txBody>
          <a:bodyPr vert="horz" anchor="ctr" tIns="45720" lIns="91440" bIns="45720" rIns="91440">
            <a:spAutoFit/>
          </a:bodyPr>
          <a:p>
            <a:pPr algn="ctr" marL="0"/>
          </a:p>
        </p:txBody>
      </p:sp>
      <p:sp>
        <p:nvSpPr>
          <p:cNvPr name="AutoShape 8" id="8"/>
          <p:cNvSpPr/>
          <p:nvPr/>
        </p:nvSpPr>
        <p:spPr>
          <a:xfrm flipH="true">
            <a:off x="5127942" y="2235444"/>
            <a:ext cx="2484000" cy="14400"/>
          </a:xfrm>
          <a:prstGeom prst="rect">
            <a:avLst/>
          </a:prstGeom>
          <a:gradFill>
            <a:gsLst>
              <a:gs pos="0">
                <a:srgbClr val="7ECEF4">
                  <a:alpha val="0"/>
                </a:srgbClr>
              </a:gs>
              <a:gs pos="100000">
                <a:srgbClr val="7ECEF4"/>
              </a:gs>
            </a:gsLst>
          </a:gradFill>
          <a:ln>
            <a:noFill/>
          </a:ln>
        </p:spPr>
        <p:txBody>
          <a:bodyPr vert="horz" anchor="ctr" tIns="45720" lIns="91440" bIns="45720" rIns="91440">
            <a:spAutoFit/>
          </a:bodyPr>
          <a:p>
            <a:pPr algn="ctr" marL="0"/>
          </a:p>
        </p:txBody>
      </p:sp>
      <p:sp>
        <p:nvSpPr>
          <p:cNvPr name="TextBox 9" id="9"/>
          <p:cNvSpPr txBox="true"/>
          <p:nvPr/>
        </p:nvSpPr>
        <p:spPr>
          <a:xfrm>
            <a:off x="4613728" y="1723110"/>
            <a:ext cx="514214" cy="460704"/>
          </a:xfrm>
          <a:prstGeom prst="rect">
            <a:avLst/>
          </a:prstGeom>
          <a:noFill/>
        </p:spPr>
        <p:txBody>
          <a:bodyPr anchor="t" rtlCol="false" vert="horz" wrap="square" tIns="45720" lIns="91440" bIns="45720" rIns="91440">
            <a:spAutoFit/>
          </a:bodyPr>
          <a:lstStyle/>
          <a:p>
            <a:pPr algn="ctr" marL="0">
              <a:lnSpc>
                <a:spcPct val="150000"/>
              </a:lnSpc>
              <a:spcBef>
                <a:spcPct val="0"/>
              </a:spcBef>
              <a:defRPr/>
            </a:pPr>
            <a:r>
              <a:rPr lang="en-US" b="false" i="false" sz="1800" baseline="0" u="none">
                <a:solidFill>
                  <a:schemeClr val="tx1"/>
                </a:solidFill>
                <a:latin typeface="微软雅黑"/>
                <a:ea typeface="微软雅黑"/>
              </a:rPr>
              <a:t>02</a:t>
            </a:r>
            <a:endParaRPr lang="en-US" sz="1100"/>
          </a:p>
        </p:txBody>
      </p:sp>
      <p:sp>
        <p:nvSpPr>
          <p:cNvPr name="TextBox 10" id="10"/>
          <p:cNvSpPr txBox="true"/>
          <p:nvPr/>
        </p:nvSpPr>
        <p:spPr>
          <a:xfrm>
            <a:off x="5096677" y="1842411"/>
            <a:ext cx="2743200" cy="313932"/>
          </a:xfrm>
          <a:prstGeom prst="rect">
            <a:avLst/>
          </a:prstGeom>
          <a:noFill/>
        </p:spPr>
        <p:txBody>
          <a:bodyPr anchor="b" rtlCol="false" vert="horz" wrap="square" tIns="45720" lIns="91440" bIns="45720" rIns="91440">
            <a:spAutoFit/>
          </a:bodyPr>
          <a:lstStyle/>
          <a:p>
            <a:pPr algn="l" marL="0">
              <a:lnSpc>
                <a:spcPct val="90000"/>
              </a:lnSpc>
              <a:spcBef>
                <a:spcPct val="0"/>
              </a:spcBef>
              <a:defRPr/>
            </a:pPr>
            <a:r>
              <a:rPr lang="zh-CN" b="true" i="false" sz="1600" baseline="0" u="none" altLang="en-US">
                <a:solidFill>
                  <a:schemeClr val="tx1"/>
                </a:solidFill>
                <a:latin typeface="微软雅黑"/>
                <a:ea typeface="微软雅黑"/>
              </a:rPr>
              <a:t>二叉树主要性质</a:t>
            </a:r>
            <a:endParaRPr lang="en-US" sz="1100"/>
          </a:p>
        </p:txBody>
      </p:sp>
      <p:sp>
        <p:nvSpPr>
          <p:cNvPr name="TextBox 11" id="11"/>
          <p:cNvSpPr txBox="true"/>
          <p:nvPr/>
        </p:nvSpPr>
        <p:spPr>
          <a:xfrm>
            <a:off x="4605857" y="4377323"/>
            <a:ext cx="2914696" cy="1710690"/>
          </a:xfrm>
          <a:prstGeom prst="rect">
            <a:avLst/>
          </a:prstGeom>
          <a:noFill/>
        </p:spPr>
        <p:txBody>
          <a:bodyPr anchor="t" rtlCol="false" vert="horz" wrap="square" tIns="45720" lIns="91440" bIns="45720" rIns="91440">
            <a:spAutoFit/>
          </a:bodyPr>
          <a:lstStyle/>
          <a:p>
            <a:pPr algn="l" marL="0">
              <a:lnSpc>
                <a:spcPct val="150000"/>
              </a:lnSpc>
              <a:spcBef>
                <a:spcPct val="0"/>
              </a:spcBef>
              <a:defRPr/>
            </a:pPr>
            <a:r>
              <a:rPr lang="zh-CN" b="false" i="false" sz="1400" baseline="0" u="none" altLang="en-US">
                <a:solidFill>
                  <a:schemeClr val="tx1"/>
                </a:solidFill>
                <a:latin typeface="微软雅黑"/>
                <a:ea typeface="微软雅黑"/>
              </a:rPr>
              <a:t>性质1：第i层最多有2^(i-1)个节点；性质2：深度为k的二叉树最多有2^k -1个节点；性质3：对任意二叉树，叶子节点数=度为2的节点数+1；性质4：具有n个节点的完全二叉树深度为⌊log2n⌋+1。</a:t>
            </a:r>
            <a:endParaRPr lang="en-US" sz="1100"/>
          </a:p>
        </p:txBody>
      </p:sp>
      <p:sp>
        <p:nvSpPr>
          <p:cNvPr name="AutoShape 12" id="12"/>
          <p:cNvSpPr/>
          <p:nvPr/>
        </p:nvSpPr>
        <p:spPr>
          <a:xfrm>
            <a:off x="4663977" y="2376863"/>
            <a:ext cx="2848303" cy="1834308"/>
          </a:xfrm>
          <a:prstGeom prst="rect">
            <a:avLst/>
          </a:prstGeom>
          <a:blipFill>
            <a:blip r:embed="rId3"/>
            <a:stretch>
              <a:fillRect t="0" l="0" b="0" r="0"/>
            </a:stretch>
          </a:blipFill>
          <a:ln>
            <a:noFill/>
          </a:ln>
        </p:spPr>
        <p:txBody>
          <a:bodyPr vert="horz" anchor="ctr" tIns="45720" lIns="91440" bIns="45720" rIns="91440">
            <a:spAutoFit/>
          </a:bodyPr>
          <a:p>
            <a:pPr algn="ctr" marL="0"/>
          </a:p>
        </p:txBody>
      </p:sp>
      <p:sp>
        <p:nvSpPr>
          <p:cNvPr name="AutoShape 13" id="13"/>
          <p:cNvSpPr/>
          <p:nvPr/>
        </p:nvSpPr>
        <p:spPr>
          <a:xfrm flipH="true">
            <a:off x="8748362" y="2235444"/>
            <a:ext cx="2484000" cy="14400"/>
          </a:xfrm>
          <a:prstGeom prst="rect">
            <a:avLst/>
          </a:prstGeom>
          <a:gradFill>
            <a:gsLst>
              <a:gs pos="0">
                <a:srgbClr val="7ECEF4">
                  <a:alpha val="0"/>
                </a:srgbClr>
              </a:gs>
              <a:gs pos="100000">
                <a:srgbClr val="7ECEF4"/>
              </a:gs>
            </a:gsLst>
          </a:gradFill>
          <a:ln>
            <a:noFill/>
          </a:ln>
        </p:spPr>
        <p:txBody>
          <a:bodyPr vert="horz" anchor="ctr" tIns="45720" lIns="91440" bIns="45720" rIns="91440">
            <a:spAutoFit/>
          </a:bodyPr>
          <a:p>
            <a:pPr algn="ctr" marL="0"/>
          </a:p>
        </p:txBody>
      </p:sp>
      <p:sp>
        <p:nvSpPr>
          <p:cNvPr name="TextBox 14" id="14"/>
          <p:cNvSpPr txBox="true"/>
          <p:nvPr/>
        </p:nvSpPr>
        <p:spPr>
          <a:xfrm>
            <a:off x="8234148" y="1723110"/>
            <a:ext cx="514214" cy="460704"/>
          </a:xfrm>
          <a:prstGeom prst="rect">
            <a:avLst/>
          </a:prstGeom>
          <a:noFill/>
        </p:spPr>
        <p:txBody>
          <a:bodyPr anchor="t" rtlCol="false" vert="horz" wrap="square" tIns="45720" lIns="91440" bIns="45720" rIns="91440">
            <a:spAutoFit/>
          </a:bodyPr>
          <a:lstStyle/>
          <a:p>
            <a:pPr algn="ctr" marL="0">
              <a:lnSpc>
                <a:spcPct val="150000"/>
              </a:lnSpc>
              <a:spcBef>
                <a:spcPct val="0"/>
              </a:spcBef>
              <a:defRPr/>
            </a:pPr>
            <a:r>
              <a:rPr lang="en-US" b="false" i="false" sz="1800" baseline="0" u="none">
                <a:solidFill>
                  <a:schemeClr val="tx1"/>
                </a:solidFill>
                <a:latin typeface="微软雅黑"/>
                <a:ea typeface="微软雅黑"/>
              </a:rPr>
              <a:t>03</a:t>
            </a:r>
            <a:endParaRPr lang="en-US" sz="1100"/>
          </a:p>
        </p:txBody>
      </p:sp>
      <p:sp>
        <p:nvSpPr>
          <p:cNvPr name="TextBox 15" id="15"/>
          <p:cNvSpPr txBox="true"/>
          <p:nvPr/>
        </p:nvSpPr>
        <p:spPr>
          <a:xfrm>
            <a:off x="8717097" y="1842411"/>
            <a:ext cx="2743200" cy="313932"/>
          </a:xfrm>
          <a:prstGeom prst="rect">
            <a:avLst/>
          </a:prstGeom>
          <a:noFill/>
        </p:spPr>
        <p:txBody>
          <a:bodyPr anchor="b" rtlCol="false" vert="horz" wrap="square" tIns="45720" lIns="91440" bIns="45720" rIns="91440">
            <a:spAutoFit/>
          </a:bodyPr>
          <a:lstStyle/>
          <a:p>
            <a:pPr algn="l" marL="0">
              <a:lnSpc>
                <a:spcPct val="90000"/>
              </a:lnSpc>
              <a:spcBef>
                <a:spcPct val="0"/>
              </a:spcBef>
              <a:defRPr/>
            </a:pPr>
            <a:r>
              <a:rPr lang="zh-CN" b="true" i="false" sz="1600" baseline="0" u="none" altLang="en-US">
                <a:solidFill>
                  <a:schemeClr val="tx1"/>
                </a:solidFill>
                <a:latin typeface="微软雅黑"/>
                <a:ea typeface="微软雅黑"/>
              </a:rPr>
              <a:t>二叉树的存储结构</a:t>
            </a:r>
            <a:endParaRPr lang="en-US" sz="1100"/>
          </a:p>
        </p:txBody>
      </p:sp>
      <p:sp>
        <p:nvSpPr>
          <p:cNvPr name="TextBox 16" id="16"/>
          <p:cNvSpPr txBox="true"/>
          <p:nvPr/>
        </p:nvSpPr>
        <p:spPr>
          <a:xfrm>
            <a:off x="8234148" y="4377323"/>
            <a:ext cx="2914696" cy="1348382"/>
          </a:xfrm>
          <a:prstGeom prst="rect">
            <a:avLst/>
          </a:prstGeom>
          <a:noFill/>
        </p:spPr>
        <p:txBody>
          <a:bodyPr anchor="t" rtlCol="false" vert="horz" wrap="square" tIns="45720" lIns="91440" bIns="45720" rIns="91440">
            <a:spAutoFit/>
          </a:bodyPr>
          <a:lstStyle/>
          <a:p>
            <a:pPr algn="l" marL="0">
              <a:lnSpc>
                <a:spcPct val="150000"/>
              </a:lnSpc>
              <a:spcBef>
                <a:spcPct val="0"/>
              </a:spcBef>
              <a:defRPr/>
            </a:pPr>
            <a:r>
              <a:rPr lang="zh-CN" b="false" i="false" sz="1400" baseline="0" u="none" altLang="en-US">
                <a:solidFill>
                  <a:schemeClr val="tx1"/>
                </a:solidFill>
                <a:latin typeface="微软雅黑"/>
                <a:ea typeface="微软雅黑"/>
              </a:rPr>
              <a:t>顺序存储：用数组存放完全二叉树节点，下标关系可反映父子关系，但普通二叉树会造成空间浪费；链式存储：每个节点包含数据域、左孩子指针和右孩子指针，是最常用的存储方式。</a:t>
            </a:r>
            <a:endParaRPr lang="en-US" sz="1100"/>
          </a:p>
        </p:txBody>
      </p:sp>
      <p:sp>
        <p:nvSpPr>
          <p:cNvPr name="AutoShape 17" id="17"/>
          <p:cNvSpPr/>
          <p:nvPr/>
        </p:nvSpPr>
        <p:spPr>
          <a:xfrm>
            <a:off x="8292268" y="2376863"/>
            <a:ext cx="2848303" cy="1834308"/>
          </a:xfrm>
          <a:prstGeom prst="rect">
            <a:avLst/>
          </a:prstGeom>
          <a:blipFill>
            <a:blip r:embed="rId4"/>
            <a:stretch>
              <a:fillRect t="0" l="0" b="0" r="0"/>
            </a:stretch>
          </a:blipFill>
          <a:ln>
            <a:noFill/>
          </a:ln>
        </p:spPr>
        <p:txBody>
          <a:bodyPr vert="horz" anchor="ctr" tIns="45720" lIns="91440" bIns="45720" rIns="91440">
            <a:spAutoFit/>
          </a:bodyPr>
          <a:p>
            <a:pPr algn="ctr" marL="0"/>
          </a:p>
        </p:txBody>
      </p:sp>
      <p:sp>
        <p:nvSpPr>
          <p:cNvPr name="AutoShape 18" id="18"/>
          <p:cNvSpPr/>
          <p:nvPr/>
        </p:nvSpPr>
        <p:spPr>
          <a:xfrm>
            <a:off x="10795000" y="6540500"/>
            <a:ext cx="1270000" cy="190500"/>
          </a:xfrm>
          <a:prstGeom prst="rect">
            <a:avLst/>
          </a:prstGeom>
          <a:solidFill>
            <a:srgbClr val="000000">
              <a:alpha val="0"/>
            </a:srgbClr>
          </a:solidFill>
        </p:spPr>
        <p:txBody>
          <a:bodyPr anchor="t" rtlCol="false"/>
          <a:lstStyle/>
          <a:p>
            <a:pPr algn="r">
              <a:defRPr/>
            </a:pPr>
            <a:r>
              <a:rPr lang="en-US" b="false" i="false" sz="800" baseline="0" u="none">
                <a:solidFill>
                  <a:srgbClr val="808080"/>
                </a:solidFill>
                <a:latin typeface="Microsoft YaHei"/>
                <a:ea typeface="Microsoft YaHei"/>
              </a:rPr>
              <a:t>内容由AI生成</a:t>
            </a:r>
            <a:endParaRPr lang="en-US" sz="1100"/>
          </a:p>
        </p:txBody>
      </p:sp>
    </p:spTree>
  </p:cSld>
  <p:clrMapOvr>
    <a:masterClrMapping/>
  </p:clrMapOvr>
  <p:transition spd="fast"/>
</p:sld>
</file>

<file path=ppt/slides/slide20.xml><?xml version="1.0" encoding="utf-8"?>
<p:sld xmlns:p="http://schemas.openxmlformats.org/presentationml/2006/main" xmlns:a="http://schemas.openxmlformats.org/drawingml/2006/main" xmlns:r="http://schemas.openxmlformats.org/officeDocument/2006/relationships">
  <p:cSld>
    <p:bg>
      <p:bgPr>
        <a:solidFill>
          <a:schemeClr val="bg1"/>
        </a:solidFill>
      </p:bgPr>
    </p:bg>
    <p:spTree>
      <p:nvGrpSpPr>
        <p:cNvPr id="1" name=""/>
        <p:cNvGrpSpPr/>
        <p:nvPr/>
      </p:nvGrpSpPr>
      <p:grpSpPr>
        <a:xfrm>
          <a:off x="0" y="0"/>
          <a:ext cx="0" cy="0"/>
          <a:chOff x="0" y="0"/>
          <a:chExt cx="0" cy="0"/>
        </a:xfrm>
      </p:grpSpPr>
      <p:pic>
        <p:nvPicPr>
          <p:cNvPr name="image37.jpeg" id="2"/>
          <p:cNvPicPr>
            <a:picLocks noChangeAspect="true"/>
          </p:cNvPicPr>
          <p:nvPr/>
        </p:nvPicPr>
        <p:blipFill>
          <a:blip r:embed="rId2"/>
          <a:srcRect l="7004" r="7004"/>
          <a:stretch>
            <a:fillRect/>
          </a:stretch>
        </p:blipFill>
        <p:spPr>
          <a:xfrm>
            <a:off x="6705602" y="3772118"/>
            <a:ext cx="2549366" cy="2171494"/>
          </a:xfrm>
          <a:prstGeom prst="round2DiagRect">
            <a:avLst/>
          </a:prstGeom>
        </p:spPr>
      </p:pic>
      <p:pic>
        <p:nvPicPr>
          <p:cNvPr name="image38.jpeg" id="3"/>
          <p:cNvPicPr>
            <a:picLocks noChangeAspect="true"/>
          </p:cNvPicPr>
          <p:nvPr/>
        </p:nvPicPr>
        <p:blipFill>
          <a:blip r:embed="rId3"/>
          <a:srcRect t="21745" b="21745"/>
          <a:stretch>
            <a:fillRect/>
          </a:stretch>
        </p:blipFill>
        <p:spPr>
          <a:xfrm>
            <a:off x="9127352" y="1581574"/>
            <a:ext cx="2549366" cy="2171494"/>
          </a:xfrm>
          <a:prstGeom prst="round2DiagRect">
            <a:avLst/>
          </a:prstGeom>
        </p:spPr>
      </p:pic>
      <p:sp>
        <p:nvSpPr>
          <p:cNvPr name="AutoShape 4" id="4"/>
          <p:cNvSpPr/>
          <p:nvPr/>
        </p:nvSpPr>
        <p:spPr>
          <a:xfrm>
            <a:off x="6737513" y="1628642"/>
            <a:ext cx="2230312" cy="2012764"/>
          </a:xfrm>
          <a:prstGeom prst="round2DiagRect">
            <a:avLst>
              <a:gd name="adj1" fmla="val 0"/>
              <a:gd name="adj2" fmla="val 23177"/>
            </a:avLst>
          </a:prstGeom>
          <a:solidFill>
            <a:srgbClr val="008E58"/>
          </a:solidFill>
          <a:ln>
            <a:noFill/>
          </a:ln>
        </p:spPr>
        <p:txBody>
          <a:bodyPr vert="horz" anchor="ctr" tIns="45720" lIns="91440" bIns="45720" rIns="91440"/>
          <a:p>
            <a:pPr algn="ctr" marL="0"/>
          </a:p>
        </p:txBody>
      </p:sp>
      <p:sp>
        <p:nvSpPr>
          <p:cNvPr name="AutoShape 5" id="5"/>
          <p:cNvSpPr/>
          <p:nvPr/>
        </p:nvSpPr>
        <p:spPr>
          <a:xfrm>
            <a:off x="9446406" y="3899062"/>
            <a:ext cx="2230312" cy="2012764"/>
          </a:xfrm>
          <a:prstGeom prst="round2DiagRect">
            <a:avLst>
              <a:gd name="adj1" fmla="val 0"/>
              <a:gd name="adj2" fmla="val 25599"/>
            </a:avLst>
          </a:prstGeom>
          <a:solidFill>
            <a:srgbClr val="007448"/>
          </a:solidFill>
          <a:ln>
            <a:noFill/>
          </a:ln>
        </p:spPr>
        <p:txBody>
          <a:bodyPr vert="horz" anchor="ctr" tIns="45720" lIns="91440" bIns="45720" rIns="91440"/>
          <a:p>
            <a:pPr algn="ctr" marL="0"/>
          </a:p>
        </p:txBody>
      </p:sp>
      <p:sp>
        <p:nvSpPr>
          <p:cNvPr name="TextBox 6" id="6"/>
          <p:cNvSpPr txBox="true"/>
          <p:nvPr/>
        </p:nvSpPr>
        <p:spPr>
          <a:xfrm>
            <a:off x="381056" y="1722299"/>
            <a:ext cx="6156077" cy="646331"/>
          </a:xfrm>
          <a:prstGeom prst="rect">
            <a:avLst/>
          </a:prstGeom>
          <a:noFill/>
        </p:spPr>
        <p:txBody>
          <a:bodyPr anchor="t" rtlCol="false" vert="horz" wrap="square" tIns="45720" lIns="91440" bIns="45720" rIns="91440">
            <a:spAutoFit/>
          </a:bodyPr>
          <a:lstStyle/>
          <a:p>
            <a:pPr algn="l" marL="0">
              <a:defRPr/>
            </a:pPr>
            <a:r>
              <a:rPr lang="zh-CN" b="false" i="false" sz="1200" baseline="0" u="none" altLang="en-US">
                <a:solidFill>
                  <a:schemeClr val="tx1"/>
                </a:solidFill>
                <a:latin typeface="微软雅黑"/>
                <a:ea typeface="微软雅黑"/>
              </a:rPr>
              <a:t>访问顺序：根-&gt;左子树-&gt;右子树。递归实现：访问根节点，递归前序遍历左子树，递归前序遍历右子树。非递归实现需借助栈。前序遍历常用于复制二叉树。</a:t>
            </a:r>
            <a:endParaRPr lang="en-US" sz="1100"/>
          </a:p>
        </p:txBody>
      </p:sp>
      <p:sp>
        <p:nvSpPr>
          <p:cNvPr name="TextBox 7" id="7"/>
          <p:cNvSpPr txBox="true"/>
          <p:nvPr/>
        </p:nvSpPr>
        <p:spPr>
          <a:xfrm>
            <a:off x="381056" y="1338965"/>
            <a:ext cx="5860207" cy="307777"/>
          </a:xfrm>
          <a:prstGeom prst="rect">
            <a:avLst/>
          </a:prstGeom>
          <a:noFill/>
        </p:spPr>
        <p:txBody>
          <a:bodyPr anchor="t" rtlCol="false" vert="horz" wrap="square" tIns="45720" lIns="91440" bIns="45720" rIns="91440">
            <a:spAutoFit/>
          </a:bodyPr>
          <a:lstStyle/>
          <a:p>
            <a:pPr algn="l" marL="0">
              <a:defRPr/>
            </a:pPr>
            <a:r>
              <a:rPr lang="zh-CN" b="true" i="false" sz="1400" baseline="0" u="none" altLang="en-US">
                <a:solidFill>
                  <a:schemeClr val="tx1"/>
                </a:solidFill>
                <a:latin typeface="微软雅黑"/>
                <a:ea typeface="微软雅黑"/>
              </a:rPr>
              <a:t>前序遍历</a:t>
            </a:r>
            <a:endParaRPr lang="en-US" sz="1100"/>
          </a:p>
        </p:txBody>
      </p:sp>
      <p:sp>
        <p:nvSpPr>
          <p:cNvPr name="TextBox 8" id="8"/>
          <p:cNvSpPr txBox="true"/>
          <p:nvPr/>
        </p:nvSpPr>
        <p:spPr>
          <a:xfrm>
            <a:off x="381056" y="2991179"/>
            <a:ext cx="6156077" cy="646331"/>
          </a:xfrm>
          <a:prstGeom prst="rect">
            <a:avLst/>
          </a:prstGeom>
          <a:noFill/>
        </p:spPr>
        <p:txBody>
          <a:bodyPr anchor="t" rtlCol="false" vert="horz" wrap="square" tIns="45720" lIns="91440" bIns="45720" rIns="91440">
            <a:spAutoFit/>
          </a:bodyPr>
          <a:lstStyle/>
          <a:p>
            <a:pPr algn="l" marL="0">
              <a:defRPr/>
            </a:pPr>
            <a:r>
              <a:rPr lang="zh-CN" b="false" i="false" sz="1200" baseline="0" u="none" altLang="en-US">
                <a:solidFill>
                  <a:schemeClr val="tx1"/>
                </a:solidFill>
                <a:latin typeface="微软雅黑"/>
                <a:ea typeface="微软雅黑"/>
              </a:rPr>
              <a:t>访问顺序：左子树-&gt;根-&gt;右子树。递归实现：递归中序遍历左子树，访问根节点，递归中序遍历右子树。中序遍历二叉排序树可得到有序序列。</a:t>
            </a:r>
            <a:endParaRPr lang="en-US" sz="1100"/>
          </a:p>
        </p:txBody>
      </p:sp>
      <p:sp>
        <p:nvSpPr>
          <p:cNvPr name="TextBox 9" id="9"/>
          <p:cNvSpPr txBox="true"/>
          <p:nvPr/>
        </p:nvSpPr>
        <p:spPr>
          <a:xfrm>
            <a:off x="381056" y="2633769"/>
            <a:ext cx="5860207" cy="307777"/>
          </a:xfrm>
          <a:prstGeom prst="rect">
            <a:avLst/>
          </a:prstGeom>
          <a:noFill/>
        </p:spPr>
        <p:txBody>
          <a:bodyPr anchor="t" rtlCol="false" vert="horz" wrap="square" tIns="45720" lIns="91440" bIns="45720" rIns="91440">
            <a:spAutoFit/>
          </a:bodyPr>
          <a:lstStyle/>
          <a:p>
            <a:pPr algn="l" marL="0">
              <a:defRPr/>
            </a:pPr>
            <a:r>
              <a:rPr lang="zh-CN" b="true" i="false" sz="1400" baseline="0" u="none" altLang="en-US">
                <a:solidFill>
                  <a:schemeClr val="tx1"/>
                </a:solidFill>
                <a:latin typeface="微软雅黑"/>
                <a:ea typeface="微软雅黑"/>
              </a:rPr>
              <a:t>中序遍历</a:t>
            </a:r>
            <a:endParaRPr lang="en-US" sz="1100"/>
          </a:p>
        </p:txBody>
      </p:sp>
      <p:sp>
        <p:nvSpPr>
          <p:cNvPr name="TextBox 10" id="10"/>
          <p:cNvSpPr txBox="true"/>
          <p:nvPr/>
        </p:nvSpPr>
        <p:spPr>
          <a:xfrm>
            <a:off x="381056" y="4286141"/>
            <a:ext cx="6156077" cy="646331"/>
          </a:xfrm>
          <a:prstGeom prst="rect">
            <a:avLst/>
          </a:prstGeom>
          <a:noFill/>
        </p:spPr>
        <p:txBody>
          <a:bodyPr anchor="t" rtlCol="false" vert="horz" wrap="square" tIns="45720" lIns="91440" bIns="45720" rIns="91440">
            <a:spAutoFit/>
          </a:bodyPr>
          <a:lstStyle/>
          <a:p>
            <a:pPr algn="l" marL="0">
              <a:defRPr/>
            </a:pPr>
            <a:r>
              <a:rPr lang="zh-CN" b="false" i="false" sz="1200" baseline="0" u="none" altLang="en-US">
                <a:solidFill>
                  <a:schemeClr val="tx1"/>
                </a:solidFill>
                <a:latin typeface="微软雅黑"/>
                <a:ea typeface="微软雅黑"/>
              </a:rPr>
              <a:t>访问顺序：左子树-&gt;右子树-&gt;根。递归实现：递归后序遍历左子树，递归后序遍历右子树，访问根节点。后序遍历常用于释放二叉树节点（先释放孩子再释放根）。</a:t>
            </a:r>
            <a:endParaRPr lang="en-US" sz="1100"/>
          </a:p>
        </p:txBody>
      </p:sp>
      <p:sp>
        <p:nvSpPr>
          <p:cNvPr name="TextBox 11" id="11"/>
          <p:cNvSpPr txBox="true"/>
          <p:nvPr/>
        </p:nvSpPr>
        <p:spPr>
          <a:xfrm>
            <a:off x="381056" y="3899062"/>
            <a:ext cx="5860207" cy="307777"/>
          </a:xfrm>
          <a:prstGeom prst="rect">
            <a:avLst/>
          </a:prstGeom>
          <a:noFill/>
        </p:spPr>
        <p:txBody>
          <a:bodyPr anchor="t" rtlCol="false" vert="horz" wrap="square" tIns="45720" lIns="91440" bIns="45720" rIns="91440">
            <a:spAutoFit/>
          </a:bodyPr>
          <a:lstStyle/>
          <a:p>
            <a:pPr algn="l" marL="0">
              <a:defRPr/>
            </a:pPr>
            <a:r>
              <a:rPr lang="zh-CN" b="true" i="false" sz="1400" baseline="0" u="none" altLang="en-US">
                <a:solidFill>
                  <a:schemeClr val="tx1"/>
                </a:solidFill>
                <a:latin typeface="微软雅黑"/>
                <a:ea typeface="微软雅黑"/>
              </a:rPr>
              <a:t>后序遍历</a:t>
            </a:r>
            <a:endParaRPr lang="en-US" sz="1100"/>
          </a:p>
        </p:txBody>
      </p:sp>
      <p:pic>
        <p:nvPicPr>
          <p:cNvPr name="image39.png" id="12"/>
          <p:cNvPicPr>
            <a:picLocks noChangeAspect="true"/>
          </p:cNvPicPr>
          <p:nvPr/>
        </p:nvPicPr>
        <p:blipFill>
          <a:blip r:embed="rId4"/>
          <a:stretch>
            <a:fillRect t="0" l="0" b="0" r="0"/>
          </a:stretch>
        </p:blipFill>
        <p:spPr>
          <a:xfrm>
            <a:off x="7330276" y="2225948"/>
            <a:ext cx="921200" cy="921200"/>
          </a:xfrm>
          <a:prstGeom prst="rect">
            <a:avLst/>
          </a:prstGeom>
        </p:spPr>
      </p:pic>
      <p:pic>
        <p:nvPicPr>
          <p:cNvPr name="image40.png" id="13"/>
          <p:cNvPicPr>
            <a:picLocks noChangeAspect="true"/>
          </p:cNvPicPr>
          <p:nvPr/>
        </p:nvPicPr>
        <p:blipFill>
          <a:blip r:embed="rId5"/>
          <a:stretch>
            <a:fillRect t="0" l="0" b="0" r="0"/>
          </a:stretch>
        </p:blipFill>
        <p:spPr>
          <a:xfrm>
            <a:off x="9911553" y="4477318"/>
            <a:ext cx="921200" cy="921200"/>
          </a:xfrm>
          <a:prstGeom prst="rect">
            <a:avLst/>
          </a:prstGeom>
        </p:spPr>
      </p:pic>
      <p:sp>
        <p:nvSpPr>
          <p:cNvPr name="TextBox 14" id="14"/>
          <p:cNvSpPr txBox="true"/>
          <p:nvPr/>
        </p:nvSpPr>
        <p:spPr>
          <a:xfrm>
            <a:off x="381056" y="5583519"/>
            <a:ext cx="6156077" cy="646331"/>
          </a:xfrm>
          <a:prstGeom prst="rect">
            <a:avLst/>
          </a:prstGeom>
          <a:noFill/>
        </p:spPr>
        <p:txBody>
          <a:bodyPr anchor="t" rtlCol="false" vert="horz" wrap="square" tIns="45720" lIns="91440" bIns="45720" rIns="91440">
            <a:spAutoFit/>
          </a:bodyPr>
          <a:lstStyle/>
          <a:p>
            <a:pPr algn="l" marL="0">
              <a:defRPr/>
            </a:pPr>
            <a:r>
              <a:rPr lang="zh-CN" b="false" i="false" sz="1200" baseline="0" u="none" altLang="en-US">
                <a:solidFill>
                  <a:schemeClr val="tx1"/>
                </a:solidFill>
                <a:latin typeface="微软雅黑"/>
                <a:ea typeface="微软雅黑"/>
              </a:rPr>
              <a:t>按层次从上到下、从左到右依次访问。利用队列实现：根节点入队，循环取出队头节点并访问，将其左右孩子入队，直至队列为空。层序遍历可用于计算树宽度。</a:t>
            </a:r>
            <a:endParaRPr lang="en-US" sz="1100"/>
          </a:p>
        </p:txBody>
      </p:sp>
      <p:sp>
        <p:nvSpPr>
          <p:cNvPr name="TextBox 15" id="15"/>
          <p:cNvSpPr txBox="true"/>
          <p:nvPr/>
        </p:nvSpPr>
        <p:spPr>
          <a:xfrm>
            <a:off x="381056" y="5196440"/>
            <a:ext cx="5860207" cy="307777"/>
          </a:xfrm>
          <a:prstGeom prst="rect">
            <a:avLst/>
          </a:prstGeom>
          <a:noFill/>
        </p:spPr>
        <p:txBody>
          <a:bodyPr anchor="t" rtlCol="false" vert="horz" wrap="square" tIns="45720" lIns="91440" bIns="45720" rIns="91440">
            <a:spAutoFit/>
          </a:bodyPr>
          <a:lstStyle/>
          <a:p>
            <a:pPr algn="l" marL="0">
              <a:defRPr/>
            </a:pPr>
            <a:r>
              <a:rPr lang="zh-CN" b="true" i="false" sz="1400" baseline="0" u="none" altLang="en-US">
                <a:solidFill>
                  <a:schemeClr val="tx1"/>
                </a:solidFill>
                <a:latin typeface="微软雅黑"/>
                <a:ea typeface="微软雅黑"/>
              </a:rPr>
              <a:t>层序遍历</a:t>
            </a:r>
            <a:endParaRPr lang="en-US" sz="1100"/>
          </a:p>
        </p:txBody>
      </p:sp>
      <p:sp>
        <p:nvSpPr>
          <p:cNvPr name="TextBox 16" id="16"/>
          <p:cNvSpPr txBox="true"/>
          <p:nvPr/>
        </p:nvSpPr>
        <p:spPr>
          <a:xfrm>
            <a:off x="670718" y="552165"/>
            <a:ext cx="10850563" cy="480131"/>
          </a:xfrm>
          <a:prstGeom prst="rect">
            <a:avLst/>
          </a:prstGeom>
        </p:spPr>
        <p:txBody>
          <a:bodyPr anchor="ctr" rtlCol="false" vert="horz" tIns="45720" lIns="91440" bIns="45720" rIns="91440">
            <a:spAutoFit/>
          </a:bodyPr>
          <a:lstStyle/>
          <a:p>
            <a:pPr algn="ctr" marL="0">
              <a:lnSpc>
                <a:spcPct val="90000"/>
              </a:lnSpc>
              <a:spcBef>
                <a:spcPct val="0"/>
              </a:spcBef>
              <a:defRPr/>
            </a:pPr>
            <a:r>
              <a:rPr lang="zh-CN" b="true" i="false" sz="2800" baseline="0" u="none" altLang="en-US">
                <a:solidFill>
                  <a:srgbClr val="000000"/>
                </a:solidFill>
                <a:latin typeface="微软雅黑"/>
                <a:ea typeface="微软雅黑"/>
              </a:rPr>
              <a:t>二叉树的遍历</a:t>
            </a:r>
            <a:endParaRPr lang="en-US" sz="1100"/>
          </a:p>
        </p:txBody>
      </p:sp>
      <p:sp>
        <p:nvSpPr>
          <p:cNvPr name="AutoShape 17" id="17"/>
          <p:cNvSpPr/>
          <p:nvPr/>
        </p:nvSpPr>
        <p:spPr>
          <a:xfrm>
            <a:off x="0" y="0"/>
            <a:ext cx="12192000" cy="6858000"/>
          </a:xfrm>
          <a:prstGeom prst="frame">
            <a:avLst>
              <a:gd name="adj1" fmla="val 2731"/>
            </a:avLst>
          </a:prstGeom>
          <a:solidFill>
            <a:srgbClr val="00540C"/>
          </a:solidFill>
          <a:ln>
            <a:noFill/>
          </a:ln>
        </p:spPr>
        <p:txBody>
          <a:bodyPr vert="horz" anchor="ctr" tIns="45720" lIns="91440" bIns="45720" rIns="91440"/>
          <a:p>
            <a:pPr algn="ctr" marL="0"/>
          </a:p>
        </p:txBody>
      </p:sp>
      <p:sp>
        <p:nvSpPr>
          <p:cNvPr name="AutoShape 18" id="18"/>
          <p:cNvSpPr/>
          <p:nvPr/>
        </p:nvSpPr>
        <p:spPr>
          <a:xfrm>
            <a:off x="670718" y="687918"/>
            <a:ext cx="168202" cy="168202"/>
          </a:xfrm>
          <a:prstGeom prst="ellipse">
            <a:avLst/>
          </a:prstGeom>
          <a:solidFill>
            <a:schemeClr val="accent6">
              <a:lumMod val="60000"/>
              <a:lumOff val="40000"/>
            </a:schemeClr>
          </a:solidFill>
          <a:ln>
            <a:noFill/>
          </a:ln>
        </p:spPr>
        <p:txBody>
          <a:bodyPr vert="horz" anchor="ctr" tIns="45720" lIns="91440" bIns="45720" rIns="91440"/>
          <a:p>
            <a:pPr algn="ctr" marL="0"/>
          </a:p>
        </p:txBody>
      </p:sp>
      <p:sp>
        <p:nvSpPr>
          <p:cNvPr name="AutoShape 19" id="19"/>
          <p:cNvSpPr/>
          <p:nvPr/>
        </p:nvSpPr>
        <p:spPr>
          <a:xfrm>
            <a:off x="893628" y="682733"/>
            <a:ext cx="168202" cy="168202"/>
          </a:xfrm>
          <a:prstGeom prst="ellipse">
            <a:avLst/>
          </a:prstGeom>
          <a:solidFill>
            <a:schemeClr val="accent6">
              <a:lumMod val="75000"/>
            </a:schemeClr>
          </a:solidFill>
          <a:ln>
            <a:noFill/>
          </a:ln>
        </p:spPr>
        <p:txBody>
          <a:bodyPr vert="horz" anchor="ctr" tIns="45720" lIns="91440" bIns="45720" rIns="91440"/>
          <a:p>
            <a:pPr algn="ctr" marL="0"/>
          </a:p>
        </p:txBody>
      </p:sp>
      <p:sp>
        <p:nvSpPr>
          <p:cNvPr name="AutoShape 20" id="20"/>
          <p:cNvSpPr/>
          <p:nvPr/>
        </p:nvSpPr>
        <p:spPr>
          <a:xfrm>
            <a:off x="1116538" y="687918"/>
            <a:ext cx="168202" cy="168202"/>
          </a:xfrm>
          <a:prstGeom prst="ellipse">
            <a:avLst/>
          </a:prstGeom>
          <a:solidFill>
            <a:schemeClr val="accent6">
              <a:lumMod val="50000"/>
            </a:schemeClr>
          </a:solidFill>
          <a:ln>
            <a:noFill/>
          </a:ln>
        </p:spPr>
        <p:txBody>
          <a:bodyPr vert="horz" anchor="ctr" tIns="45720" lIns="91440" bIns="45720" rIns="91440"/>
          <a:p>
            <a:pPr algn="ctr" marL="0"/>
          </a:p>
        </p:txBody>
      </p:sp>
      <p:sp>
        <p:nvSpPr>
          <p:cNvPr name="AutoShape 21" id="21"/>
          <p:cNvSpPr/>
          <p:nvPr/>
        </p:nvSpPr>
        <p:spPr>
          <a:xfrm>
            <a:off x="1339448" y="687918"/>
            <a:ext cx="168202" cy="168202"/>
          </a:xfrm>
          <a:prstGeom prst="ellipse">
            <a:avLst/>
          </a:prstGeom>
          <a:solidFill>
            <a:srgbClr val="00540C"/>
          </a:solidFill>
          <a:ln>
            <a:noFill/>
          </a:ln>
        </p:spPr>
        <p:txBody>
          <a:bodyPr vert="horz" anchor="ctr" tIns="45720" lIns="91440" bIns="45720" rIns="91440"/>
          <a:p>
            <a:pPr algn="ctr" marL="0"/>
          </a:p>
        </p:txBody>
      </p:sp>
      <p:sp>
        <p:nvSpPr>
          <p:cNvPr name="AutoShape 22" id="22"/>
          <p:cNvSpPr/>
          <p:nvPr/>
        </p:nvSpPr>
        <p:spPr>
          <a:xfrm>
            <a:off x="10712170" y="682733"/>
            <a:ext cx="168202" cy="168202"/>
          </a:xfrm>
          <a:prstGeom prst="ellipse">
            <a:avLst/>
          </a:prstGeom>
          <a:solidFill>
            <a:schemeClr val="accent6">
              <a:lumMod val="60000"/>
              <a:lumOff val="40000"/>
            </a:schemeClr>
          </a:solidFill>
          <a:ln>
            <a:noFill/>
          </a:ln>
        </p:spPr>
        <p:txBody>
          <a:bodyPr vert="horz" anchor="ctr" tIns="45720" lIns="91440" bIns="45720" rIns="91440"/>
          <a:p>
            <a:pPr algn="ctr" marL="0"/>
          </a:p>
        </p:txBody>
      </p:sp>
      <p:sp>
        <p:nvSpPr>
          <p:cNvPr name="AutoShape 23" id="23"/>
          <p:cNvSpPr/>
          <p:nvPr/>
        </p:nvSpPr>
        <p:spPr>
          <a:xfrm>
            <a:off x="10935080" y="677548"/>
            <a:ext cx="168202" cy="168202"/>
          </a:xfrm>
          <a:prstGeom prst="ellipse">
            <a:avLst/>
          </a:prstGeom>
          <a:solidFill>
            <a:schemeClr val="accent6">
              <a:lumMod val="75000"/>
            </a:schemeClr>
          </a:solidFill>
          <a:ln>
            <a:noFill/>
          </a:ln>
        </p:spPr>
        <p:txBody>
          <a:bodyPr vert="horz" anchor="ctr" tIns="45720" lIns="91440" bIns="45720" rIns="91440"/>
          <a:p>
            <a:pPr algn="ctr" marL="0"/>
          </a:p>
        </p:txBody>
      </p:sp>
      <p:sp>
        <p:nvSpPr>
          <p:cNvPr name="AutoShape 24" id="24"/>
          <p:cNvSpPr/>
          <p:nvPr/>
        </p:nvSpPr>
        <p:spPr>
          <a:xfrm>
            <a:off x="11157990" y="682733"/>
            <a:ext cx="168202" cy="168202"/>
          </a:xfrm>
          <a:prstGeom prst="ellipse">
            <a:avLst/>
          </a:prstGeom>
          <a:solidFill>
            <a:schemeClr val="accent6">
              <a:lumMod val="50000"/>
            </a:schemeClr>
          </a:solidFill>
          <a:ln>
            <a:noFill/>
          </a:ln>
        </p:spPr>
        <p:txBody>
          <a:bodyPr vert="horz" anchor="ctr" tIns="45720" lIns="91440" bIns="45720" rIns="91440"/>
          <a:p>
            <a:pPr algn="ctr" marL="0"/>
          </a:p>
        </p:txBody>
      </p:sp>
      <p:sp>
        <p:nvSpPr>
          <p:cNvPr name="AutoShape 25" id="25"/>
          <p:cNvSpPr/>
          <p:nvPr/>
        </p:nvSpPr>
        <p:spPr>
          <a:xfrm>
            <a:off x="11380900" y="682733"/>
            <a:ext cx="168202" cy="168202"/>
          </a:xfrm>
          <a:prstGeom prst="ellipse">
            <a:avLst/>
          </a:prstGeom>
          <a:solidFill>
            <a:srgbClr val="00540C"/>
          </a:solidFill>
          <a:ln>
            <a:noFill/>
          </a:ln>
        </p:spPr>
        <p:txBody>
          <a:bodyPr vert="horz" anchor="ctr" tIns="45720" lIns="91440" bIns="45720" rIns="91440"/>
          <a:p>
            <a:pPr algn="ctr" marL="0"/>
          </a:p>
        </p:txBody>
      </p:sp>
      <p:sp>
        <p:nvSpPr>
          <p:cNvPr name="AutoShape 26" id="26"/>
          <p:cNvSpPr/>
          <p:nvPr/>
        </p:nvSpPr>
        <p:spPr>
          <a:xfrm>
            <a:off x="10795000" y="6540500"/>
            <a:ext cx="1270000" cy="190500"/>
          </a:xfrm>
          <a:prstGeom prst="rect">
            <a:avLst/>
          </a:prstGeom>
          <a:solidFill>
            <a:srgbClr val="000000">
              <a:alpha val="0"/>
            </a:srgbClr>
          </a:solidFill>
        </p:spPr>
        <p:txBody>
          <a:bodyPr anchor="t" rtlCol="false"/>
          <a:lstStyle/>
          <a:p>
            <a:pPr algn="r">
              <a:defRPr/>
            </a:pPr>
            <a:r>
              <a:rPr lang="en-US" b="false" i="false" sz="800" baseline="0" u="none">
                <a:solidFill>
                  <a:srgbClr val="808080"/>
                </a:solidFill>
                <a:latin typeface="Microsoft YaHei"/>
                <a:ea typeface="Microsoft YaHei"/>
              </a:rPr>
              <a:t>内容由AI生成</a:t>
            </a:r>
            <a:endParaRPr lang="en-US" sz="1100"/>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chemeClr val="bg1"/>
        </a:solidFill>
      </p:bgPr>
    </p:bg>
    <p:spTree>
      <p:nvGrpSpPr>
        <p:cNvPr id="1" name=""/>
        <p:cNvGrpSpPr/>
        <p:nvPr/>
      </p:nvGrpSpPr>
      <p:grpSpPr>
        <a:xfrm>
          <a:off x="0" y="0"/>
          <a:ext cx="0" cy="0"/>
          <a:chOff x="0" y="0"/>
          <a:chExt cx="0" cy="0"/>
        </a:xfrm>
      </p:grpSpPr>
      <p:sp>
        <p:nvSpPr>
          <p:cNvPr name="AutoShape 2" id="2"/>
          <p:cNvSpPr/>
          <p:nvPr>
            <p:ph type="title"/>
          </p:nvPr>
        </p:nvSpPr>
        <p:spPr>
          <a:xfrm>
            <a:off x="6343378" y="1136894"/>
            <a:ext cx="5164367" cy="954107"/>
          </a:xfrm>
        </p:spPr>
        <p:txBody>
          <a:bodyPr vert="horz" anchor="b" tIns="45720" lIns="91440" bIns="45720" rIns="91440">
            <a:normAutofit/>
          </a:bodyPr>
          <a:p>
            <a:pPr algn="l">
              <a:lnSpc>
                <a:spcPct val="90000"/>
              </a:lnSpc>
              <a:spcBef>
                <a:spcPct val="0"/>
              </a:spcBef>
            </a:pPr>
            <a:r>
              <a:rPr lang="zh-CN" b="true" i="false" sz="2800" baseline="0" u="none" altLang="en-US">
                <a:solidFill>
                  <a:schemeClr val="tx1"/>
                </a:solidFill>
                <a:latin typeface="微软雅黑"/>
                <a:ea typeface="微软雅黑"/>
              </a:rPr>
              <a:t>二叉排序树</a:t>
            </a:r>
          </a:p>
        </p:txBody>
      </p:sp>
      <p:sp>
        <p:nvSpPr>
          <p:cNvPr name="Freeform 3" id="3"/>
          <p:cNvSpPr/>
          <p:nvPr/>
        </p:nvSpPr>
        <p:spPr>
          <a:xfrm flipH="true">
            <a:off x="995491" y="1447758"/>
            <a:ext cx="2164442" cy="2126036"/>
          </a:xfrm>
          <a:custGeom>
            <a:avLst/>
            <a:gdLst/>
            <a:ahLst/>
            <a:cxnLst/>
            <a:rect r="r" b="b" t="t" l="l"/>
            <a:pathLst>
              <a:path w="1400" h="1375" stroke="true" fill="norm" extrusionOk="true">
                <a:moveTo>
                  <a:pt x="1254" y="0"/>
                </a:moveTo>
                <a:cubicBezTo>
                  <a:pt x="146" y="120"/>
                  <a:pt x="146" y="120"/>
                  <a:pt x="146" y="120"/>
                </a:cubicBezTo>
                <a:cubicBezTo>
                  <a:pt x="66" y="120"/>
                  <a:pt x="0" y="185"/>
                  <a:pt x="0" y="265"/>
                </a:cubicBezTo>
                <a:cubicBezTo>
                  <a:pt x="0" y="1122"/>
                  <a:pt x="0" y="1122"/>
                  <a:pt x="0" y="1122"/>
                </a:cubicBezTo>
                <a:cubicBezTo>
                  <a:pt x="0" y="1202"/>
                  <a:pt x="66" y="1267"/>
                  <a:pt x="146" y="1267"/>
                </a:cubicBezTo>
                <a:cubicBezTo>
                  <a:pt x="1254" y="1375"/>
                  <a:pt x="1254" y="1375"/>
                  <a:pt x="1254" y="1375"/>
                </a:cubicBezTo>
                <a:cubicBezTo>
                  <a:pt x="1334" y="1375"/>
                  <a:pt x="1400" y="1310"/>
                  <a:pt x="1400" y="1230"/>
                </a:cubicBezTo>
                <a:cubicBezTo>
                  <a:pt x="1400" y="145"/>
                  <a:pt x="1400" y="145"/>
                  <a:pt x="1400" y="145"/>
                </a:cubicBezTo>
                <a:cubicBezTo>
                  <a:pt x="1400" y="65"/>
                  <a:pt x="1334" y="0"/>
                  <a:pt x="1254" y="0"/>
                </a:cubicBezTo>
              </a:path>
            </a:pathLst>
          </a:custGeom>
          <a:blipFill>
            <a:blip r:embed="rId2"/>
            <a:stretch>
              <a:fillRect t="-27394" l="0" b="-26924" r="0"/>
            </a:stretch>
          </a:blipFill>
          <a:ln>
            <a:noFill/>
          </a:ln>
          <a:effectLst/>
        </p:spPr>
        <p:txBody>
          <a:bodyPr vert="horz" rot="0" anchor="t" wrap="square" tIns="45720" lIns="91440" bIns="45720" rIns="91440">
            <a:prstTxWarp prst="textNoShape">
              <a:avLst/>
            </a:prstTxWarp>
            <a:noAutofit/>
          </a:bodyPr>
          <a:p>
            <a:pPr algn="ctr" marL="0"/>
          </a:p>
        </p:txBody>
      </p:sp>
      <p:sp>
        <p:nvSpPr>
          <p:cNvPr name="AutoShape 4" id="4"/>
          <p:cNvSpPr/>
          <p:nvPr/>
        </p:nvSpPr>
        <p:spPr>
          <a:xfrm>
            <a:off x="2873721" y="3133975"/>
            <a:ext cx="533400" cy="533400"/>
          </a:xfrm>
          <a:prstGeom prst="roundRect">
            <a:avLst>
              <a:gd name="adj" fmla="val 50000"/>
            </a:avLst>
          </a:prstGeom>
          <a:solidFill>
            <a:schemeClr val="accent1"/>
          </a:solidFill>
          <a:ln>
            <a:noFill/>
          </a:ln>
        </p:spPr>
        <p:txBody>
          <a:bodyPr vert="horz" anchor="ctr" tIns="45720" lIns="91440" bIns="45720" rIns="91440">
            <a:normAutofit/>
          </a:bodyPr>
          <a:p>
            <a:pPr algn="ctr" marL="0"/>
            <a:r>
              <a:rPr lang="en-US" b="true" i="false" sz="1200" baseline="0" u="none">
                <a:solidFill>
                  <a:schemeClr val="lt1"/>
                </a:solidFill>
                <a:latin typeface="微软雅黑"/>
                <a:ea typeface="微软雅黑"/>
              </a:rPr>
              <a:t>01</a:t>
            </a:r>
          </a:p>
        </p:txBody>
      </p:sp>
      <p:sp>
        <p:nvSpPr>
          <p:cNvPr name="AutoShape 5" id="5"/>
          <p:cNvSpPr/>
          <p:nvPr/>
        </p:nvSpPr>
        <p:spPr>
          <a:xfrm>
            <a:off x="1193798" y="4051826"/>
            <a:ext cx="1921764" cy="338553"/>
          </a:xfrm>
          <a:prstGeom prst="rect">
            <a:avLst/>
          </a:prstGeom>
          <a:noFill/>
          <a:ln>
            <a:noFill/>
          </a:ln>
        </p:spPr>
        <p:txBody>
          <a:bodyPr vert="horz" anchor="t" wrap="square" tIns="45720" lIns="91440" bIns="45720" rIns="91440">
            <a:spAutoFit/>
          </a:bodyPr>
          <a:p>
            <a:pPr algn="l" marL="0"/>
            <a:r>
              <a:rPr lang="zh-CN" b="true" i="false" sz="1600" baseline="0" u="none" altLang="en-US">
                <a:solidFill>
                  <a:schemeClr val="tx1"/>
                </a:solidFill>
                <a:effectLst/>
                <a:latin typeface="微软雅黑"/>
                <a:ea typeface="微软雅黑"/>
              </a:rPr>
              <a:t>二叉排序树定义</a:t>
            </a:r>
          </a:p>
        </p:txBody>
      </p:sp>
      <p:sp>
        <p:nvSpPr>
          <p:cNvPr name="AutoShape 6" id="6"/>
          <p:cNvSpPr/>
          <p:nvPr/>
        </p:nvSpPr>
        <p:spPr>
          <a:xfrm>
            <a:off x="1193798" y="4682945"/>
            <a:ext cx="1957039" cy="1828800"/>
          </a:xfrm>
          <a:prstGeom prst="rect">
            <a:avLst/>
          </a:prstGeom>
          <a:noFill/>
          <a:ln>
            <a:noFill/>
          </a:ln>
        </p:spPr>
        <p:txBody>
          <a:bodyPr vert="horz" anchor="t" wrap="square" tIns="45720" lIns="91440" bIns="45720" rIns="91440">
            <a:spAutoFit/>
          </a:bodyPr>
          <a:p>
            <a:pPr algn="l" marL="0">
              <a:lnSpc>
                <a:spcPct val="120000"/>
              </a:lnSpc>
            </a:pPr>
            <a:r>
              <a:rPr lang="zh-CN" b="false" i="false" sz="1400" baseline="0" u="none" altLang="en-US">
                <a:solidFill>
                  <a:schemeClr val="tx1"/>
                </a:solidFill>
                <a:latin typeface="微软雅黑"/>
                <a:ea typeface="微软雅黑"/>
              </a:rPr>
              <a:t>二叉排序树（BST）或为空树，或满足：左子树所有节点值小于根节点值，右子树所有节点值大于根节点值；左右子树也分别是二叉排序树。中序遍历BST可得递增序列。</a:t>
            </a:r>
          </a:p>
        </p:txBody>
      </p:sp>
      <p:sp>
        <p:nvSpPr>
          <p:cNvPr name="Freeform 7" id="7"/>
          <p:cNvSpPr/>
          <p:nvPr/>
        </p:nvSpPr>
        <p:spPr>
          <a:xfrm flipH="true">
            <a:off x="4843591" y="1447758"/>
            <a:ext cx="2164442" cy="2126036"/>
          </a:xfrm>
          <a:custGeom>
            <a:avLst/>
            <a:gdLst/>
            <a:ahLst/>
            <a:cxnLst/>
            <a:rect r="r" b="b" t="t" l="l"/>
            <a:pathLst>
              <a:path w="1400" h="1375" stroke="true" fill="norm" extrusionOk="true">
                <a:moveTo>
                  <a:pt x="1254" y="0"/>
                </a:moveTo>
                <a:cubicBezTo>
                  <a:pt x="146" y="120"/>
                  <a:pt x="146" y="120"/>
                  <a:pt x="146" y="120"/>
                </a:cubicBezTo>
                <a:cubicBezTo>
                  <a:pt x="66" y="120"/>
                  <a:pt x="0" y="185"/>
                  <a:pt x="0" y="265"/>
                </a:cubicBezTo>
                <a:cubicBezTo>
                  <a:pt x="0" y="1122"/>
                  <a:pt x="0" y="1122"/>
                  <a:pt x="0" y="1122"/>
                </a:cubicBezTo>
                <a:cubicBezTo>
                  <a:pt x="0" y="1202"/>
                  <a:pt x="66" y="1267"/>
                  <a:pt x="146" y="1267"/>
                </a:cubicBezTo>
                <a:cubicBezTo>
                  <a:pt x="1254" y="1375"/>
                  <a:pt x="1254" y="1375"/>
                  <a:pt x="1254" y="1375"/>
                </a:cubicBezTo>
                <a:cubicBezTo>
                  <a:pt x="1334" y="1375"/>
                  <a:pt x="1400" y="1310"/>
                  <a:pt x="1400" y="1230"/>
                </a:cubicBezTo>
                <a:cubicBezTo>
                  <a:pt x="1400" y="145"/>
                  <a:pt x="1400" y="145"/>
                  <a:pt x="1400" y="145"/>
                </a:cubicBezTo>
                <a:cubicBezTo>
                  <a:pt x="1400" y="65"/>
                  <a:pt x="1334" y="0"/>
                  <a:pt x="1254" y="0"/>
                </a:cubicBezTo>
              </a:path>
            </a:pathLst>
          </a:custGeom>
          <a:blipFill>
            <a:blip r:embed="rId3"/>
            <a:tile algn="ctr" tx="0" ty="0" sx="77000" sy="96000"/>
          </a:blipFill>
          <a:ln>
            <a:noFill/>
          </a:ln>
          <a:effectLst/>
        </p:spPr>
        <p:txBody>
          <a:bodyPr vert="horz" rot="0" anchor="t" wrap="square" tIns="45720" lIns="91440" bIns="45720" rIns="91440">
            <a:prstTxWarp prst="textNoShape">
              <a:avLst/>
            </a:prstTxWarp>
            <a:noAutofit/>
          </a:bodyPr>
          <a:p>
            <a:pPr algn="ctr" marL="0"/>
          </a:p>
        </p:txBody>
      </p:sp>
      <p:sp>
        <p:nvSpPr>
          <p:cNvPr name="AutoShape 8" id="8"/>
          <p:cNvSpPr/>
          <p:nvPr/>
        </p:nvSpPr>
        <p:spPr>
          <a:xfrm>
            <a:off x="6734520" y="3133975"/>
            <a:ext cx="533400" cy="533400"/>
          </a:xfrm>
          <a:prstGeom prst="roundRect">
            <a:avLst>
              <a:gd name="adj" fmla="val 50000"/>
            </a:avLst>
          </a:prstGeom>
          <a:solidFill>
            <a:schemeClr val="accent1"/>
          </a:solidFill>
          <a:ln>
            <a:noFill/>
          </a:ln>
        </p:spPr>
        <p:txBody>
          <a:bodyPr vert="horz" anchor="ctr" tIns="45720" lIns="91440" bIns="45720" rIns="91440">
            <a:normAutofit/>
          </a:bodyPr>
          <a:p>
            <a:pPr algn="ctr" marL="0"/>
            <a:r>
              <a:rPr lang="en-US" b="true" i="false" sz="1200" baseline="0" u="none">
                <a:solidFill>
                  <a:schemeClr val="lt1"/>
                </a:solidFill>
                <a:latin typeface="微软雅黑"/>
                <a:ea typeface="微软雅黑"/>
              </a:rPr>
              <a:t>02</a:t>
            </a:r>
          </a:p>
        </p:txBody>
      </p:sp>
      <p:sp>
        <p:nvSpPr>
          <p:cNvPr name="AutoShape 9" id="9"/>
          <p:cNvSpPr/>
          <p:nvPr/>
        </p:nvSpPr>
        <p:spPr>
          <a:xfrm>
            <a:off x="5041898" y="4051826"/>
            <a:ext cx="1921764" cy="338553"/>
          </a:xfrm>
          <a:prstGeom prst="rect">
            <a:avLst/>
          </a:prstGeom>
          <a:noFill/>
          <a:ln>
            <a:noFill/>
          </a:ln>
        </p:spPr>
        <p:txBody>
          <a:bodyPr vert="horz" anchor="t" wrap="square" tIns="45720" lIns="91440" bIns="45720" rIns="91440">
            <a:spAutoFit/>
          </a:bodyPr>
          <a:p>
            <a:pPr algn="l" marL="0"/>
            <a:r>
              <a:rPr lang="zh-CN" b="true" i="false" sz="1600" baseline="0" u="none" altLang="en-US">
                <a:solidFill>
                  <a:schemeClr val="tx1"/>
                </a:solidFill>
                <a:latin typeface="微软雅黑"/>
                <a:ea typeface="微软雅黑"/>
              </a:rPr>
              <a:t>查找与插入操作</a:t>
            </a:r>
          </a:p>
        </p:txBody>
      </p:sp>
      <p:sp>
        <p:nvSpPr>
          <p:cNvPr name="AutoShape 10" id="10"/>
          <p:cNvSpPr/>
          <p:nvPr/>
        </p:nvSpPr>
        <p:spPr>
          <a:xfrm>
            <a:off x="5041898" y="4682945"/>
            <a:ext cx="1957039" cy="2118360"/>
          </a:xfrm>
          <a:prstGeom prst="rect">
            <a:avLst/>
          </a:prstGeom>
          <a:noFill/>
          <a:ln>
            <a:noFill/>
          </a:ln>
        </p:spPr>
        <p:txBody>
          <a:bodyPr vert="horz" anchor="t" wrap="square" tIns="45720" lIns="91440" bIns="45720" rIns="91440">
            <a:spAutoFit/>
          </a:bodyPr>
          <a:p>
            <a:pPr algn="l" marL="0">
              <a:lnSpc>
                <a:spcPct val="120000"/>
              </a:lnSpc>
            </a:pPr>
            <a:r>
              <a:rPr lang="zh-CN" b="false" i="false" sz="1400" baseline="0" u="none" altLang="en-US">
                <a:solidFill>
                  <a:schemeClr val="tx1"/>
                </a:solidFill>
                <a:latin typeface="微软雅黑"/>
                <a:ea typeface="微软雅黑"/>
              </a:rPr>
              <a:t>查找：从根开始比较，若等于则成功，小于则向左，大于则向右，直到找到或遇到空节点。插入：类似查找过程，找到合适空位置插入新节点。时间复杂度与树高相关，平均O(logn)。</a:t>
            </a:r>
          </a:p>
        </p:txBody>
      </p:sp>
      <p:sp>
        <p:nvSpPr>
          <p:cNvPr name="Freeform 11" id="11"/>
          <p:cNvSpPr/>
          <p:nvPr/>
        </p:nvSpPr>
        <p:spPr>
          <a:xfrm flipH="true">
            <a:off x="8691691" y="1447758"/>
            <a:ext cx="2164442" cy="2126036"/>
          </a:xfrm>
          <a:custGeom>
            <a:avLst/>
            <a:gdLst/>
            <a:ahLst/>
            <a:cxnLst/>
            <a:rect r="r" b="b" t="t" l="l"/>
            <a:pathLst>
              <a:path w="1400" h="1375" stroke="true" fill="norm" extrusionOk="true">
                <a:moveTo>
                  <a:pt x="1254" y="0"/>
                </a:moveTo>
                <a:cubicBezTo>
                  <a:pt x="146" y="120"/>
                  <a:pt x="146" y="120"/>
                  <a:pt x="146" y="120"/>
                </a:cubicBezTo>
                <a:cubicBezTo>
                  <a:pt x="66" y="120"/>
                  <a:pt x="0" y="185"/>
                  <a:pt x="0" y="265"/>
                </a:cubicBezTo>
                <a:cubicBezTo>
                  <a:pt x="0" y="1122"/>
                  <a:pt x="0" y="1122"/>
                  <a:pt x="0" y="1122"/>
                </a:cubicBezTo>
                <a:cubicBezTo>
                  <a:pt x="0" y="1202"/>
                  <a:pt x="66" y="1267"/>
                  <a:pt x="146" y="1267"/>
                </a:cubicBezTo>
                <a:cubicBezTo>
                  <a:pt x="1254" y="1375"/>
                  <a:pt x="1254" y="1375"/>
                  <a:pt x="1254" y="1375"/>
                </a:cubicBezTo>
                <a:cubicBezTo>
                  <a:pt x="1334" y="1375"/>
                  <a:pt x="1400" y="1310"/>
                  <a:pt x="1400" y="1230"/>
                </a:cubicBezTo>
                <a:cubicBezTo>
                  <a:pt x="1400" y="145"/>
                  <a:pt x="1400" y="145"/>
                  <a:pt x="1400" y="145"/>
                </a:cubicBezTo>
                <a:cubicBezTo>
                  <a:pt x="1400" y="65"/>
                  <a:pt x="1334" y="0"/>
                  <a:pt x="1254" y="0"/>
                </a:cubicBezTo>
              </a:path>
            </a:pathLst>
          </a:custGeom>
          <a:blipFill>
            <a:blip r:embed="rId4"/>
            <a:tile algn="tl" tx="0" ty="0" sx="77000" sy="96000"/>
          </a:blipFill>
          <a:ln>
            <a:noFill/>
          </a:ln>
          <a:effectLst/>
        </p:spPr>
        <p:txBody>
          <a:bodyPr vert="horz" rot="0" anchor="t" wrap="square" tIns="45720" lIns="91440" bIns="45720" rIns="91440">
            <a:prstTxWarp prst="textNoShape">
              <a:avLst/>
            </a:prstTxWarp>
            <a:noAutofit/>
          </a:bodyPr>
          <a:p>
            <a:pPr algn="ctr" marL="0"/>
          </a:p>
        </p:txBody>
      </p:sp>
      <p:sp>
        <p:nvSpPr>
          <p:cNvPr name="AutoShape 12" id="12"/>
          <p:cNvSpPr/>
          <p:nvPr/>
        </p:nvSpPr>
        <p:spPr>
          <a:xfrm>
            <a:off x="10500979" y="3133975"/>
            <a:ext cx="533400" cy="533400"/>
          </a:xfrm>
          <a:prstGeom prst="roundRect">
            <a:avLst>
              <a:gd name="adj" fmla="val 50000"/>
            </a:avLst>
          </a:prstGeom>
          <a:solidFill>
            <a:schemeClr val="accent1"/>
          </a:solidFill>
          <a:ln>
            <a:noFill/>
          </a:ln>
        </p:spPr>
        <p:txBody>
          <a:bodyPr vert="horz" anchor="ctr" tIns="45720" lIns="91440" bIns="45720" rIns="91440">
            <a:normAutofit/>
          </a:bodyPr>
          <a:p>
            <a:pPr algn="ctr" marL="0"/>
            <a:r>
              <a:rPr lang="en-US" b="true" i="false" sz="1200" baseline="0" u="none">
                <a:solidFill>
                  <a:schemeClr val="lt1"/>
                </a:solidFill>
                <a:latin typeface="微软雅黑"/>
                <a:ea typeface="微软雅黑"/>
              </a:rPr>
              <a:t>03</a:t>
            </a:r>
          </a:p>
        </p:txBody>
      </p:sp>
      <p:sp>
        <p:nvSpPr>
          <p:cNvPr name="AutoShape 13" id="13"/>
          <p:cNvSpPr/>
          <p:nvPr/>
        </p:nvSpPr>
        <p:spPr>
          <a:xfrm>
            <a:off x="8889998" y="4051826"/>
            <a:ext cx="1921764" cy="338553"/>
          </a:xfrm>
          <a:prstGeom prst="rect">
            <a:avLst/>
          </a:prstGeom>
          <a:noFill/>
          <a:ln>
            <a:noFill/>
          </a:ln>
        </p:spPr>
        <p:txBody>
          <a:bodyPr vert="horz" anchor="t" wrap="square" tIns="45720" lIns="91440" bIns="45720" rIns="91440">
            <a:spAutoFit/>
          </a:bodyPr>
          <a:p>
            <a:pPr algn="l" marL="0"/>
            <a:r>
              <a:rPr lang="zh-CN" b="true" i="false" sz="1600" baseline="0" u="none" altLang="en-US">
                <a:solidFill>
                  <a:schemeClr val="tx1"/>
                </a:solidFill>
                <a:effectLst/>
                <a:latin typeface="微软雅黑"/>
                <a:ea typeface="微软雅黑"/>
              </a:rPr>
              <a:t>删除操作</a:t>
            </a:r>
          </a:p>
        </p:txBody>
      </p:sp>
      <p:sp>
        <p:nvSpPr>
          <p:cNvPr name="AutoShape 14" id="14"/>
          <p:cNvSpPr/>
          <p:nvPr/>
        </p:nvSpPr>
        <p:spPr>
          <a:xfrm>
            <a:off x="8889998" y="4682945"/>
            <a:ext cx="1957039" cy="1828800"/>
          </a:xfrm>
          <a:prstGeom prst="rect">
            <a:avLst/>
          </a:prstGeom>
          <a:noFill/>
          <a:ln>
            <a:noFill/>
          </a:ln>
        </p:spPr>
        <p:txBody>
          <a:bodyPr vert="horz" anchor="t" wrap="square" tIns="45720" lIns="91440" bIns="45720" rIns="91440">
            <a:spAutoFit/>
          </a:bodyPr>
          <a:p>
            <a:pPr algn="l" marL="0">
              <a:lnSpc>
                <a:spcPct val="120000"/>
              </a:lnSpc>
            </a:pPr>
            <a:r>
              <a:rPr lang="zh-CN" b="false" i="false" sz="1400" baseline="0" u="none" altLang="en-US">
                <a:solidFill>
                  <a:schemeClr val="tx1"/>
                </a:solidFill>
                <a:latin typeface="微软雅黑"/>
                <a:ea typeface="微软雅黑"/>
              </a:rPr>
              <a:t>删除节点分三种情况：叶子节点直接删除；只有一个孩子的节点用其孩子替换；有两个孩子的节点用中序后继（右子树最小节点）或中序前驱替换。删除后仍保持BST特性。</a:t>
            </a:r>
          </a:p>
        </p:txBody>
      </p:sp>
      <p:sp>
        <p:nvSpPr>
          <p:cNvPr name="AutoShape 15" id="15"/>
          <p:cNvSpPr/>
          <p:nvPr/>
        </p:nvSpPr>
        <p:spPr>
          <a:xfrm>
            <a:off x="10795000" y="6540500"/>
            <a:ext cx="1270000" cy="190500"/>
          </a:xfrm>
          <a:prstGeom prst="rect">
            <a:avLst/>
          </a:prstGeom>
          <a:solidFill>
            <a:srgbClr val="000000">
              <a:alpha val="0"/>
            </a:srgbClr>
          </a:solidFill>
        </p:spPr>
        <p:txBody>
          <a:bodyPr anchor="t" rtlCol="false"/>
          <a:lstStyle/>
          <a:p>
            <a:pPr algn="r">
              <a:defRPr/>
            </a:pPr>
            <a:r>
              <a:rPr lang="en-US" b="false" i="false" sz="800" baseline="0" u="none">
                <a:solidFill>
                  <a:srgbClr val="808080"/>
                </a:solidFill>
                <a:latin typeface="Microsoft YaHei"/>
                <a:ea typeface="Microsoft YaHei"/>
              </a:rPr>
              <a:t>内容由AI生成</a:t>
            </a:r>
            <a:endParaRPr lang="en-US" sz="1100"/>
          </a:p>
        </p:txBody>
      </p:sp>
    </p:spTree>
  </p:cSld>
  <p:clrMapOvr>
    <a:masterClrMapping/>
  </p:clrMapOvr>
  <p:transition spd="fast"/>
</p:sld>
</file>

<file path=ppt/slides/slide22.xml><?xml version="1.0" encoding="utf-8"?>
<p:sld xmlns:p="http://schemas.openxmlformats.org/presentationml/2006/main" xmlns:a="http://schemas.openxmlformats.org/drawingml/2006/main" xmlns:r="http://schemas.openxmlformats.org/officeDocument/2006/relationships">
  <p:cSld>
    <p:bg>
      <p:bgPr>
        <a:solidFill>
          <a:schemeClr val="bg1"/>
        </a:solidFill>
      </p:bgPr>
    </p:bg>
    <p:spTree>
      <p:nvGrpSpPr>
        <p:cNvPr id="1" name=""/>
        <p:cNvGrpSpPr/>
        <p:nvPr/>
      </p:nvGrpSpPr>
      <p:grpSpPr>
        <a:xfrm>
          <a:off x="0" y="0"/>
          <a:ext cx="0" cy="0"/>
          <a:chOff x="0" y="0"/>
          <a:chExt cx="0" cy="0"/>
        </a:xfrm>
      </p:grpSpPr>
      <p:sp>
        <p:nvSpPr>
          <p:cNvPr name="AutoShape 2" id="2"/>
          <p:cNvSpPr/>
          <p:nvPr>
            <p:ph type="title"/>
          </p:nvPr>
        </p:nvSpPr>
        <p:spPr>
          <a:xfrm>
            <a:off x="6343378" y="1136894"/>
            <a:ext cx="5164367" cy="954107"/>
          </a:xfrm>
        </p:spPr>
        <p:txBody>
          <a:bodyPr vert="horz" anchor="b" tIns="45720" lIns="91440" bIns="45720" rIns="91440">
            <a:normAutofit/>
          </a:bodyPr>
          <a:p>
            <a:pPr algn="l">
              <a:lnSpc>
                <a:spcPct val="90000"/>
              </a:lnSpc>
              <a:spcBef>
                <a:spcPct val="0"/>
              </a:spcBef>
            </a:pPr>
            <a:r>
              <a:rPr lang="zh-CN" b="true" i="false" sz="2800" baseline="0" u="none" altLang="en-US">
                <a:solidFill>
                  <a:schemeClr val="tx1"/>
                </a:solidFill>
                <a:latin typeface="微软雅黑"/>
                <a:ea typeface="微软雅黑"/>
              </a:rPr>
              <a:t>平衡二叉树（AVL树）</a:t>
            </a:r>
          </a:p>
        </p:txBody>
      </p:sp>
      <p:cxnSp>
        <p:nvCxnSpPr>
          <p:cNvPr name="Connector 3" id="3"/>
          <p:cNvCxnSpPr/>
          <p:nvPr/>
        </p:nvCxnSpPr>
        <p:spPr>
          <a:xfrm>
            <a:off x="464023" y="3879870"/>
            <a:ext cx="11054876" cy="0"/>
          </a:xfrm>
          <a:prstGeom prst="line">
            <a:avLst/>
          </a:prstGeom>
          <a:ln w="28575">
            <a:solidFill>
              <a:schemeClr val="tx1">
                <a:alpha val="50000"/>
                <a:lumMod val="10000"/>
                <a:lumOff val="90000"/>
              </a:schemeClr>
            </a:solidFill>
          </a:ln>
        </p:spPr>
      </p:cxnSp>
      <p:sp>
        <p:nvSpPr>
          <p:cNvPr name="AutoShape 4" id="4"/>
          <p:cNvSpPr/>
          <p:nvPr/>
        </p:nvSpPr>
        <p:spPr>
          <a:xfrm flipV="true">
            <a:off x="2375667" y="3699870"/>
            <a:ext cx="360000" cy="360000"/>
          </a:xfrm>
          <a:prstGeom prst="roundRect">
            <a:avLst>
              <a:gd name="adj" fmla="val 50000"/>
            </a:avLst>
          </a:prstGeom>
          <a:solidFill>
            <a:schemeClr val="accent3"/>
          </a:solidFill>
          <a:ln>
            <a:noFill/>
          </a:ln>
        </p:spPr>
        <p:txBody>
          <a:bodyPr vert="horz" anchor="ctr" wrap="none" tIns="45720" lIns="91440" bIns="45720" rIns="91440">
            <a:normAutofit/>
          </a:bodyPr>
          <a:p>
            <a:pPr algn="ctr" marL="0"/>
          </a:p>
        </p:txBody>
      </p:sp>
      <p:sp>
        <p:nvSpPr>
          <p:cNvPr name="TextBox 5" id="5"/>
          <p:cNvSpPr txBox="true"/>
          <p:nvPr/>
        </p:nvSpPr>
        <p:spPr>
          <a:xfrm>
            <a:off x="1016743" y="1556720"/>
            <a:ext cx="2953277" cy="338554"/>
          </a:xfrm>
          <a:prstGeom prst="rect">
            <a:avLst/>
          </a:prstGeom>
          <a:noFill/>
        </p:spPr>
        <p:txBody>
          <a:bodyPr anchor="t" rtlCol="false" vert="horz" wrap="square" tIns="45720" lIns="91440" bIns="45720" rIns="91440">
            <a:spAutoFit/>
          </a:bodyPr>
          <a:lstStyle/>
          <a:p>
            <a:pPr algn="ctr" marL="0">
              <a:defRPr/>
            </a:pPr>
            <a:r>
              <a:rPr lang="zh-CN" b="true" i="false" sz="1600" baseline="0" u="none" altLang="en-US">
                <a:solidFill>
                  <a:schemeClr val="tx1"/>
                </a:solidFill>
                <a:latin typeface="微软雅黑"/>
                <a:ea typeface="微软雅黑"/>
              </a:rPr>
              <a:t>平衡二叉树的引入</a:t>
            </a:r>
            <a:endParaRPr lang="en-US" sz="1100"/>
          </a:p>
        </p:txBody>
      </p:sp>
      <p:sp>
        <p:nvSpPr>
          <p:cNvPr name="TextBox 6" id="6"/>
          <p:cNvSpPr txBox="true"/>
          <p:nvPr/>
        </p:nvSpPr>
        <p:spPr>
          <a:xfrm>
            <a:off x="832206" y="2064360"/>
            <a:ext cx="3328827" cy="1177290"/>
          </a:xfrm>
          <a:prstGeom prst="rect">
            <a:avLst/>
          </a:prstGeom>
          <a:noFill/>
        </p:spPr>
        <p:txBody>
          <a:bodyPr anchor="t" rtlCol="false" vert="horz" wrap="square" tIns="45720" lIns="91440" bIns="45720" rIns="91440">
            <a:spAutoFit/>
          </a:bodyPr>
          <a:lstStyle/>
          <a:p>
            <a:pPr algn="ctr" fontAlgn="auto" indent="0" marR="0" marL="0">
              <a:lnSpc>
                <a:spcPct val="150000"/>
              </a:lnSpc>
              <a:spcBef>
                <a:spcPct val="0"/>
              </a:spcBef>
              <a:spcAft>
                <a:spcPct val="0"/>
              </a:spcAft>
              <a:defRPr/>
            </a:pPr>
            <a:r>
              <a:rPr lang="zh-CN" b="false" i="false" sz="1400" baseline="0" u="none" altLang="en-US">
                <a:ln/>
                <a:solidFill>
                  <a:schemeClr val="tx1"/>
                </a:solidFill>
                <a:effectLst/>
                <a:latin typeface="微软雅黑"/>
                <a:ea typeface="微软雅黑"/>
              </a:rPr>
              <a:t>BST在极端情况下退化为链表（如插入有序数据），导致查找效率降至O(n)。平衡二叉树通过旋转保持左右子树高度差不超过1，保证查找效率稳定在O(logn)。</a:t>
            </a:r>
            <a:endParaRPr lang="en-US" sz="1100"/>
          </a:p>
        </p:txBody>
      </p:sp>
      <p:sp>
        <p:nvSpPr>
          <p:cNvPr name="AutoShape 7" id="7"/>
          <p:cNvSpPr/>
          <p:nvPr/>
        </p:nvSpPr>
        <p:spPr>
          <a:xfrm>
            <a:off x="1415571" y="4184155"/>
            <a:ext cx="2289637" cy="2289600"/>
          </a:xfrm>
          <a:prstGeom prst="ellipse">
            <a:avLst/>
          </a:prstGeom>
          <a:blipFill>
            <a:blip r:embed="rId2"/>
            <a:stretch>
              <a:fillRect t="0" l="-25138" b="0" r="-24860"/>
            </a:stretch>
          </a:blipFill>
          <a:ln>
            <a:noFill/>
          </a:ln>
          <a:effectLst/>
        </p:spPr>
        <p:txBody>
          <a:bodyPr vert="horz" rot="0" anchor="t" wrap="square" tIns="45720" lIns="91440" bIns="45720" rIns="91440">
            <a:prstTxWarp prst="textNoShape">
              <a:avLst/>
            </a:prstTxWarp>
            <a:noAutofit/>
          </a:bodyPr>
          <a:p>
            <a:pPr algn="ctr" marL="0"/>
          </a:p>
        </p:txBody>
      </p:sp>
      <p:sp>
        <p:nvSpPr>
          <p:cNvPr name="AutoShape 8" id="8"/>
          <p:cNvSpPr/>
          <p:nvPr/>
        </p:nvSpPr>
        <p:spPr>
          <a:xfrm flipV="true">
            <a:off x="5996761" y="3699870"/>
            <a:ext cx="360000" cy="360000"/>
          </a:xfrm>
          <a:prstGeom prst="roundRect">
            <a:avLst>
              <a:gd name="adj" fmla="val 50000"/>
            </a:avLst>
          </a:prstGeom>
          <a:solidFill>
            <a:schemeClr val="accent3"/>
          </a:solidFill>
          <a:ln>
            <a:noFill/>
          </a:ln>
        </p:spPr>
        <p:txBody>
          <a:bodyPr vert="horz" anchor="ctr" wrap="none" tIns="45720" lIns="91440" bIns="45720" rIns="91440">
            <a:normAutofit/>
          </a:bodyPr>
          <a:p>
            <a:pPr algn="ctr" marL="0"/>
          </a:p>
        </p:txBody>
      </p:sp>
      <p:sp>
        <p:nvSpPr>
          <p:cNvPr name="TextBox 9" id="9"/>
          <p:cNvSpPr txBox="true"/>
          <p:nvPr/>
        </p:nvSpPr>
        <p:spPr>
          <a:xfrm>
            <a:off x="4637837" y="1556720"/>
            <a:ext cx="2953277" cy="338554"/>
          </a:xfrm>
          <a:prstGeom prst="rect">
            <a:avLst/>
          </a:prstGeom>
          <a:noFill/>
        </p:spPr>
        <p:txBody>
          <a:bodyPr anchor="t" rtlCol="false" vert="horz" wrap="square" tIns="45720" lIns="91440" bIns="45720" rIns="91440">
            <a:spAutoFit/>
          </a:bodyPr>
          <a:lstStyle/>
          <a:p>
            <a:pPr algn="ctr" marL="0">
              <a:defRPr/>
            </a:pPr>
            <a:r>
              <a:rPr lang="zh-CN" b="true" i="false" sz="1600" baseline="0" u="none" altLang="en-US">
                <a:solidFill>
                  <a:schemeClr val="tx1"/>
                </a:solidFill>
                <a:latin typeface="微软雅黑"/>
                <a:ea typeface="微软雅黑"/>
              </a:rPr>
              <a:t>平衡因子与旋转</a:t>
            </a:r>
            <a:endParaRPr lang="en-US" sz="1100"/>
          </a:p>
        </p:txBody>
      </p:sp>
      <p:sp>
        <p:nvSpPr>
          <p:cNvPr name="TextBox 10" id="10"/>
          <p:cNvSpPr txBox="true"/>
          <p:nvPr/>
        </p:nvSpPr>
        <p:spPr>
          <a:xfrm>
            <a:off x="4453300" y="2064360"/>
            <a:ext cx="3328827" cy="1400384"/>
          </a:xfrm>
          <a:prstGeom prst="rect">
            <a:avLst/>
          </a:prstGeom>
          <a:noFill/>
        </p:spPr>
        <p:txBody>
          <a:bodyPr anchor="t" rtlCol="false" vert="horz" wrap="square" tIns="45720" lIns="91440" bIns="45720" rIns="91440">
            <a:spAutoFit/>
          </a:bodyPr>
          <a:lstStyle/>
          <a:p>
            <a:pPr algn="ctr" fontAlgn="auto" indent="0" marR="0" marL="0">
              <a:lnSpc>
                <a:spcPct val="150000"/>
              </a:lnSpc>
              <a:spcBef>
                <a:spcPct val="0"/>
              </a:spcBef>
              <a:spcAft>
                <a:spcPct val="0"/>
              </a:spcAft>
              <a:defRPr/>
            </a:pPr>
            <a:r>
              <a:rPr lang="zh-CN" b="false" i="false" sz="1400" baseline="0" u="none" altLang="en-US">
                <a:ln/>
                <a:solidFill>
                  <a:schemeClr val="tx1"/>
                </a:solidFill>
                <a:effectLst/>
                <a:latin typeface="微软雅黑"/>
                <a:ea typeface="微软雅黑"/>
              </a:rPr>
              <a:t>平衡因子BF=左子树高度-右子树高度。当|BF|&gt;1时需旋转调整，包括LL（右单旋）、RR（左单旋）、LR（先左后右双旋）、RL（先右后左双旋）。旋转后子树高度降低，恢复平衡。</a:t>
            </a:r>
            <a:endParaRPr lang="en-US" sz="1100"/>
          </a:p>
        </p:txBody>
      </p:sp>
      <p:sp>
        <p:nvSpPr>
          <p:cNvPr name="AutoShape 11" id="11"/>
          <p:cNvSpPr/>
          <p:nvPr/>
        </p:nvSpPr>
        <p:spPr>
          <a:xfrm>
            <a:off x="5036666" y="4184155"/>
            <a:ext cx="2289637" cy="2289600"/>
          </a:xfrm>
          <a:prstGeom prst="ellipse">
            <a:avLst/>
          </a:prstGeom>
          <a:blipFill>
            <a:blip r:embed="rId3"/>
            <a:stretch>
              <a:fillRect t="0" l="-25138" b="0" r="-24860"/>
            </a:stretch>
          </a:blipFill>
          <a:ln>
            <a:noFill/>
          </a:ln>
          <a:effectLst/>
        </p:spPr>
        <p:txBody>
          <a:bodyPr vert="horz" rot="0" anchor="t" wrap="square" tIns="45720" lIns="91440" bIns="45720" rIns="91440">
            <a:prstTxWarp prst="textNoShape">
              <a:avLst/>
            </a:prstTxWarp>
            <a:noAutofit/>
          </a:bodyPr>
          <a:p>
            <a:pPr algn="ctr" marL="0"/>
          </a:p>
        </p:txBody>
      </p:sp>
      <p:sp>
        <p:nvSpPr>
          <p:cNvPr name="AutoShape 12" id="12"/>
          <p:cNvSpPr/>
          <p:nvPr/>
        </p:nvSpPr>
        <p:spPr>
          <a:xfrm flipV="true">
            <a:off x="9617856" y="3696339"/>
            <a:ext cx="360000" cy="360000"/>
          </a:xfrm>
          <a:prstGeom prst="roundRect">
            <a:avLst>
              <a:gd name="adj" fmla="val 50000"/>
            </a:avLst>
          </a:prstGeom>
          <a:solidFill>
            <a:schemeClr val="accent3"/>
          </a:solidFill>
          <a:ln>
            <a:noFill/>
          </a:ln>
        </p:spPr>
        <p:txBody>
          <a:bodyPr vert="horz" anchor="ctr" wrap="none" tIns="45720" lIns="91440" bIns="45720" rIns="91440">
            <a:normAutofit/>
          </a:bodyPr>
          <a:p>
            <a:pPr algn="ctr" marL="0"/>
          </a:p>
        </p:txBody>
      </p:sp>
      <p:sp>
        <p:nvSpPr>
          <p:cNvPr name="TextBox 13" id="13"/>
          <p:cNvSpPr txBox="true"/>
          <p:nvPr/>
        </p:nvSpPr>
        <p:spPr>
          <a:xfrm>
            <a:off x="8258932" y="1553189"/>
            <a:ext cx="2953277" cy="338554"/>
          </a:xfrm>
          <a:prstGeom prst="rect">
            <a:avLst/>
          </a:prstGeom>
          <a:noFill/>
        </p:spPr>
        <p:txBody>
          <a:bodyPr anchor="t" rtlCol="false" vert="horz" wrap="square" tIns="45720" lIns="91440" bIns="45720" rIns="91440">
            <a:spAutoFit/>
          </a:bodyPr>
          <a:lstStyle/>
          <a:p>
            <a:pPr algn="ctr" marL="0">
              <a:defRPr/>
            </a:pPr>
            <a:r>
              <a:rPr lang="zh-CN" b="true" i="false" sz="1600" baseline="0" u="none" altLang="en-US">
                <a:solidFill>
                  <a:schemeClr val="tx1"/>
                </a:solidFill>
                <a:latin typeface="微软雅黑"/>
                <a:ea typeface="微软雅黑"/>
              </a:rPr>
              <a:t>插入与删除调整</a:t>
            </a:r>
            <a:endParaRPr lang="en-US" sz="1100"/>
          </a:p>
        </p:txBody>
      </p:sp>
      <p:sp>
        <p:nvSpPr>
          <p:cNvPr name="TextBox 14" id="14"/>
          <p:cNvSpPr txBox="true"/>
          <p:nvPr/>
        </p:nvSpPr>
        <p:spPr>
          <a:xfrm>
            <a:off x="8074395" y="2060829"/>
            <a:ext cx="3328827" cy="1177290"/>
          </a:xfrm>
          <a:prstGeom prst="rect">
            <a:avLst/>
          </a:prstGeom>
          <a:noFill/>
        </p:spPr>
        <p:txBody>
          <a:bodyPr anchor="t" rtlCol="false" vert="horz" wrap="square" tIns="45720" lIns="91440" bIns="45720" rIns="91440">
            <a:spAutoFit/>
          </a:bodyPr>
          <a:lstStyle/>
          <a:p>
            <a:pPr algn="ctr" fontAlgn="auto" indent="0" marR="0" marL="0">
              <a:lnSpc>
                <a:spcPct val="150000"/>
              </a:lnSpc>
              <a:spcBef>
                <a:spcPct val="0"/>
              </a:spcBef>
              <a:spcAft>
                <a:spcPct val="0"/>
              </a:spcAft>
              <a:defRPr/>
            </a:pPr>
            <a:r>
              <a:rPr lang="zh-CN" b="false" i="false" sz="1400" baseline="0" u="none" altLang="en-US">
                <a:ln/>
                <a:solidFill>
                  <a:schemeClr val="tx1"/>
                </a:solidFill>
                <a:effectLst/>
                <a:latin typeface="微软雅黑"/>
                <a:ea typeface="微软雅黑"/>
              </a:rPr>
              <a:t>AVL树的插入和删除都会导致失衡，需要从插入/删除位置向上回溯找到第一个失衡节点并旋转，同时更新平衡因子。调整后子树高度可能不变或降低，需继续向上检查。</a:t>
            </a:r>
            <a:endParaRPr lang="en-US" sz="1100"/>
          </a:p>
        </p:txBody>
      </p:sp>
      <p:sp>
        <p:nvSpPr>
          <p:cNvPr name="AutoShape 15" id="15"/>
          <p:cNvSpPr/>
          <p:nvPr/>
        </p:nvSpPr>
        <p:spPr>
          <a:xfrm>
            <a:off x="8657760" y="4180624"/>
            <a:ext cx="2289637" cy="2289600"/>
          </a:xfrm>
          <a:prstGeom prst="ellipse">
            <a:avLst/>
          </a:prstGeom>
          <a:blipFill>
            <a:blip r:embed="rId4"/>
            <a:stretch>
              <a:fillRect t="0" l="-16805" b="0" r="-16619"/>
            </a:stretch>
          </a:blipFill>
          <a:ln>
            <a:noFill/>
          </a:ln>
          <a:effectLst/>
        </p:spPr>
        <p:txBody>
          <a:bodyPr vert="horz" rot="0" anchor="t" wrap="square" tIns="45720" lIns="91440" bIns="45720" rIns="91440">
            <a:prstTxWarp prst="textNoShape">
              <a:avLst/>
            </a:prstTxWarp>
            <a:noAutofit/>
          </a:bodyPr>
          <a:p>
            <a:pPr algn="ctr" marL="0"/>
          </a:p>
        </p:txBody>
      </p:sp>
      <p:sp>
        <p:nvSpPr>
          <p:cNvPr name="AutoShape 16" id="16"/>
          <p:cNvSpPr/>
          <p:nvPr/>
        </p:nvSpPr>
        <p:spPr>
          <a:xfrm>
            <a:off x="10795000" y="6540500"/>
            <a:ext cx="1270000" cy="190500"/>
          </a:xfrm>
          <a:prstGeom prst="rect">
            <a:avLst/>
          </a:prstGeom>
          <a:solidFill>
            <a:srgbClr val="000000">
              <a:alpha val="0"/>
            </a:srgbClr>
          </a:solidFill>
        </p:spPr>
        <p:txBody>
          <a:bodyPr anchor="t" rtlCol="false"/>
          <a:lstStyle/>
          <a:p>
            <a:pPr algn="r">
              <a:defRPr/>
            </a:pPr>
            <a:r>
              <a:rPr lang="en-US" b="false" i="false" sz="800" baseline="0" u="none">
                <a:solidFill>
                  <a:srgbClr val="808080"/>
                </a:solidFill>
                <a:latin typeface="Microsoft YaHei"/>
                <a:ea typeface="Microsoft YaHei"/>
              </a:rPr>
              <a:t>内容由AI生成</a:t>
            </a:r>
            <a:endParaRPr lang="en-US" sz="1100"/>
          </a:p>
        </p:txBody>
      </p:sp>
    </p:spTree>
  </p:cSld>
  <p:clrMapOvr>
    <a:masterClrMapping/>
  </p:clrMapOvr>
  <p:transition spd="fast"/>
</p:sld>
</file>

<file path=ppt/slides/slide23.xml><?xml version="1.0" encoding="utf-8"?>
<p:sld xmlns:p="http://schemas.openxmlformats.org/presentationml/2006/main" xmlns:a="http://schemas.openxmlformats.org/drawingml/2006/main" xmlns:r="http://schemas.openxmlformats.org/officeDocument/2006/relationships">
  <p:cSld>
    <p:bg>
      <p:bgPr>
        <a:blipFill rotWithShape="true">
          <a:blip r:embed="rId2"/>
          <a:srcRect/>
          <a:stretch>
            <a:fillRect t="0" l="0" b="0" r="0"/>
          </a:stretch>
        </a:blipFill>
      </p:bgPr>
    </p:bg>
    <p:spTree>
      <p:nvGrpSpPr>
        <p:cNvPr id="1" name=""/>
        <p:cNvGrpSpPr/>
        <p:nvPr/>
      </p:nvGrpSpPr>
      <p:grpSpPr>
        <a:xfrm>
          <a:off x="0" y="0"/>
          <a:ext cx="0" cy="0"/>
          <a:chOff x="0" y="0"/>
          <a:chExt cx="0" cy="0"/>
        </a:xfrm>
      </p:grpSpPr>
      <p:sp>
        <p:nvSpPr>
          <p:cNvPr name="AutoShape 2" id="2"/>
          <p:cNvSpPr/>
          <p:nvPr/>
        </p:nvSpPr>
        <p:spPr>
          <a:xfrm>
            <a:off x="0" y="0"/>
            <a:ext cx="12192000" cy="6858000"/>
          </a:xfrm>
          <a:prstGeom prst="rect">
            <a:avLst/>
          </a:prstGeom>
          <a:gradFill rotWithShape="true" flip="none">
            <a:gsLst>
              <a:gs pos="0">
                <a:srgbClr val="0A854D"/>
              </a:gs>
              <a:gs pos="100000">
                <a:srgbClr val="318B49">
                  <a:alpha val="0"/>
                </a:srgbClr>
              </a:gs>
            </a:gsLst>
            <a:lin ang="5400000"/>
            <a:tileRect/>
          </a:gradFill>
          <a:ln>
            <a:noFill/>
          </a:ln>
        </p:spPr>
        <p:txBody>
          <a:bodyPr vert="horz" anchor="ctr" tIns="45720" lIns="91440" bIns="45720" rIns="91440"/>
          <a:p>
            <a:pPr algn="ctr" marL="0"/>
          </a:p>
        </p:txBody>
      </p:sp>
      <p:sp>
        <p:nvSpPr>
          <p:cNvPr name="TextBox 3" id="3"/>
          <p:cNvSpPr txBox="true"/>
          <p:nvPr/>
        </p:nvSpPr>
        <p:spPr>
          <a:xfrm>
            <a:off x="1665296" y="2971817"/>
            <a:ext cx="8861408" cy="830997"/>
          </a:xfrm>
          <a:prstGeom prst="rect">
            <a:avLst/>
          </a:prstGeom>
          <a:noFill/>
        </p:spPr>
        <p:txBody>
          <a:bodyPr anchor="t" rtlCol="false" vert="horz" wrap="square" tIns="45720" lIns="91440" bIns="45720" rIns="91440">
            <a:spAutoFit/>
          </a:bodyPr>
          <a:lstStyle/>
          <a:p>
            <a:pPr algn="ctr" marL="0">
              <a:defRPr/>
            </a:pPr>
            <a:r>
              <a:rPr lang="zh-CN" b="true" i="false" sz="4800" baseline="0" u="none" altLang="en-US">
                <a:solidFill>
                  <a:schemeClr val="bg1"/>
                </a:solidFill>
                <a:latin typeface="微软雅黑"/>
                <a:ea typeface="微软雅黑"/>
              </a:rPr>
              <a:t>图</a:t>
            </a:r>
            <a:endParaRPr lang="en-US" sz="1100"/>
          </a:p>
        </p:txBody>
      </p:sp>
      <p:sp>
        <p:nvSpPr>
          <p:cNvPr name="Freeform 4" id="4"/>
          <p:cNvSpPr/>
          <p:nvPr/>
        </p:nvSpPr>
        <p:spPr>
          <a:xfrm>
            <a:off x="650240" y="893196"/>
            <a:ext cx="378355" cy="378355"/>
          </a:xfrm>
          <a:custGeom>
            <a:avLst/>
            <a:gdLst/>
            <a:ahLst/>
            <a:cxnLst/>
            <a:rect r="r" b="b" t="t" l="l"/>
            <a:pathLst>
              <a:path w="634790" h="634790" stroke="true" fill="norm" extrusionOk="true">
                <a:moveTo>
                  <a:pt x="268240" y="235406"/>
                </a:moveTo>
                <a:lnTo>
                  <a:pt x="268240" y="486178"/>
                </a:lnTo>
                <a:lnTo>
                  <a:pt x="368960" y="486178"/>
                </a:lnTo>
                <a:lnTo>
                  <a:pt x="368960" y="235406"/>
                </a:lnTo>
                <a:close/>
                <a:moveTo>
                  <a:pt x="319337" y="127942"/>
                </a:moveTo>
                <a:cubicBezTo>
                  <a:pt x="305602" y="127942"/>
                  <a:pt x="294063" y="132613"/>
                  <a:pt x="284721" y="141955"/>
                </a:cubicBezTo>
                <a:cubicBezTo>
                  <a:pt x="275379" y="151296"/>
                  <a:pt x="270709" y="162667"/>
                  <a:pt x="270709" y="176066"/>
                </a:cubicBezTo>
                <a:cubicBezTo>
                  <a:pt x="270709" y="189754"/>
                  <a:pt x="275391" y="201281"/>
                  <a:pt x="284757" y="210646"/>
                </a:cubicBezTo>
                <a:cubicBezTo>
                  <a:pt x="294122" y="220012"/>
                  <a:pt x="305649" y="224695"/>
                  <a:pt x="319337" y="224695"/>
                </a:cubicBezTo>
                <a:cubicBezTo>
                  <a:pt x="332973" y="224695"/>
                  <a:pt x="344487" y="219999"/>
                  <a:pt x="353878" y="210607"/>
                </a:cubicBezTo>
                <a:cubicBezTo>
                  <a:pt x="363270" y="201215"/>
                  <a:pt x="367966" y="189701"/>
                  <a:pt x="367966" y="176066"/>
                </a:cubicBezTo>
                <a:cubicBezTo>
                  <a:pt x="367966" y="162719"/>
                  <a:pt x="363282" y="151362"/>
                  <a:pt x="353914" y="141994"/>
                </a:cubicBezTo>
                <a:cubicBezTo>
                  <a:pt x="344546" y="132626"/>
                  <a:pt x="333020" y="127942"/>
                  <a:pt x="319337" y="127942"/>
                </a:cubicBezTo>
                <a:close/>
                <a:moveTo>
                  <a:pt x="317395" y="0"/>
                </a:moveTo>
                <a:cubicBezTo>
                  <a:pt x="492687" y="0"/>
                  <a:pt x="634790" y="142103"/>
                  <a:pt x="634790" y="317395"/>
                </a:cubicBezTo>
                <a:cubicBezTo>
                  <a:pt x="634790" y="492687"/>
                  <a:pt x="492687" y="634790"/>
                  <a:pt x="317395" y="634790"/>
                </a:cubicBezTo>
                <a:cubicBezTo>
                  <a:pt x="142103" y="634790"/>
                  <a:pt x="0" y="492687"/>
                  <a:pt x="0" y="317395"/>
                </a:cubicBezTo>
                <a:cubicBezTo>
                  <a:pt x="0" y="142103"/>
                  <a:pt x="142103" y="0"/>
                  <a:pt x="317395" y="0"/>
                </a:cubicBezTo>
                <a:close/>
              </a:path>
            </a:pathLst>
          </a:custGeom>
          <a:solidFill>
            <a:schemeClr val="bg1"/>
          </a:solidFill>
          <a:ln>
            <a:noFill/>
          </a:ln>
        </p:spPr>
        <p:txBody>
          <a:bodyPr vert="horz" anchor="ctr" wrap="square" tIns="45720" lIns="91440" bIns="45720" rIns="91440">
            <a:noAutofit/>
          </a:bodyPr>
          <a:p>
            <a:pPr algn="ctr" marL="0"/>
          </a:p>
        </p:txBody>
      </p:sp>
      <p:sp>
        <p:nvSpPr>
          <p:cNvPr name="TextBox 5" id="5"/>
          <p:cNvSpPr txBox="true"/>
          <p:nvPr/>
        </p:nvSpPr>
        <p:spPr>
          <a:xfrm>
            <a:off x="1051967" y="890172"/>
            <a:ext cx="2569777" cy="400110"/>
          </a:xfrm>
          <a:prstGeom prst="rect">
            <a:avLst/>
          </a:prstGeom>
          <a:noFill/>
        </p:spPr>
        <p:txBody>
          <a:bodyPr anchor="t" rtlCol="false" vert="horz" wrap="square" tIns="45720" lIns="91440" bIns="45720" rIns="91440">
            <a:spAutoFit/>
          </a:bodyPr>
          <a:lstStyle/>
          <a:p>
            <a:pPr algn="l" marL="0">
              <a:defRPr/>
            </a:pPr>
            <a:r>
              <a:rPr lang="en-US" b="true" i="false" sz="2000" baseline="0" u="none">
                <a:solidFill>
                  <a:schemeClr val="bg1"/>
                </a:solidFill>
                <a:latin typeface="微软雅黑"/>
                <a:ea typeface="微软雅黑"/>
              </a:rPr>
              <a:t>YOUR LOGO</a:t>
            </a:r>
            <a:endParaRPr lang="en-US" sz="1100"/>
          </a:p>
        </p:txBody>
      </p:sp>
      <p:sp>
        <p:nvSpPr>
          <p:cNvPr name="TextBox 6" id="6"/>
          <p:cNvSpPr txBox="true"/>
          <p:nvPr/>
        </p:nvSpPr>
        <p:spPr>
          <a:xfrm>
            <a:off x="4283777" y="4106376"/>
            <a:ext cx="3624446" cy="369332"/>
          </a:xfrm>
          <a:prstGeom prst="rect">
            <a:avLst/>
          </a:prstGeom>
          <a:noFill/>
        </p:spPr>
        <p:txBody>
          <a:bodyPr anchor="t" rtlCol="false" vert="horz" wrap="square" tIns="45720" lIns="91440" bIns="45720" rIns="91440">
            <a:spAutoFit/>
          </a:bodyPr>
          <a:lstStyle/>
          <a:p>
            <a:pPr algn="l" marL="0">
              <a:defRPr/>
            </a:pPr>
            <a:r>
              <a:rPr lang="en-US" b="false" i="false" sz="1800" baseline="0" u="none">
                <a:solidFill>
                  <a:schemeClr val="bg1"/>
                </a:solidFill>
                <a:latin typeface="微软雅黑"/>
                <a:ea typeface="微软雅黑"/>
              </a:rPr>
              <a:t>Power point design</a:t>
            </a:r>
            <a:endParaRPr lang="en-US" sz="1100"/>
          </a:p>
        </p:txBody>
      </p:sp>
      <p:cxnSp>
        <p:nvCxnSpPr>
          <p:cNvPr name="Connector 7" id="7"/>
          <p:cNvCxnSpPr/>
          <p:nvPr/>
        </p:nvCxnSpPr>
        <p:spPr>
          <a:xfrm>
            <a:off x="6647813" y="4291042"/>
            <a:ext cx="1260410" cy="0"/>
          </a:xfrm>
          <a:prstGeom prst="line">
            <a:avLst/>
          </a:prstGeom>
          <a:ln w="9525">
            <a:solidFill>
              <a:schemeClr val="bg1"/>
            </a:solidFill>
          </a:ln>
        </p:spPr>
      </p:cxnSp>
      <p:grpSp>
        <p:nvGrpSpPr>
          <p:cNvPr name="Group 8" id="8"/>
          <p:cNvGrpSpPr/>
          <p:nvPr/>
        </p:nvGrpSpPr>
        <p:grpSpPr>
          <a:xfrm>
            <a:off x="4682966" y="1963176"/>
            <a:ext cx="2826067" cy="858555"/>
            <a:chOff x="4263846" y="2243095"/>
            <a:chExt cx="2826067" cy="858555"/>
          </a:xfrm>
        </p:grpSpPr>
        <p:sp>
          <p:nvSpPr>
            <p:cNvPr name="TextBox 9" id="9"/>
            <p:cNvSpPr txBox="true"/>
            <p:nvPr/>
          </p:nvSpPr>
          <p:spPr>
            <a:xfrm>
              <a:off x="4263846" y="2270653"/>
              <a:ext cx="1988820" cy="830997"/>
            </a:xfrm>
            <a:prstGeom prst="rect">
              <a:avLst/>
            </a:prstGeom>
            <a:noFill/>
          </p:spPr>
          <p:txBody>
            <a:bodyPr anchor="t" rtlCol="false" vert="horz" wrap="square" tIns="45720" lIns="91440" bIns="45720" rIns="91440">
              <a:spAutoFit/>
            </a:bodyPr>
            <a:lstStyle/>
            <a:p>
              <a:pPr algn="l" marL="0">
                <a:defRPr/>
              </a:pPr>
              <a:r>
                <a:rPr lang="en-US" b="false" i="false" sz="4800" baseline="0" u="none">
                  <a:solidFill>
                    <a:schemeClr val="bg1"/>
                  </a:solidFill>
                  <a:latin typeface="微软雅黑"/>
                  <a:ea typeface="微软雅黑"/>
                </a:rPr>
                <a:t>PART</a:t>
              </a:r>
              <a:endParaRPr lang="en-US" sz="1100"/>
            </a:p>
          </p:txBody>
        </p:sp>
        <p:sp>
          <p:nvSpPr>
            <p:cNvPr name="TextBox 10" id="10"/>
            <p:cNvSpPr txBox="true"/>
            <p:nvPr/>
          </p:nvSpPr>
          <p:spPr>
            <a:xfrm>
              <a:off x="6008599" y="2243095"/>
              <a:ext cx="1081314" cy="830997"/>
            </a:xfrm>
            <a:prstGeom prst="rect">
              <a:avLst/>
            </a:prstGeom>
            <a:noFill/>
          </p:spPr>
          <p:txBody>
            <a:bodyPr anchor="t" rtlCol="false" vert="horz" wrap="square" tIns="45720" lIns="91440" bIns="45720" rIns="91440">
              <a:spAutoFit/>
            </a:bodyPr>
            <a:lstStyle/>
            <a:p>
              <a:pPr algn="l" marL="0">
                <a:defRPr/>
              </a:pPr>
              <a:r>
                <a:rPr lang="en-US" b="false" i="false" sz="4800" baseline="0" u="none">
                  <a:solidFill>
                    <a:schemeClr val="bg1"/>
                  </a:solidFill>
                  <a:latin typeface="微软雅黑"/>
                  <a:ea typeface="微软雅黑"/>
                </a:rPr>
                <a:t>05</a:t>
              </a:r>
              <a:endParaRPr lang="en-US" sz="1100"/>
            </a:p>
          </p:txBody>
        </p:sp>
      </p:grpSp>
      <p:sp>
        <p:nvSpPr>
          <p:cNvPr name="AutoShape 11" id="11"/>
          <p:cNvSpPr/>
          <p:nvPr/>
        </p:nvSpPr>
        <p:spPr>
          <a:xfrm>
            <a:off x="10795000" y="6540500"/>
            <a:ext cx="1270000" cy="190500"/>
          </a:xfrm>
          <a:prstGeom prst="rect">
            <a:avLst/>
          </a:prstGeom>
          <a:solidFill>
            <a:srgbClr val="000000">
              <a:alpha val="0"/>
            </a:srgbClr>
          </a:solidFill>
        </p:spPr>
        <p:txBody>
          <a:bodyPr anchor="t" rtlCol="false"/>
          <a:lstStyle/>
          <a:p>
            <a:pPr algn="r">
              <a:defRPr/>
            </a:pPr>
            <a:r>
              <a:rPr lang="en-US" b="false" i="false" sz="800" baseline="0" u="none">
                <a:solidFill>
                  <a:srgbClr val="808080"/>
                </a:solidFill>
                <a:latin typeface="Microsoft YaHei"/>
                <a:ea typeface="Microsoft YaHei"/>
              </a:rPr>
              <a:t>内容由AI生成</a:t>
            </a:r>
            <a:endParaRPr lang="en-US" sz="1100"/>
          </a:p>
        </p:txBody>
      </p:sp>
    </p:spTree>
  </p:cSld>
  <p:clrMapOvr>
    <a:masterClrMapping/>
  </p:clrMapOvr>
</p:sld>
</file>

<file path=ppt/slides/slide24.xml><?xml version="1.0" encoding="utf-8"?>
<p:sld xmlns:p="http://schemas.openxmlformats.org/presentationml/2006/main" xmlns:a="http://schemas.openxmlformats.org/drawingml/2006/main">
  <p:cSld>
    <p:bg>
      <p:bgPr>
        <a:solidFill>
          <a:schemeClr val="bg1"/>
        </a:solidFill>
      </p:bgPr>
    </p:bg>
    <p:spTree>
      <p:nvGrpSpPr>
        <p:cNvPr id="1" name=""/>
        <p:cNvGrpSpPr/>
        <p:nvPr/>
      </p:nvGrpSpPr>
      <p:grpSpPr>
        <a:xfrm>
          <a:off x="0" y="0"/>
          <a:ext cx="0" cy="0"/>
          <a:chOff x="0" y="0"/>
          <a:chExt cx="0" cy="0"/>
        </a:xfrm>
      </p:grpSpPr>
      <p:grpSp>
        <p:nvGrpSpPr>
          <p:cNvPr name="Group 2" id="2"/>
          <p:cNvGrpSpPr/>
          <p:nvPr/>
        </p:nvGrpSpPr>
        <p:grpSpPr>
          <a:xfrm>
            <a:off x="709138" y="2001451"/>
            <a:ext cx="3982654" cy="3982654"/>
            <a:chOff x="6240781" y="1363135"/>
            <a:chExt cx="4963584" cy="4963584"/>
          </a:xfrm>
        </p:grpSpPr>
        <p:grpSp>
          <p:nvGrpSpPr>
            <p:cNvPr name="Group 3" id="3"/>
            <p:cNvGrpSpPr/>
            <p:nvPr/>
          </p:nvGrpSpPr>
          <p:grpSpPr>
            <a:xfrm>
              <a:off x="6240781" y="1363135"/>
              <a:ext cx="3255433" cy="2434167"/>
              <a:chOff x="4657725" y="946151"/>
              <a:chExt cx="2441575" cy="1825625"/>
            </a:xfrm>
          </p:grpSpPr>
          <p:sp>
            <p:nvSpPr>
              <p:cNvPr name="Freeform 4" id="4"/>
              <p:cNvSpPr/>
              <p:nvPr/>
            </p:nvSpPr>
            <p:spPr>
              <a:xfrm>
                <a:off x="5953125" y="2046288"/>
                <a:ext cx="1146175" cy="593725"/>
              </a:xfrm>
              <a:custGeom>
                <a:avLst/>
                <a:gdLst/>
                <a:ahLst/>
                <a:cxnLst/>
                <a:rect r="r" b="b" t="t" l="l"/>
                <a:pathLst>
                  <a:path w="904" h="468" stroke="true" fill="norm" extrusionOk="true">
                    <a:moveTo>
                      <a:pt x="849" y="0"/>
                    </a:moveTo>
                    <a:cubicBezTo>
                      <a:pt x="893" y="0"/>
                      <a:pt x="904" y="26"/>
                      <a:pt x="873" y="58"/>
                    </a:cubicBezTo>
                    <a:cubicBezTo>
                      <a:pt x="507" y="436"/>
                      <a:pt x="507" y="436"/>
                      <a:pt x="507" y="436"/>
                    </a:cubicBezTo>
                    <a:cubicBezTo>
                      <a:pt x="477" y="468"/>
                      <a:pt x="427" y="468"/>
                      <a:pt x="396" y="436"/>
                    </a:cubicBezTo>
                    <a:cubicBezTo>
                      <a:pt x="30" y="58"/>
                      <a:pt x="30" y="58"/>
                      <a:pt x="30" y="58"/>
                    </a:cubicBezTo>
                    <a:cubicBezTo>
                      <a:pt x="0" y="26"/>
                      <a:pt x="11" y="0"/>
                      <a:pt x="55" y="0"/>
                    </a:cubicBezTo>
                    <a:lnTo>
                      <a:pt x="849" y="0"/>
                    </a:lnTo>
                    <a:close/>
                  </a:path>
                </a:pathLst>
              </a:custGeom>
              <a:solidFill>
                <a:srgbClr val="008A55"/>
              </a:solidFill>
              <a:ln>
                <a:noFill/>
              </a:ln>
            </p:spPr>
            <p:txBody>
              <a:bodyPr vert="horz" anchor="t" wrap="square" tIns="60960" lIns="121920" bIns="60960" rIns="121920">
                <a:prstTxWarp prst="textNoShape">
                  <a:avLst/>
                </a:prstTxWarp>
              </a:bodyPr>
              <a:p>
                <a:pPr algn="l" marL="0"/>
              </a:p>
            </p:txBody>
          </p:sp>
          <p:sp>
            <p:nvSpPr>
              <p:cNvPr name="Freeform 5" id="5"/>
              <p:cNvSpPr/>
              <p:nvPr/>
            </p:nvSpPr>
            <p:spPr>
              <a:xfrm>
                <a:off x="4657725" y="946151"/>
                <a:ext cx="2151063" cy="1825625"/>
              </a:xfrm>
              <a:custGeom>
                <a:avLst/>
                <a:gdLst/>
                <a:ahLst/>
                <a:cxnLst/>
                <a:rect r="r" b="b" t="t" l="l"/>
                <a:pathLst>
                  <a:path w="1696" h="1440" stroke="true" fill="norm" extrusionOk="true">
                    <a:moveTo>
                      <a:pt x="848" y="0"/>
                    </a:moveTo>
                    <a:cubicBezTo>
                      <a:pt x="380" y="0"/>
                      <a:pt x="0" y="380"/>
                      <a:pt x="0" y="848"/>
                    </a:cubicBezTo>
                    <a:cubicBezTo>
                      <a:pt x="0" y="1078"/>
                      <a:pt x="92" y="1287"/>
                      <a:pt x="241" y="1440"/>
                    </a:cubicBezTo>
                    <a:cubicBezTo>
                      <a:pt x="374" y="1315"/>
                      <a:pt x="540" y="1235"/>
                      <a:pt x="718" y="1209"/>
                    </a:cubicBezTo>
                    <a:cubicBezTo>
                      <a:pt x="570" y="1156"/>
                      <a:pt x="464" y="1014"/>
                      <a:pt x="464" y="848"/>
                    </a:cubicBezTo>
                    <a:cubicBezTo>
                      <a:pt x="464" y="636"/>
                      <a:pt x="636" y="464"/>
                      <a:pt x="848" y="464"/>
                    </a:cubicBezTo>
                    <a:cubicBezTo>
                      <a:pt x="1060" y="464"/>
                      <a:pt x="1232" y="636"/>
                      <a:pt x="1232" y="848"/>
                    </a:cubicBezTo>
                    <a:cubicBezTo>
                      <a:pt x="1232" y="889"/>
                      <a:pt x="1225" y="929"/>
                      <a:pt x="1213" y="966"/>
                    </a:cubicBezTo>
                    <a:cubicBezTo>
                      <a:pt x="1293" y="966"/>
                      <a:pt x="1293" y="966"/>
                      <a:pt x="1293" y="966"/>
                    </a:cubicBezTo>
                    <a:cubicBezTo>
                      <a:pt x="1293" y="1062"/>
                      <a:pt x="1293" y="1062"/>
                      <a:pt x="1293" y="1062"/>
                    </a:cubicBezTo>
                    <a:cubicBezTo>
                      <a:pt x="1669" y="1062"/>
                      <a:pt x="1669" y="1062"/>
                      <a:pt x="1669" y="1062"/>
                    </a:cubicBezTo>
                    <a:cubicBezTo>
                      <a:pt x="1687" y="994"/>
                      <a:pt x="1696" y="922"/>
                      <a:pt x="1696" y="848"/>
                    </a:cubicBezTo>
                    <a:cubicBezTo>
                      <a:pt x="1696" y="380"/>
                      <a:pt x="1316" y="0"/>
                      <a:pt x="848" y="0"/>
                    </a:cubicBezTo>
                    <a:close/>
                  </a:path>
                </a:pathLst>
              </a:custGeom>
              <a:solidFill>
                <a:srgbClr val="008A55"/>
              </a:solidFill>
              <a:ln>
                <a:noFill/>
              </a:ln>
            </p:spPr>
            <p:txBody>
              <a:bodyPr vert="horz" anchor="t" wrap="square" tIns="60960" lIns="121920" bIns="60960" rIns="121920">
                <a:prstTxWarp prst="textNoShape">
                  <a:avLst/>
                </a:prstTxWarp>
              </a:bodyPr>
              <a:p>
                <a:pPr algn="l" marL="0"/>
              </a:p>
            </p:txBody>
          </p:sp>
        </p:grpSp>
        <p:grpSp>
          <p:nvGrpSpPr>
            <p:cNvPr name="Group 6" id="6"/>
            <p:cNvGrpSpPr/>
            <p:nvPr/>
          </p:nvGrpSpPr>
          <p:grpSpPr>
            <a:xfrm>
              <a:off x="6240781" y="3111502"/>
              <a:ext cx="2434167" cy="3215217"/>
              <a:chOff x="4657725" y="2257426"/>
              <a:chExt cx="1825625" cy="2411413"/>
            </a:xfrm>
          </p:grpSpPr>
          <p:sp>
            <p:nvSpPr>
              <p:cNvPr name="Freeform 7" id="7"/>
              <p:cNvSpPr/>
              <p:nvPr/>
            </p:nvSpPr>
            <p:spPr>
              <a:xfrm>
                <a:off x="5753100" y="2257426"/>
                <a:ext cx="593725" cy="1146175"/>
              </a:xfrm>
              <a:custGeom>
                <a:avLst/>
                <a:gdLst/>
                <a:ahLst/>
                <a:cxnLst/>
                <a:rect r="r" b="b" t="t" l="l"/>
                <a:pathLst>
                  <a:path w="468" h="904" stroke="true" fill="norm" extrusionOk="true">
                    <a:moveTo>
                      <a:pt x="0" y="55"/>
                    </a:moveTo>
                    <a:cubicBezTo>
                      <a:pt x="0" y="11"/>
                      <a:pt x="26" y="0"/>
                      <a:pt x="57" y="30"/>
                    </a:cubicBezTo>
                    <a:cubicBezTo>
                      <a:pt x="436" y="397"/>
                      <a:pt x="436" y="397"/>
                      <a:pt x="436" y="397"/>
                    </a:cubicBezTo>
                    <a:cubicBezTo>
                      <a:pt x="468" y="427"/>
                      <a:pt x="468" y="477"/>
                      <a:pt x="436" y="508"/>
                    </a:cubicBezTo>
                    <a:cubicBezTo>
                      <a:pt x="57" y="874"/>
                      <a:pt x="57" y="874"/>
                      <a:pt x="57" y="874"/>
                    </a:cubicBezTo>
                    <a:cubicBezTo>
                      <a:pt x="26" y="904"/>
                      <a:pt x="0" y="893"/>
                      <a:pt x="0" y="849"/>
                    </a:cubicBezTo>
                    <a:lnTo>
                      <a:pt x="0" y="55"/>
                    </a:lnTo>
                    <a:close/>
                  </a:path>
                </a:pathLst>
              </a:custGeom>
              <a:solidFill>
                <a:srgbClr val="385723"/>
              </a:solidFill>
              <a:ln>
                <a:noFill/>
              </a:ln>
            </p:spPr>
            <p:txBody>
              <a:bodyPr vert="horz" anchor="t" wrap="square" tIns="60960" lIns="121920" bIns="60960" rIns="121920">
                <a:prstTxWarp prst="textNoShape">
                  <a:avLst/>
                </a:prstTxWarp>
              </a:bodyPr>
              <a:p>
                <a:pPr algn="l" marL="0"/>
              </a:p>
            </p:txBody>
          </p:sp>
          <p:sp>
            <p:nvSpPr>
              <p:cNvPr name="Freeform 8" id="8"/>
              <p:cNvSpPr/>
              <p:nvPr/>
            </p:nvSpPr>
            <p:spPr>
              <a:xfrm>
                <a:off x="4657725" y="2517776"/>
                <a:ext cx="1825625" cy="2151063"/>
              </a:xfrm>
              <a:custGeom>
                <a:avLst/>
                <a:gdLst/>
                <a:ahLst/>
                <a:cxnLst/>
                <a:rect r="r" b="b" t="t" l="l"/>
                <a:pathLst>
                  <a:path w="1440" h="1696" stroke="true" fill="norm" extrusionOk="true">
                    <a:moveTo>
                      <a:pt x="1209" y="978"/>
                    </a:moveTo>
                    <a:cubicBezTo>
                      <a:pt x="1156" y="1126"/>
                      <a:pt x="1014" y="1232"/>
                      <a:pt x="848" y="1232"/>
                    </a:cubicBezTo>
                    <a:cubicBezTo>
                      <a:pt x="636" y="1232"/>
                      <a:pt x="464" y="1060"/>
                      <a:pt x="464" y="848"/>
                    </a:cubicBezTo>
                    <a:cubicBezTo>
                      <a:pt x="464" y="636"/>
                      <a:pt x="636" y="464"/>
                      <a:pt x="848" y="464"/>
                    </a:cubicBezTo>
                    <a:cubicBezTo>
                      <a:pt x="890" y="464"/>
                      <a:pt x="931" y="471"/>
                      <a:pt x="969" y="483"/>
                    </a:cubicBezTo>
                    <a:cubicBezTo>
                      <a:pt x="969" y="9"/>
                      <a:pt x="969" y="9"/>
                      <a:pt x="969" y="9"/>
                    </a:cubicBezTo>
                    <a:cubicBezTo>
                      <a:pt x="929" y="3"/>
                      <a:pt x="889" y="0"/>
                      <a:pt x="848" y="0"/>
                    </a:cubicBezTo>
                    <a:cubicBezTo>
                      <a:pt x="380" y="0"/>
                      <a:pt x="0" y="380"/>
                      <a:pt x="0" y="848"/>
                    </a:cubicBezTo>
                    <a:cubicBezTo>
                      <a:pt x="0" y="1316"/>
                      <a:pt x="380" y="1696"/>
                      <a:pt x="848" y="1696"/>
                    </a:cubicBezTo>
                    <a:cubicBezTo>
                      <a:pt x="1078" y="1696"/>
                      <a:pt x="1287" y="1604"/>
                      <a:pt x="1440" y="1455"/>
                    </a:cubicBezTo>
                    <a:cubicBezTo>
                      <a:pt x="1315" y="1322"/>
                      <a:pt x="1235" y="1156"/>
                      <a:pt x="1209" y="978"/>
                    </a:cubicBezTo>
                    <a:close/>
                  </a:path>
                </a:pathLst>
              </a:custGeom>
              <a:solidFill>
                <a:srgbClr val="385723"/>
              </a:solidFill>
              <a:ln>
                <a:noFill/>
              </a:ln>
            </p:spPr>
            <p:txBody>
              <a:bodyPr vert="horz" anchor="t" wrap="square" tIns="60960" lIns="121920" bIns="60960" rIns="121920">
                <a:prstTxWarp prst="textNoShape">
                  <a:avLst/>
                </a:prstTxWarp>
              </a:bodyPr>
              <a:p>
                <a:pPr algn="l" marL="0"/>
              </a:p>
            </p:txBody>
          </p:sp>
        </p:grpSp>
        <p:grpSp>
          <p:nvGrpSpPr>
            <p:cNvPr name="Group 9" id="9"/>
            <p:cNvGrpSpPr/>
            <p:nvPr/>
          </p:nvGrpSpPr>
          <p:grpSpPr>
            <a:xfrm>
              <a:off x="7967980" y="3892551"/>
              <a:ext cx="3236384" cy="2434167"/>
              <a:chOff x="5953125" y="2843213"/>
              <a:chExt cx="2427288" cy="1825625"/>
            </a:xfrm>
          </p:grpSpPr>
          <p:sp>
            <p:nvSpPr>
              <p:cNvPr name="Freeform 10" id="10"/>
              <p:cNvSpPr/>
              <p:nvPr/>
            </p:nvSpPr>
            <p:spPr>
              <a:xfrm>
                <a:off x="5953125" y="2989263"/>
                <a:ext cx="1146175" cy="593725"/>
              </a:xfrm>
              <a:custGeom>
                <a:avLst/>
                <a:gdLst/>
                <a:ahLst/>
                <a:cxnLst/>
                <a:rect r="r" b="b" t="t" l="l"/>
                <a:pathLst>
                  <a:path w="904" h="468" stroke="true" fill="norm" extrusionOk="true">
                    <a:moveTo>
                      <a:pt x="55" y="468"/>
                    </a:moveTo>
                    <a:cubicBezTo>
                      <a:pt x="11" y="468"/>
                      <a:pt x="0" y="442"/>
                      <a:pt x="30" y="411"/>
                    </a:cubicBezTo>
                    <a:cubicBezTo>
                      <a:pt x="396" y="32"/>
                      <a:pt x="396" y="32"/>
                      <a:pt x="396" y="32"/>
                    </a:cubicBezTo>
                    <a:cubicBezTo>
                      <a:pt x="427" y="0"/>
                      <a:pt x="477" y="0"/>
                      <a:pt x="507" y="32"/>
                    </a:cubicBezTo>
                    <a:cubicBezTo>
                      <a:pt x="873" y="411"/>
                      <a:pt x="873" y="411"/>
                      <a:pt x="873" y="411"/>
                    </a:cubicBezTo>
                    <a:cubicBezTo>
                      <a:pt x="904" y="442"/>
                      <a:pt x="893" y="468"/>
                      <a:pt x="849" y="468"/>
                    </a:cubicBezTo>
                    <a:lnTo>
                      <a:pt x="55" y="468"/>
                    </a:lnTo>
                    <a:close/>
                  </a:path>
                </a:pathLst>
              </a:custGeom>
              <a:solidFill>
                <a:schemeClr val="accent4"/>
              </a:solidFill>
              <a:ln>
                <a:noFill/>
              </a:ln>
            </p:spPr>
            <p:txBody>
              <a:bodyPr vert="horz" anchor="t" wrap="square" tIns="60960" lIns="121920" bIns="60960" rIns="121920">
                <a:prstTxWarp prst="textNoShape">
                  <a:avLst/>
                </a:prstTxWarp>
              </a:bodyPr>
              <a:p>
                <a:pPr algn="l" marL="0"/>
              </a:p>
            </p:txBody>
          </p:sp>
          <p:sp>
            <p:nvSpPr>
              <p:cNvPr name="Freeform 11" id="11"/>
              <p:cNvSpPr/>
              <p:nvPr/>
            </p:nvSpPr>
            <p:spPr>
              <a:xfrm>
                <a:off x="6230938" y="2843213"/>
                <a:ext cx="2149475" cy="1825625"/>
              </a:xfrm>
              <a:custGeom>
                <a:avLst/>
                <a:gdLst/>
                <a:ahLst/>
                <a:cxnLst/>
                <a:rect r="r" b="b" t="t" l="l"/>
                <a:pathLst>
                  <a:path w="1696" h="1440" stroke="true" fill="norm" extrusionOk="true">
                    <a:moveTo>
                      <a:pt x="978" y="231"/>
                    </a:moveTo>
                    <a:cubicBezTo>
                      <a:pt x="1126" y="284"/>
                      <a:pt x="1232" y="426"/>
                      <a:pt x="1232" y="592"/>
                    </a:cubicBezTo>
                    <a:cubicBezTo>
                      <a:pt x="1232" y="804"/>
                      <a:pt x="1060" y="976"/>
                      <a:pt x="848" y="976"/>
                    </a:cubicBezTo>
                    <a:cubicBezTo>
                      <a:pt x="636" y="976"/>
                      <a:pt x="464" y="804"/>
                      <a:pt x="464" y="592"/>
                    </a:cubicBezTo>
                    <a:cubicBezTo>
                      <a:pt x="464" y="546"/>
                      <a:pt x="472" y="503"/>
                      <a:pt x="487" y="462"/>
                    </a:cubicBezTo>
                    <a:cubicBezTo>
                      <a:pt x="10" y="462"/>
                      <a:pt x="10" y="462"/>
                      <a:pt x="10" y="462"/>
                    </a:cubicBezTo>
                    <a:cubicBezTo>
                      <a:pt x="3" y="504"/>
                      <a:pt x="0" y="548"/>
                      <a:pt x="0" y="592"/>
                    </a:cubicBezTo>
                    <a:cubicBezTo>
                      <a:pt x="0" y="1060"/>
                      <a:pt x="380" y="1440"/>
                      <a:pt x="848" y="1440"/>
                    </a:cubicBezTo>
                    <a:cubicBezTo>
                      <a:pt x="1316" y="1440"/>
                      <a:pt x="1696" y="1060"/>
                      <a:pt x="1696" y="592"/>
                    </a:cubicBezTo>
                    <a:cubicBezTo>
                      <a:pt x="1696" y="362"/>
                      <a:pt x="1604" y="153"/>
                      <a:pt x="1455" y="0"/>
                    </a:cubicBezTo>
                    <a:cubicBezTo>
                      <a:pt x="1322" y="125"/>
                      <a:pt x="1156" y="205"/>
                      <a:pt x="978" y="231"/>
                    </a:cubicBezTo>
                    <a:close/>
                  </a:path>
                </a:pathLst>
              </a:custGeom>
              <a:solidFill>
                <a:schemeClr val="accent4"/>
              </a:solidFill>
              <a:ln>
                <a:noFill/>
              </a:ln>
            </p:spPr>
            <p:txBody>
              <a:bodyPr vert="horz" anchor="t" wrap="square" tIns="60960" lIns="121920" bIns="60960" rIns="121920">
                <a:prstTxWarp prst="textNoShape">
                  <a:avLst/>
                </a:prstTxWarp>
              </a:bodyPr>
              <a:p>
                <a:pPr algn="l" marL="0"/>
              </a:p>
            </p:txBody>
          </p:sp>
        </p:grpSp>
        <p:grpSp>
          <p:nvGrpSpPr>
            <p:cNvPr name="Group 12" id="12"/>
            <p:cNvGrpSpPr/>
            <p:nvPr/>
          </p:nvGrpSpPr>
          <p:grpSpPr>
            <a:xfrm>
              <a:off x="8770198" y="1363135"/>
              <a:ext cx="2434167" cy="3276600"/>
              <a:chOff x="6554788" y="946151"/>
              <a:chExt cx="1825625" cy="2457450"/>
            </a:xfrm>
          </p:grpSpPr>
          <p:sp>
            <p:nvSpPr>
              <p:cNvPr name="Freeform 13" id="13"/>
              <p:cNvSpPr/>
              <p:nvPr/>
            </p:nvSpPr>
            <p:spPr>
              <a:xfrm>
                <a:off x="6691313" y="2257426"/>
                <a:ext cx="593725" cy="1146175"/>
              </a:xfrm>
              <a:custGeom>
                <a:avLst/>
                <a:gdLst/>
                <a:ahLst/>
                <a:cxnLst/>
                <a:rect r="r" b="b" t="t" l="l"/>
                <a:pathLst>
                  <a:path w="468" h="904" stroke="true" fill="norm" extrusionOk="true">
                    <a:moveTo>
                      <a:pt x="468" y="849"/>
                    </a:moveTo>
                    <a:cubicBezTo>
                      <a:pt x="468" y="893"/>
                      <a:pt x="442" y="904"/>
                      <a:pt x="410" y="874"/>
                    </a:cubicBezTo>
                    <a:cubicBezTo>
                      <a:pt x="32" y="508"/>
                      <a:pt x="32" y="508"/>
                      <a:pt x="32" y="508"/>
                    </a:cubicBezTo>
                    <a:cubicBezTo>
                      <a:pt x="0" y="477"/>
                      <a:pt x="0" y="427"/>
                      <a:pt x="32" y="397"/>
                    </a:cubicBezTo>
                    <a:cubicBezTo>
                      <a:pt x="410" y="30"/>
                      <a:pt x="410" y="30"/>
                      <a:pt x="410" y="30"/>
                    </a:cubicBezTo>
                    <a:cubicBezTo>
                      <a:pt x="442" y="0"/>
                      <a:pt x="468" y="11"/>
                      <a:pt x="468" y="55"/>
                    </a:cubicBezTo>
                    <a:lnTo>
                      <a:pt x="468" y="849"/>
                    </a:lnTo>
                    <a:close/>
                  </a:path>
                </a:pathLst>
              </a:custGeom>
              <a:solidFill>
                <a:srgbClr val="007611"/>
              </a:solidFill>
              <a:ln>
                <a:noFill/>
              </a:ln>
            </p:spPr>
            <p:txBody>
              <a:bodyPr vert="horz" anchor="t" wrap="square" tIns="60960" lIns="121920" bIns="60960" rIns="121920">
                <a:prstTxWarp prst="textNoShape">
                  <a:avLst/>
                </a:prstTxWarp>
              </a:bodyPr>
              <a:p>
                <a:pPr algn="l" marL="0"/>
              </a:p>
            </p:txBody>
          </p:sp>
          <p:sp>
            <p:nvSpPr>
              <p:cNvPr name="Freeform 14" id="14"/>
              <p:cNvSpPr/>
              <p:nvPr/>
            </p:nvSpPr>
            <p:spPr>
              <a:xfrm>
                <a:off x="6554788" y="946151"/>
                <a:ext cx="1825625" cy="2151063"/>
              </a:xfrm>
              <a:custGeom>
                <a:avLst/>
                <a:gdLst/>
                <a:ahLst/>
                <a:cxnLst/>
                <a:rect r="r" b="b" t="t" l="l"/>
                <a:pathLst>
                  <a:path w="1440" h="1696" stroke="true" fill="norm" extrusionOk="true">
                    <a:moveTo>
                      <a:pt x="592" y="0"/>
                    </a:moveTo>
                    <a:cubicBezTo>
                      <a:pt x="362" y="0"/>
                      <a:pt x="153" y="92"/>
                      <a:pt x="0" y="241"/>
                    </a:cubicBezTo>
                    <a:cubicBezTo>
                      <a:pt x="125" y="374"/>
                      <a:pt x="205" y="540"/>
                      <a:pt x="231" y="718"/>
                    </a:cubicBezTo>
                    <a:cubicBezTo>
                      <a:pt x="284" y="570"/>
                      <a:pt x="426" y="464"/>
                      <a:pt x="592" y="464"/>
                    </a:cubicBezTo>
                    <a:cubicBezTo>
                      <a:pt x="804" y="464"/>
                      <a:pt x="976" y="636"/>
                      <a:pt x="976" y="848"/>
                    </a:cubicBezTo>
                    <a:cubicBezTo>
                      <a:pt x="976" y="1060"/>
                      <a:pt x="804" y="1232"/>
                      <a:pt x="592" y="1232"/>
                    </a:cubicBezTo>
                    <a:cubicBezTo>
                      <a:pt x="543" y="1232"/>
                      <a:pt x="495" y="1223"/>
                      <a:pt x="452" y="1206"/>
                    </a:cubicBezTo>
                    <a:cubicBezTo>
                      <a:pt x="452" y="1300"/>
                      <a:pt x="452" y="1300"/>
                      <a:pt x="452" y="1300"/>
                    </a:cubicBezTo>
                    <a:cubicBezTo>
                      <a:pt x="389" y="1300"/>
                      <a:pt x="389" y="1300"/>
                      <a:pt x="389" y="1300"/>
                    </a:cubicBezTo>
                    <a:cubicBezTo>
                      <a:pt x="389" y="1671"/>
                      <a:pt x="389" y="1671"/>
                      <a:pt x="389" y="1671"/>
                    </a:cubicBezTo>
                    <a:cubicBezTo>
                      <a:pt x="454" y="1687"/>
                      <a:pt x="522" y="1696"/>
                      <a:pt x="592" y="1696"/>
                    </a:cubicBezTo>
                    <a:cubicBezTo>
                      <a:pt x="1060" y="1696"/>
                      <a:pt x="1440" y="1316"/>
                      <a:pt x="1440" y="848"/>
                    </a:cubicBezTo>
                    <a:cubicBezTo>
                      <a:pt x="1440" y="380"/>
                      <a:pt x="1060" y="0"/>
                      <a:pt x="592" y="0"/>
                    </a:cubicBezTo>
                    <a:close/>
                  </a:path>
                </a:pathLst>
              </a:custGeom>
              <a:solidFill>
                <a:srgbClr val="007611"/>
              </a:solidFill>
              <a:ln>
                <a:noFill/>
              </a:ln>
            </p:spPr>
            <p:txBody>
              <a:bodyPr vert="horz" anchor="t" wrap="square" tIns="60960" lIns="121920" bIns="60960" rIns="121920">
                <a:prstTxWarp prst="textNoShape">
                  <a:avLst/>
                </a:prstTxWarp>
              </a:bodyPr>
              <a:p>
                <a:pPr algn="l" marL="0"/>
              </a:p>
            </p:txBody>
          </p:sp>
        </p:grpSp>
      </p:grpSp>
      <p:cxnSp>
        <p:nvCxnSpPr>
          <p:cNvPr name="Connector 15" id="15"/>
          <p:cNvCxnSpPr/>
          <p:nvPr/>
        </p:nvCxnSpPr>
        <p:spPr>
          <a:xfrm>
            <a:off x="5438889" y="1338268"/>
            <a:ext cx="0" cy="799015"/>
          </a:xfrm>
          <a:prstGeom prst="line">
            <a:avLst/>
          </a:prstGeom>
          <a:ln w="127000" cmpd="sng">
            <a:solidFill>
              <a:srgbClr val="385723"/>
            </a:solidFill>
          </a:ln>
        </p:spPr>
      </p:cxnSp>
      <p:cxnSp>
        <p:nvCxnSpPr>
          <p:cNvPr name="Connector 16" id="16"/>
          <p:cNvCxnSpPr/>
          <p:nvPr/>
        </p:nvCxnSpPr>
        <p:spPr>
          <a:xfrm>
            <a:off x="5438889" y="2703738"/>
            <a:ext cx="0" cy="799015"/>
          </a:xfrm>
          <a:prstGeom prst="line">
            <a:avLst/>
          </a:prstGeom>
          <a:ln w="127000" cmpd="sng">
            <a:solidFill>
              <a:srgbClr val="007611"/>
            </a:solidFill>
          </a:ln>
        </p:spPr>
      </p:cxnSp>
      <p:cxnSp>
        <p:nvCxnSpPr>
          <p:cNvPr name="Connector 17" id="17"/>
          <p:cNvCxnSpPr/>
          <p:nvPr/>
        </p:nvCxnSpPr>
        <p:spPr>
          <a:xfrm>
            <a:off x="5438889" y="3992778"/>
            <a:ext cx="0" cy="798910"/>
          </a:xfrm>
          <a:prstGeom prst="line">
            <a:avLst/>
          </a:prstGeom>
          <a:ln w="127000" cmpd="sng">
            <a:solidFill>
              <a:srgbClr val="008A55"/>
            </a:solidFill>
          </a:ln>
        </p:spPr>
      </p:cxnSp>
      <p:cxnSp>
        <p:nvCxnSpPr>
          <p:cNvPr name="Connector 18" id="18"/>
          <p:cNvCxnSpPr/>
          <p:nvPr/>
        </p:nvCxnSpPr>
        <p:spPr>
          <a:xfrm>
            <a:off x="5438889" y="5421586"/>
            <a:ext cx="0" cy="798910"/>
          </a:xfrm>
          <a:prstGeom prst="line">
            <a:avLst/>
          </a:prstGeom>
          <a:ln w="127000" cmpd="sng">
            <a:solidFill>
              <a:schemeClr val="accent4"/>
            </a:solidFill>
          </a:ln>
        </p:spPr>
      </p:cxnSp>
      <p:sp>
        <p:nvSpPr>
          <p:cNvPr name="TextBox 19" id="19"/>
          <p:cNvSpPr txBox="true"/>
          <p:nvPr/>
        </p:nvSpPr>
        <p:spPr>
          <a:xfrm>
            <a:off x="5539433" y="1427490"/>
            <a:ext cx="6157263" cy="890693"/>
          </a:xfrm>
          <a:prstGeom prst="rect">
            <a:avLst/>
          </a:prstGeom>
          <a:noFill/>
        </p:spPr>
        <p:txBody>
          <a:bodyPr anchor="t" rtlCol="false" vert="horz" wrap="square" tIns="45720" lIns="91440" bIns="45720" rIns="91440">
            <a:spAutoFit/>
          </a:bodyPr>
          <a:lstStyle/>
          <a:p>
            <a:pPr algn="l" marL="0">
              <a:lnSpc>
                <a:spcPct val="150000"/>
              </a:lnSpc>
              <a:defRPr/>
            </a:pPr>
            <a:r>
              <a:rPr lang="zh-CN" b="false" i="false" sz="1200" baseline="0" u="none" altLang="en-US">
                <a:solidFill>
                  <a:schemeClr val="tx1"/>
                </a:solidFill>
                <a:latin typeface="微软雅黑"/>
                <a:ea typeface="微软雅黑"/>
              </a:rPr>
              <a:t>图是由顶点集合V和边集合E组成的数据结构。分为有向图（边有方向）和无向图（边无方向）。完全图：任意两个顶点之间都有边。权：边上的数值。子图：部分顶点和边构成的图。</a:t>
            </a:r>
            <a:endParaRPr lang="en-US" sz="1100"/>
          </a:p>
        </p:txBody>
      </p:sp>
      <p:sp>
        <p:nvSpPr>
          <p:cNvPr name="TextBox 20" id="20"/>
          <p:cNvSpPr txBox="true"/>
          <p:nvPr/>
        </p:nvSpPr>
        <p:spPr>
          <a:xfrm>
            <a:off x="5539434" y="1173930"/>
            <a:ext cx="4814238" cy="307777"/>
          </a:xfrm>
          <a:prstGeom prst="rect">
            <a:avLst/>
          </a:prstGeom>
          <a:noFill/>
        </p:spPr>
        <p:txBody>
          <a:bodyPr anchor="t" rtlCol="false" vert="horz" wrap="square" tIns="45720" lIns="91440" bIns="45720" rIns="91440">
            <a:spAutoFit/>
          </a:bodyPr>
          <a:lstStyle/>
          <a:p>
            <a:pPr algn="l" marL="0">
              <a:defRPr/>
            </a:pPr>
            <a:r>
              <a:rPr lang="zh-CN" b="true" i="false" sz="1400" baseline="0" u="none" altLang="en-US">
                <a:solidFill>
                  <a:schemeClr val="tx1"/>
                </a:solidFill>
                <a:latin typeface="微软雅黑"/>
                <a:ea typeface="微软雅黑"/>
              </a:rPr>
              <a:t>图的定义与术语</a:t>
            </a:r>
            <a:endParaRPr lang="en-US" sz="1100"/>
          </a:p>
        </p:txBody>
      </p:sp>
      <p:sp>
        <p:nvSpPr>
          <p:cNvPr name="TextBox 21" id="21"/>
          <p:cNvSpPr txBox="true"/>
          <p:nvPr/>
        </p:nvSpPr>
        <p:spPr>
          <a:xfrm>
            <a:off x="5539433" y="2725632"/>
            <a:ext cx="6157263" cy="890693"/>
          </a:xfrm>
          <a:prstGeom prst="rect">
            <a:avLst/>
          </a:prstGeom>
          <a:noFill/>
        </p:spPr>
        <p:txBody>
          <a:bodyPr anchor="t" rtlCol="false" vert="horz" wrap="square" tIns="45720" lIns="91440" bIns="45720" rIns="91440">
            <a:spAutoFit/>
          </a:bodyPr>
          <a:lstStyle/>
          <a:p>
            <a:pPr algn="l" marL="0">
              <a:lnSpc>
                <a:spcPct val="150000"/>
              </a:lnSpc>
              <a:defRPr/>
            </a:pPr>
            <a:r>
              <a:rPr lang="zh-CN" b="false" i="false" sz="1200" baseline="0" u="none" altLang="en-US">
                <a:solidFill>
                  <a:schemeClr val="tx1"/>
                </a:solidFill>
                <a:latin typeface="微软雅黑"/>
                <a:ea typeface="微软雅黑"/>
              </a:rPr>
              <a:t>无向图中顶点度是关联边的数目；有向图中分为入度（以该点为终点的边数）和出度（以该点为起点的边数）。路径：由一个顶点到另一顶点经过的边序列。连通图：任意两点都存在路径。强连通图：有向图中任意两点双向可达。</a:t>
            </a:r>
            <a:endParaRPr lang="en-US" sz="1100"/>
          </a:p>
        </p:txBody>
      </p:sp>
      <p:sp>
        <p:nvSpPr>
          <p:cNvPr name="TextBox 22" id="22"/>
          <p:cNvSpPr txBox="true"/>
          <p:nvPr/>
        </p:nvSpPr>
        <p:spPr>
          <a:xfrm>
            <a:off x="5539434" y="2472072"/>
            <a:ext cx="4814238" cy="307777"/>
          </a:xfrm>
          <a:prstGeom prst="rect">
            <a:avLst/>
          </a:prstGeom>
          <a:noFill/>
        </p:spPr>
        <p:txBody>
          <a:bodyPr anchor="t" rtlCol="false" vert="horz" wrap="square" tIns="45720" lIns="91440" bIns="45720" rIns="91440">
            <a:spAutoFit/>
          </a:bodyPr>
          <a:lstStyle/>
          <a:p>
            <a:pPr algn="l" marL="0">
              <a:defRPr/>
            </a:pPr>
            <a:r>
              <a:rPr lang="zh-CN" b="true" i="false" sz="1400" baseline="0" u="none" altLang="en-US">
                <a:solidFill>
                  <a:schemeClr val="tx1"/>
                </a:solidFill>
                <a:latin typeface="微软雅黑"/>
                <a:ea typeface="微软雅黑"/>
              </a:rPr>
              <a:t>顶点度与连通性</a:t>
            </a:r>
            <a:endParaRPr lang="en-US" sz="1100"/>
          </a:p>
        </p:txBody>
      </p:sp>
      <p:sp>
        <p:nvSpPr>
          <p:cNvPr name="TextBox 23" id="23"/>
          <p:cNvSpPr txBox="true"/>
          <p:nvPr/>
        </p:nvSpPr>
        <p:spPr>
          <a:xfrm>
            <a:off x="5539433" y="4123445"/>
            <a:ext cx="6157263" cy="890693"/>
          </a:xfrm>
          <a:prstGeom prst="rect">
            <a:avLst/>
          </a:prstGeom>
          <a:noFill/>
        </p:spPr>
        <p:txBody>
          <a:bodyPr anchor="t" rtlCol="false" vert="horz" wrap="square" tIns="45720" lIns="91440" bIns="45720" rIns="91440">
            <a:spAutoFit/>
          </a:bodyPr>
          <a:lstStyle/>
          <a:p>
            <a:pPr algn="l" marL="0">
              <a:lnSpc>
                <a:spcPct val="150000"/>
              </a:lnSpc>
              <a:defRPr/>
            </a:pPr>
            <a:r>
              <a:rPr lang="zh-CN" b="false" i="false" sz="1200" baseline="0" u="none" altLang="en-US">
                <a:solidFill>
                  <a:schemeClr val="tx1"/>
                </a:solidFill>
                <a:latin typeface="微软雅黑"/>
                <a:ea typeface="微软雅黑"/>
              </a:rPr>
              <a:t>邻接矩阵：使用二维数组表示顶点之间关系，matrix[i][j]=1表示有边。适合稠密图，判断边存在性O(1)，但空间O(n^2)。对于有权图，矩阵元素为权值。</a:t>
            </a:r>
            <a:endParaRPr lang="en-US" sz="1100"/>
          </a:p>
        </p:txBody>
      </p:sp>
      <p:sp>
        <p:nvSpPr>
          <p:cNvPr name="TextBox 24" id="24"/>
          <p:cNvSpPr txBox="true"/>
          <p:nvPr/>
        </p:nvSpPr>
        <p:spPr>
          <a:xfrm>
            <a:off x="5539434" y="3869885"/>
            <a:ext cx="4814238" cy="307777"/>
          </a:xfrm>
          <a:prstGeom prst="rect">
            <a:avLst/>
          </a:prstGeom>
          <a:noFill/>
        </p:spPr>
        <p:txBody>
          <a:bodyPr anchor="t" rtlCol="false" vert="horz" wrap="square" tIns="45720" lIns="91440" bIns="45720" rIns="91440">
            <a:spAutoFit/>
          </a:bodyPr>
          <a:lstStyle/>
          <a:p>
            <a:pPr algn="l" marL="0">
              <a:defRPr/>
            </a:pPr>
            <a:r>
              <a:rPr lang="zh-CN" b="true" i="false" sz="1400" baseline="0" u="none" altLang="en-US">
                <a:solidFill>
                  <a:schemeClr val="tx1"/>
                </a:solidFill>
                <a:latin typeface="微软雅黑"/>
                <a:ea typeface="微软雅黑"/>
              </a:rPr>
              <a:t>图的存储结构（一）</a:t>
            </a:r>
            <a:endParaRPr lang="en-US" sz="1100"/>
          </a:p>
        </p:txBody>
      </p:sp>
      <p:sp>
        <p:nvSpPr>
          <p:cNvPr name="TextBox 25" id="25"/>
          <p:cNvSpPr txBox="true"/>
          <p:nvPr/>
        </p:nvSpPr>
        <p:spPr>
          <a:xfrm>
            <a:off x="5539433" y="5521258"/>
            <a:ext cx="6157263" cy="890693"/>
          </a:xfrm>
          <a:prstGeom prst="rect">
            <a:avLst/>
          </a:prstGeom>
          <a:noFill/>
        </p:spPr>
        <p:txBody>
          <a:bodyPr anchor="t" rtlCol="false" vert="horz" wrap="square" tIns="45720" lIns="91440" bIns="45720" rIns="91440">
            <a:spAutoFit/>
          </a:bodyPr>
          <a:lstStyle/>
          <a:p>
            <a:pPr algn="l" marL="0">
              <a:lnSpc>
                <a:spcPct val="150000"/>
              </a:lnSpc>
              <a:defRPr/>
            </a:pPr>
            <a:r>
              <a:rPr lang="zh-CN" b="false" i="false" sz="1200" baseline="0" u="none" altLang="en-US">
                <a:solidFill>
                  <a:schemeClr val="tx1"/>
                </a:solidFill>
                <a:latin typeface="微软雅黑"/>
                <a:ea typeface="微软雅黑"/>
              </a:rPr>
              <a:t>邻接表：对每个顶点用链表存储其所有邻接顶点。适合稀疏图，节省空间，但判断边存在性需遍历链表。逆邻接表用于有向图以存储入边。十字链表是有向图邻接表与逆邻接表的结合。</a:t>
            </a:r>
            <a:endParaRPr lang="en-US" sz="1100"/>
          </a:p>
        </p:txBody>
      </p:sp>
      <p:sp>
        <p:nvSpPr>
          <p:cNvPr name="TextBox 26" id="26"/>
          <p:cNvSpPr txBox="true"/>
          <p:nvPr/>
        </p:nvSpPr>
        <p:spPr>
          <a:xfrm>
            <a:off x="5539434" y="5267698"/>
            <a:ext cx="4814238" cy="307777"/>
          </a:xfrm>
          <a:prstGeom prst="rect">
            <a:avLst/>
          </a:prstGeom>
          <a:noFill/>
        </p:spPr>
        <p:txBody>
          <a:bodyPr anchor="t" rtlCol="false" vert="horz" wrap="square" tIns="45720" lIns="91440" bIns="45720" rIns="91440">
            <a:spAutoFit/>
          </a:bodyPr>
          <a:lstStyle/>
          <a:p>
            <a:pPr algn="l" marL="0">
              <a:defRPr/>
            </a:pPr>
            <a:r>
              <a:rPr lang="zh-CN" b="true" i="false" sz="1400" baseline="0" u="none" altLang="en-US">
                <a:solidFill>
                  <a:schemeClr val="tx1"/>
                </a:solidFill>
                <a:latin typeface="微软雅黑"/>
                <a:ea typeface="微软雅黑"/>
              </a:rPr>
              <a:t>图的存储结构（二）</a:t>
            </a:r>
            <a:endParaRPr lang="en-US" sz="1100"/>
          </a:p>
        </p:txBody>
      </p:sp>
      <p:sp>
        <p:nvSpPr>
          <p:cNvPr name="TextBox 27" id="27"/>
          <p:cNvSpPr txBox="true"/>
          <p:nvPr/>
        </p:nvSpPr>
        <p:spPr>
          <a:xfrm>
            <a:off x="1268108" y="528771"/>
            <a:ext cx="9484333" cy="480131"/>
          </a:xfrm>
          <a:prstGeom prst="rect">
            <a:avLst/>
          </a:prstGeom>
        </p:spPr>
        <p:txBody>
          <a:bodyPr anchor="ctr" rtlCol="false" vert="horz" wrap="square" tIns="45720" lIns="91440" bIns="45720" rIns="91440">
            <a:spAutoFit/>
          </a:bodyPr>
          <a:lstStyle/>
          <a:p>
            <a:pPr algn="ctr" marL="0">
              <a:lnSpc>
                <a:spcPct val="90000"/>
              </a:lnSpc>
              <a:spcBef>
                <a:spcPct val="0"/>
              </a:spcBef>
              <a:defRPr/>
            </a:pPr>
            <a:r>
              <a:rPr lang="zh-CN" b="true" i="false" sz="2800" baseline="0" u="none" altLang="en-US">
                <a:solidFill>
                  <a:schemeClr val="tx1"/>
                </a:solidFill>
                <a:latin typeface="微软雅黑"/>
                <a:ea typeface="微软雅黑"/>
              </a:rPr>
              <a:t>图的基本概念</a:t>
            </a:r>
            <a:endParaRPr lang="en-US" sz="1100"/>
          </a:p>
        </p:txBody>
      </p:sp>
      <p:sp>
        <p:nvSpPr>
          <p:cNvPr name="AutoShape 28" id="28"/>
          <p:cNvSpPr/>
          <p:nvPr/>
        </p:nvSpPr>
        <p:spPr>
          <a:xfrm>
            <a:off x="10795000" y="6540500"/>
            <a:ext cx="1270000" cy="190500"/>
          </a:xfrm>
          <a:prstGeom prst="rect">
            <a:avLst/>
          </a:prstGeom>
          <a:solidFill>
            <a:srgbClr val="000000">
              <a:alpha val="0"/>
            </a:srgbClr>
          </a:solidFill>
        </p:spPr>
        <p:txBody>
          <a:bodyPr anchor="t" rtlCol="false"/>
          <a:lstStyle/>
          <a:p>
            <a:pPr algn="r">
              <a:defRPr/>
            </a:pPr>
            <a:r>
              <a:rPr lang="en-US" b="false" i="false" sz="800" baseline="0" u="none">
                <a:solidFill>
                  <a:srgbClr val="808080"/>
                </a:solidFill>
                <a:latin typeface="Microsoft YaHei"/>
                <a:ea typeface="Microsoft YaHei"/>
              </a:rPr>
              <a:t>内容由AI生成</a:t>
            </a:r>
            <a:endParaRPr lang="en-US" sz="1100"/>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solidFill>
          <a:schemeClr val="bg1"/>
        </a:solidFill>
      </p:bgPr>
    </p:bg>
    <p:spTree>
      <p:nvGrpSpPr>
        <p:cNvPr id="1" name=""/>
        <p:cNvGrpSpPr/>
        <p:nvPr/>
      </p:nvGrpSpPr>
      <p:grpSpPr>
        <a:xfrm>
          <a:off x="0" y="0"/>
          <a:ext cx="0" cy="0"/>
          <a:chOff x="0" y="0"/>
          <a:chExt cx="0" cy="0"/>
        </a:xfrm>
      </p:grpSpPr>
      <p:sp>
        <p:nvSpPr>
          <p:cNvPr name="AutoShape 2" id="2"/>
          <p:cNvSpPr/>
          <p:nvPr>
            <p:ph type="title"/>
          </p:nvPr>
        </p:nvSpPr>
        <p:spPr>
          <a:xfrm>
            <a:off x="6343378" y="1136894"/>
            <a:ext cx="5164367" cy="954107"/>
          </a:xfrm>
        </p:spPr>
        <p:txBody>
          <a:bodyPr vert="horz" anchor="b" tIns="45720" lIns="91440" bIns="45720" rIns="91440">
            <a:normAutofit/>
          </a:bodyPr>
          <a:p>
            <a:pPr algn="l">
              <a:lnSpc>
                <a:spcPct val="90000"/>
              </a:lnSpc>
              <a:spcBef>
                <a:spcPct val="0"/>
              </a:spcBef>
            </a:pPr>
            <a:r>
              <a:rPr lang="zh-CN" b="true" i="false" sz="2800" baseline="0" u="none" altLang="en-US">
                <a:solidFill>
                  <a:srgbClr val="000000"/>
                </a:solidFill>
                <a:latin typeface="微软雅黑"/>
                <a:ea typeface="微软雅黑"/>
              </a:rPr>
              <a:t>图的遍历</a:t>
            </a:r>
          </a:p>
        </p:txBody>
      </p:sp>
      <p:sp>
        <p:nvSpPr>
          <p:cNvPr name="AutoShape 3" id="3"/>
          <p:cNvSpPr/>
          <p:nvPr/>
        </p:nvSpPr>
        <p:spPr>
          <a:xfrm>
            <a:off x="8237916" y="1399084"/>
            <a:ext cx="3280983" cy="2324100"/>
          </a:xfrm>
          <a:prstGeom prst="rect">
            <a:avLst/>
          </a:prstGeom>
          <a:blipFill>
            <a:blip r:embed="rId2"/>
            <a:stretch>
              <a:fillRect t="-56184" l="0" b="-55574" r="0"/>
            </a:stretch>
          </a:blipFill>
          <a:ln cap="flat" cmpd="sng">
            <a:noFill/>
            <a:prstDash val="solid"/>
            <a:miter lim="800000"/>
          </a:ln>
          <a:effectLst/>
        </p:spPr>
        <p:txBody>
          <a:bodyPr vert="horz" anchor="ctr" tIns="45720" lIns="91440" bIns="45720" rIns="91440">
            <a:normAutofit/>
          </a:bodyPr>
          <a:p>
            <a:pPr algn="ctr" marL="0"/>
          </a:p>
        </p:txBody>
      </p:sp>
      <p:sp>
        <p:nvSpPr>
          <p:cNvPr name="AutoShape 4" id="4"/>
          <p:cNvSpPr/>
          <p:nvPr/>
        </p:nvSpPr>
        <p:spPr>
          <a:xfrm>
            <a:off x="8237896" y="3731603"/>
            <a:ext cx="3280980" cy="2135798"/>
          </a:xfrm>
          <a:prstGeom prst="rect">
            <a:avLst/>
          </a:prstGeom>
          <a:solidFill>
            <a:schemeClr val="bg1"/>
          </a:solidFill>
          <a:ln cap="rnd">
            <a:noFill/>
            <a:prstDash val="solid"/>
          </a:ln>
          <a:effectLst>
            <a:outerShdw algn="ctr" blurRad="254000" dist="127000" rotWithShape="false">
              <a:schemeClr val="bg1">
                <a:alpha val="20000"/>
                <a:lumMod val="65000"/>
              </a:schemeClr>
            </a:outerShdw>
          </a:effectLst>
        </p:spPr>
        <p:txBody>
          <a:bodyPr vert="horz" rot="0" anchor="ctr" wrap="square" tIns="45720" lIns="91440" bIns="45720" rIns="91440">
            <a:prstTxWarp prst="textNoShape">
              <a:avLst/>
            </a:prstTxWarp>
            <a:normAutofit/>
          </a:bodyPr>
          <a:p>
            <a:pPr algn="ctr" marL="0"/>
          </a:p>
        </p:txBody>
      </p:sp>
      <p:cxnSp>
        <p:nvCxnSpPr>
          <p:cNvPr name="Connector 5" id="5"/>
          <p:cNvCxnSpPr/>
          <p:nvPr/>
        </p:nvCxnSpPr>
        <p:spPr>
          <a:xfrm>
            <a:off x="10939500" y="5685144"/>
            <a:ext cx="370036" cy="0"/>
          </a:xfrm>
          <a:prstGeom prst="line">
            <a:avLst/>
          </a:prstGeom>
          <a:ln w="38100">
            <a:solidFill>
              <a:schemeClr val="accent1"/>
            </a:solidFill>
          </a:ln>
        </p:spPr>
      </p:cxnSp>
      <p:sp>
        <p:nvSpPr>
          <p:cNvPr name="TextBox 6" id="6"/>
          <p:cNvSpPr txBox="true"/>
          <p:nvPr/>
        </p:nvSpPr>
        <p:spPr>
          <a:xfrm>
            <a:off x="8391030" y="3875759"/>
            <a:ext cx="2918506" cy="338554"/>
          </a:xfrm>
          <a:prstGeom prst="rect">
            <a:avLst/>
          </a:prstGeom>
          <a:noFill/>
        </p:spPr>
        <p:txBody>
          <a:bodyPr anchor="t" rtlCol="false" vert="horz" wrap="square" tIns="45720" lIns="91440" bIns="45720" rIns="91440">
            <a:spAutoFit/>
          </a:bodyPr>
          <a:lstStyle/>
          <a:p>
            <a:pPr algn="l" marL="0">
              <a:defRPr/>
            </a:pPr>
            <a:r>
              <a:rPr lang="en-US" b="true" i="false" sz="1600" baseline="0" u="none">
                <a:ln/>
                <a:solidFill>
                  <a:srgbClr val="000000"/>
                </a:solidFill>
                <a:effectLst/>
                <a:latin typeface="微软雅黑"/>
                <a:ea typeface="微软雅黑"/>
              </a:rPr>
              <a:t>遍历应用：连通分量</a:t>
            </a:r>
            <a:endParaRPr lang="en-US" sz="1100"/>
          </a:p>
        </p:txBody>
      </p:sp>
      <p:sp>
        <p:nvSpPr>
          <p:cNvPr name="TextBox 7" id="7"/>
          <p:cNvSpPr txBox="true"/>
          <p:nvPr/>
        </p:nvSpPr>
        <p:spPr>
          <a:xfrm>
            <a:off x="8391030" y="4512790"/>
            <a:ext cx="2918506" cy="1346200"/>
          </a:xfrm>
          <a:prstGeom prst="rect">
            <a:avLst/>
          </a:prstGeom>
          <a:noFill/>
        </p:spPr>
        <p:txBody>
          <a:bodyPr anchor="t" rtlCol="false" vert="horz" wrap="square" tIns="45720" lIns="91440" bIns="45720" rIns="91440">
            <a:spAutoFit/>
          </a:bodyPr>
          <a:lstStyle/>
          <a:p>
            <a:pPr algn="l" marL="0">
              <a:lnSpc>
                <a:spcPct val="130000"/>
              </a:lnSpc>
              <a:defRPr/>
            </a:pPr>
            <a:r>
              <a:rPr lang="zh-CN" b="false" i="false" sz="1400" baseline="0" u="none" altLang="en-US">
                <a:solidFill>
                  <a:srgbClr val="000000"/>
                </a:solidFill>
                <a:latin typeface="微软雅黑"/>
                <a:ea typeface="微软雅黑"/>
              </a:rPr>
              <a:t>在无向图中，通过DFS或BFS遍历可统计连通分量个数。算法：遍历所有顶点，对未访问过的顶点启动一次遍历，每次遍历到的顶点属于同一连通分量，遍历次数即分量数。</a:t>
            </a:r>
            <a:endParaRPr lang="en-US" sz="1100"/>
          </a:p>
        </p:txBody>
      </p:sp>
      <p:sp>
        <p:nvSpPr>
          <p:cNvPr name="AutoShape 8" id="8"/>
          <p:cNvSpPr/>
          <p:nvPr/>
        </p:nvSpPr>
        <p:spPr>
          <a:xfrm>
            <a:off x="4449149" y="1399084"/>
            <a:ext cx="3280983" cy="2324100"/>
          </a:xfrm>
          <a:prstGeom prst="rect">
            <a:avLst/>
          </a:prstGeom>
          <a:blipFill>
            <a:blip r:embed="rId3"/>
            <a:stretch>
              <a:fillRect t="0" l="-3139" b="0" r="-3114"/>
            </a:stretch>
          </a:blipFill>
          <a:ln cap="flat" cmpd="sng">
            <a:noFill/>
            <a:prstDash val="solid"/>
            <a:miter lim="800000"/>
          </a:ln>
          <a:effectLst/>
        </p:spPr>
        <p:txBody>
          <a:bodyPr vert="horz" anchor="ctr" tIns="45720" lIns="91440" bIns="45720" rIns="91440">
            <a:normAutofit/>
          </a:bodyPr>
          <a:p>
            <a:pPr algn="ctr" marL="0"/>
          </a:p>
        </p:txBody>
      </p:sp>
      <p:sp>
        <p:nvSpPr>
          <p:cNvPr name="AutoShape 9" id="9"/>
          <p:cNvSpPr/>
          <p:nvPr/>
        </p:nvSpPr>
        <p:spPr>
          <a:xfrm>
            <a:off x="4449146" y="3723184"/>
            <a:ext cx="3280982" cy="2187895"/>
          </a:xfrm>
          <a:prstGeom prst="rect">
            <a:avLst/>
          </a:prstGeom>
          <a:solidFill>
            <a:schemeClr val="bg1"/>
          </a:solidFill>
          <a:ln cap="rnd">
            <a:noFill/>
            <a:prstDash val="solid"/>
          </a:ln>
          <a:effectLst>
            <a:outerShdw algn="ctr" blurRad="254000" dist="127000" rotWithShape="false">
              <a:schemeClr val="bg1">
                <a:alpha val="20000"/>
                <a:lumMod val="65000"/>
              </a:schemeClr>
            </a:outerShdw>
          </a:effectLst>
        </p:spPr>
        <p:txBody>
          <a:bodyPr vert="horz" rot="0" anchor="ctr" wrap="square" tIns="45720" lIns="91440" bIns="45720" rIns="91440">
            <a:prstTxWarp prst="textNoShape">
              <a:avLst/>
            </a:prstTxWarp>
            <a:normAutofit/>
          </a:bodyPr>
          <a:p>
            <a:pPr algn="ctr" marL="0"/>
          </a:p>
        </p:txBody>
      </p:sp>
      <p:cxnSp>
        <p:nvCxnSpPr>
          <p:cNvPr name="Connector 10" id="10"/>
          <p:cNvCxnSpPr/>
          <p:nvPr/>
        </p:nvCxnSpPr>
        <p:spPr>
          <a:xfrm>
            <a:off x="7150759" y="5685144"/>
            <a:ext cx="370036" cy="0"/>
          </a:xfrm>
          <a:prstGeom prst="line">
            <a:avLst/>
          </a:prstGeom>
          <a:ln w="38100">
            <a:solidFill>
              <a:schemeClr val="accent5"/>
            </a:solidFill>
          </a:ln>
        </p:spPr>
      </p:cxnSp>
      <p:sp>
        <p:nvSpPr>
          <p:cNvPr name="TextBox 11" id="11"/>
          <p:cNvSpPr txBox="true"/>
          <p:nvPr/>
        </p:nvSpPr>
        <p:spPr>
          <a:xfrm>
            <a:off x="4602280" y="3875759"/>
            <a:ext cx="2733490" cy="338554"/>
          </a:xfrm>
          <a:prstGeom prst="rect">
            <a:avLst/>
          </a:prstGeom>
          <a:noFill/>
        </p:spPr>
        <p:txBody>
          <a:bodyPr anchor="t" rtlCol="false" vert="horz" wrap="square" tIns="45720" lIns="91440" bIns="45720" rIns="91440">
            <a:spAutoFit/>
          </a:bodyPr>
          <a:lstStyle/>
          <a:p>
            <a:pPr algn="l" marL="0">
              <a:defRPr/>
            </a:pPr>
            <a:r>
              <a:rPr lang="en-US" b="true" i="false" sz="1600" baseline="0" u="none">
                <a:ln/>
                <a:solidFill>
                  <a:srgbClr val="000000"/>
                </a:solidFill>
                <a:effectLst/>
                <a:latin typeface="微软雅黑"/>
                <a:ea typeface="微软雅黑"/>
              </a:rPr>
              <a:t>广度优先搜索（BFS）</a:t>
            </a:r>
            <a:endParaRPr lang="en-US" sz="1100"/>
          </a:p>
        </p:txBody>
      </p:sp>
      <p:sp>
        <p:nvSpPr>
          <p:cNvPr name="TextBox 12" id="12"/>
          <p:cNvSpPr txBox="true"/>
          <p:nvPr/>
        </p:nvSpPr>
        <p:spPr>
          <a:xfrm>
            <a:off x="4602283" y="4507170"/>
            <a:ext cx="2918506" cy="1346200"/>
          </a:xfrm>
          <a:prstGeom prst="rect">
            <a:avLst/>
          </a:prstGeom>
          <a:noFill/>
        </p:spPr>
        <p:txBody>
          <a:bodyPr anchor="t" rtlCol="false" vert="horz" wrap="square" tIns="45720" lIns="91440" bIns="45720" rIns="91440">
            <a:spAutoFit/>
          </a:bodyPr>
          <a:lstStyle/>
          <a:p>
            <a:pPr algn="l" marL="0">
              <a:lnSpc>
                <a:spcPct val="130000"/>
              </a:lnSpc>
              <a:defRPr/>
            </a:pPr>
            <a:r>
              <a:rPr lang="zh-CN" b="false" i="false" sz="1400" baseline="0" u="none" altLang="en-US">
                <a:solidFill>
                  <a:srgbClr val="000000"/>
                </a:solidFill>
                <a:latin typeface="微软雅黑"/>
                <a:ea typeface="微软雅黑"/>
              </a:rPr>
              <a:t>从起始顶点出发，先访问其所有邻接顶点，再依次访问每个邻接顶点的邻接顶点。BFS使用队列实现，可求无权图的最短路径（路径长度即边数）。时间复杂度与DFS相同均为O(V+E)。</a:t>
            </a:r>
            <a:endParaRPr lang="en-US" sz="1100"/>
          </a:p>
        </p:txBody>
      </p:sp>
      <p:sp>
        <p:nvSpPr>
          <p:cNvPr name="AutoShape 13" id="13"/>
          <p:cNvSpPr/>
          <p:nvPr/>
        </p:nvSpPr>
        <p:spPr>
          <a:xfrm>
            <a:off x="660400" y="3723184"/>
            <a:ext cx="3280982" cy="2187895"/>
          </a:xfrm>
          <a:prstGeom prst="rect">
            <a:avLst/>
          </a:prstGeom>
          <a:solidFill>
            <a:schemeClr val="bg1"/>
          </a:solidFill>
          <a:ln cap="rnd">
            <a:noFill/>
            <a:prstDash val="solid"/>
          </a:ln>
          <a:effectLst>
            <a:outerShdw algn="ctr" blurRad="254000" dist="127000" rotWithShape="false">
              <a:schemeClr val="bg1">
                <a:alpha val="20000"/>
                <a:lumMod val="65000"/>
              </a:schemeClr>
            </a:outerShdw>
          </a:effectLst>
        </p:spPr>
        <p:txBody>
          <a:bodyPr vert="horz" rot="0" anchor="ctr" wrap="square" tIns="45720" lIns="91440" bIns="45720" rIns="91440">
            <a:prstTxWarp prst="textNoShape">
              <a:avLst/>
            </a:prstTxWarp>
            <a:normAutofit/>
          </a:bodyPr>
          <a:p>
            <a:pPr algn="ctr" marL="0"/>
          </a:p>
        </p:txBody>
      </p:sp>
      <p:sp>
        <p:nvSpPr>
          <p:cNvPr name="AutoShape 14" id="14"/>
          <p:cNvSpPr/>
          <p:nvPr/>
        </p:nvSpPr>
        <p:spPr>
          <a:xfrm>
            <a:off x="660400" y="1399084"/>
            <a:ext cx="3280983" cy="2324100"/>
          </a:xfrm>
          <a:prstGeom prst="rect">
            <a:avLst/>
          </a:prstGeom>
          <a:blipFill>
            <a:blip r:embed="rId4"/>
            <a:stretch>
              <a:fillRect t="0" l="-3080" b="0" r="-3055"/>
            </a:stretch>
          </a:blipFill>
          <a:ln cap="flat" cmpd="sng">
            <a:noFill/>
            <a:prstDash val="solid"/>
            <a:miter lim="800000"/>
          </a:ln>
          <a:effectLst/>
        </p:spPr>
        <p:txBody>
          <a:bodyPr vert="horz" anchor="ctr" tIns="45720" lIns="91440" bIns="45720" rIns="91440">
            <a:normAutofit/>
          </a:bodyPr>
          <a:p>
            <a:pPr algn="ctr" marL="0"/>
          </a:p>
        </p:txBody>
      </p:sp>
      <p:cxnSp>
        <p:nvCxnSpPr>
          <p:cNvPr name="Connector 15" id="15"/>
          <p:cNvCxnSpPr/>
          <p:nvPr/>
        </p:nvCxnSpPr>
        <p:spPr>
          <a:xfrm>
            <a:off x="3362009" y="5685144"/>
            <a:ext cx="370036" cy="0"/>
          </a:xfrm>
          <a:prstGeom prst="line">
            <a:avLst/>
          </a:prstGeom>
          <a:ln w="38100">
            <a:solidFill>
              <a:schemeClr val="accent4"/>
            </a:solidFill>
          </a:ln>
        </p:spPr>
      </p:cxnSp>
      <p:sp>
        <p:nvSpPr>
          <p:cNvPr name="TextBox 16" id="16"/>
          <p:cNvSpPr txBox="true"/>
          <p:nvPr/>
        </p:nvSpPr>
        <p:spPr>
          <a:xfrm>
            <a:off x="813534" y="3875759"/>
            <a:ext cx="2733490" cy="338554"/>
          </a:xfrm>
          <a:prstGeom prst="rect">
            <a:avLst/>
          </a:prstGeom>
          <a:noFill/>
        </p:spPr>
        <p:txBody>
          <a:bodyPr anchor="t" rtlCol="false" vert="horz" wrap="square" tIns="45720" lIns="91440" bIns="45720" rIns="91440">
            <a:spAutoFit/>
          </a:bodyPr>
          <a:lstStyle/>
          <a:p>
            <a:pPr algn="l" marL="0">
              <a:defRPr/>
            </a:pPr>
            <a:r>
              <a:rPr lang="en-US" b="true" i="false" sz="1600" baseline="0" u="none">
                <a:ln/>
                <a:solidFill>
                  <a:srgbClr val="000000"/>
                </a:solidFill>
                <a:effectLst/>
                <a:latin typeface="微软雅黑"/>
                <a:ea typeface="微软雅黑"/>
              </a:rPr>
              <a:t>深度优先搜索（DFS）</a:t>
            </a:r>
            <a:endParaRPr lang="en-US" sz="1100"/>
          </a:p>
        </p:txBody>
      </p:sp>
      <p:sp>
        <p:nvSpPr>
          <p:cNvPr name="TextBox 17" id="17"/>
          <p:cNvSpPr txBox="true"/>
          <p:nvPr/>
        </p:nvSpPr>
        <p:spPr>
          <a:xfrm>
            <a:off x="813533" y="4507170"/>
            <a:ext cx="2918506" cy="1346200"/>
          </a:xfrm>
          <a:prstGeom prst="rect">
            <a:avLst/>
          </a:prstGeom>
          <a:noFill/>
        </p:spPr>
        <p:txBody>
          <a:bodyPr anchor="t" rtlCol="false" vert="horz" wrap="square" tIns="45720" lIns="91440" bIns="45720" rIns="91440">
            <a:spAutoFit/>
          </a:bodyPr>
          <a:lstStyle/>
          <a:p>
            <a:pPr algn="l" marL="0">
              <a:lnSpc>
                <a:spcPct val="130000"/>
              </a:lnSpc>
              <a:defRPr/>
            </a:pPr>
            <a:r>
              <a:rPr lang="zh-CN" b="false" i="false" sz="1400" baseline="0" u="none" altLang="en-US">
                <a:solidFill>
                  <a:srgbClr val="000000"/>
                </a:solidFill>
                <a:latin typeface="微软雅黑"/>
                <a:ea typeface="微软雅黑"/>
              </a:rPr>
              <a:t>从起始顶点出发，访问当前顶点并标记已访问，然后递归访问其未访问的邻接顶点。DFS类似于树的前序遍历，可用栈实现非递归。适用于求连通分量、拓扑排序等。</a:t>
            </a:r>
            <a:endParaRPr lang="en-US" sz="1100"/>
          </a:p>
        </p:txBody>
      </p:sp>
      <p:sp>
        <p:nvSpPr>
          <p:cNvPr name="AutoShape 18" id="18"/>
          <p:cNvSpPr/>
          <p:nvPr/>
        </p:nvSpPr>
        <p:spPr>
          <a:xfrm>
            <a:off x="10795000" y="6540500"/>
            <a:ext cx="1270000" cy="190500"/>
          </a:xfrm>
          <a:prstGeom prst="rect">
            <a:avLst/>
          </a:prstGeom>
          <a:solidFill>
            <a:srgbClr val="000000">
              <a:alpha val="0"/>
            </a:srgbClr>
          </a:solidFill>
        </p:spPr>
        <p:txBody>
          <a:bodyPr anchor="t" rtlCol="false"/>
          <a:lstStyle/>
          <a:p>
            <a:pPr algn="r">
              <a:defRPr/>
            </a:pPr>
            <a:r>
              <a:rPr lang="en-US" b="false" i="false" sz="800" baseline="0" u="none">
                <a:solidFill>
                  <a:srgbClr val="808080"/>
                </a:solidFill>
                <a:latin typeface="Microsoft YaHei"/>
                <a:ea typeface="Microsoft YaHei"/>
              </a:rPr>
              <a:t>内容由AI生成</a:t>
            </a:r>
            <a:endParaRPr lang="en-US" sz="1100"/>
          </a:p>
        </p:txBody>
      </p:sp>
    </p:spTree>
  </p:cSld>
  <p:clrMapOvr>
    <a:masterClrMapping/>
  </p:clrMapOvr>
  <p:transition spd="fast"/>
</p:sld>
</file>

<file path=ppt/slides/slide26.xml><?xml version="1.0" encoding="utf-8"?>
<p:sld xmlns:p="http://schemas.openxmlformats.org/presentationml/2006/main" xmlns:a="http://schemas.openxmlformats.org/drawingml/2006/main" xmlns:r="http://schemas.openxmlformats.org/officeDocument/2006/relationships">
  <p:cSld>
    <p:bg>
      <p:bgPr>
        <a:solidFill>
          <a:schemeClr val="bg1"/>
        </a:solidFill>
      </p:bgPr>
    </p:bg>
    <p:spTree>
      <p:nvGrpSpPr>
        <p:cNvPr id="1" name=""/>
        <p:cNvGrpSpPr/>
        <p:nvPr/>
      </p:nvGrpSpPr>
      <p:grpSpPr>
        <a:xfrm>
          <a:off x="0" y="0"/>
          <a:ext cx="0" cy="0"/>
          <a:chOff x="0" y="0"/>
          <a:chExt cx="0" cy="0"/>
        </a:xfrm>
      </p:grpSpPr>
      <p:sp>
        <p:nvSpPr>
          <p:cNvPr name="AutoShape 2" id="2"/>
          <p:cNvSpPr/>
          <p:nvPr>
            <p:ph type="title"/>
          </p:nvPr>
        </p:nvSpPr>
        <p:spPr>
          <a:xfrm>
            <a:off x="6343378" y="1136894"/>
            <a:ext cx="5164367" cy="954107"/>
          </a:xfrm>
        </p:spPr>
        <p:txBody>
          <a:bodyPr vert="horz" anchor="b" tIns="45720" lIns="91440" bIns="45720" rIns="91440">
            <a:normAutofit/>
          </a:bodyPr>
          <a:p>
            <a:pPr algn="l">
              <a:lnSpc>
                <a:spcPct val="90000"/>
              </a:lnSpc>
              <a:spcBef>
                <a:spcPct val="0"/>
              </a:spcBef>
            </a:pPr>
            <a:r>
              <a:rPr lang="zh-CN" b="true" i="false" sz="2800" baseline="0" u="none" altLang="en-US">
                <a:solidFill>
                  <a:schemeClr val="tx1"/>
                </a:solidFill>
                <a:latin typeface="微软雅黑"/>
                <a:ea typeface="微软雅黑"/>
              </a:rPr>
              <a:t>最小生成树</a:t>
            </a:r>
          </a:p>
        </p:txBody>
      </p:sp>
      <p:cxnSp>
        <p:nvCxnSpPr>
          <p:cNvPr name="Connector 3" id="3"/>
          <p:cNvCxnSpPr/>
          <p:nvPr/>
        </p:nvCxnSpPr>
        <p:spPr>
          <a:xfrm>
            <a:off x="1416109" y="1245946"/>
            <a:ext cx="42352" cy="4627526"/>
          </a:xfrm>
          <a:prstGeom prst="line">
            <a:avLst/>
          </a:prstGeom>
          <a:ln w="9525">
            <a:solidFill>
              <a:schemeClr val="tx2">
                <a:alpha val="50000"/>
              </a:schemeClr>
            </a:solidFill>
          </a:ln>
        </p:spPr>
      </p:cxnSp>
      <p:sp>
        <p:nvSpPr>
          <p:cNvPr name="AutoShape 4" id="4"/>
          <p:cNvSpPr/>
          <p:nvPr/>
        </p:nvSpPr>
        <p:spPr>
          <a:xfrm>
            <a:off x="8065429" y="1219709"/>
            <a:ext cx="3455059" cy="1374534"/>
          </a:xfrm>
          <a:prstGeom prst="round2SameRect">
            <a:avLst>
              <a:gd name="adj1" fmla="val 0"/>
              <a:gd name="adj2" fmla="val 0"/>
            </a:avLst>
          </a:prstGeom>
          <a:blipFill>
            <a:blip r:embed="rId2"/>
            <a:stretch>
              <a:fillRect t="-27892" l="0" b="-27232" r="0"/>
            </a:stretch>
          </a:blipFill>
          <a:ln>
            <a:noFill/>
          </a:ln>
          <a:effectLst/>
        </p:spPr>
        <p:txBody>
          <a:bodyPr vert="horz" rot="0" anchor="t" wrap="square" tIns="45720" lIns="91440" bIns="45720" rIns="91440">
            <a:prstTxWarp prst="textNoShape">
              <a:avLst/>
            </a:prstTxWarp>
            <a:noAutofit/>
          </a:bodyPr>
          <a:p>
            <a:pPr algn="ctr" marL="0"/>
          </a:p>
        </p:txBody>
      </p:sp>
      <p:sp>
        <p:nvSpPr>
          <p:cNvPr name="AutoShape 5" id="5"/>
          <p:cNvSpPr/>
          <p:nvPr/>
        </p:nvSpPr>
        <p:spPr>
          <a:xfrm>
            <a:off x="1227539" y="1604328"/>
            <a:ext cx="376146" cy="364203"/>
          </a:xfrm>
          <a:prstGeom prst="rect">
            <a:avLst/>
          </a:prstGeom>
          <a:solidFill>
            <a:schemeClr val="accent1"/>
          </a:solidFill>
          <a:ln>
            <a:solidFill>
              <a:schemeClr val="bg1"/>
            </a:solidFill>
          </a:ln>
        </p:spPr>
        <p:txBody>
          <a:bodyPr vert="horz" anchor="ctr" wrap="square" tIns="45720" lIns="91440" bIns="45720" rIns="91440">
            <a:noAutofit/>
          </a:bodyPr>
          <a:p>
            <a:pPr algn="ctr" marL="0"/>
            <a:r>
              <a:rPr lang="en-US" b="true" i="false" sz="1200" baseline="0" u="none">
                <a:solidFill>
                  <a:schemeClr val="lt1"/>
                </a:solidFill>
                <a:latin typeface="微软雅黑"/>
                <a:ea typeface="微软雅黑"/>
              </a:rPr>
              <a:t>01</a:t>
            </a:r>
          </a:p>
        </p:txBody>
      </p:sp>
      <p:sp>
        <p:nvSpPr>
          <p:cNvPr name="TextBox 6" id="6"/>
          <p:cNvSpPr txBox="true"/>
          <p:nvPr/>
        </p:nvSpPr>
        <p:spPr>
          <a:xfrm>
            <a:off x="1792254" y="1599199"/>
            <a:ext cx="5891245" cy="338554"/>
          </a:xfrm>
          <a:prstGeom prst="rect">
            <a:avLst/>
          </a:prstGeom>
          <a:noFill/>
        </p:spPr>
        <p:txBody>
          <a:bodyPr anchor="t" rtlCol="false" vert="horz" wrap="square" tIns="45720" lIns="91440" bIns="45720" rIns="91440">
            <a:spAutoFit/>
          </a:bodyPr>
          <a:lstStyle/>
          <a:p>
            <a:pPr algn="l" marL="0">
              <a:defRPr/>
            </a:pPr>
            <a:r>
              <a:rPr lang="zh-CN" b="true" i="false" sz="1600" baseline="0" u="none" altLang="en-US">
                <a:solidFill>
                  <a:schemeClr val="tx1"/>
                </a:solidFill>
                <a:effectLst/>
                <a:latin typeface="微软雅黑"/>
                <a:ea typeface="微软雅黑"/>
              </a:rPr>
              <a:t>最小生成树概念</a:t>
            </a:r>
            <a:endParaRPr lang="en-US" sz="1100"/>
          </a:p>
        </p:txBody>
      </p:sp>
      <p:sp>
        <p:nvSpPr>
          <p:cNvPr name="TextBox 7" id="7"/>
          <p:cNvSpPr txBox="true"/>
          <p:nvPr/>
        </p:nvSpPr>
        <p:spPr>
          <a:xfrm>
            <a:off x="1792254" y="1968531"/>
            <a:ext cx="5891245" cy="672720"/>
          </a:xfrm>
          <a:prstGeom prst="rect">
            <a:avLst/>
          </a:prstGeom>
          <a:ln>
            <a:noFill/>
          </a:ln>
        </p:spPr>
        <p:txBody>
          <a:bodyPr anchor="t" rtlCol="false" vert="horz" wrap="square" tIns="46800" lIns="90000" bIns="46800" rIns="90000">
            <a:spAutoFit/>
          </a:bodyPr>
          <a:lstStyle/>
          <a:p>
            <a:pPr algn="l" marL="0">
              <a:lnSpc>
                <a:spcPct val="120000"/>
              </a:lnSpc>
              <a:defRPr/>
            </a:pPr>
            <a:r>
              <a:rPr lang="zh-CN" b="false" i="false" sz="1400" baseline="0" u="none" altLang="en-US">
                <a:solidFill>
                  <a:schemeClr val="tx1"/>
                </a:solidFill>
                <a:latin typeface="微软雅黑"/>
                <a:ea typeface="微软雅黑"/>
              </a:rPr>
              <a:t>给定连通带权无向图，其生成树是包含所有顶点的极小连通子图。最小生成树（MST）是权值之和最小的生成树。MST不唯一，但权值和唯一。常见算法有Prim算法和Kruskal算法。</a:t>
            </a:r>
            <a:endParaRPr lang="en-US" sz="1100"/>
          </a:p>
        </p:txBody>
      </p:sp>
      <p:sp>
        <p:nvSpPr>
          <p:cNvPr name="AutoShape 8" id="8"/>
          <p:cNvSpPr/>
          <p:nvPr/>
        </p:nvSpPr>
        <p:spPr>
          <a:xfrm>
            <a:off x="8065429" y="2898108"/>
            <a:ext cx="3455059" cy="1374534"/>
          </a:xfrm>
          <a:prstGeom prst="round2SameRect">
            <a:avLst>
              <a:gd name="adj1" fmla="val 0"/>
              <a:gd name="adj2" fmla="val 0"/>
            </a:avLst>
          </a:prstGeom>
          <a:blipFill>
            <a:blip r:embed="rId3"/>
            <a:stretch>
              <a:fillRect t="-99207" l="0" b="-96862" r="0"/>
            </a:stretch>
          </a:blipFill>
          <a:ln>
            <a:noFill/>
          </a:ln>
          <a:effectLst/>
        </p:spPr>
        <p:txBody>
          <a:bodyPr vert="horz" rot="0" anchor="t" wrap="square" tIns="45720" lIns="91440" bIns="45720" rIns="91440">
            <a:prstTxWarp prst="textNoShape">
              <a:avLst/>
            </a:prstTxWarp>
            <a:noAutofit/>
          </a:bodyPr>
          <a:p>
            <a:pPr algn="ctr" marL="0"/>
          </a:p>
        </p:txBody>
      </p:sp>
      <p:sp>
        <p:nvSpPr>
          <p:cNvPr name="AutoShape 9" id="9"/>
          <p:cNvSpPr/>
          <p:nvPr/>
        </p:nvSpPr>
        <p:spPr>
          <a:xfrm>
            <a:off x="1227539" y="3282727"/>
            <a:ext cx="376146" cy="364203"/>
          </a:xfrm>
          <a:prstGeom prst="rect">
            <a:avLst/>
          </a:prstGeom>
          <a:solidFill>
            <a:schemeClr val="accent1"/>
          </a:solidFill>
          <a:ln>
            <a:solidFill>
              <a:schemeClr val="bg1"/>
            </a:solidFill>
          </a:ln>
        </p:spPr>
        <p:txBody>
          <a:bodyPr vert="horz" anchor="ctr" wrap="square" tIns="45720" lIns="91440" bIns="45720" rIns="91440">
            <a:noAutofit/>
          </a:bodyPr>
          <a:p>
            <a:pPr algn="ctr" marL="0"/>
            <a:r>
              <a:rPr lang="en-US" b="true" i="false" sz="1200" baseline="0" u="none">
                <a:solidFill>
                  <a:schemeClr val="lt1"/>
                </a:solidFill>
                <a:latin typeface="微软雅黑"/>
                <a:ea typeface="微软雅黑"/>
              </a:rPr>
              <a:t>02</a:t>
            </a:r>
          </a:p>
        </p:txBody>
      </p:sp>
      <p:sp>
        <p:nvSpPr>
          <p:cNvPr name="TextBox 10" id="10"/>
          <p:cNvSpPr txBox="true"/>
          <p:nvPr/>
        </p:nvSpPr>
        <p:spPr>
          <a:xfrm>
            <a:off x="1792254" y="3277598"/>
            <a:ext cx="5891245" cy="338554"/>
          </a:xfrm>
          <a:prstGeom prst="rect">
            <a:avLst/>
          </a:prstGeom>
          <a:noFill/>
        </p:spPr>
        <p:txBody>
          <a:bodyPr anchor="t" rtlCol="false" vert="horz" wrap="square" tIns="45720" lIns="91440" bIns="45720" rIns="91440">
            <a:spAutoFit/>
          </a:bodyPr>
          <a:lstStyle/>
          <a:p>
            <a:pPr algn="l" marL="0">
              <a:defRPr/>
            </a:pPr>
            <a:r>
              <a:rPr lang="zh-CN" b="true" i="false" sz="1600" baseline="0" u="none" altLang="en-US">
                <a:solidFill>
                  <a:schemeClr val="tx1"/>
                </a:solidFill>
                <a:latin typeface="微软雅黑"/>
                <a:ea typeface="微软雅黑"/>
              </a:rPr>
              <a:t>Prim算法</a:t>
            </a:r>
            <a:endParaRPr lang="en-US" sz="1100"/>
          </a:p>
        </p:txBody>
      </p:sp>
      <p:sp>
        <p:nvSpPr>
          <p:cNvPr name="TextBox 11" id="11"/>
          <p:cNvSpPr txBox="true"/>
          <p:nvPr/>
        </p:nvSpPr>
        <p:spPr>
          <a:xfrm>
            <a:off x="1792254" y="3646930"/>
            <a:ext cx="5891245" cy="587791"/>
          </a:xfrm>
          <a:prstGeom prst="rect">
            <a:avLst/>
          </a:prstGeom>
          <a:ln>
            <a:noFill/>
          </a:ln>
        </p:spPr>
        <p:txBody>
          <a:bodyPr anchor="t" rtlCol="false" vert="horz" wrap="square" tIns="46800" lIns="90000" bIns="46800" rIns="90000">
            <a:spAutoFit/>
          </a:bodyPr>
          <a:lstStyle/>
          <a:p>
            <a:pPr algn="l" marL="0">
              <a:lnSpc>
                <a:spcPct val="120000"/>
              </a:lnSpc>
              <a:defRPr/>
            </a:pPr>
            <a:r>
              <a:rPr lang="zh-CN" b="false" i="false" sz="1400" baseline="0" u="none" altLang="en-US">
                <a:solidFill>
                  <a:schemeClr val="tx1"/>
                </a:solidFill>
                <a:latin typeface="微软雅黑"/>
                <a:ea typeface="微软雅黑"/>
              </a:rPr>
              <a:t>从任意顶点开始，逐步增加连接当前树集与树外的最小权值边，将树外顶点加入树集。使用优先队列优化，时间复杂度O(ElogV)。适用于稠密图。</a:t>
            </a:r>
            <a:endParaRPr lang="en-US" sz="1100"/>
          </a:p>
        </p:txBody>
      </p:sp>
      <p:sp>
        <p:nvSpPr>
          <p:cNvPr name="AutoShape 12" id="12"/>
          <p:cNvSpPr/>
          <p:nvPr/>
        </p:nvSpPr>
        <p:spPr>
          <a:xfrm>
            <a:off x="8065429" y="4576508"/>
            <a:ext cx="3455059" cy="1374534"/>
          </a:xfrm>
          <a:prstGeom prst="round2SameRect">
            <a:avLst>
              <a:gd name="adj1" fmla="val 0"/>
              <a:gd name="adj2" fmla="val 0"/>
            </a:avLst>
          </a:prstGeom>
          <a:blipFill>
            <a:blip r:embed="rId4"/>
            <a:stretch>
              <a:fillRect t="-27892" l="0" b="-27232" r="0"/>
            </a:stretch>
          </a:blipFill>
          <a:ln>
            <a:noFill/>
          </a:ln>
          <a:effectLst/>
        </p:spPr>
        <p:txBody>
          <a:bodyPr vert="horz" rot="0" anchor="t" wrap="square" tIns="45720" lIns="91440" bIns="45720" rIns="91440">
            <a:prstTxWarp prst="textNoShape">
              <a:avLst/>
            </a:prstTxWarp>
            <a:noAutofit/>
          </a:bodyPr>
          <a:p>
            <a:pPr algn="ctr" marL="0"/>
          </a:p>
        </p:txBody>
      </p:sp>
      <p:sp>
        <p:nvSpPr>
          <p:cNvPr name="AutoShape 13" id="13"/>
          <p:cNvSpPr/>
          <p:nvPr/>
        </p:nvSpPr>
        <p:spPr>
          <a:xfrm>
            <a:off x="1227539" y="4961127"/>
            <a:ext cx="376146" cy="364203"/>
          </a:xfrm>
          <a:prstGeom prst="rect">
            <a:avLst/>
          </a:prstGeom>
          <a:solidFill>
            <a:schemeClr val="accent1"/>
          </a:solidFill>
          <a:ln>
            <a:solidFill>
              <a:schemeClr val="bg1"/>
            </a:solidFill>
          </a:ln>
        </p:spPr>
        <p:txBody>
          <a:bodyPr vert="horz" anchor="ctr" wrap="square" tIns="45720" lIns="91440" bIns="45720" rIns="91440">
            <a:noAutofit/>
          </a:bodyPr>
          <a:p>
            <a:pPr algn="ctr" marL="0"/>
            <a:r>
              <a:rPr lang="en-US" b="true" i="false" sz="1200" baseline="0" u="none">
                <a:solidFill>
                  <a:schemeClr val="lt1"/>
                </a:solidFill>
                <a:latin typeface="微软雅黑"/>
                <a:ea typeface="微软雅黑"/>
              </a:rPr>
              <a:t>03</a:t>
            </a:r>
          </a:p>
        </p:txBody>
      </p:sp>
      <p:sp>
        <p:nvSpPr>
          <p:cNvPr name="TextBox 14" id="14"/>
          <p:cNvSpPr txBox="true"/>
          <p:nvPr/>
        </p:nvSpPr>
        <p:spPr>
          <a:xfrm>
            <a:off x="1792254" y="4955998"/>
            <a:ext cx="5891245" cy="338554"/>
          </a:xfrm>
          <a:prstGeom prst="rect">
            <a:avLst/>
          </a:prstGeom>
          <a:noFill/>
        </p:spPr>
        <p:txBody>
          <a:bodyPr anchor="t" rtlCol="false" vert="horz" wrap="square" tIns="45720" lIns="91440" bIns="45720" rIns="91440">
            <a:spAutoFit/>
          </a:bodyPr>
          <a:lstStyle/>
          <a:p>
            <a:pPr algn="l" marL="0">
              <a:defRPr/>
            </a:pPr>
            <a:r>
              <a:rPr lang="zh-CN" b="true" i="false" sz="1600" baseline="0" u="none" altLang="en-US">
                <a:solidFill>
                  <a:schemeClr val="tx1"/>
                </a:solidFill>
                <a:latin typeface="微软雅黑"/>
                <a:ea typeface="微软雅黑"/>
              </a:rPr>
              <a:t>Kruskal算法</a:t>
            </a:r>
            <a:endParaRPr lang="en-US" sz="1100"/>
          </a:p>
        </p:txBody>
      </p:sp>
      <p:sp>
        <p:nvSpPr>
          <p:cNvPr name="TextBox 15" id="15"/>
          <p:cNvSpPr txBox="true"/>
          <p:nvPr/>
        </p:nvSpPr>
        <p:spPr>
          <a:xfrm>
            <a:off x="1792254" y="5325330"/>
            <a:ext cx="5891245" cy="672720"/>
          </a:xfrm>
          <a:prstGeom prst="rect">
            <a:avLst/>
          </a:prstGeom>
          <a:ln>
            <a:noFill/>
          </a:ln>
        </p:spPr>
        <p:txBody>
          <a:bodyPr anchor="t" rtlCol="false" vert="horz" wrap="square" tIns="46800" lIns="90000" bIns="46800" rIns="90000">
            <a:spAutoFit/>
          </a:bodyPr>
          <a:lstStyle/>
          <a:p>
            <a:pPr algn="l" marL="0">
              <a:lnSpc>
                <a:spcPct val="120000"/>
              </a:lnSpc>
              <a:defRPr/>
            </a:pPr>
            <a:r>
              <a:rPr lang="zh-CN" b="false" i="false" sz="1400" baseline="0" u="none" altLang="en-US">
                <a:solidFill>
                  <a:schemeClr val="tx1"/>
                </a:solidFill>
                <a:latin typeface="微软雅黑"/>
                <a:ea typeface="微软雅黑"/>
              </a:rPr>
              <a:t>将所有边按权值排序，依次选取权值最小的边，若该边加入不形成回路（即两端点不在同一连通分量）则保留，否则跳过。使用并查集判断连通性，时间复杂度O(ElogE)。适用于稀疏图。</a:t>
            </a:r>
            <a:endParaRPr lang="en-US" sz="1100"/>
          </a:p>
        </p:txBody>
      </p:sp>
      <p:sp>
        <p:nvSpPr>
          <p:cNvPr name="AutoShape 16" id="16"/>
          <p:cNvSpPr/>
          <p:nvPr/>
        </p:nvSpPr>
        <p:spPr>
          <a:xfrm>
            <a:off x="10795000" y="6540500"/>
            <a:ext cx="1270000" cy="190500"/>
          </a:xfrm>
          <a:prstGeom prst="rect">
            <a:avLst/>
          </a:prstGeom>
          <a:solidFill>
            <a:srgbClr val="000000">
              <a:alpha val="0"/>
            </a:srgbClr>
          </a:solidFill>
        </p:spPr>
        <p:txBody>
          <a:bodyPr anchor="t" rtlCol="false"/>
          <a:lstStyle/>
          <a:p>
            <a:pPr algn="r">
              <a:defRPr/>
            </a:pPr>
            <a:r>
              <a:rPr lang="en-US" b="false" i="false" sz="800" baseline="0" u="none">
                <a:solidFill>
                  <a:srgbClr val="808080"/>
                </a:solidFill>
                <a:latin typeface="Microsoft YaHei"/>
                <a:ea typeface="Microsoft YaHei"/>
              </a:rPr>
              <a:t>内容由AI生成</a:t>
            </a:r>
            <a:endParaRPr lang="en-US" sz="1100"/>
          </a:p>
        </p:txBody>
      </p:sp>
    </p:spTree>
  </p:cSld>
  <p:clrMapOvr>
    <a:masterClrMapping/>
  </p:clrMapOvr>
  <p:transition spd="fast"/>
</p:sld>
</file>

<file path=ppt/slides/slide27.xml><?xml version="1.0" encoding="utf-8"?>
<p:sld xmlns:p="http://schemas.openxmlformats.org/presentationml/2006/main" xmlns:a="http://schemas.openxmlformats.org/drawingml/2006/main" xmlns:r="http://schemas.openxmlformats.org/officeDocument/2006/relationships">
  <p:cSld>
    <p:bg>
      <p:bgPr>
        <a:solidFill>
          <a:schemeClr val="bg1"/>
        </a:solidFill>
      </p:bgPr>
    </p:bg>
    <p:spTree>
      <p:nvGrpSpPr>
        <p:cNvPr id="1" name=""/>
        <p:cNvGrpSpPr/>
        <p:nvPr/>
      </p:nvGrpSpPr>
      <p:grpSpPr>
        <a:xfrm>
          <a:off x="0" y="0"/>
          <a:ext cx="0" cy="0"/>
          <a:chOff x="0" y="0"/>
          <a:chExt cx="0" cy="0"/>
        </a:xfrm>
      </p:grpSpPr>
      <p:sp>
        <p:nvSpPr>
          <p:cNvPr name="AutoShape 2" id="2"/>
          <p:cNvSpPr/>
          <p:nvPr/>
        </p:nvSpPr>
        <p:spPr>
          <a:xfrm>
            <a:off x="6343378" y="1136894"/>
            <a:ext cx="5164367" cy="954107"/>
          </a:xfrm>
          <a:prstGeom prst="rect">
            <a:avLst/>
          </a:prstGeom>
        </p:spPr>
        <p:txBody>
          <a:bodyPr vert="horz" anchor="b" tIns="45720" lIns="91440" bIns="45720" rIns="91440">
            <a:normAutofit/>
          </a:bodyPr>
          <a:p>
            <a:pPr algn="l" marL="0">
              <a:lnSpc>
                <a:spcPct val="100000"/>
              </a:lnSpc>
              <a:spcBef>
                <a:spcPct val="0"/>
              </a:spcBef>
            </a:pPr>
            <a:r>
              <a:rPr lang="zh-CN" b="true" i="false" sz="2800" baseline="0" u="none" altLang="en-US">
                <a:solidFill>
                  <a:schemeClr val="tx1"/>
                </a:solidFill>
                <a:latin typeface="微软雅黑"/>
                <a:ea typeface="微软雅黑"/>
              </a:rPr>
              <a:t>最短路径</a:t>
            </a:r>
          </a:p>
        </p:txBody>
      </p:sp>
      <p:cxnSp>
        <p:nvCxnSpPr>
          <p:cNvPr name="Connector 3" id="3"/>
          <p:cNvCxnSpPr/>
          <p:nvPr/>
        </p:nvCxnSpPr>
        <p:spPr>
          <a:xfrm flipH="true">
            <a:off x="3419458" y="2968585"/>
            <a:ext cx="743748" cy="3174532"/>
          </a:xfrm>
          <a:prstGeom prst="line">
            <a:avLst/>
          </a:prstGeom>
          <a:noFill/>
          <a:ln w="25400" cap="flat" cmpd="sng">
            <a:solidFill>
              <a:schemeClr val="accent2"/>
            </a:solidFill>
            <a:prstDash val="solid"/>
            <a:miter lim="800000"/>
          </a:ln>
        </p:spPr>
      </p:cxnSp>
      <p:cxnSp>
        <p:nvCxnSpPr>
          <p:cNvPr name="Connector 4" id="4"/>
          <p:cNvCxnSpPr/>
          <p:nvPr/>
        </p:nvCxnSpPr>
        <p:spPr>
          <a:xfrm flipH="true">
            <a:off x="7257153" y="1245267"/>
            <a:ext cx="743748" cy="3174532"/>
          </a:xfrm>
          <a:prstGeom prst="line">
            <a:avLst/>
          </a:prstGeom>
          <a:noFill/>
          <a:ln w="25400" cap="flat" cmpd="sng">
            <a:solidFill>
              <a:schemeClr val="accent2"/>
            </a:solidFill>
            <a:prstDash val="solid"/>
            <a:miter lim="800000"/>
          </a:ln>
        </p:spPr>
      </p:cxnSp>
      <p:cxnSp>
        <p:nvCxnSpPr>
          <p:cNvPr name="Connector 5" id="5"/>
          <p:cNvCxnSpPr/>
          <p:nvPr/>
        </p:nvCxnSpPr>
        <p:spPr>
          <a:xfrm flipH="true">
            <a:off x="10598477" y="2968585"/>
            <a:ext cx="743748" cy="3174532"/>
          </a:xfrm>
          <a:prstGeom prst="line">
            <a:avLst/>
          </a:prstGeom>
          <a:noFill/>
          <a:ln w="25400" cap="flat" cmpd="sng">
            <a:solidFill>
              <a:schemeClr val="accent2"/>
            </a:solidFill>
            <a:prstDash val="solid"/>
            <a:miter lim="800000"/>
          </a:ln>
        </p:spPr>
      </p:cxnSp>
      <p:sp>
        <p:nvSpPr>
          <p:cNvPr name="TextBox 6" id="6"/>
          <p:cNvSpPr txBox="true"/>
          <p:nvPr/>
        </p:nvSpPr>
        <p:spPr>
          <a:xfrm>
            <a:off x="849775" y="4672678"/>
            <a:ext cx="2724355" cy="351400"/>
          </a:xfrm>
          <a:prstGeom prst="rect">
            <a:avLst/>
          </a:prstGeom>
        </p:spPr>
        <p:txBody>
          <a:bodyPr anchor="t" rtlCol="false" vert="horz" wrap="square" tIns="36000" lIns="0" bIns="36000" rIns="0">
            <a:spAutoFit/>
          </a:bodyPr>
          <a:lstStyle/>
          <a:p>
            <a:pPr algn="l" marL="0">
              <a:defRPr/>
            </a:pPr>
            <a:r>
              <a:rPr lang="zh-CN" b="true" i="false" sz="1600" baseline="0" u="none" altLang="en-US">
                <a:solidFill>
                  <a:schemeClr val="tx1"/>
                </a:solidFill>
                <a:latin typeface="微软雅黑"/>
                <a:ea typeface="微软雅黑"/>
              </a:rPr>
              <a:t>任意两点最短路径：Floyd算法</a:t>
            </a:r>
            <a:endParaRPr lang="en-US" sz="1100"/>
          </a:p>
        </p:txBody>
      </p:sp>
      <p:sp>
        <p:nvSpPr>
          <p:cNvPr name="TextBox 7" id="7"/>
          <p:cNvSpPr txBox="true"/>
          <p:nvPr/>
        </p:nvSpPr>
        <p:spPr>
          <a:xfrm>
            <a:off x="849775" y="5057220"/>
            <a:ext cx="2724355" cy="1211082"/>
          </a:xfrm>
          <a:prstGeom prst="rect">
            <a:avLst/>
          </a:prstGeom>
        </p:spPr>
        <p:txBody>
          <a:bodyPr anchor="t" rtlCol="false" vert="horz" wrap="square" tIns="36000" lIns="0" bIns="36000" rIns="0">
            <a:spAutoFit/>
          </a:bodyPr>
          <a:lstStyle/>
          <a:p>
            <a:pPr algn="l" marL="0">
              <a:lnSpc>
                <a:spcPct val="130000"/>
              </a:lnSpc>
              <a:defRPr/>
            </a:pPr>
            <a:r>
              <a:rPr lang="zh-CN" b="false" i="false" sz="1400" baseline="0" u="none" altLang="en-US">
                <a:solidFill>
                  <a:schemeClr val="tx1"/>
                </a:solidFill>
                <a:latin typeface="微软雅黑"/>
                <a:ea typeface="微软雅黑"/>
              </a:rPr>
              <a:t>动态规划思想，用邻接矩阵dist[ ]存储最短距离，依次考虑每个顶点作为中间点，更新dist[i][j]=min(dist[i][j], dist[i][k]+dist[k][j])。时间复杂度O(V^3)，可处理负权边（无负环）。</a:t>
            </a:r>
            <a:endParaRPr lang="en-US" sz="1100"/>
          </a:p>
        </p:txBody>
      </p:sp>
      <p:sp>
        <p:nvSpPr>
          <p:cNvPr name="TextBox 8" id="8"/>
          <p:cNvSpPr txBox="true"/>
          <p:nvPr/>
        </p:nvSpPr>
        <p:spPr>
          <a:xfrm>
            <a:off x="7257153" y="4672678"/>
            <a:ext cx="3315910" cy="318924"/>
          </a:xfrm>
          <a:prstGeom prst="rect">
            <a:avLst/>
          </a:prstGeom>
        </p:spPr>
        <p:txBody>
          <a:bodyPr anchor="t" rtlCol="false" vert="horz" wrap="square" tIns="36000" lIns="0" bIns="36000" rIns="0">
            <a:spAutoFit/>
          </a:bodyPr>
          <a:lstStyle/>
          <a:p>
            <a:pPr algn="l" marL="0">
              <a:defRPr/>
            </a:pPr>
            <a:r>
              <a:rPr lang="zh-CN" b="true" i="false" sz="1600" baseline="0" u="none" altLang="en-US">
                <a:solidFill>
                  <a:schemeClr val="tx1"/>
                </a:solidFill>
                <a:latin typeface="微软雅黑"/>
                <a:ea typeface="微软雅黑"/>
              </a:rPr>
              <a:t>拓扑排序与关键路径</a:t>
            </a:r>
            <a:endParaRPr lang="en-US" sz="1100"/>
          </a:p>
        </p:txBody>
      </p:sp>
      <p:sp>
        <p:nvSpPr>
          <p:cNvPr name="TextBox 9" id="9"/>
          <p:cNvSpPr txBox="true"/>
          <p:nvPr/>
        </p:nvSpPr>
        <p:spPr>
          <a:xfrm>
            <a:off x="7257153" y="5057220"/>
            <a:ext cx="3315910" cy="1211082"/>
          </a:xfrm>
          <a:prstGeom prst="rect">
            <a:avLst/>
          </a:prstGeom>
        </p:spPr>
        <p:txBody>
          <a:bodyPr anchor="t" rtlCol="false" vert="horz" wrap="square" tIns="36000" lIns="0" bIns="36000" rIns="0">
            <a:spAutoFit/>
          </a:bodyPr>
          <a:lstStyle/>
          <a:p>
            <a:pPr algn="l" marL="0">
              <a:lnSpc>
                <a:spcPct val="130000"/>
              </a:lnSpc>
              <a:defRPr/>
            </a:pPr>
            <a:r>
              <a:rPr lang="zh-CN" b="false" i="false" sz="1400" baseline="0" u="none" altLang="en-US">
                <a:solidFill>
                  <a:schemeClr val="tx1"/>
                </a:solidFill>
                <a:latin typeface="微软雅黑"/>
                <a:ea typeface="微软雅黑"/>
              </a:rPr>
              <a:t>拓扑排序用于有向无环图（DAG），输出一个线性序列，使得所有边从前指向后。算法：不断选取入度为0的顶点输出并删除其出边。关键路径用于求AOE网中完成工程的最短时间，需计算事件最早最晚发生时间。</a:t>
            </a:r>
            <a:endParaRPr lang="en-US" sz="1100"/>
          </a:p>
        </p:txBody>
      </p:sp>
      <p:sp>
        <p:nvSpPr>
          <p:cNvPr name="TextBox 10" id="10"/>
          <p:cNvSpPr txBox="true"/>
          <p:nvPr/>
        </p:nvSpPr>
        <p:spPr>
          <a:xfrm>
            <a:off x="4724504" y="1220147"/>
            <a:ext cx="2801732" cy="318924"/>
          </a:xfrm>
          <a:prstGeom prst="rect">
            <a:avLst/>
          </a:prstGeom>
        </p:spPr>
        <p:txBody>
          <a:bodyPr anchor="t" rtlCol="false" vert="horz" wrap="square" tIns="36000" lIns="0" bIns="36000" rIns="0">
            <a:spAutoFit/>
          </a:bodyPr>
          <a:lstStyle/>
          <a:p>
            <a:pPr algn="l" marL="0">
              <a:defRPr/>
            </a:pPr>
            <a:r>
              <a:rPr lang="zh-CN" b="true" i="false" sz="1600" baseline="0" u="none" altLang="en-US">
                <a:solidFill>
                  <a:schemeClr val="tx1"/>
                </a:solidFill>
                <a:latin typeface="微软雅黑"/>
                <a:ea typeface="微软雅黑"/>
              </a:rPr>
              <a:t>单源最短路径：Dijkstra算法</a:t>
            </a:r>
            <a:endParaRPr lang="en-US" sz="1100"/>
          </a:p>
        </p:txBody>
      </p:sp>
      <p:sp>
        <p:nvSpPr>
          <p:cNvPr name="TextBox 11" id="11"/>
          <p:cNvSpPr txBox="true"/>
          <p:nvPr/>
        </p:nvSpPr>
        <p:spPr>
          <a:xfrm>
            <a:off x="4724504" y="1699938"/>
            <a:ext cx="2756885" cy="1194680"/>
          </a:xfrm>
          <a:prstGeom prst="rect">
            <a:avLst/>
          </a:prstGeom>
        </p:spPr>
        <p:txBody>
          <a:bodyPr anchor="t" rtlCol="false" vert="horz" wrap="square" tIns="36000" lIns="0" bIns="36000" rIns="0">
            <a:spAutoFit/>
          </a:bodyPr>
          <a:lstStyle/>
          <a:p>
            <a:pPr algn="l" marL="0">
              <a:lnSpc>
                <a:spcPct val="130000"/>
              </a:lnSpc>
              <a:defRPr/>
            </a:pPr>
            <a:r>
              <a:rPr lang="zh-CN" b="false" i="false" sz="1400" baseline="0" u="none" altLang="en-US">
                <a:solidFill>
                  <a:schemeClr val="tx1"/>
                </a:solidFill>
                <a:latin typeface="微软雅黑"/>
                <a:ea typeface="微软雅黑"/>
              </a:rPr>
              <a:t>求从源点到其他所有顶点的最短路径。每次选择当前距离最小的未访问顶点，对其邻接点进行松弛操作。要求图中无负权边。时间复杂度O(V^2)或O(ElogV)（堆优化）。</a:t>
            </a:r>
            <a:endParaRPr lang="en-US" sz="1100"/>
          </a:p>
        </p:txBody>
      </p:sp>
      <p:pic>
        <p:nvPicPr>
          <p:cNvPr name="image1.jpeg" id="12"/>
          <p:cNvPicPr>
            <a:picLocks noChangeAspect="true"/>
          </p:cNvPicPr>
          <p:nvPr/>
        </p:nvPicPr>
        <p:blipFill>
          <a:blip r:embed="rId2"/>
          <a:srcRect l="18138" r="18138"/>
          <a:stretch>
            <a:fillRect/>
          </a:stretch>
        </p:blipFill>
        <p:spPr>
          <a:xfrm>
            <a:off x="4163206" y="3005456"/>
            <a:ext cx="3023594" cy="3163339"/>
          </a:xfrm>
          <a:custGeom>
            <a:pathLst>
              <a:path w="3023594" h="3163339" stroke="true" fill="norm" extrusionOk="true">
                <a:moveTo>
                  <a:pt x="755899" y="0"/>
                </a:moveTo>
                <a:lnTo>
                  <a:pt x="3023594" y="0"/>
                </a:lnTo>
                <a:lnTo>
                  <a:pt x="2267696" y="3163339"/>
                </a:lnTo>
                <a:lnTo>
                  <a:pt x="0" y="3163339"/>
                </a:lnTo>
                <a:close/>
              </a:path>
            </a:pathLst>
          </a:custGeom>
          <a:solidFill>
            <a:srgbClr val="2196F3">
              <a:alpha val="60000"/>
            </a:srgbClr>
          </a:solidFill>
        </p:spPr>
      </p:pic>
      <p:pic>
        <p:nvPicPr>
          <p:cNvPr name="image2.jpeg" id="13"/>
          <p:cNvPicPr>
            <a:picLocks noChangeAspect="true"/>
          </p:cNvPicPr>
          <p:nvPr/>
        </p:nvPicPr>
        <p:blipFill>
          <a:blip r:embed="rId3"/>
          <a:srcRect l="18138" r="18138"/>
          <a:stretch>
            <a:fillRect/>
          </a:stretch>
        </p:blipFill>
        <p:spPr>
          <a:xfrm>
            <a:off x="8122178" y="1245268"/>
            <a:ext cx="3023594" cy="3163339"/>
          </a:xfrm>
          <a:custGeom>
            <a:pathLst>
              <a:path w="3023594" h="3163339" stroke="true" fill="norm" extrusionOk="true">
                <a:moveTo>
                  <a:pt x="755899" y="0"/>
                </a:moveTo>
                <a:lnTo>
                  <a:pt x="3023594" y="0"/>
                </a:lnTo>
                <a:lnTo>
                  <a:pt x="2267696" y="3163339"/>
                </a:lnTo>
                <a:lnTo>
                  <a:pt x="0" y="3163339"/>
                </a:lnTo>
                <a:close/>
              </a:path>
            </a:pathLst>
          </a:custGeom>
          <a:solidFill>
            <a:srgbClr val="2196F3">
              <a:alpha val="60000"/>
            </a:srgbClr>
          </a:solidFill>
        </p:spPr>
      </p:pic>
      <p:pic>
        <p:nvPicPr>
          <p:cNvPr name="image3.jpeg" id="14"/>
          <p:cNvPicPr>
            <a:picLocks noChangeAspect="true"/>
          </p:cNvPicPr>
          <p:nvPr/>
        </p:nvPicPr>
        <p:blipFill>
          <a:blip r:embed="rId4"/>
          <a:srcRect l="18155" r="18155"/>
          <a:stretch>
            <a:fillRect/>
          </a:stretch>
        </p:blipFill>
        <p:spPr>
          <a:xfrm>
            <a:off x="1154799" y="1245268"/>
            <a:ext cx="3023594" cy="3163339"/>
          </a:xfrm>
          <a:custGeom>
            <a:pathLst>
              <a:path w="3023594" h="3163339" stroke="true" fill="norm" extrusionOk="true">
                <a:moveTo>
                  <a:pt x="755899" y="0"/>
                </a:moveTo>
                <a:lnTo>
                  <a:pt x="3023594" y="0"/>
                </a:lnTo>
                <a:lnTo>
                  <a:pt x="2267696" y="3163339"/>
                </a:lnTo>
                <a:lnTo>
                  <a:pt x="0" y="3163339"/>
                </a:lnTo>
                <a:close/>
              </a:path>
            </a:pathLst>
          </a:custGeom>
          <a:solidFill>
            <a:srgbClr val="2196F3">
              <a:alpha val="60000"/>
            </a:srgbClr>
          </a:solidFill>
        </p:spPr>
      </p:pic>
      <p:sp>
        <p:nvSpPr>
          <p:cNvPr name="AutoShape 15" id="15"/>
          <p:cNvSpPr/>
          <p:nvPr/>
        </p:nvSpPr>
        <p:spPr>
          <a:xfrm>
            <a:off x="10795000" y="6540500"/>
            <a:ext cx="1270000" cy="190500"/>
          </a:xfrm>
          <a:prstGeom prst="rect">
            <a:avLst/>
          </a:prstGeom>
          <a:solidFill>
            <a:srgbClr val="000000">
              <a:alpha val="0"/>
            </a:srgbClr>
          </a:solidFill>
        </p:spPr>
        <p:txBody>
          <a:bodyPr anchor="t" rtlCol="false"/>
          <a:lstStyle/>
          <a:p>
            <a:pPr algn="r">
              <a:defRPr/>
            </a:pPr>
            <a:r>
              <a:rPr lang="en-US" b="false" i="false" sz="800" baseline="0" u="none">
                <a:solidFill>
                  <a:srgbClr val="808080"/>
                </a:solidFill>
                <a:latin typeface="Microsoft YaHei"/>
                <a:ea typeface="Microsoft YaHei"/>
              </a:rPr>
              <a:t>内容由AI生成</a:t>
            </a:r>
            <a:endParaRPr lang="en-US" sz="1100"/>
          </a:p>
        </p:txBody>
      </p:sp>
    </p:spTree>
  </p:cSld>
  <p:clrMapOvr>
    <a:masterClrMapping/>
  </p:clrMapOvr>
  <p:transition spd="fast"/>
</p:sld>
</file>

<file path=ppt/slides/slide28.xml><?xml version="1.0" encoding="utf-8"?>
<p:sld xmlns:p="http://schemas.openxmlformats.org/presentationml/2006/main" xmlns:a="http://schemas.openxmlformats.org/drawingml/2006/main" xmlns:r="http://schemas.openxmlformats.org/officeDocument/2006/relationships">
  <p:cSld>
    <p:bg>
      <p:bgPr>
        <a:blipFill rotWithShape="true">
          <a:blip r:embed="rId2"/>
          <a:srcRect/>
          <a:stretch>
            <a:fillRect t="0" l="0" b="0" r="0"/>
          </a:stretch>
        </a:blipFill>
      </p:bgPr>
    </p:bg>
    <p:spTree>
      <p:nvGrpSpPr>
        <p:cNvPr id="1" name=""/>
        <p:cNvGrpSpPr/>
        <p:nvPr/>
      </p:nvGrpSpPr>
      <p:grpSpPr>
        <a:xfrm>
          <a:off x="0" y="0"/>
          <a:ext cx="0" cy="0"/>
          <a:chOff x="0" y="0"/>
          <a:chExt cx="0" cy="0"/>
        </a:xfrm>
      </p:grpSpPr>
      <p:sp>
        <p:nvSpPr>
          <p:cNvPr name="AutoShape 2" id="2"/>
          <p:cNvSpPr/>
          <p:nvPr/>
        </p:nvSpPr>
        <p:spPr>
          <a:xfrm>
            <a:off x="0" y="0"/>
            <a:ext cx="12192000" cy="6858000"/>
          </a:xfrm>
          <a:prstGeom prst="rect">
            <a:avLst/>
          </a:prstGeom>
          <a:gradFill rotWithShape="true" flip="none">
            <a:gsLst>
              <a:gs pos="0">
                <a:srgbClr val="0A854D"/>
              </a:gs>
              <a:gs pos="100000">
                <a:srgbClr val="318B49">
                  <a:alpha val="0"/>
                </a:srgbClr>
              </a:gs>
            </a:gsLst>
            <a:lin ang="5400000"/>
            <a:tileRect/>
          </a:gradFill>
          <a:ln>
            <a:noFill/>
          </a:ln>
        </p:spPr>
        <p:txBody>
          <a:bodyPr vert="horz" anchor="ctr" tIns="45720" lIns="91440" bIns="45720" rIns="91440"/>
          <a:p>
            <a:pPr algn="ctr" marL="0"/>
          </a:p>
        </p:txBody>
      </p:sp>
      <p:sp>
        <p:nvSpPr>
          <p:cNvPr name="TextBox 3" id="3"/>
          <p:cNvSpPr txBox="true"/>
          <p:nvPr/>
        </p:nvSpPr>
        <p:spPr>
          <a:xfrm>
            <a:off x="1665296" y="2971817"/>
            <a:ext cx="8861408" cy="830997"/>
          </a:xfrm>
          <a:prstGeom prst="rect">
            <a:avLst/>
          </a:prstGeom>
          <a:noFill/>
        </p:spPr>
        <p:txBody>
          <a:bodyPr anchor="t" rtlCol="false" vert="horz" wrap="square" tIns="45720" lIns="91440" bIns="45720" rIns="91440">
            <a:spAutoFit/>
          </a:bodyPr>
          <a:lstStyle/>
          <a:p>
            <a:pPr algn="ctr" marL="0">
              <a:defRPr/>
            </a:pPr>
            <a:r>
              <a:rPr lang="zh-CN" b="true" i="false" sz="4800" baseline="0" u="none" altLang="en-US">
                <a:solidFill>
                  <a:schemeClr val="bg1"/>
                </a:solidFill>
                <a:latin typeface="微软雅黑"/>
                <a:ea typeface="微软雅黑"/>
              </a:rPr>
              <a:t>查找与排序</a:t>
            </a:r>
            <a:endParaRPr lang="en-US" sz="1100"/>
          </a:p>
        </p:txBody>
      </p:sp>
      <p:sp>
        <p:nvSpPr>
          <p:cNvPr name="Freeform 4" id="4"/>
          <p:cNvSpPr/>
          <p:nvPr/>
        </p:nvSpPr>
        <p:spPr>
          <a:xfrm>
            <a:off x="650240" y="893196"/>
            <a:ext cx="378355" cy="378355"/>
          </a:xfrm>
          <a:custGeom>
            <a:avLst/>
            <a:gdLst/>
            <a:ahLst/>
            <a:cxnLst/>
            <a:rect r="r" b="b" t="t" l="l"/>
            <a:pathLst>
              <a:path w="634790" h="634790" stroke="true" fill="norm" extrusionOk="true">
                <a:moveTo>
                  <a:pt x="268240" y="235406"/>
                </a:moveTo>
                <a:lnTo>
                  <a:pt x="268240" y="486178"/>
                </a:lnTo>
                <a:lnTo>
                  <a:pt x="368960" y="486178"/>
                </a:lnTo>
                <a:lnTo>
                  <a:pt x="368960" y="235406"/>
                </a:lnTo>
                <a:close/>
                <a:moveTo>
                  <a:pt x="319337" y="127942"/>
                </a:moveTo>
                <a:cubicBezTo>
                  <a:pt x="305602" y="127942"/>
                  <a:pt x="294063" y="132613"/>
                  <a:pt x="284721" y="141955"/>
                </a:cubicBezTo>
                <a:cubicBezTo>
                  <a:pt x="275379" y="151296"/>
                  <a:pt x="270709" y="162667"/>
                  <a:pt x="270709" y="176066"/>
                </a:cubicBezTo>
                <a:cubicBezTo>
                  <a:pt x="270709" y="189754"/>
                  <a:pt x="275391" y="201281"/>
                  <a:pt x="284757" y="210646"/>
                </a:cubicBezTo>
                <a:cubicBezTo>
                  <a:pt x="294122" y="220012"/>
                  <a:pt x="305649" y="224695"/>
                  <a:pt x="319337" y="224695"/>
                </a:cubicBezTo>
                <a:cubicBezTo>
                  <a:pt x="332973" y="224695"/>
                  <a:pt x="344487" y="219999"/>
                  <a:pt x="353878" y="210607"/>
                </a:cubicBezTo>
                <a:cubicBezTo>
                  <a:pt x="363270" y="201215"/>
                  <a:pt x="367966" y="189701"/>
                  <a:pt x="367966" y="176066"/>
                </a:cubicBezTo>
                <a:cubicBezTo>
                  <a:pt x="367966" y="162719"/>
                  <a:pt x="363282" y="151362"/>
                  <a:pt x="353914" y="141994"/>
                </a:cubicBezTo>
                <a:cubicBezTo>
                  <a:pt x="344546" y="132626"/>
                  <a:pt x="333020" y="127942"/>
                  <a:pt x="319337" y="127942"/>
                </a:cubicBezTo>
                <a:close/>
                <a:moveTo>
                  <a:pt x="317395" y="0"/>
                </a:moveTo>
                <a:cubicBezTo>
                  <a:pt x="492687" y="0"/>
                  <a:pt x="634790" y="142103"/>
                  <a:pt x="634790" y="317395"/>
                </a:cubicBezTo>
                <a:cubicBezTo>
                  <a:pt x="634790" y="492687"/>
                  <a:pt x="492687" y="634790"/>
                  <a:pt x="317395" y="634790"/>
                </a:cubicBezTo>
                <a:cubicBezTo>
                  <a:pt x="142103" y="634790"/>
                  <a:pt x="0" y="492687"/>
                  <a:pt x="0" y="317395"/>
                </a:cubicBezTo>
                <a:cubicBezTo>
                  <a:pt x="0" y="142103"/>
                  <a:pt x="142103" y="0"/>
                  <a:pt x="317395" y="0"/>
                </a:cubicBezTo>
                <a:close/>
              </a:path>
            </a:pathLst>
          </a:custGeom>
          <a:solidFill>
            <a:schemeClr val="bg1"/>
          </a:solidFill>
          <a:ln>
            <a:noFill/>
          </a:ln>
        </p:spPr>
        <p:txBody>
          <a:bodyPr vert="horz" anchor="ctr" wrap="square" tIns="45720" lIns="91440" bIns="45720" rIns="91440">
            <a:noAutofit/>
          </a:bodyPr>
          <a:p>
            <a:pPr algn="ctr" marL="0"/>
          </a:p>
        </p:txBody>
      </p:sp>
      <p:sp>
        <p:nvSpPr>
          <p:cNvPr name="TextBox 5" id="5"/>
          <p:cNvSpPr txBox="true"/>
          <p:nvPr/>
        </p:nvSpPr>
        <p:spPr>
          <a:xfrm>
            <a:off x="1051967" y="890172"/>
            <a:ext cx="2569777" cy="400110"/>
          </a:xfrm>
          <a:prstGeom prst="rect">
            <a:avLst/>
          </a:prstGeom>
          <a:noFill/>
        </p:spPr>
        <p:txBody>
          <a:bodyPr anchor="t" rtlCol="false" vert="horz" wrap="square" tIns="45720" lIns="91440" bIns="45720" rIns="91440">
            <a:spAutoFit/>
          </a:bodyPr>
          <a:lstStyle/>
          <a:p>
            <a:pPr algn="l" marL="0">
              <a:defRPr/>
            </a:pPr>
            <a:r>
              <a:rPr lang="en-US" b="true" i="false" sz="2000" baseline="0" u="none">
                <a:solidFill>
                  <a:schemeClr val="bg1"/>
                </a:solidFill>
                <a:latin typeface="微软雅黑"/>
                <a:ea typeface="微软雅黑"/>
              </a:rPr>
              <a:t>YOUR LOGO</a:t>
            </a:r>
            <a:endParaRPr lang="en-US" sz="1100"/>
          </a:p>
        </p:txBody>
      </p:sp>
      <p:sp>
        <p:nvSpPr>
          <p:cNvPr name="TextBox 6" id="6"/>
          <p:cNvSpPr txBox="true"/>
          <p:nvPr/>
        </p:nvSpPr>
        <p:spPr>
          <a:xfrm>
            <a:off x="4283777" y="4106376"/>
            <a:ext cx="3624446" cy="369332"/>
          </a:xfrm>
          <a:prstGeom prst="rect">
            <a:avLst/>
          </a:prstGeom>
          <a:noFill/>
        </p:spPr>
        <p:txBody>
          <a:bodyPr anchor="t" rtlCol="false" vert="horz" wrap="square" tIns="45720" lIns="91440" bIns="45720" rIns="91440">
            <a:spAutoFit/>
          </a:bodyPr>
          <a:lstStyle/>
          <a:p>
            <a:pPr algn="l" marL="0">
              <a:defRPr/>
            </a:pPr>
            <a:r>
              <a:rPr lang="en-US" b="false" i="false" sz="1800" baseline="0" u="none">
                <a:solidFill>
                  <a:schemeClr val="bg1"/>
                </a:solidFill>
                <a:latin typeface="微软雅黑"/>
                <a:ea typeface="微软雅黑"/>
              </a:rPr>
              <a:t>Power point design</a:t>
            </a:r>
            <a:endParaRPr lang="en-US" sz="1100"/>
          </a:p>
        </p:txBody>
      </p:sp>
      <p:cxnSp>
        <p:nvCxnSpPr>
          <p:cNvPr name="Connector 7" id="7"/>
          <p:cNvCxnSpPr/>
          <p:nvPr/>
        </p:nvCxnSpPr>
        <p:spPr>
          <a:xfrm>
            <a:off x="6647813" y="4291042"/>
            <a:ext cx="1260410" cy="0"/>
          </a:xfrm>
          <a:prstGeom prst="line">
            <a:avLst/>
          </a:prstGeom>
          <a:ln w="9525">
            <a:solidFill>
              <a:schemeClr val="bg1"/>
            </a:solidFill>
          </a:ln>
        </p:spPr>
      </p:cxnSp>
      <p:grpSp>
        <p:nvGrpSpPr>
          <p:cNvPr name="Group 8" id="8"/>
          <p:cNvGrpSpPr/>
          <p:nvPr/>
        </p:nvGrpSpPr>
        <p:grpSpPr>
          <a:xfrm>
            <a:off x="4682966" y="1963176"/>
            <a:ext cx="2826067" cy="858555"/>
            <a:chOff x="4263846" y="2243095"/>
            <a:chExt cx="2826067" cy="858555"/>
          </a:xfrm>
        </p:grpSpPr>
        <p:sp>
          <p:nvSpPr>
            <p:cNvPr name="TextBox 9" id="9"/>
            <p:cNvSpPr txBox="true"/>
            <p:nvPr/>
          </p:nvSpPr>
          <p:spPr>
            <a:xfrm>
              <a:off x="4263846" y="2270653"/>
              <a:ext cx="1988820" cy="830997"/>
            </a:xfrm>
            <a:prstGeom prst="rect">
              <a:avLst/>
            </a:prstGeom>
            <a:noFill/>
          </p:spPr>
          <p:txBody>
            <a:bodyPr anchor="t" rtlCol="false" vert="horz" wrap="square" tIns="45720" lIns="91440" bIns="45720" rIns="91440">
              <a:spAutoFit/>
            </a:bodyPr>
            <a:lstStyle/>
            <a:p>
              <a:pPr algn="l" marL="0">
                <a:defRPr/>
              </a:pPr>
              <a:r>
                <a:rPr lang="en-US" b="false" i="false" sz="4800" baseline="0" u="none">
                  <a:solidFill>
                    <a:schemeClr val="bg1"/>
                  </a:solidFill>
                  <a:latin typeface="微软雅黑"/>
                  <a:ea typeface="微软雅黑"/>
                </a:rPr>
                <a:t>PART</a:t>
              </a:r>
              <a:endParaRPr lang="en-US" sz="1100"/>
            </a:p>
          </p:txBody>
        </p:sp>
        <p:sp>
          <p:nvSpPr>
            <p:cNvPr name="TextBox 10" id="10"/>
            <p:cNvSpPr txBox="true"/>
            <p:nvPr/>
          </p:nvSpPr>
          <p:spPr>
            <a:xfrm>
              <a:off x="6008599" y="2243095"/>
              <a:ext cx="1081314" cy="830997"/>
            </a:xfrm>
            <a:prstGeom prst="rect">
              <a:avLst/>
            </a:prstGeom>
            <a:noFill/>
          </p:spPr>
          <p:txBody>
            <a:bodyPr anchor="t" rtlCol="false" vert="horz" wrap="square" tIns="45720" lIns="91440" bIns="45720" rIns="91440">
              <a:spAutoFit/>
            </a:bodyPr>
            <a:lstStyle/>
            <a:p>
              <a:pPr algn="l" marL="0">
                <a:defRPr/>
              </a:pPr>
              <a:r>
                <a:rPr lang="en-US" b="false" i="false" sz="4800" baseline="0" u="none">
                  <a:solidFill>
                    <a:schemeClr val="bg1"/>
                  </a:solidFill>
                  <a:latin typeface="微软雅黑"/>
                  <a:ea typeface="微软雅黑"/>
                </a:rPr>
                <a:t>06</a:t>
              </a:r>
              <a:endParaRPr lang="en-US" sz="1100"/>
            </a:p>
          </p:txBody>
        </p:sp>
      </p:grpSp>
      <p:sp>
        <p:nvSpPr>
          <p:cNvPr name="AutoShape 11" id="11"/>
          <p:cNvSpPr/>
          <p:nvPr/>
        </p:nvSpPr>
        <p:spPr>
          <a:xfrm>
            <a:off x="10795000" y="6540500"/>
            <a:ext cx="1270000" cy="190500"/>
          </a:xfrm>
          <a:prstGeom prst="rect">
            <a:avLst/>
          </a:prstGeom>
          <a:solidFill>
            <a:srgbClr val="000000">
              <a:alpha val="0"/>
            </a:srgbClr>
          </a:solidFill>
        </p:spPr>
        <p:txBody>
          <a:bodyPr anchor="t" rtlCol="false"/>
          <a:lstStyle/>
          <a:p>
            <a:pPr algn="r">
              <a:defRPr/>
            </a:pPr>
            <a:r>
              <a:rPr lang="en-US" b="false" i="false" sz="800" baseline="0" u="none">
                <a:solidFill>
                  <a:srgbClr val="808080"/>
                </a:solidFill>
                <a:latin typeface="Microsoft YaHei"/>
                <a:ea typeface="Microsoft YaHei"/>
              </a:rPr>
              <a:t>内容由AI生成</a:t>
            </a:r>
            <a:endParaRPr lang="en-US" sz="1100"/>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bg>
      <p:bgPr>
        <a:solidFill>
          <a:schemeClr val="bg1"/>
        </a:solidFill>
      </p:bgPr>
    </p:bg>
    <p:spTree>
      <p:nvGrpSpPr>
        <p:cNvPr id="1" name=""/>
        <p:cNvGrpSpPr/>
        <p:nvPr/>
      </p:nvGrpSpPr>
      <p:grpSpPr>
        <a:xfrm>
          <a:off x="0" y="0"/>
          <a:ext cx="0" cy="0"/>
          <a:chOff x="0" y="0"/>
          <a:chExt cx="0" cy="0"/>
        </a:xfrm>
      </p:grpSpPr>
      <p:sp>
        <p:nvSpPr>
          <p:cNvPr name="AutoShape 2" id="2"/>
          <p:cNvSpPr/>
          <p:nvPr>
            <p:ph type="title"/>
          </p:nvPr>
        </p:nvSpPr>
        <p:spPr>
          <a:xfrm>
            <a:off x="6343378" y="1136894"/>
            <a:ext cx="5164367" cy="954107"/>
          </a:xfrm>
        </p:spPr>
        <p:txBody>
          <a:bodyPr vert="horz" anchor="b" tIns="45720" lIns="91440" bIns="45720" rIns="91440">
            <a:normAutofit/>
          </a:bodyPr>
          <a:p>
            <a:pPr algn="l">
              <a:lnSpc>
                <a:spcPct val="90000"/>
              </a:lnSpc>
              <a:spcBef>
                <a:spcPct val="0"/>
              </a:spcBef>
            </a:pPr>
            <a:r>
              <a:rPr lang="zh-CN" b="true" i="false" sz="2800" baseline="0" u="none" altLang="en-US">
                <a:solidFill>
                  <a:schemeClr val="tx1"/>
                </a:solidFill>
                <a:latin typeface="微软雅黑"/>
                <a:ea typeface="微软雅黑"/>
              </a:rPr>
              <a:t>查找算法概述</a:t>
            </a:r>
          </a:p>
        </p:txBody>
      </p:sp>
      <p:sp>
        <p:nvSpPr>
          <p:cNvPr name="AutoShape 3" id="3"/>
          <p:cNvSpPr/>
          <p:nvPr/>
        </p:nvSpPr>
        <p:spPr>
          <a:xfrm>
            <a:off x="970116" y="2867556"/>
            <a:ext cx="3005826" cy="3269719"/>
          </a:xfrm>
          <a:prstGeom prst="rect">
            <a:avLst/>
          </a:prstGeom>
          <a:solidFill>
            <a:schemeClr val="tx2">
              <a:alpha val="15000"/>
            </a:schemeClr>
          </a:solidFill>
          <a:ln>
            <a:noFill/>
          </a:ln>
        </p:spPr>
        <p:txBody>
          <a:bodyPr vert="horz" anchor="ctr" wrap="square" tIns="45720" lIns="91440" bIns="45720" rIns="91440">
            <a:noAutofit/>
          </a:bodyPr>
          <a:p>
            <a:pPr algn="ctr" marL="0">
              <a:lnSpc>
                <a:spcPct val="130000"/>
              </a:lnSpc>
            </a:pPr>
          </a:p>
        </p:txBody>
      </p:sp>
      <p:sp>
        <p:nvSpPr>
          <p:cNvPr name="AutoShape 4" id="4"/>
          <p:cNvSpPr/>
          <p:nvPr/>
        </p:nvSpPr>
        <p:spPr>
          <a:xfrm>
            <a:off x="1197671" y="3625084"/>
            <a:ext cx="2493865" cy="338554"/>
          </a:xfrm>
          <a:prstGeom prst="rect">
            <a:avLst/>
          </a:prstGeom>
          <a:noFill/>
          <a:ln>
            <a:noFill/>
          </a:ln>
        </p:spPr>
        <p:txBody>
          <a:bodyPr vert="horz" anchor="t" wrap="square" tIns="45720" lIns="91440" bIns="45720" rIns="91440">
            <a:spAutoFit/>
          </a:bodyPr>
          <a:p>
            <a:pPr algn="l" marL="0"/>
            <a:r>
              <a:rPr lang="zh-CN" b="true" i="false" sz="1600" baseline="0" u="none" altLang="en-US">
                <a:solidFill>
                  <a:schemeClr val="tx1"/>
                </a:solidFill>
                <a:latin typeface="微软雅黑"/>
                <a:ea typeface="微软雅黑"/>
              </a:rPr>
              <a:t>静态查找与动态查找</a:t>
            </a:r>
          </a:p>
        </p:txBody>
      </p:sp>
      <p:sp>
        <p:nvSpPr>
          <p:cNvPr name="AutoShape 5" id="5"/>
          <p:cNvSpPr/>
          <p:nvPr/>
        </p:nvSpPr>
        <p:spPr>
          <a:xfrm>
            <a:off x="1197671" y="4178321"/>
            <a:ext cx="2492024" cy="1659890"/>
          </a:xfrm>
          <a:prstGeom prst="rect">
            <a:avLst/>
          </a:prstGeom>
          <a:noFill/>
          <a:ln>
            <a:noFill/>
          </a:ln>
        </p:spPr>
        <p:txBody>
          <a:bodyPr vert="horz" anchor="t" wrap="square" tIns="45720" lIns="91440" bIns="45720" rIns="91440">
            <a:spAutoFit/>
          </a:bodyPr>
          <a:p>
            <a:pPr algn="l" marL="0">
              <a:lnSpc>
                <a:spcPct val="130000"/>
              </a:lnSpc>
            </a:pPr>
            <a:r>
              <a:rPr lang="zh-CN" b="false" i="false" sz="1400" baseline="0" u="none" altLang="en-US">
                <a:solidFill>
                  <a:schemeClr val="tx1"/>
                </a:solidFill>
                <a:latin typeface="微软雅黑"/>
                <a:ea typeface="微软雅黑"/>
              </a:rPr>
              <a:t>静态查找表只进行查找操作，不改变表结构（如二分查找、顺序查找）；动态查找表在查找过程中允许插入和删除操作（如二叉排序树、哈希表）。不同应用选择不同查找结构。</a:t>
            </a:r>
          </a:p>
        </p:txBody>
      </p:sp>
      <p:sp>
        <p:nvSpPr>
          <p:cNvPr name="AutoShape 6" id="6"/>
          <p:cNvSpPr/>
          <p:nvPr/>
        </p:nvSpPr>
        <p:spPr>
          <a:xfrm>
            <a:off x="970116" y="1694624"/>
            <a:ext cx="3005826" cy="1094133"/>
          </a:xfrm>
          <a:prstGeom prst="roundRect">
            <a:avLst>
              <a:gd name="adj" fmla="val 0"/>
            </a:avLst>
          </a:prstGeom>
          <a:blipFill>
            <a:blip r:embed="rId2"/>
            <a:stretch>
              <a:fillRect t="-42057" l="0" b="-41091" r="0"/>
            </a:stretch>
          </a:blipFill>
          <a:ln cap="flat" cmpd="sng">
            <a:noFill/>
            <a:prstDash val="solid"/>
            <a:miter lim="800000"/>
          </a:ln>
          <a:effectLst/>
        </p:spPr>
        <p:txBody>
          <a:bodyPr vert="horz" rot="0" anchor="ctr" wrap="square" tIns="45720" lIns="91440" bIns="45720" rIns="91440">
            <a:prstTxWarp prst="textNoShape">
              <a:avLst/>
            </a:prstTxWarp>
            <a:noAutofit/>
          </a:bodyPr>
          <a:p>
            <a:pPr algn="ctr" marL="0"/>
          </a:p>
        </p:txBody>
      </p:sp>
      <p:sp>
        <p:nvSpPr>
          <p:cNvPr name="AutoShape 7" id="7"/>
          <p:cNvSpPr/>
          <p:nvPr/>
        </p:nvSpPr>
        <p:spPr>
          <a:xfrm>
            <a:off x="970116" y="1436740"/>
            <a:ext cx="3005826" cy="173279"/>
          </a:xfrm>
          <a:prstGeom prst="rect">
            <a:avLst/>
          </a:prstGeom>
          <a:gradFill>
            <a:gsLst>
              <a:gs pos="0">
                <a:srgbClr val="7ECEF4">
                  <a:lumMod val="60000"/>
                  <a:lumOff val="40000"/>
                </a:srgbClr>
              </a:gs>
              <a:gs pos="50000">
                <a:srgbClr val="7ECEF4"/>
              </a:gs>
            </a:gsLst>
            <a:lin ang="2700000"/>
          </a:gradFill>
          <a:ln>
            <a:noFill/>
          </a:ln>
        </p:spPr>
        <p:txBody>
          <a:bodyPr vert="horz" anchor="ctr" wrap="square" tIns="45720" lIns="91440" bIns="45720" rIns="91440">
            <a:noAutofit/>
          </a:bodyPr>
          <a:p>
            <a:pPr algn="ctr" marL="0">
              <a:lnSpc>
                <a:spcPct val="130000"/>
              </a:lnSpc>
            </a:pPr>
          </a:p>
        </p:txBody>
      </p:sp>
      <p:sp>
        <p:nvSpPr>
          <p:cNvPr name="TextBox 8" id="8"/>
          <p:cNvSpPr txBox="true"/>
          <p:nvPr/>
        </p:nvSpPr>
        <p:spPr>
          <a:xfrm>
            <a:off x="1197671" y="2930957"/>
            <a:ext cx="746332" cy="646331"/>
          </a:xfrm>
          <a:prstGeom prst="rect">
            <a:avLst/>
          </a:prstGeom>
          <a:noFill/>
        </p:spPr>
        <p:txBody>
          <a:bodyPr anchor="t" rtlCol="false" vert="horz" wrap="square" tIns="45720" lIns="108000" bIns="45720" rIns="108000">
            <a:noAutofit/>
          </a:bodyPr>
          <a:lstStyle/>
          <a:p>
            <a:pPr algn="l" marL="0">
              <a:defRPr/>
            </a:pPr>
            <a:r>
              <a:rPr lang="en-US" b="true" i="false" sz="3600" baseline="0" u="none">
                <a:solidFill>
                  <a:srgbClr val="000000"/>
                </a:solidFill>
                <a:latin typeface="微软雅黑"/>
                <a:ea typeface="微软雅黑"/>
              </a:rPr>
              <a:t>01</a:t>
            </a:r>
            <a:endParaRPr lang="en-US" sz="1100"/>
          </a:p>
        </p:txBody>
      </p:sp>
      <p:sp>
        <p:nvSpPr>
          <p:cNvPr name="AutoShape 9" id="9"/>
          <p:cNvSpPr/>
          <p:nvPr/>
        </p:nvSpPr>
        <p:spPr>
          <a:xfrm>
            <a:off x="4696629" y="2867556"/>
            <a:ext cx="3005826" cy="3269719"/>
          </a:xfrm>
          <a:prstGeom prst="rect">
            <a:avLst/>
          </a:prstGeom>
          <a:solidFill>
            <a:schemeClr val="tx2">
              <a:alpha val="15000"/>
            </a:schemeClr>
          </a:solidFill>
          <a:ln>
            <a:noFill/>
          </a:ln>
        </p:spPr>
        <p:txBody>
          <a:bodyPr vert="horz" anchor="ctr" wrap="square" tIns="45720" lIns="91440" bIns="45720" rIns="91440">
            <a:noAutofit/>
          </a:bodyPr>
          <a:p>
            <a:pPr algn="ctr" marL="0">
              <a:lnSpc>
                <a:spcPct val="130000"/>
              </a:lnSpc>
            </a:pPr>
          </a:p>
        </p:txBody>
      </p:sp>
      <p:sp>
        <p:nvSpPr>
          <p:cNvPr name="AutoShape 10" id="10"/>
          <p:cNvSpPr/>
          <p:nvPr/>
        </p:nvSpPr>
        <p:spPr>
          <a:xfrm>
            <a:off x="4924184" y="3625084"/>
            <a:ext cx="2493865" cy="338554"/>
          </a:xfrm>
          <a:prstGeom prst="rect">
            <a:avLst/>
          </a:prstGeom>
          <a:noFill/>
          <a:ln>
            <a:noFill/>
          </a:ln>
        </p:spPr>
        <p:txBody>
          <a:bodyPr vert="horz" anchor="t" wrap="square" tIns="45720" lIns="91440" bIns="45720" rIns="91440">
            <a:spAutoFit/>
          </a:bodyPr>
          <a:p>
            <a:pPr algn="l" marL="0"/>
            <a:r>
              <a:rPr lang="zh-CN" b="true" i="false" sz="1600" baseline="0" u="none" altLang="en-US">
                <a:solidFill>
                  <a:schemeClr val="tx1"/>
                </a:solidFill>
                <a:latin typeface="微软雅黑"/>
                <a:ea typeface="微软雅黑"/>
              </a:rPr>
              <a:t>顺序查找与二分查找</a:t>
            </a:r>
          </a:p>
        </p:txBody>
      </p:sp>
      <p:sp>
        <p:nvSpPr>
          <p:cNvPr name="AutoShape 11" id="11"/>
          <p:cNvSpPr/>
          <p:nvPr/>
        </p:nvSpPr>
        <p:spPr>
          <a:xfrm>
            <a:off x="4924184" y="4178321"/>
            <a:ext cx="2492024" cy="1465016"/>
          </a:xfrm>
          <a:prstGeom prst="rect">
            <a:avLst/>
          </a:prstGeom>
          <a:noFill/>
          <a:ln>
            <a:noFill/>
          </a:ln>
        </p:spPr>
        <p:txBody>
          <a:bodyPr vert="horz" anchor="t" wrap="square" tIns="45720" lIns="91440" bIns="45720" rIns="91440">
            <a:spAutoFit/>
          </a:bodyPr>
          <a:p>
            <a:pPr algn="l" marL="0">
              <a:lnSpc>
                <a:spcPct val="130000"/>
              </a:lnSpc>
            </a:pPr>
            <a:r>
              <a:rPr lang="zh-CN" b="false" i="false" sz="1400" baseline="0" u="none" altLang="en-US">
                <a:solidFill>
                  <a:schemeClr val="tx1"/>
                </a:solidFill>
                <a:latin typeface="微软雅黑"/>
                <a:ea typeface="微软雅黑"/>
              </a:rPr>
              <a:t>顺序查找逐个比较，平均时间复杂度O(n)，适用于无序小数据。二分查找要求有序表，每次折半，时间复杂度O(logn)，但插入删除维护有序性代价高。</a:t>
            </a:r>
          </a:p>
        </p:txBody>
      </p:sp>
      <p:sp>
        <p:nvSpPr>
          <p:cNvPr name="AutoShape 12" id="12"/>
          <p:cNvSpPr/>
          <p:nvPr/>
        </p:nvSpPr>
        <p:spPr>
          <a:xfrm>
            <a:off x="4696629" y="1694625"/>
            <a:ext cx="3005826" cy="1094133"/>
          </a:xfrm>
          <a:prstGeom prst="roundRect">
            <a:avLst>
              <a:gd name="adj" fmla="val 0"/>
            </a:avLst>
          </a:prstGeom>
          <a:blipFill>
            <a:blip r:embed="rId3"/>
            <a:stretch>
              <a:fillRect t="-157780" l="0" b="-154160" r="0"/>
            </a:stretch>
          </a:blipFill>
          <a:ln cap="flat" cmpd="sng">
            <a:noFill/>
            <a:prstDash val="solid"/>
            <a:miter lim="800000"/>
          </a:ln>
          <a:effectLst/>
        </p:spPr>
        <p:txBody>
          <a:bodyPr vert="horz" rot="0" anchor="ctr" wrap="square" tIns="45720" lIns="91440" bIns="45720" rIns="91440">
            <a:prstTxWarp prst="textNoShape">
              <a:avLst/>
            </a:prstTxWarp>
            <a:noAutofit/>
          </a:bodyPr>
          <a:p>
            <a:pPr algn="ctr" marL="0"/>
          </a:p>
        </p:txBody>
      </p:sp>
      <p:sp>
        <p:nvSpPr>
          <p:cNvPr name="AutoShape 13" id="13"/>
          <p:cNvSpPr/>
          <p:nvPr/>
        </p:nvSpPr>
        <p:spPr>
          <a:xfrm>
            <a:off x="4696629" y="1436740"/>
            <a:ext cx="3005826" cy="173279"/>
          </a:xfrm>
          <a:prstGeom prst="rect">
            <a:avLst/>
          </a:prstGeom>
          <a:gradFill>
            <a:gsLst>
              <a:gs pos="0">
                <a:srgbClr val="C490BF">
                  <a:lumMod val="60000"/>
                  <a:lumOff val="40000"/>
                </a:srgbClr>
              </a:gs>
              <a:gs pos="50000">
                <a:srgbClr val="C490BF"/>
              </a:gs>
            </a:gsLst>
            <a:lin ang="2700000"/>
          </a:gradFill>
          <a:ln>
            <a:noFill/>
          </a:ln>
        </p:spPr>
        <p:txBody>
          <a:bodyPr vert="horz" anchor="ctr" wrap="square" tIns="45720" lIns="91440" bIns="45720" rIns="91440">
            <a:noAutofit/>
          </a:bodyPr>
          <a:p>
            <a:pPr algn="ctr" marL="0">
              <a:lnSpc>
                <a:spcPct val="130000"/>
              </a:lnSpc>
            </a:pPr>
          </a:p>
        </p:txBody>
      </p:sp>
      <p:sp>
        <p:nvSpPr>
          <p:cNvPr name="TextBox 14" id="14"/>
          <p:cNvSpPr txBox="true"/>
          <p:nvPr/>
        </p:nvSpPr>
        <p:spPr>
          <a:xfrm>
            <a:off x="4924184" y="2930957"/>
            <a:ext cx="746332" cy="646331"/>
          </a:xfrm>
          <a:prstGeom prst="rect">
            <a:avLst/>
          </a:prstGeom>
          <a:noFill/>
        </p:spPr>
        <p:txBody>
          <a:bodyPr anchor="t" rtlCol="false" vert="horz" wrap="square" tIns="45720" lIns="108000" bIns="45720" rIns="108000">
            <a:noAutofit/>
          </a:bodyPr>
          <a:lstStyle/>
          <a:p>
            <a:pPr algn="l" marL="0">
              <a:defRPr/>
            </a:pPr>
            <a:r>
              <a:rPr lang="en-US" b="true" i="false" sz="3600" baseline="0" u="none">
                <a:solidFill>
                  <a:srgbClr val="000000"/>
                </a:solidFill>
                <a:latin typeface="微软雅黑"/>
                <a:ea typeface="微软雅黑"/>
              </a:rPr>
              <a:t>02</a:t>
            </a:r>
            <a:endParaRPr lang="en-US" sz="1100"/>
          </a:p>
        </p:txBody>
      </p:sp>
      <p:sp>
        <p:nvSpPr>
          <p:cNvPr name="AutoShape 15" id="15"/>
          <p:cNvSpPr/>
          <p:nvPr/>
        </p:nvSpPr>
        <p:spPr>
          <a:xfrm>
            <a:off x="8423142" y="2867556"/>
            <a:ext cx="3005826" cy="3269719"/>
          </a:xfrm>
          <a:prstGeom prst="rect">
            <a:avLst/>
          </a:prstGeom>
          <a:solidFill>
            <a:schemeClr val="tx2">
              <a:alpha val="15000"/>
            </a:schemeClr>
          </a:solidFill>
          <a:ln>
            <a:noFill/>
          </a:ln>
        </p:spPr>
        <p:txBody>
          <a:bodyPr vert="horz" anchor="ctr" wrap="square" tIns="45720" lIns="91440" bIns="45720" rIns="91440">
            <a:noAutofit/>
          </a:bodyPr>
          <a:p>
            <a:pPr algn="ctr" marL="0">
              <a:lnSpc>
                <a:spcPct val="130000"/>
              </a:lnSpc>
            </a:pPr>
          </a:p>
        </p:txBody>
      </p:sp>
      <p:sp>
        <p:nvSpPr>
          <p:cNvPr name="AutoShape 16" id="16"/>
          <p:cNvSpPr/>
          <p:nvPr/>
        </p:nvSpPr>
        <p:spPr>
          <a:xfrm>
            <a:off x="8650697" y="3625084"/>
            <a:ext cx="2493865" cy="338554"/>
          </a:xfrm>
          <a:prstGeom prst="rect">
            <a:avLst/>
          </a:prstGeom>
          <a:noFill/>
          <a:ln>
            <a:noFill/>
          </a:ln>
        </p:spPr>
        <p:txBody>
          <a:bodyPr vert="horz" anchor="t" wrap="square" tIns="45720" lIns="91440" bIns="45720" rIns="91440">
            <a:spAutoFit/>
          </a:bodyPr>
          <a:p>
            <a:pPr algn="l" marL="0"/>
            <a:r>
              <a:rPr lang="zh-CN" b="true" i="false" sz="1600" baseline="0" u="none" altLang="en-US">
                <a:solidFill>
                  <a:schemeClr val="tx1"/>
                </a:solidFill>
                <a:latin typeface="微软雅黑"/>
                <a:ea typeface="微软雅黑"/>
              </a:rPr>
              <a:t>分块查找</a:t>
            </a:r>
          </a:p>
        </p:txBody>
      </p:sp>
      <p:sp>
        <p:nvSpPr>
          <p:cNvPr name="AutoShape 17" id="17"/>
          <p:cNvSpPr/>
          <p:nvPr/>
        </p:nvSpPr>
        <p:spPr>
          <a:xfrm>
            <a:off x="8650697" y="4178321"/>
            <a:ext cx="2492024" cy="1973580"/>
          </a:xfrm>
          <a:prstGeom prst="rect">
            <a:avLst/>
          </a:prstGeom>
          <a:noFill/>
          <a:ln>
            <a:noFill/>
          </a:ln>
        </p:spPr>
        <p:txBody>
          <a:bodyPr vert="horz" anchor="t" wrap="square" tIns="45720" lIns="91440" bIns="45720" rIns="91440">
            <a:spAutoFit/>
          </a:bodyPr>
          <a:p>
            <a:pPr algn="l" marL="0">
              <a:lnSpc>
                <a:spcPct val="130000"/>
              </a:lnSpc>
            </a:pPr>
            <a:r>
              <a:rPr lang="zh-CN" b="false" i="false" sz="1400" baseline="0" u="none" altLang="en-US">
                <a:solidFill>
                  <a:schemeClr val="tx1"/>
                </a:solidFill>
                <a:latin typeface="微软雅黑"/>
                <a:ea typeface="微软雅黑"/>
              </a:rPr>
              <a:t>分块查找将数据分成若干块，块内无序但块间有序。建立索引表记录每块最大关键字和起始地址。查找时先在索引表中二分查找确定块，再在块内顺序查找。平均查找长度介于顺序和二分之间。</a:t>
            </a:r>
          </a:p>
        </p:txBody>
      </p:sp>
      <p:sp>
        <p:nvSpPr>
          <p:cNvPr name="AutoShape 18" id="18"/>
          <p:cNvSpPr/>
          <p:nvPr/>
        </p:nvSpPr>
        <p:spPr>
          <a:xfrm>
            <a:off x="8423142" y="1694625"/>
            <a:ext cx="3005826" cy="1094133"/>
          </a:xfrm>
          <a:prstGeom prst="roundRect">
            <a:avLst>
              <a:gd name="adj" fmla="val 0"/>
            </a:avLst>
          </a:prstGeom>
          <a:blipFill>
            <a:blip r:embed="rId4"/>
            <a:stretch>
              <a:fillRect t="-42057" l="0" b="-41091" r="0"/>
            </a:stretch>
          </a:blipFill>
          <a:ln cap="flat" cmpd="sng">
            <a:noFill/>
            <a:prstDash val="solid"/>
            <a:miter lim="800000"/>
          </a:ln>
          <a:effectLst/>
        </p:spPr>
        <p:txBody>
          <a:bodyPr vert="horz" rot="0" anchor="ctr" wrap="square" tIns="45720" lIns="91440" bIns="45720" rIns="91440">
            <a:prstTxWarp prst="textNoShape">
              <a:avLst/>
            </a:prstTxWarp>
            <a:noAutofit/>
          </a:bodyPr>
          <a:p>
            <a:pPr algn="ctr" marL="0"/>
          </a:p>
        </p:txBody>
      </p:sp>
      <p:sp>
        <p:nvSpPr>
          <p:cNvPr name="AutoShape 19" id="19"/>
          <p:cNvSpPr/>
          <p:nvPr/>
        </p:nvSpPr>
        <p:spPr>
          <a:xfrm>
            <a:off x="8423142" y="1436740"/>
            <a:ext cx="3005826" cy="173279"/>
          </a:xfrm>
          <a:prstGeom prst="rect">
            <a:avLst/>
          </a:prstGeom>
          <a:gradFill>
            <a:gsLst>
              <a:gs pos="0">
                <a:srgbClr val="F29C9F">
                  <a:lumMod val="60000"/>
                  <a:lumOff val="40000"/>
                </a:srgbClr>
              </a:gs>
              <a:gs pos="50000">
                <a:srgbClr val="F29C9F"/>
              </a:gs>
            </a:gsLst>
            <a:lin ang="2700000"/>
          </a:gradFill>
          <a:ln>
            <a:noFill/>
          </a:ln>
        </p:spPr>
        <p:txBody>
          <a:bodyPr vert="horz" anchor="ctr" wrap="square" tIns="45720" lIns="91440" bIns="45720" rIns="91440">
            <a:noAutofit/>
          </a:bodyPr>
          <a:p>
            <a:pPr algn="ctr" marL="0">
              <a:lnSpc>
                <a:spcPct val="130000"/>
              </a:lnSpc>
            </a:pPr>
          </a:p>
        </p:txBody>
      </p:sp>
      <p:sp>
        <p:nvSpPr>
          <p:cNvPr name="TextBox 20" id="20"/>
          <p:cNvSpPr txBox="true"/>
          <p:nvPr/>
        </p:nvSpPr>
        <p:spPr>
          <a:xfrm>
            <a:off x="8650697" y="2930957"/>
            <a:ext cx="746332" cy="646331"/>
          </a:xfrm>
          <a:prstGeom prst="rect">
            <a:avLst/>
          </a:prstGeom>
          <a:noFill/>
        </p:spPr>
        <p:txBody>
          <a:bodyPr anchor="t" rtlCol="false" vert="horz" wrap="square" tIns="45720" lIns="108000" bIns="45720" rIns="108000">
            <a:noAutofit/>
          </a:bodyPr>
          <a:lstStyle/>
          <a:p>
            <a:pPr algn="l" marL="0">
              <a:defRPr/>
            </a:pPr>
            <a:r>
              <a:rPr lang="en-US" b="true" i="false" sz="3600" baseline="0" u="none">
                <a:solidFill>
                  <a:srgbClr val="000000"/>
                </a:solidFill>
                <a:latin typeface="微软雅黑"/>
                <a:ea typeface="微软雅黑"/>
              </a:rPr>
              <a:t>03</a:t>
            </a:r>
            <a:endParaRPr lang="en-US" sz="1100"/>
          </a:p>
        </p:txBody>
      </p:sp>
      <p:sp>
        <p:nvSpPr>
          <p:cNvPr name="AutoShape 21" id="21"/>
          <p:cNvSpPr/>
          <p:nvPr/>
        </p:nvSpPr>
        <p:spPr>
          <a:xfrm>
            <a:off x="10795000" y="6540500"/>
            <a:ext cx="1270000" cy="190500"/>
          </a:xfrm>
          <a:prstGeom prst="rect">
            <a:avLst/>
          </a:prstGeom>
          <a:solidFill>
            <a:srgbClr val="000000">
              <a:alpha val="0"/>
            </a:srgbClr>
          </a:solidFill>
        </p:spPr>
        <p:txBody>
          <a:bodyPr anchor="t" rtlCol="false"/>
          <a:lstStyle/>
          <a:p>
            <a:pPr algn="r">
              <a:defRPr/>
            </a:pPr>
            <a:r>
              <a:rPr lang="en-US" b="false" i="false" sz="800" baseline="0" u="none">
                <a:solidFill>
                  <a:srgbClr val="808080"/>
                </a:solidFill>
                <a:latin typeface="Microsoft YaHei"/>
                <a:ea typeface="Microsoft YaHei"/>
              </a:rPr>
              <a:t>内容由AI生成</a:t>
            </a:r>
            <a:endParaRPr lang="en-US" sz="1100"/>
          </a:p>
        </p:txBody>
      </p:sp>
    </p:spTree>
  </p:cSld>
  <p:clrMapOvr>
    <a:masterClrMapping/>
  </p:clrMapOvr>
  <p:transition spd="fast"/>
</p:sld>
</file>

<file path=ppt/slides/slide30.xml><?xml version="1.0" encoding="utf-8"?>
<p:sld xmlns:p="http://schemas.openxmlformats.org/presentationml/2006/main"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name="Freeform 2" id="2"/>
          <p:cNvSpPr/>
          <p:nvPr/>
        </p:nvSpPr>
        <p:spPr>
          <a:xfrm rot="19397468">
            <a:off x="4843926" y="1784153"/>
            <a:ext cx="1730288" cy="1755273"/>
          </a:xfrm>
          <a:custGeom>
            <a:avLst/>
            <a:gdLst/>
            <a:ahLst/>
            <a:cxnLst/>
            <a:rect r="r" b="b" t="t" l="l"/>
            <a:pathLst>
              <a:path w="10688" h="10844" stroke="true" fill="norm" extrusionOk="true">
                <a:moveTo>
                  <a:pt x="3563" y="7062"/>
                </a:moveTo>
                <a:lnTo>
                  <a:pt x="3563" y="7062"/>
                </a:lnTo>
                <a:cubicBezTo>
                  <a:pt x="4375" y="8187"/>
                  <a:pt x="4688" y="9500"/>
                  <a:pt x="4563" y="10749"/>
                </a:cubicBezTo>
                <a:cubicBezTo>
                  <a:pt x="5718" y="10843"/>
                  <a:pt x="6906" y="10562"/>
                  <a:pt x="7937" y="9812"/>
                </a:cubicBezTo>
                <a:cubicBezTo>
                  <a:pt x="10187" y="8187"/>
                  <a:pt x="10687" y="5032"/>
                  <a:pt x="9062" y="2782"/>
                </a:cubicBezTo>
                <a:cubicBezTo>
                  <a:pt x="7437" y="500"/>
                  <a:pt x="4282" y="0"/>
                  <a:pt x="2032" y="1626"/>
                </a:cubicBezTo>
                <a:cubicBezTo>
                  <a:pt x="907" y="2438"/>
                  <a:pt x="219" y="3657"/>
                  <a:pt x="0" y="4907"/>
                </a:cubicBezTo>
                <a:cubicBezTo>
                  <a:pt x="1375" y="5126"/>
                  <a:pt x="2688" y="5843"/>
                  <a:pt x="3563" y="7062"/>
                </a:cubicBezTo>
              </a:path>
            </a:pathLst>
          </a:custGeom>
          <a:solidFill>
            <a:schemeClr val="accent6">
              <a:lumMod val="75000"/>
            </a:schemeClr>
          </a:solidFill>
          <a:ln>
            <a:noFill/>
          </a:ln>
          <a:effectLst/>
        </p:spPr>
        <p:txBody>
          <a:bodyPr vert="horz" anchor="ctr" wrap="none" tIns="45720" lIns="91440" bIns="45720" rIns="91440"/>
          <a:p>
            <a:pPr fontAlgn="auto" algn="l" indent="0" marR="0" marL="0">
              <a:lnSpc>
                <a:spcPct val="100000"/>
              </a:lnSpc>
              <a:spcBef>
                <a:spcPct val="0"/>
              </a:spcBef>
              <a:spcAft>
                <a:spcPct val="0"/>
              </a:spcAft>
              <a:buNone/>
            </a:pPr>
          </a:p>
        </p:txBody>
      </p:sp>
      <p:sp>
        <p:nvSpPr>
          <p:cNvPr name="Freeform 3" id="3"/>
          <p:cNvSpPr/>
          <p:nvPr/>
        </p:nvSpPr>
        <p:spPr>
          <a:xfrm rot="3202081">
            <a:off x="6065098" y="2193139"/>
            <a:ext cx="1730288" cy="1755273"/>
          </a:xfrm>
          <a:custGeom>
            <a:avLst/>
            <a:gdLst/>
            <a:ahLst/>
            <a:cxnLst/>
            <a:rect r="r" b="b" t="t" l="l"/>
            <a:pathLst>
              <a:path w="10688" h="10844" stroke="true" fill="norm" extrusionOk="true">
                <a:moveTo>
                  <a:pt x="3563" y="7062"/>
                </a:moveTo>
                <a:lnTo>
                  <a:pt x="3563" y="7062"/>
                </a:lnTo>
                <a:cubicBezTo>
                  <a:pt x="4375" y="8187"/>
                  <a:pt x="4688" y="9500"/>
                  <a:pt x="4563" y="10749"/>
                </a:cubicBezTo>
                <a:cubicBezTo>
                  <a:pt x="5718" y="10843"/>
                  <a:pt x="6906" y="10562"/>
                  <a:pt x="7937" y="9812"/>
                </a:cubicBezTo>
                <a:cubicBezTo>
                  <a:pt x="10187" y="8187"/>
                  <a:pt x="10687" y="5032"/>
                  <a:pt x="9062" y="2782"/>
                </a:cubicBezTo>
                <a:cubicBezTo>
                  <a:pt x="7437" y="500"/>
                  <a:pt x="4282" y="0"/>
                  <a:pt x="2032" y="1626"/>
                </a:cubicBezTo>
                <a:cubicBezTo>
                  <a:pt x="907" y="2438"/>
                  <a:pt x="219" y="3657"/>
                  <a:pt x="0" y="4907"/>
                </a:cubicBezTo>
                <a:cubicBezTo>
                  <a:pt x="1375" y="5126"/>
                  <a:pt x="2688" y="5843"/>
                  <a:pt x="3563" y="7062"/>
                </a:cubicBezTo>
              </a:path>
            </a:pathLst>
          </a:custGeom>
          <a:solidFill>
            <a:srgbClr val="F8D35E"/>
          </a:solidFill>
          <a:ln>
            <a:noFill/>
          </a:ln>
          <a:effectLst/>
        </p:spPr>
        <p:txBody>
          <a:bodyPr vert="horz" anchor="ctr" wrap="none" tIns="45720" lIns="91440" bIns="45720" rIns="91440"/>
          <a:p>
            <a:pPr fontAlgn="auto" algn="l" indent="0" marR="0" marL="0">
              <a:lnSpc>
                <a:spcPct val="100000"/>
              </a:lnSpc>
              <a:spcBef>
                <a:spcPct val="0"/>
              </a:spcBef>
              <a:spcAft>
                <a:spcPct val="0"/>
              </a:spcAft>
              <a:buNone/>
            </a:pPr>
          </a:p>
        </p:txBody>
      </p:sp>
      <p:sp>
        <p:nvSpPr>
          <p:cNvPr name="Freeform 4" id="4"/>
          <p:cNvSpPr/>
          <p:nvPr/>
        </p:nvSpPr>
        <p:spPr>
          <a:xfrm rot="8579122">
            <a:off x="5653312" y="3416278"/>
            <a:ext cx="1730288" cy="1755273"/>
          </a:xfrm>
          <a:custGeom>
            <a:avLst/>
            <a:gdLst/>
            <a:ahLst/>
            <a:cxnLst/>
            <a:rect r="r" b="b" t="t" l="l"/>
            <a:pathLst>
              <a:path w="10688" h="10844" stroke="true" fill="norm" extrusionOk="true">
                <a:moveTo>
                  <a:pt x="3563" y="7062"/>
                </a:moveTo>
                <a:lnTo>
                  <a:pt x="3563" y="7062"/>
                </a:lnTo>
                <a:cubicBezTo>
                  <a:pt x="4375" y="8187"/>
                  <a:pt x="4688" y="9500"/>
                  <a:pt x="4563" y="10749"/>
                </a:cubicBezTo>
                <a:cubicBezTo>
                  <a:pt x="5718" y="10843"/>
                  <a:pt x="6906" y="10562"/>
                  <a:pt x="7937" y="9812"/>
                </a:cubicBezTo>
                <a:cubicBezTo>
                  <a:pt x="10187" y="8187"/>
                  <a:pt x="10687" y="5032"/>
                  <a:pt x="9062" y="2782"/>
                </a:cubicBezTo>
                <a:cubicBezTo>
                  <a:pt x="7437" y="500"/>
                  <a:pt x="4282" y="0"/>
                  <a:pt x="2032" y="1626"/>
                </a:cubicBezTo>
                <a:cubicBezTo>
                  <a:pt x="907" y="2438"/>
                  <a:pt x="219" y="3657"/>
                  <a:pt x="0" y="4907"/>
                </a:cubicBezTo>
                <a:cubicBezTo>
                  <a:pt x="1375" y="5126"/>
                  <a:pt x="2688" y="5843"/>
                  <a:pt x="3563" y="7062"/>
                </a:cubicBezTo>
              </a:path>
            </a:pathLst>
          </a:custGeom>
          <a:solidFill>
            <a:srgbClr val="007448"/>
          </a:solidFill>
          <a:ln>
            <a:noFill/>
          </a:ln>
          <a:effectLst/>
        </p:spPr>
        <p:txBody>
          <a:bodyPr vert="horz" anchor="ctr" wrap="none" tIns="45720" lIns="91440" bIns="45720" rIns="91440"/>
          <a:p>
            <a:pPr fontAlgn="auto" algn="l" indent="0" marR="0" marL="0">
              <a:lnSpc>
                <a:spcPct val="100000"/>
              </a:lnSpc>
              <a:spcBef>
                <a:spcPct val="0"/>
              </a:spcBef>
              <a:spcAft>
                <a:spcPct val="0"/>
              </a:spcAft>
              <a:buNone/>
            </a:pPr>
          </a:p>
        </p:txBody>
      </p:sp>
      <p:sp>
        <p:nvSpPr>
          <p:cNvPr name="Freeform 5" id="5"/>
          <p:cNvSpPr/>
          <p:nvPr/>
        </p:nvSpPr>
        <p:spPr>
          <a:xfrm rot="13978264">
            <a:off x="4432783" y="3015878"/>
            <a:ext cx="1730288" cy="1755273"/>
          </a:xfrm>
          <a:custGeom>
            <a:avLst/>
            <a:gdLst/>
            <a:ahLst/>
            <a:cxnLst/>
            <a:rect r="r" b="b" t="t" l="l"/>
            <a:pathLst>
              <a:path w="10688" h="10844" stroke="true" fill="norm" extrusionOk="true">
                <a:moveTo>
                  <a:pt x="3563" y="7062"/>
                </a:moveTo>
                <a:lnTo>
                  <a:pt x="3563" y="7062"/>
                </a:lnTo>
                <a:cubicBezTo>
                  <a:pt x="4375" y="8187"/>
                  <a:pt x="4688" y="9500"/>
                  <a:pt x="4563" y="10749"/>
                </a:cubicBezTo>
                <a:cubicBezTo>
                  <a:pt x="5718" y="10843"/>
                  <a:pt x="6906" y="10562"/>
                  <a:pt x="7937" y="9812"/>
                </a:cubicBezTo>
                <a:cubicBezTo>
                  <a:pt x="10187" y="8187"/>
                  <a:pt x="10687" y="5032"/>
                  <a:pt x="9062" y="2782"/>
                </a:cubicBezTo>
                <a:cubicBezTo>
                  <a:pt x="7437" y="500"/>
                  <a:pt x="4282" y="0"/>
                  <a:pt x="2032" y="1626"/>
                </a:cubicBezTo>
                <a:cubicBezTo>
                  <a:pt x="907" y="2438"/>
                  <a:pt x="219" y="3657"/>
                  <a:pt x="0" y="4907"/>
                </a:cubicBezTo>
                <a:cubicBezTo>
                  <a:pt x="1375" y="5126"/>
                  <a:pt x="2688" y="5843"/>
                  <a:pt x="3563" y="7062"/>
                </a:cubicBezTo>
              </a:path>
            </a:pathLst>
          </a:custGeom>
          <a:solidFill>
            <a:srgbClr val="004C0B"/>
          </a:solidFill>
          <a:ln>
            <a:noFill/>
          </a:ln>
          <a:effectLst/>
        </p:spPr>
        <p:txBody>
          <a:bodyPr vert="horz" anchor="ctr" wrap="none" tIns="45720" lIns="91440" bIns="45720" rIns="91440"/>
          <a:p>
            <a:pPr fontAlgn="auto" algn="l" indent="0" marR="0" marL="0">
              <a:lnSpc>
                <a:spcPct val="100000"/>
              </a:lnSpc>
              <a:spcBef>
                <a:spcPct val="0"/>
              </a:spcBef>
              <a:spcAft>
                <a:spcPct val="0"/>
              </a:spcAft>
              <a:buNone/>
            </a:pPr>
          </a:p>
        </p:txBody>
      </p:sp>
      <p:sp>
        <p:nvSpPr>
          <p:cNvPr name="TextBox 6" id="6"/>
          <p:cNvSpPr txBox="true"/>
          <p:nvPr/>
        </p:nvSpPr>
        <p:spPr>
          <a:xfrm>
            <a:off x="5174042" y="2126057"/>
            <a:ext cx="1094015" cy="923308"/>
          </a:xfrm>
          <a:prstGeom prst="rect">
            <a:avLst/>
          </a:prstGeom>
          <a:noFill/>
        </p:spPr>
        <p:txBody>
          <a:bodyPr anchor="t" rtlCol="false" vert="horz" wrap="square" tIns="45709" lIns="91420" bIns="45709" rIns="91420">
            <a:spAutoFit/>
          </a:bodyPr>
          <a:lstStyle/>
          <a:p>
            <a:pPr algn="ctr" fontAlgn="auto" marL="0">
              <a:spcBef>
                <a:spcPct val="0"/>
              </a:spcBef>
              <a:spcAft>
                <a:spcPct val="0"/>
              </a:spcAft>
              <a:defRPr/>
            </a:pPr>
            <a:r>
              <a:rPr lang="en-US" b="true" i="false" sz="5400" baseline="0" u="none">
                <a:solidFill>
                  <a:srgbClr val="FFFFFF"/>
                </a:solidFill>
                <a:latin typeface="Roboto"/>
                <a:ea typeface="Roboto"/>
              </a:rPr>
              <a:t>S</a:t>
            </a:r>
            <a:endParaRPr lang="en-US" sz="1100"/>
          </a:p>
        </p:txBody>
      </p:sp>
      <p:sp>
        <p:nvSpPr>
          <p:cNvPr name="TextBox 7" id="7"/>
          <p:cNvSpPr txBox="true"/>
          <p:nvPr/>
        </p:nvSpPr>
        <p:spPr>
          <a:xfrm>
            <a:off x="6442077" y="2635614"/>
            <a:ext cx="1094015" cy="923308"/>
          </a:xfrm>
          <a:prstGeom prst="rect">
            <a:avLst/>
          </a:prstGeom>
          <a:noFill/>
        </p:spPr>
        <p:txBody>
          <a:bodyPr anchor="t" rtlCol="false" vert="horz" wrap="square" tIns="45709" lIns="91420" bIns="45709" rIns="91420">
            <a:spAutoFit/>
          </a:bodyPr>
          <a:lstStyle/>
          <a:p>
            <a:pPr algn="ctr" fontAlgn="auto" marL="0">
              <a:spcBef>
                <a:spcPct val="0"/>
              </a:spcBef>
              <a:spcAft>
                <a:spcPct val="0"/>
              </a:spcAft>
              <a:defRPr/>
            </a:pPr>
            <a:r>
              <a:rPr lang="id-ID" b="true" i="false" sz="5400" baseline="0" u="none">
                <a:solidFill>
                  <a:srgbClr val="FFFFFF"/>
                </a:solidFill>
                <a:latin typeface="Roboto"/>
                <a:ea typeface="Roboto"/>
              </a:rPr>
              <a:t>O</a:t>
            </a:r>
            <a:endParaRPr lang="en-US" sz="1100"/>
          </a:p>
        </p:txBody>
      </p:sp>
      <p:sp>
        <p:nvSpPr>
          <p:cNvPr name="TextBox 8" id="8"/>
          <p:cNvSpPr txBox="true"/>
          <p:nvPr/>
        </p:nvSpPr>
        <p:spPr>
          <a:xfrm>
            <a:off x="5960197" y="3974208"/>
            <a:ext cx="1094015" cy="923308"/>
          </a:xfrm>
          <a:prstGeom prst="rect">
            <a:avLst/>
          </a:prstGeom>
          <a:noFill/>
        </p:spPr>
        <p:txBody>
          <a:bodyPr anchor="t" rtlCol="false" vert="horz" wrap="square" tIns="45709" lIns="91420" bIns="45709" rIns="91420">
            <a:spAutoFit/>
          </a:bodyPr>
          <a:lstStyle/>
          <a:p>
            <a:pPr algn="ctr" fontAlgn="auto" marL="0">
              <a:spcBef>
                <a:spcPct val="0"/>
              </a:spcBef>
              <a:spcAft>
                <a:spcPct val="0"/>
              </a:spcAft>
              <a:defRPr/>
            </a:pPr>
            <a:r>
              <a:rPr lang="en-US" b="true" i="false" sz="5400" baseline="0" u="none">
                <a:solidFill>
                  <a:srgbClr val="FFFFFF"/>
                </a:solidFill>
                <a:latin typeface="Roboto"/>
                <a:ea typeface="Roboto"/>
              </a:rPr>
              <a:t>T</a:t>
            </a:r>
            <a:endParaRPr lang="en-US" sz="1100"/>
          </a:p>
        </p:txBody>
      </p:sp>
      <p:sp>
        <p:nvSpPr>
          <p:cNvPr name="TextBox 9" id="9"/>
          <p:cNvSpPr txBox="true"/>
          <p:nvPr/>
        </p:nvSpPr>
        <p:spPr>
          <a:xfrm>
            <a:off x="4671207" y="3419602"/>
            <a:ext cx="1094015" cy="923308"/>
          </a:xfrm>
          <a:prstGeom prst="rect">
            <a:avLst/>
          </a:prstGeom>
          <a:noFill/>
        </p:spPr>
        <p:txBody>
          <a:bodyPr anchor="t" rtlCol="false" vert="horz" wrap="square" tIns="45709" lIns="91420" bIns="45709" rIns="91420">
            <a:spAutoFit/>
          </a:bodyPr>
          <a:lstStyle/>
          <a:p>
            <a:pPr algn="ctr" fontAlgn="auto" marL="0">
              <a:spcBef>
                <a:spcPct val="0"/>
              </a:spcBef>
              <a:spcAft>
                <a:spcPct val="0"/>
              </a:spcAft>
              <a:defRPr/>
            </a:pPr>
            <a:r>
              <a:rPr lang="en-US" b="true" i="false" sz="5400" baseline="0" u="none">
                <a:solidFill>
                  <a:srgbClr val="FFFFFF"/>
                </a:solidFill>
                <a:latin typeface="Roboto"/>
                <a:ea typeface="Roboto"/>
              </a:rPr>
              <a:t>W</a:t>
            </a:r>
            <a:endParaRPr lang="en-US" sz="1100"/>
          </a:p>
        </p:txBody>
      </p:sp>
      <p:grpSp>
        <p:nvGrpSpPr>
          <p:cNvPr name="Group 10" id="10"/>
          <p:cNvGrpSpPr/>
          <p:nvPr/>
        </p:nvGrpSpPr>
        <p:grpSpPr>
          <a:xfrm>
            <a:off x="7776709" y="1736723"/>
            <a:ext cx="472497" cy="1334053"/>
            <a:chOff x="6213477" y="1119189"/>
            <a:chExt cx="746125" cy="2106613"/>
          </a:xfrm>
          <a:solidFill>
            <a:srgbClr val="F8D35E"/>
          </a:solidFill>
        </p:grpSpPr>
        <p:sp>
          <p:nvSpPr>
            <p:cNvPr name="Freeform 11" id="11"/>
            <p:cNvSpPr/>
            <p:nvPr/>
          </p:nvSpPr>
          <p:spPr>
            <a:xfrm>
              <a:off x="6213477" y="1223964"/>
              <a:ext cx="746125" cy="2001838"/>
            </a:xfrm>
            <a:custGeom>
              <a:avLst/>
              <a:gdLst/>
              <a:ahLst/>
              <a:cxnLst/>
              <a:rect r="r" b="b" t="t" l="l"/>
              <a:pathLst>
                <a:path w="2819" h="7570" stroke="true" fill="norm" extrusionOk="true">
                  <a:moveTo>
                    <a:pt x="1862" y="635"/>
                  </a:moveTo>
                  <a:lnTo>
                    <a:pt x="1866" y="608"/>
                  </a:lnTo>
                  <a:lnTo>
                    <a:pt x="1869" y="580"/>
                  </a:lnTo>
                  <a:lnTo>
                    <a:pt x="1872" y="553"/>
                  </a:lnTo>
                  <a:lnTo>
                    <a:pt x="1874" y="526"/>
                  </a:lnTo>
                  <a:lnTo>
                    <a:pt x="1874" y="499"/>
                  </a:lnTo>
                  <a:lnTo>
                    <a:pt x="1873" y="473"/>
                  </a:lnTo>
                  <a:lnTo>
                    <a:pt x="1869" y="449"/>
                  </a:lnTo>
                  <a:lnTo>
                    <a:pt x="1865" y="426"/>
                  </a:lnTo>
                  <a:lnTo>
                    <a:pt x="1809" y="233"/>
                  </a:lnTo>
                  <a:lnTo>
                    <a:pt x="1791" y="191"/>
                  </a:lnTo>
                  <a:lnTo>
                    <a:pt x="1787" y="182"/>
                  </a:lnTo>
                  <a:lnTo>
                    <a:pt x="1780" y="171"/>
                  </a:lnTo>
                  <a:lnTo>
                    <a:pt x="1772" y="160"/>
                  </a:lnTo>
                  <a:lnTo>
                    <a:pt x="1763" y="148"/>
                  </a:lnTo>
                  <a:lnTo>
                    <a:pt x="1751" y="137"/>
                  </a:lnTo>
                  <a:lnTo>
                    <a:pt x="1740" y="124"/>
                  </a:lnTo>
                  <a:lnTo>
                    <a:pt x="1727" y="113"/>
                  </a:lnTo>
                  <a:lnTo>
                    <a:pt x="1714" y="102"/>
                  </a:lnTo>
                  <a:lnTo>
                    <a:pt x="1687" y="80"/>
                  </a:lnTo>
                  <a:lnTo>
                    <a:pt x="1661" y="62"/>
                  </a:lnTo>
                  <a:lnTo>
                    <a:pt x="1650" y="54"/>
                  </a:lnTo>
                  <a:lnTo>
                    <a:pt x="1638" y="47"/>
                  </a:lnTo>
                  <a:lnTo>
                    <a:pt x="1628" y="41"/>
                  </a:lnTo>
                  <a:lnTo>
                    <a:pt x="1620" y="38"/>
                  </a:lnTo>
                  <a:lnTo>
                    <a:pt x="1603" y="32"/>
                  </a:lnTo>
                  <a:lnTo>
                    <a:pt x="1586" y="26"/>
                  </a:lnTo>
                  <a:lnTo>
                    <a:pt x="1570" y="23"/>
                  </a:lnTo>
                  <a:lnTo>
                    <a:pt x="1554" y="19"/>
                  </a:lnTo>
                  <a:lnTo>
                    <a:pt x="1523" y="15"/>
                  </a:lnTo>
                  <a:lnTo>
                    <a:pt x="1494" y="12"/>
                  </a:lnTo>
                  <a:lnTo>
                    <a:pt x="1467" y="10"/>
                  </a:lnTo>
                  <a:lnTo>
                    <a:pt x="1439" y="8"/>
                  </a:lnTo>
                  <a:lnTo>
                    <a:pt x="1427" y="7"/>
                  </a:lnTo>
                  <a:lnTo>
                    <a:pt x="1414" y="4"/>
                  </a:lnTo>
                  <a:lnTo>
                    <a:pt x="1400" y="2"/>
                  </a:lnTo>
                  <a:lnTo>
                    <a:pt x="1388" y="0"/>
                  </a:lnTo>
                  <a:lnTo>
                    <a:pt x="1310" y="20"/>
                  </a:lnTo>
                  <a:lnTo>
                    <a:pt x="1299" y="31"/>
                  </a:lnTo>
                  <a:lnTo>
                    <a:pt x="1287" y="40"/>
                  </a:lnTo>
                  <a:lnTo>
                    <a:pt x="1275" y="48"/>
                  </a:lnTo>
                  <a:lnTo>
                    <a:pt x="1262" y="54"/>
                  </a:lnTo>
                  <a:lnTo>
                    <a:pt x="1235" y="66"/>
                  </a:lnTo>
                  <a:lnTo>
                    <a:pt x="1206" y="80"/>
                  </a:lnTo>
                  <a:lnTo>
                    <a:pt x="1192" y="87"/>
                  </a:lnTo>
                  <a:lnTo>
                    <a:pt x="1177" y="96"/>
                  </a:lnTo>
                  <a:lnTo>
                    <a:pt x="1163" y="106"/>
                  </a:lnTo>
                  <a:lnTo>
                    <a:pt x="1148" y="118"/>
                  </a:lnTo>
                  <a:lnTo>
                    <a:pt x="1134" y="131"/>
                  </a:lnTo>
                  <a:lnTo>
                    <a:pt x="1119" y="147"/>
                  </a:lnTo>
                  <a:lnTo>
                    <a:pt x="1105" y="166"/>
                  </a:lnTo>
                  <a:lnTo>
                    <a:pt x="1092" y="187"/>
                  </a:lnTo>
                  <a:lnTo>
                    <a:pt x="1076" y="212"/>
                  </a:lnTo>
                  <a:lnTo>
                    <a:pt x="1062" y="239"/>
                  </a:lnTo>
                  <a:lnTo>
                    <a:pt x="1055" y="252"/>
                  </a:lnTo>
                  <a:lnTo>
                    <a:pt x="1048" y="266"/>
                  </a:lnTo>
                  <a:lnTo>
                    <a:pt x="1044" y="280"/>
                  </a:lnTo>
                  <a:lnTo>
                    <a:pt x="1039" y="294"/>
                  </a:lnTo>
                  <a:lnTo>
                    <a:pt x="1035" y="307"/>
                  </a:lnTo>
                  <a:lnTo>
                    <a:pt x="1032" y="322"/>
                  </a:lnTo>
                  <a:lnTo>
                    <a:pt x="1031" y="338"/>
                  </a:lnTo>
                  <a:lnTo>
                    <a:pt x="1030" y="354"/>
                  </a:lnTo>
                  <a:lnTo>
                    <a:pt x="1031" y="370"/>
                  </a:lnTo>
                  <a:lnTo>
                    <a:pt x="1035" y="387"/>
                  </a:lnTo>
                  <a:lnTo>
                    <a:pt x="1038" y="406"/>
                  </a:lnTo>
                  <a:lnTo>
                    <a:pt x="1044" y="424"/>
                  </a:lnTo>
                  <a:lnTo>
                    <a:pt x="1084" y="536"/>
                  </a:lnTo>
                  <a:lnTo>
                    <a:pt x="1078" y="540"/>
                  </a:lnTo>
                  <a:lnTo>
                    <a:pt x="1072" y="544"/>
                  </a:lnTo>
                  <a:lnTo>
                    <a:pt x="1067" y="548"/>
                  </a:lnTo>
                  <a:lnTo>
                    <a:pt x="1063" y="553"/>
                  </a:lnTo>
                  <a:lnTo>
                    <a:pt x="1060" y="558"/>
                  </a:lnTo>
                  <a:lnTo>
                    <a:pt x="1057" y="562"/>
                  </a:lnTo>
                  <a:lnTo>
                    <a:pt x="1055" y="567"/>
                  </a:lnTo>
                  <a:lnTo>
                    <a:pt x="1054" y="572"/>
                  </a:lnTo>
                  <a:lnTo>
                    <a:pt x="1053" y="584"/>
                  </a:lnTo>
                  <a:lnTo>
                    <a:pt x="1054" y="596"/>
                  </a:lnTo>
                  <a:lnTo>
                    <a:pt x="1057" y="611"/>
                  </a:lnTo>
                  <a:lnTo>
                    <a:pt x="1063" y="627"/>
                  </a:lnTo>
                  <a:lnTo>
                    <a:pt x="1078" y="670"/>
                  </a:lnTo>
                  <a:lnTo>
                    <a:pt x="1080" y="674"/>
                  </a:lnTo>
                  <a:lnTo>
                    <a:pt x="1057" y="687"/>
                  </a:lnTo>
                  <a:lnTo>
                    <a:pt x="1036" y="697"/>
                  </a:lnTo>
                  <a:lnTo>
                    <a:pt x="1013" y="706"/>
                  </a:lnTo>
                  <a:lnTo>
                    <a:pt x="989" y="713"/>
                  </a:lnTo>
                  <a:lnTo>
                    <a:pt x="966" y="720"/>
                  </a:lnTo>
                  <a:lnTo>
                    <a:pt x="942" y="726"/>
                  </a:lnTo>
                  <a:lnTo>
                    <a:pt x="918" y="730"/>
                  </a:lnTo>
                  <a:lnTo>
                    <a:pt x="893" y="735"/>
                  </a:lnTo>
                  <a:lnTo>
                    <a:pt x="842" y="744"/>
                  </a:lnTo>
                  <a:lnTo>
                    <a:pt x="791" y="754"/>
                  </a:lnTo>
                  <a:lnTo>
                    <a:pt x="766" y="760"/>
                  </a:lnTo>
                  <a:lnTo>
                    <a:pt x="740" y="766"/>
                  </a:lnTo>
                  <a:lnTo>
                    <a:pt x="712" y="774"/>
                  </a:lnTo>
                  <a:lnTo>
                    <a:pt x="686" y="783"/>
                  </a:lnTo>
                  <a:lnTo>
                    <a:pt x="660" y="794"/>
                  </a:lnTo>
                  <a:lnTo>
                    <a:pt x="632" y="806"/>
                  </a:lnTo>
                  <a:lnTo>
                    <a:pt x="606" y="819"/>
                  </a:lnTo>
                  <a:lnTo>
                    <a:pt x="578" y="834"/>
                  </a:lnTo>
                  <a:lnTo>
                    <a:pt x="552" y="850"/>
                  </a:lnTo>
                  <a:lnTo>
                    <a:pt x="525" y="866"/>
                  </a:lnTo>
                  <a:lnTo>
                    <a:pt x="498" y="883"/>
                  </a:lnTo>
                  <a:lnTo>
                    <a:pt x="473" y="902"/>
                  </a:lnTo>
                  <a:lnTo>
                    <a:pt x="423" y="938"/>
                  </a:lnTo>
                  <a:lnTo>
                    <a:pt x="375" y="977"/>
                  </a:lnTo>
                  <a:lnTo>
                    <a:pt x="329" y="1014"/>
                  </a:lnTo>
                  <a:lnTo>
                    <a:pt x="288" y="1050"/>
                  </a:lnTo>
                  <a:lnTo>
                    <a:pt x="282" y="1061"/>
                  </a:lnTo>
                  <a:lnTo>
                    <a:pt x="277" y="1075"/>
                  </a:lnTo>
                  <a:lnTo>
                    <a:pt x="270" y="1094"/>
                  </a:lnTo>
                  <a:lnTo>
                    <a:pt x="264" y="1117"/>
                  </a:lnTo>
                  <a:lnTo>
                    <a:pt x="250" y="1169"/>
                  </a:lnTo>
                  <a:lnTo>
                    <a:pt x="238" y="1229"/>
                  </a:lnTo>
                  <a:lnTo>
                    <a:pt x="226" y="1290"/>
                  </a:lnTo>
                  <a:lnTo>
                    <a:pt x="217" y="1349"/>
                  </a:lnTo>
                  <a:lnTo>
                    <a:pt x="210" y="1400"/>
                  </a:lnTo>
                  <a:lnTo>
                    <a:pt x="208" y="1439"/>
                  </a:lnTo>
                  <a:lnTo>
                    <a:pt x="204" y="1479"/>
                  </a:lnTo>
                  <a:lnTo>
                    <a:pt x="199" y="1547"/>
                  </a:lnTo>
                  <a:lnTo>
                    <a:pt x="188" y="1641"/>
                  </a:lnTo>
                  <a:lnTo>
                    <a:pt x="177" y="1754"/>
                  </a:lnTo>
                  <a:lnTo>
                    <a:pt x="163" y="1885"/>
                  </a:lnTo>
                  <a:lnTo>
                    <a:pt x="147" y="2026"/>
                  </a:lnTo>
                  <a:lnTo>
                    <a:pt x="131" y="2175"/>
                  </a:lnTo>
                  <a:lnTo>
                    <a:pt x="114" y="2327"/>
                  </a:lnTo>
                  <a:lnTo>
                    <a:pt x="97" y="2478"/>
                  </a:lnTo>
                  <a:lnTo>
                    <a:pt x="81" y="2622"/>
                  </a:lnTo>
                  <a:lnTo>
                    <a:pt x="66" y="2757"/>
                  </a:lnTo>
                  <a:lnTo>
                    <a:pt x="52" y="2876"/>
                  </a:lnTo>
                  <a:lnTo>
                    <a:pt x="41" y="2976"/>
                  </a:lnTo>
                  <a:lnTo>
                    <a:pt x="32" y="3054"/>
                  </a:lnTo>
                  <a:lnTo>
                    <a:pt x="26" y="3104"/>
                  </a:lnTo>
                  <a:lnTo>
                    <a:pt x="24" y="3121"/>
                  </a:lnTo>
                  <a:lnTo>
                    <a:pt x="0" y="3780"/>
                  </a:lnTo>
                  <a:lnTo>
                    <a:pt x="22" y="3791"/>
                  </a:lnTo>
                  <a:lnTo>
                    <a:pt x="23" y="3809"/>
                  </a:lnTo>
                  <a:lnTo>
                    <a:pt x="27" y="3836"/>
                  </a:lnTo>
                  <a:lnTo>
                    <a:pt x="33" y="3866"/>
                  </a:lnTo>
                  <a:lnTo>
                    <a:pt x="41" y="3901"/>
                  </a:lnTo>
                  <a:lnTo>
                    <a:pt x="50" y="3936"/>
                  </a:lnTo>
                  <a:lnTo>
                    <a:pt x="58" y="3968"/>
                  </a:lnTo>
                  <a:lnTo>
                    <a:pt x="65" y="3996"/>
                  </a:lnTo>
                  <a:lnTo>
                    <a:pt x="71" y="4016"/>
                  </a:lnTo>
                  <a:lnTo>
                    <a:pt x="74" y="4023"/>
                  </a:lnTo>
                  <a:lnTo>
                    <a:pt x="79" y="4031"/>
                  </a:lnTo>
                  <a:lnTo>
                    <a:pt x="87" y="4039"/>
                  </a:lnTo>
                  <a:lnTo>
                    <a:pt x="96" y="4048"/>
                  </a:lnTo>
                  <a:lnTo>
                    <a:pt x="119" y="4069"/>
                  </a:lnTo>
                  <a:lnTo>
                    <a:pt x="145" y="4088"/>
                  </a:lnTo>
                  <a:lnTo>
                    <a:pt x="174" y="4106"/>
                  </a:lnTo>
                  <a:lnTo>
                    <a:pt x="200" y="4121"/>
                  </a:lnTo>
                  <a:lnTo>
                    <a:pt x="212" y="4128"/>
                  </a:lnTo>
                  <a:lnTo>
                    <a:pt x="224" y="4133"/>
                  </a:lnTo>
                  <a:lnTo>
                    <a:pt x="234" y="4135"/>
                  </a:lnTo>
                  <a:lnTo>
                    <a:pt x="242" y="4136"/>
                  </a:lnTo>
                  <a:lnTo>
                    <a:pt x="331" y="4140"/>
                  </a:lnTo>
                  <a:lnTo>
                    <a:pt x="321" y="4047"/>
                  </a:lnTo>
                  <a:lnTo>
                    <a:pt x="270" y="4022"/>
                  </a:lnTo>
                  <a:lnTo>
                    <a:pt x="279" y="4015"/>
                  </a:lnTo>
                  <a:lnTo>
                    <a:pt x="212" y="3953"/>
                  </a:lnTo>
                  <a:lnTo>
                    <a:pt x="204" y="3960"/>
                  </a:lnTo>
                  <a:lnTo>
                    <a:pt x="204" y="3945"/>
                  </a:lnTo>
                  <a:lnTo>
                    <a:pt x="203" y="3935"/>
                  </a:lnTo>
                  <a:lnTo>
                    <a:pt x="202" y="3927"/>
                  </a:lnTo>
                  <a:lnTo>
                    <a:pt x="200" y="3920"/>
                  </a:lnTo>
                  <a:lnTo>
                    <a:pt x="199" y="3916"/>
                  </a:lnTo>
                  <a:lnTo>
                    <a:pt x="196" y="3909"/>
                  </a:lnTo>
                  <a:lnTo>
                    <a:pt x="196" y="3900"/>
                  </a:lnTo>
                  <a:lnTo>
                    <a:pt x="196" y="3888"/>
                  </a:lnTo>
                  <a:lnTo>
                    <a:pt x="196" y="3877"/>
                  </a:lnTo>
                  <a:lnTo>
                    <a:pt x="199" y="3868"/>
                  </a:lnTo>
                  <a:lnTo>
                    <a:pt x="200" y="3862"/>
                  </a:lnTo>
                  <a:lnTo>
                    <a:pt x="202" y="3856"/>
                  </a:lnTo>
                  <a:lnTo>
                    <a:pt x="204" y="3850"/>
                  </a:lnTo>
                  <a:lnTo>
                    <a:pt x="207" y="3842"/>
                  </a:lnTo>
                  <a:lnTo>
                    <a:pt x="208" y="3832"/>
                  </a:lnTo>
                  <a:lnTo>
                    <a:pt x="210" y="3816"/>
                  </a:lnTo>
                  <a:lnTo>
                    <a:pt x="243" y="3817"/>
                  </a:lnTo>
                  <a:lnTo>
                    <a:pt x="248" y="3818"/>
                  </a:lnTo>
                  <a:lnTo>
                    <a:pt x="254" y="3821"/>
                  </a:lnTo>
                  <a:lnTo>
                    <a:pt x="257" y="3823"/>
                  </a:lnTo>
                  <a:lnTo>
                    <a:pt x="262" y="3828"/>
                  </a:lnTo>
                  <a:lnTo>
                    <a:pt x="264" y="3832"/>
                  </a:lnTo>
                  <a:lnTo>
                    <a:pt x="267" y="3838"/>
                  </a:lnTo>
                  <a:lnTo>
                    <a:pt x="270" y="3844"/>
                  </a:lnTo>
                  <a:lnTo>
                    <a:pt x="272" y="3850"/>
                  </a:lnTo>
                  <a:lnTo>
                    <a:pt x="274" y="3866"/>
                  </a:lnTo>
                  <a:lnTo>
                    <a:pt x="277" y="3884"/>
                  </a:lnTo>
                  <a:lnTo>
                    <a:pt x="279" y="3903"/>
                  </a:lnTo>
                  <a:lnTo>
                    <a:pt x="280" y="3921"/>
                  </a:lnTo>
                  <a:lnTo>
                    <a:pt x="282" y="3941"/>
                  </a:lnTo>
                  <a:lnTo>
                    <a:pt x="285" y="3960"/>
                  </a:lnTo>
                  <a:lnTo>
                    <a:pt x="288" y="3977"/>
                  </a:lnTo>
                  <a:lnTo>
                    <a:pt x="293" y="3993"/>
                  </a:lnTo>
                  <a:lnTo>
                    <a:pt x="296" y="4000"/>
                  </a:lnTo>
                  <a:lnTo>
                    <a:pt x="299" y="4006"/>
                  </a:lnTo>
                  <a:lnTo>
                    <a:pt x="304" y="4012"/>
                  </a:lnTo>
                  <a:lnTo>
                    <a:pt x="309" y="4016"/>
                  </a:lnTo>
                  <a:lnTo>
                    <a:pt x="314" y="4021"/>
                  </a:lnTo>
                  <a:lnTo>
                    <a:pt x="321" y="4024"/>
                  </a:lnTo>
                  <a:lnTo>
                    <a:pt x="328" y="4025"/>
                  </a:lnTo>
                  <a:lnTo>
                    <a:pt x="335" y="4026"/>
                  </a:lnTo>
                  <a:lnTo>
                    <a:pt x="349" y="4026"/>
                  </a:lnTo>
                  <a:lnTo>
                    <a:pt x="355" y="4024"/>
                  </a:lnTo>
                  <a:lnTo>
                    <a:pt x="363" y="4022"/>
                  </a:lnTo>
                  <a:lnTo>
                    <a:pt x="381" y="4017"/>
                  </a:lnTo>
                  <a:lnTo>
                    <a:pt x="375" y="3812"/>
                  </a:lnTo>
                  <a:lnTo>
                    <a:pt x="382" y="3802"/>
                  </a:lnTo>
                  <a:lnTo>
                    <a:pt x="389" y="3791"/>
                  </a:lnTo>
                  <a:lnTo>
                    <a:pt x="394" y="3777"/>
                  </a:lnTo>
                  <a:lnTo>
                    <a:pt x="400" y="3764"/>
                  </a:lnTo>
                  <a:lnTo>
                    <a:pt x="406" y="3748"/>
                  </a:lnTo>
                  <a:lnTo>
                    <a:pt x="411" y="3730"/>
                  </a:lnTo>
                  <a:lnTo>
                    <a:pt x="417" y="3712"/>
                  </a:lnTo>
                  <a:lnTo>
                    <a:pt x="422" y="3693"/>
                  </a:lnTo>
                  <a:lnTo>
                    <a:pt x="431" y="3652"/>
                  </a:lnTo>
                  <a:lnTo>
                    <a:pt x="439" y="3607"/>
                  </a:lnTo>
                  <a:lnTo>
                    <a:pt x="446" y="3559"/>
                  </a:lnTo>
                  <a:lnTo>
                    <a:pt x="453" y="3511"/>
                  </a:lnTo>
                  <a:lnTo>
                    <a:pt x="457" y="3461"/>
                  </a:lnTo>
                  <a:lnTo>
                    <a:pt x="463" y="3412"/>
                  </a:lnTo>
                  <a:lnTo>
                    <a:pt x="466" y="3362"/>
                  </a:lnTo>
                  <a:lnTo>
                    <a:pt x="470" y="3316"/>
                  </a:lnTo>
                  <a:lnTo>
                    <a:pt x="475" y="3228"/>
                  </a:lnTo>
                  <a:lnTo>
                    <a:pt x="478" y="3156"/>
                  </a:lnTo>
                  <a:lnTo>
                    <a:pt x="487" y="3135"/>
                  </a:lnTo>
                  <a:lnTo>
                    <a:pt x="494" y="3116"/>
                  </a:lnTo>
                  <a:lnTo>
                    <a:pt x="501" y="3096"/>
                  </a:lnTo>
                  <a:lnTo>
                    <a:pt x="505" y="3079"/>
                  </a:lnTo>
                  <a:lnTo>
                    <a:pt x="510" y="3062"/>
                  </a:lnTo>
                  <a:lnTo>
                    <a:pt x="513" y="3047"/>
                  </a:lnTo>
                  <a:lnTo>
                    <a:pt x="515" y="3032"/>
                  </a:lnTo>
                  <a:lnTo>
                    <a:pt x="517" y="3017"/>
                  </a:lnTo>
                  <a:lnTo>
                    <a:pt x="518" y="3005"/>
                  </a:lnTo>
                  <a:lnTo>
                    <a:pt x="518" y="2992"/>
                  </a:lnTo>
                  <a:lnTo>
                    <a:pt x="517" y="2980"/>
                  </a:lnTo>
                  <a:lnTo>
                    <a:pt x="515" y="2968"/>
                  </a:lnTo>
                  <a:lnTo>
                    <a:pt x="514" y="2958"/>
                  </a:lnTo>
                  <a:lnTo>
                    <a:pt x="511" y="2948"/>
                  </a:lnTo>
                  <a:lnTo>
                    <a:pt x="509" y="2937"/>
                  </a:lnTo>
                  <a:lnTo>
                    <a:pt x="505" y="2928"/>
                  </a:lnTo>
                  <a:lnTo>
                    <a:pt x="497" y="2910"/>
                  </a:lnTo>
                  <a:lnTo>
                    <a:pt x="488" y="2893"/>
                  </a:lnTo>
                  <a:lnTo>
                    <a:pt x="478" y="2876"/>
                  </a:lnTo>
                  <a:lnTo>
                    <a:pt x="469" y="2858"/>
                  </a:lnTo>
                  <a:lnTo>
                    <a:pt x="458" y="2841"/>
                  </a:lnTo>
                  <a:lnTo>
                    <a:pt x="449" y="2823"/>
                  </a:lnTo>
                  <a:lnTo>
                    <a:pt x="440" y="2804"/>
                  </a:lnTo>
                  <a:lnTo>
                    <a:pt x="433" y="2782"/>
                  </a:lnTo>
                  <a:lnTo>
                    <a:pt x="598" y="2593"/>
                  </a:lnTo>
                  <a:lnTo>
                    <a:pt x="599" y="2669"/>
                  </a:lnTo>
                  <a:lnTo>
                    <a:pt x="598" y="2753"/>
                  </a:lnTo>
                  <a:lnTo>
                    <a:pt x="597" y="2846"/>
                  </a:lnTo>
                  <a:lnTo>
                    <a:pt x="596" y="2944"/>
                  </a:lnTo>
                  <a:lnTo>
                    <a:pt x="594" y="3047"/>
                  </a:lnTo>
                  <a:lnTo>
                    <a:pt x="594" y="3152"/>
                  </a:lnTo>
                  <a:lnTo>
                    <a:pt x="596" y="3205"/>
                  </a:lnTo>
                  <a:lnTo>
                    <a:pt x="597" y="3257"/>
                  </a:lnTo>
                  <a:lnTo>
                    <a:pt x="599" y="3310"/>
                  </a:lnTo>
                  <a:lnTo>
                    <a:pt x="601" y="3361"/>
                  </a:lnTo>
                  <a:lnTo>
                    <a:pt x="604" y="3401"/>
                  </a:lnTo>
                  <a:lnTo>
                    <a:pt x="605" y="3441"/>
                  </a:lnTo>
                  <a:lnTo>
                    <a:pt x="605" y="3479"/>
                  </a:lnTo>
                  <a:lnTo>
                    <a:pt x="605" y="3518"/>
                  </a:lnTo>
                  <a:lnTo>
                    <a:pt x="604" y="3591"/>
                  </a:lnTo>
                  <a:lnTo>
                    <a:pt x="601" y="3663"/>
                  </a:lnTo>
                  <a:lnTo>
                    <a:pt x="598" y="3730"/>
                  </a:lnTo>
                  <a:lnTo>
                    <a:pt x="594" y="3797"/>
                  </a:lnTo>
                  <a:lnTo>
                    <a:pt x="593" y="3858"/>
                  </a:lnTo>
                  <a:lnTo>
                    <a:pt x="592" y="3918"/>
                  </a:lnTo>
                  <a:lnTo>
                    <a:pt x="593" y="3980"/>
                  </a:lnTo>
                  <a:lnTo>
                    <a:pt x="593" y="3988"/>
                  </a:lnTo>
                  <a:lnTo>
                    <a:pt x="594" y="3993"/>
                  </a:lnTo>
                  <a:lnTo>
                    <a:pt x="597" y="3998"/>
                  </a:lnTo>
                  <a:lnTo>
                    <a:pt x="599" y="4001"/>
                  </a:lnTo>
                  <a:lnTo>
                    <a:pt x="606" y="4009"/>
                  </a:lnTo>
                  <a:lnTo>
                    <a:pt x="615" y="4021"/>
                  </a:lnTo>
                  <a:lnTo>
                    <a:pt x="616" y="4079"/>
                  </a:lnTo>
                  <a:lnTo>
                    <a:pt x="617" y="4133"/>
                  </a:lnTo>
                  <a:lnTo>
                    <a:pt x="620" y="4184"/>
                  </a:lnTo>
                  <a:lnTo>
                    <a:pt x="622" y="4233"/>
                  </a:lnTo>
                  <a:lnTo>
                    <a:pt x="626" y="4281"/>
                  </a:lnTo>
                  <a:lnTo>
                    <a:pt x="632" y="4328"/>
                  </a:lnTo>
                  <a:lnTo>
                    <a:pt x="638" y="4376"/>
                  </a:lnTo>
                  <a:lnTo>
                    <a:pt x="646" y="4424"/>
                  </a:lnTo>
                  <a:lnTo>
                    <a:pt x="653" y="4473"/>
                  </a:lnTo>
                  <a:lnTo>
                    <a:pt x="658" y="4522"/>
                  </a:lnTo>
                  <a:lnTo>
                    <a:pt x="663" y="4572"/>
                  </a:lnTo>
                  <a:lnTo>
                    <a:pt x="666" y="4621"/>
                  </a:lnTo>
                  <a:lnTo>
                    <a:pt x="670" y="4670"/>
                  </a:lnTo>
                  <a:lnTo>
                    <a:pt x="674" y="4719"/>
                  </a:lnTo>
                  <a:lnTo>
                    <a:pt x="680" y="4768"/>
                  </a:lnTo>
                  <a:lnTo>
                    <a:pt x="688" y="4817"/>
                  </a:lnTo>
                  <a:lnTo>
                    <a:pt x="695" y="4854"/>
                  </a:lnTo>
                  <a:lnTo>
                    <a:pt x="702" y="4896"/>
                  </a:lnTo>
                  <a:lnTo>
                    <a:pt x="709" y="4942"/>
                  </a:lnTo>
                  <a:lnTo>
                    <a:pt x="714" y="4991"/>
                  </a:lnTo>
                  <a:lnTo>
                    <a:pt x="727" y="5096"/>
                  </a:lnTo>
                  <a:lnTo>
                    <a:pt x="737" y="5207"/>
                  </a:lnTo>
                  <a:lnTo>
                    <a:pt x="746" y="5318"/>
                  </a:lnTo>
                  <a:lnTo>
                    <a:pt x="754" y="5424"/>
                  </a:lnTo>
                  <a:lnTo>
                    <a:pt x="757" y="5475"/>
                  </a:lnTo>
                  <a:lnTo>
                    <a:pt x="758" y="5521"/>
                  </a:lnTo>
                  <a:lnTo>
                    <a:pt x="759" y="5565"/>
                  </a:lnTo>
                  <a:lnTo>
                    <a:pt x="760" y="5605"/>
                  </a:lnTo>
                  <a:lnTo>
                    <a:pt x="760" y="5655"/>
                  </a:lnTo>
                  <a:lnTo>
                    <a:pt x="762" y="5705"/>
                  </a:lnTo>
                  <a:lnTo>
                    <a:pt x="765" y="5755"/>
                  </a:lnTo>
                  <a:lnTo>
                    <a:pt x="769" y="5805"/>
                  </a:lnTo>
                  <a:lnTo>
                    <a:pt x="774" y="5854"/>
                  </a:lnTo>
                  <a:lnTo>
                    <a:pt x="780" y="5903"/>
                  </a:lnTo>
                  <a:lnTo>
                    <a:pt x="785" y="5951"/>
                  </a:lnTo>
                  <a:lnTo>
                    <a:pt x="792" y="6000"/>
                  </a:lnTo>
                  <a:lnTo>
                    <a:pt x="807" y="6096"/>
                  </a:lnTo>
                  <a:lnTo>
                    <a:pt x="822" y="6191"/>
                  </a:lnTo>
                  <a:lnTo>
                    <a:pt x="836" y="6284"/>
                  </a:lnTo>
                  <a:lnTo>
                    <a:pt x="848" y="6376"/>
                  </a:lnTo>
                  <a:lnTo>
                    <a:pt x="854" y="6419"/>
                  </a:lnTo>
                  <a:lnTo>
                    <a:pt x="860" y="6465"/>
                  </a:lnTo>
                  <a:lnTo>
                    <a:pt x="866" y="6517"/>
                  </a:lnTo>
                  <a:lnTo>
                    <a:pt x="874" y="6568"/>
                  </a:lnTo>
                  <a:lnTo>
                    <a:pt x="884" y="6619"/>
                  </a:lnTo>
                  <a:lnTo>
                    <a:pt x="893" y="6667"/>
                  </a:lnTo>
                  <a:lnTo>
                    <a:pt x="899" y="6689"/>
                  </a:lnTo>
                  <a:lnTo>
                    <a:pt x="904" y="6710"/>
                  </a:lnTo>
                  <a:lnTo>
                    <a:pt x="910" y="6728"/>
                  </a:lnTo>
                  <a:lnTo>
                    <a:pt x="917" y="6745"/>
                  </a:lnTo>
                  <a:lnTo>
                    <a:pt x="927" y="6772"/>
                  </a:lnTo>
                  <a:lnTo>
                    <a:pt x="941" y="6811"/>
                  </a:lnTo>
                  <a:lnTo>
                    <a:pt x="957" y="6856"/>
                  </a:lnTo>
                  <a:lnTo>
                    <a:pt x="974" y="6908"/>
                  </a:lnTo>
                  <a:lnTo>
                    <a:pt x="989" y="6958"/>
                  </a:lnTo>
                  <a:lnTo>
                    <a:pt x="1003" y="7006"/>
                  </a:lnTo>
                  <a:lnTo>
                    <a:pt x="1007" y="7028"/>
                  </a:lnTo>
                  <a:lnTo>
                    <a:pt x="1012" y="7046"/>
                  </a:lnTo>
                  <a:lnTo>
                    <a:pt x="1014" y="7063"/>
                  </a:lnTo>
                  <a:lnTo>
                    <a:pt x="1015" y="7076"/>
                  </a:lnTo>
                  <a:lnTo>
                    <a:pt x="1003" y="7099"/>
                  </a:lnTo>
                  <a:lnTo>
                    <a:pt x="974" y="7148"/>
                  </a:lnTo>
                  <a:lnTo>
                    <a:pt x="943" y="7199"/>
                  </a:lnTo>
                  <a:lnTo>
                    <a:pt x="926" y="7230"/>
                  </a:lnTo>
                  <a:lnTo>
                    <a:pt x="923" y="7242"/>
                  </a:lnTo>
                  <a:lnTo>
                    <a:pt x="917" y="7264"/>
                  </a:lnTo>
                  <a:lnTo>
                    <a:pt x="909" y="7294"/>
                  </a:lnTo>
                  <a:lnTo>
                    <a:pt x="902" y="7328"/>
                  </a:lnTo>
                  <a:lnTo>
                    <a:pt x="894" y="7363"/>
                  </a:lnTo>
                  <a:lnTo>
                    <a:pt x="888" y="7392"/>
                  </a:lnTo>
                  <a:lnTo>
                    <a:pt x="884" y="7414"/>
                  </a:lnTo>
                  <a:lnTo>
                    <a:pt x="881" y="7426"/>
                  </a:lnTo>
                  <a:lnTo>
                    <a:pt x="881" y="7436"/>
                  </a:lnTo>
                  <a:lnTo>
                    <a:pt x="883" y="7461"/>
                  </a:lnTo>
                  <a:lnTo>
                    <a:pt x="886" y="7482"/>
                  </a:lnTo>
                  <a:lnTo>
                    <a:pt x="887" y="7491"/>
                  </a:lnTo>
                  <a:lnTo>
                    <a:pt x="891" y="7499"/>
                  </a:lnTo>
                  <a:lnTo>
                    <a:pt x="893" y="7507"/>
                  </a:lnTo>
                  <a:lnTo>
                    <a:pt x="896" y="7514"/>
                  </a:lnTo>
                  <a:lnTo>
                    <a:pt x="900" y="7519"/>
                  </a:lnTo>
                  <a:lnTo>
                    <a:pt x="903" y="7525"/>
                  </a:lnTo>
                  <a:lnTo>
                    <a:pt x="908" y="7530"/>
                  </a:lnTo>
                  <a:lnTo>
                    <a:pt x="912" y="7533"/>
                  </a:lnTo>
                  <a:lnTo>
                    <a:pt x="921" y="7540"/>
                  </a:lnTo>
                  <a:lnTo>
                    <a:pt x="933" y="7544"/>
                  </a:lnTo>
                  <a:lnTo>
                    <a:pt x="943" y="7548"/>
                  </a:lnTo>
                  <a:lnTo>
                    <a:pt x="956" y="7551"/>
                  </a:lnTo>
                  <a:lnTo>
                    <a:pt x="967" y="7552"/>
                  </a:lnTo>
                  <a:lnTo>
                    <a:pt x="980" y="7555"/>
                  </a:lnTo>
                  <a:lnTo>
                    <a:pt x="991" y="7557"/>
                  </a:lnTo>
                  <a:lnTo>
                    <a:pt x="1004" y="7560"/>
                  </a:lnTo>
                  <a:lnTo>
                    <a:pt x="1015" y="7564"/>
                  </a:lnTo>
                  <a:lnTo>
                    <a:pt x="1025" y="7570"/>
                  </a:lnTo>
                  <a:lnTo>
                    <a:pt x="1248" y="7570"/>
                  </a:lnTo>
                  <a:lnTo>
                    <a:pt x="1300" y="7541"/>
                  </a:lnTo>
                  <a:lnTo>
                    <a:pt x="1338" y="7523"/>
                  </a:lnTo>
                  <a:lnTo>
                    <a:pt x="1352" y="7515"/>
                  </a:lnTo>
                  <a:lnTo>
                    <a:pt x="1364" y="7508"/>
                  </a:lnTo>
                  <a:lnTo>
                    <a:pt x="1373" y="7501"/>
                  </a:lnTo>
                  <a:lnTo>
                    <a:pt x="1380" y="7493"/>
                  </a:lnTo>
                  <a:lnTo>
                    <a:pt x="1383" y="7490"/>
                  </a:lnTo>
                  <a:lnTo>
                    <a:pt x="1386" y="7484"/>
                  </a:lnTo>
                  <a:lnTo>
                    <a:pt x="1387" y="7479"/>
                  </a:lnTo>
                  <a:lnTo>
                    <a:pt x="1389" y="7472"/>
                  </a:lnTo>
                  <a:lnTo>
                    <a:pt x="1391" y="7459"/>
                  </a:lnTo>
                  <a:lnTo>
                    <a:pt x="1392" y="7442"/>
                  </a:lnTo>
                  <a:lnTo>
                    <a:pt x="1392" y="7392"/>
                  </a:lnTo>
                  <a:lnTo>
                    <a:pt x="1392" y="7323"/>
                  </a:lnTo>
                  <a:lnTo>
                    <a:pt x="1394" y="7311"/>
                  </a:lnTo>
                  <a:lnTo>
                    <a:pt x="1396" y="7301"/>
                  </a:lnTo>
                  <a:lnTo>
                    <a:pt x="1399" y="7291"/>
                  </a:lnTo>
                  <a:lnTo>
                    <a:pt x="1404" y="7282"/>
                  </a:lnTo>
                  <a:lnTo>
                    <a:pt x="1415" y="7263"/>
                  </a:lnTo>
                  <a:lnTo>
                    <a:pt x="1429" y="7246"/>
                  </a:lnTo>
                  <a:lnTo>
                    <a:pt x="1442" y="7228"/>
                  </a:lnTo>
                  <a:lnTo>
                    <a:pt x="1453" y="7210"/>
                  </a:lnTo>
                  <a:lnTo>
                    <a:pt x="1458" y="7200"/>
                  </a:lnTo>
                  <a:lnTo>
                    <a:pt x="1460" y="7190"/>
                  </a:lnTo>
                  <a:lnTo>
                    <a:pt x="1461" y="7180"/>
                  </a:lnTo>
                  <a:lnTo>
                    <a:pt x="1461" y="7168"/>
                  </a:lnTo>
                  <a:lnTo>
                    <a:pt x="1447" y="7055"/>
                  </a:lnTo>
                  <a:lnTo>
                    <a:pt x="1461" y="7036"/>
                  </a:lnTo>
                  <a:lnTo>
                    <a:pt x="1474" y="7014"/>
                  </a:lnTo>
                  <a:lnTo>
                    <a:pt x="1485" y="6990"/>
                  </a:lnTo>
                  <a:lnTo>
                    <a:pt x="1495" y="6965"/>
                  </a:lnTo>
                  <a:lnTo>
                    <a:pt x="1499" y="6952"/>
                  </a:lnTo>
                  <a:lnTo>
                    <a:pt x="1503" y="6939"/>
                  </a:lnTo>
                  <a:lnTo>
                    <a:pt x="1507" y="6925"/>
                  </a:lnTo>
                  <a:lnTo>
                    <a:pt x="1509" y="6911"/>
                  </a:lnTo>
                  <a:lnTo>
                    <a:pt x="1511" y="6896"/>
                  </a:lnTo>
                  <a:lnTo>
                    <a:pt x="1513" y="6882"/>
                  </a:lnTo>
                  <a:lnTo>
                    <a:pt x="1514" y="6866"/>
                  </a:lnTo>
                  <a:lnTo>
                    <a:pt x="1515" y="6850"/>
                  </a:lnTo>
                  <a:lnTo>
                    <a:pt x="1515" y="6777"/>
                  </a:lnTo>
                  <a:lnTo>
                    <a:pt x="1514" y="6768"/>
                  </a:lnTo>
                  <a:lnTo>
                    <a:pt x="1513" y="6759"/>
                  </a:lnTo>
                  <a:lnTo>
                    <a:pt x="1511" y="6750"/>
                  </a:lnTo>
                  <a:lnTo>
                    <a:pt x="1509" y="6741"/>
                  </a:lnTo>
                  <a:lnTo>
                    <a:pt x="1503" y="6721"/>
                  </a:lnTo>
                  <a:lnTo>
                    <a:pt x="1495" y="6702"/>
                  </a:lnTo>
                  <a:lnTo>
                    <a:pt x="1477" y="6662"/>
                  </a:lnTo>
                  <a:lnTo>
                    <a:pt x="1455" y="6621"/>
                  </a:lnTo>
                  <a:lnTo>
                    <a:pt x="1445" y="6601"/>
                  </a:lnTo>
                  <a:lnTo>
                    <a:pt x="1435" y="6581"/>
                  </a:lnTo>
                  <a:lnTo>
                    <a:pt x="1426" y="6561"/>
                  </a:lnTo>
                  <a:lnTo>
                    <a:pt x="1419" y="6542"/>
                  </a:lnTo>
                  <a:lnTo>
                    <a:pt x="1413" y="6523"/>
                  </a:lnTo>
                  <a:lnTo>
                    <a:pt x="1410" y="6504"/>
                  </a:lnTo>
                  <a:lnTo>
                    <a:pt x="1408" y="6495"/>
                  </a:lnTo>
                  <a:lnTo>
                    <a:pt x="1408" y="6487"/>
                  </a:lnTo>
                  <a:lnTo>
                    <a:pt x="1408" y="6478"/>
                  </a:lnTo>
                  <a:lnTo>
                    <a:pt x="1410" y="6470"/>
                  </a:lnTo>
                  <a:lnTo>
                    <a:pt x="1437" y="6201"/>
                  </a:lnTo>
                  <a:lnTo>
                    <a:pt x="1437" y="6181"/>
                  </a:lnTo>
                  <a:lnTo>
                    <a:pt x="1436" y="6172"/>
                  </a:lnTo>
                  <a:lnTo>
                    <a:pt x="1435" y="6163"/>
                  </a:lnTo>
                  <a:lnTo>
                    <a:pt x="1434" y="6156"/>
                  </a:lnTo>
                  <a:lnTo>
                    <a:pt x="1431" y="6150"/>
                  </a:lnTo>
                  <a:lnTo>
                    <a:pt x="1426" y="6140"/>
                  </a:lnTo>
                  <a:lnTo>
                    <a:pt x="1420" y="6132"/>
                  </a:lnTo>
                  <a:lnTo>
                    <a:pt x="1414" y="6125"/>
                  </a:lnTo>
                  <a:lnTo>
                    <a:pt x="1408" y="6118"/>
                  </a:lnTo>
                  <a:lnTo>
                    <a:pt x="1406" y="6115"/>
                  </a:lnTo>
                  <a:lnTo>
                    <a:pt x="1405" y="6110"/>
                  </a:lnTo>
                  <a:lnTo>
                    <a:pt x="1404" y="6104"/>
                  </a:lnTo>
                  <a:lnTo>
                    <a:pt x="1404" y="6099"/>
                  </a:lnTo>
                  <a:lnTo>
                    <a:pt x="1404" y="6078"/>
                  </a:lnTo>
                  <a:lnTo>
                    <a:pt x="1404" y="6057"/>
                  </a:lnTo>
                  <a:lnTo>
                    <a:pt x="1405" y="6038"/>
                  </a:lnTo>
                  <a:lnTo>
                    <a:pt x="1406" y="6017"/>
                  </a:lnTo>
                  <a:lnTo>
                    <a:pt x="1408" y="5998"/>
                  </a:lnTo>
                  <a:lnTo>
                    <a:pt x="1413" y="5960"/>
                  </a:lnTo>
                  <a:lnTo>
                    <a:pt x="1421" y="5924"/>
                  </a:lnTo>
                  <a:lnTo>
                    <a:pt x="1429" y="5888"/>
                  </a:lnTo>
                  <a:lnTo>
                    <a:pt x="1438" y="5854"/>
                  </a:lnTo>
                  <a:lnTo>
                    <a:pt x="1448" y="5820"/>
                  </a:lnTo>
                  <a:lnTo>
                    <a:pt x="1459" y="5788"/>
                  </a:lnTo>
                  <a:lnTo>
                    <a:pt x="1479" y="5726"/>
                  </a:lnTo>
                  <a:lnTo>
                    <a:pt x="1496" y="5668"/>
                  </a:lnTo>
                  <a:lnTo>
                    <a:pt x="1504" y="5640"/>
                  </a:lnTo>
                  <a:lnTo>
                    <a:pt x="1509" y="5614"/>
                  </a:lnTo>
                  <a:lnTo>
                    <a:pt x="1513" y="5589"/>
                  </a:lnTo>
                  <a:lnTo>
                    <a:pt x="1515" y="5564"/>
                  </a:lnTo>
                  <a:lnTo>
                    <a:pt x="1513" y="5504"/>
                  </a:lnTo>
                  <a:lnTo>
                    <a:pt x="1510" y="5428"/>
                  </a:lnTo>
                  <a:lnTo>
                    <a:pt x="1506" y="5340"/>
                  </a:lnTo>
                  <a:lnTo>
                    <a:pt x="1501" y="5247"/>
                  </a:lnTo>
                  <a:lnTo>
                    <a:pt x="1499" y="5158"/>
                  </a:lnTo>
                  <a:lnTo>
                    <a:pt x="1496" y="5079"/>
                  </a:lnTo>
                  <a:lnTo>
                    <a:pt x="1498" y="5045"/>
                  </a:lnTo>
                  <a:lnTo>
                    <a:pt x="1499" y="5016"/>
                  </a:lnTo>
                  <a:lnTo>
                    <a:pt x="1500" y="4993"/>
                  </a:lnTo>
                  <a:lnTo>
                    <a:pt x="1503" y="4977"/>
                  </a:lnTo>
                  <a:lnTo>
                    <a:pt x="1508" y="4958"/>
                  </a:lnTo>
                  <a:lnTo>
                    <a:pt x="1513" y="4932"/>
                  </a:lnTo>
                  <a:lnTo>
                    <a:pt x="1517" y="4902"/>
                  </a:lnTo>
                  <a:lnTo>
                    <a:pt x="1522" y="4868"/>
                  </a:lnTo>
                  <a:lnTo>
                    <a:pt x="1530" y="4789"/>
                  </a:lnTo>
                  <a:lnTo>
                    <a:pt x="1537" y="4704"/>
                  </a:lnTo>
                  <a:lnTo>
                    <a:pt x="1543" y="4617"/>
                  </a:lnTo>
                  <a:lnTo>
                    <a:pt x="1549" y="4536"/>
                  </a:lnTo>
                  <a:lnTo>
                    <a:pt x="1555" y="4465"/>
                  </a:lnTo>
                  <a:lnTo>
                    <a:pt x="1558" y="4412"/>
                  </a:lnTo>
                  <a:lnTo>
                    <a:pt x="1563" y="4420"/>
                  </a:lnTo>
                  <a:lnTo>
                    <a:pt x="1569" y="4430"/>
                  </a:lnTo>
                  <a:lnTo>
                    <a:pt x="1573" y="4442"/>
                  </a:lnTo>
                  <a:lnTo>
                    <a:pt x="1578" y="4458"/>
                  </a:lnTo>
                  <a:lnTo>
                    <a:pt x="1587" y="4495"/>
                  </a:lnTo>
                  <a:lnTo>
                    <a:pt x="1595" y="4541"/>
                  </a:lnTo>
                  <a:lnTo>
                    <a:pt x="1604" y="4592"/>
                  </a:lnTo>
                  <a:lnTo>
                    <a:pt x="1612" y="4648"/>
                  </a:lnTo>
                  <a:lnTo>
                    <a:pt x="1620" y="4709"/>
                  </a:lnTo>
                  <a:lnTo>
                    <a:pt x="1627" y="4771"/>
                  </a:lnTo>
                  <a:lnTo>
                    <a:pt x="1634" y="4835"/>
                  </a:lnTo>
                  <a:lnTo>
                    <a:pt x="1641" y="4897"/>
                  </a:lnTo>
                  <a:lnTo>
                    <a:pt x="1645" y="4958"/>
                  </a:lnTo>
                  <a:lnTo>
                    <a:pt x="1650" y="5016"/>
                  </a:lnTo>
                  <a:lnTo>
                    <a:pt x="1653" y="5071"/>
                  </a:lnTo>
                  <a:lnTo>
                    <a:pt x="1657" y="5119"/>
                  </a:lnTo>
                  <a:lnTo>
                    <a:pt x="1658" y="5160"/>
                  </a:lnTo>
                  <a:lnTo>
                    <a:pt x="1659" y="5193"/>
                  </a:lnTo>
                  <a:lnTo>
                    <a:pt x="1659" y="5252"/>
                  </a:lnTo>
                  <a:lnTo>
                    <a:pt x="1661" y="5305"/>
                  </a:lnTo>
                  <a:lnTo>
                    <a:pt x="1665" y="5356"/>
                  </a:lnTo>
                  <a:lnTo>
                    <a:pt x="1669" y="5405"/>
                  </a:lnTo>
                  <a:lnTo>
                    <a:pt x="1674" y="5452"/>
                  </a:lnTo>
                  <a:lnTo>
                    <a:pt x="1681" y="5500"/>
                  </a:lnTo>
                  <a:lnTo>
                    <a:pt x="1690" y="5548"/>
                  </a:lnTo>
                  <a:lnTo>
                    <a:pt x="1699" y="5599"/>
                  </a:lnTo>
                  <a:lnTo>
                    <a:pt x="1705" y="5632"/>
                  </a:lnTo>
                  <a:lnTo>
                    <a:pt x="1708" y="5663"/>
                  </a:lnTo>
                  <a:lnTo>
                    <a:pt x="1710" y="5689"/>
                  </a:lnTo>
                  <a:lnTo>
                    <a:pt x="1711" y="5715"/>
                  </a:lnTo>
                  <a:lnTo>
                    <a:pt x="1713" y="5758"/>
                  </a:lnTo>
                  <a:lnTo>
                    <a:pt x="1713" y="5797"/>
                  </a:lnTo>
                  <a:lnTo>
                    <a:pt x="1714" y="5815"/>
                  </a:lnTo>
                  <a:lnTo>
                    <a:pt x="1717" y="5833"/>
                  </a:lnTo>
                  <a:lnTo>
                    <a:pt x="1721" y="5852"/>
                  </a:lnTo>
                  <a:lnTo>
                    <a:pt x="1727" y="5871"/>
                  </a:lnTo>
                  <a:lnTo>
                    <a:pt x="1737" y="5892"/>
                  </a:lnTo>
                  <a:lnTo>
                    <a:pt x="1748" y="5915"/>
                  </a:lnTo>
                  <a:lnTo>
                    <a:pt x="1763" y="5939"/>
                  </a:lnTo>
                  <a:lnTo>
                    <a:pt x="1781" y="5965"/>
                  </a:lnTo>
                  <a:lnTo>
                    <a:pt x="1780" y="5989"/>
                  </a:lnTo>
                  <a:lnTo>
                    <a:pt x="1780" y="6014"/>
                  </a:lnTo>
                  <a:lnTo>
                    <a:pt x="1780" y="6038"/>
                  </a:lnTo>
                  <a:lnTo>
                    <a:pt x="1780" y="6062"/>
                  </a:lnTo>
                  <a:lnTo>
                    <a:pt x="1781" y="6086"/>
                  </a:lnTo>
                  <a:lnTo>
                    <a:pt x="1782" y="6109"/>
                  </a:lnTo>
                  <a:lnTo>
                    <a:pt x="1785" y="6132"/>
                  </a:lnTo>
                  <a:lnTo>
                    <a:pt x="1788" y="6155"/>
                  </a:lnTo>
                  <a:lnTo>
                    <a:pt x="1789" y="6164"/>
                  </a:lnTo>
                  <a:lnTo>
                    <a:pt x="1789" y="6173"/>
                  </a:lnTo>
                  <a:lnTo>
                    <a:pt x="1789" y="6182"/>
                  </a:lnTo>
                  <a:lnTo>
                    <a:pt x="1787" y="6191"/>
                  </a:lnTo>
                  <a:lnTo>
                    <a:pt x="1782" y="6209"/>
                  </a:lnTo>
                  <a:lnTo>
                    <a:pt x="1777" y="6228"/>
                  </a:lnTo>
                  <a:lnTo>
                    <a:pt x="1770" y="6248"/>
                  </a:lnTo>
                  <a:lnTo>
                    <a:pt x="1764" y="6271"/>
                  </a:lnTo>
                  <a:lnTo>
                    <a:pt x="1762" y="6283"/>
                  </a:lnTo>
                  <a:lnTo>
                    <a:pt x="1759" y="6296"/>
                  </a:lnTo>
                  <a:lnTo>
                    <a:pt x="1758" y="6310"/>
                  </a:lnTo>
                  <a:lnTo>
                    <a:pt x="1758" y="6325"/>
                  </a:lnTo>
                  <a:lnTo>
                    <a:pt x="1758" y="6353"/>
                  </a:lnTo>
                  <a:lnTo>
                    <a:pt x="1757" y="6381"/>
                  </a:lnTo>
                  <a:lnTo>
                    <a:pt x="1755" y="6406"/>
                  </a:lnTo>
                  <a:lnTo>
                    <a:pt x="1753" y="6431"/>
                  </a:lnTo>
                  <a:lnTo>
                    <a:pt x="1748" y="6478"/>
                  </a:lnTo>
                  <a:lnTo>
                    <a:pt x="1741" y="6523"/>
                  </a:lnTo>
                  <a:lnTo>
                    <a:pt x="1735" y="6565"/>
                  </a:lnTo>
                  <a:lnTo>
                    <a:pt x="1731" y="6607"/>
                  </a:lnTo>
                  <a:lnTo>
                    <a:pt x="1729" y="6629"/>
                  </a:lnTo>
                  <a:lnTo>
                    <a:pt x="1726" y="6651"/>
                  </a:lnTo>
                  <a:lnTo>
                    <a:pt x="1725" y="6672"/>
                  </a:lnTo>
                  <a:lnTo>
                    <a:pt x="1725" y="6695"/>
                  </a:lnTo>
                  <a:lnTo>
                    <a:pt x="1724" y="6798"/>
                  </a:lnTo>
                  <a:lnTo>
                    <a:pt x="1772" y="7095"/>
                  </a:lnTo>
                  <a:lnTo>
                    <a:pt x="1758" y="7096"/>
                  </a:lnTo>
                  <a:lnTo>
                    <a:pt x="1758" y="7148"/>
                  </a:lnTo>
                  <a:lnTo>
                    <a:pt x="1759" y="7159"/>
                  </a:lnTo>
                  <a:lnTo>
                    <a:pt x="1763" y="7170"/>
                  </a:lnTo>
                  <a:lnTo>
                    <a:pt x="1767" y="7181"/>
                  </a:lnTo>
                  <a:lnTo>
                    <a:pt x="1774" y="7191"/>
                  </a:lnTo>
                  <a:lnTo>
                    <a:pt x="1783" y="7203"/>
                  </a:lnTo>
                  <a:lnTo>
                    <a:pt x="1793" y="7213"/>
                  </a:lnTo>
                  <a:lnTo>
                    <a:pt x="1803" y="7222"/>
                  </a:lnTo>
                  <a:lnTo>
                    <a:pt x="1814" y="7231"/>
                  </a:lnTo>
                  <a:lnTo>
                    <a:pt x="1827" y="7240"/>
                  </a:lnTo>
                  <a:lnTo>
                    <a:pt x="1840" y="7247"/>
                  </a:lnTo>
                  <a:lnTo>
                    <a:pt x="1852" y="7254"/>
                  </a:lnTo>
                  <a:lnTo>
                    <a:pt x="1866" y="7260"/>
                  </a:lnTo>
                  <a:lnTo>
                    <a:pt x="1878" y="7266"/>
                  </a:lnTo>
                  <a:lnTo>
                    <a:pt x="1891" y="7269"/>
                  </a:lnTo>
                  <a:lnTo>
                    <a:pt x="1902" y="7270"/>
                  </a:lnTo>
                  <a:lnTo>
                    <a:pt x="1914" y="7271"/>
                  </a:lnTo>
                  <a:lnTo>
                    <a:pt x="1980" y="7271"/>
                  </a:lnTo>
                  <a:lnTo>
                    <a:pt x="1985" y="7288"/>
                  </a:lnTo>
                  <a:lnTo>
                    <a:pt x="1987" y="7304"/>
                  </a:lnTo>
                  <a:lnTo>
                    <a:pt x="1988" y="7318"/>
                  </a:lnTo>
                  <a:lnTo>
                    <a:pt x="1989" y="7332"/>
                  </a:lnTo>
                  <a:lnTo>
                    <a:pt x="1990" y="7355"/>
                  </a:lnTo>
                  <a:lnTo>
                    <a:pt x="1992" y="7375"/>
                  </a:lnTo>
                  <a:lnTo>
                    <a:pt x="1994" y="7384"/>
                  </a:lnTo>
                  <a:lnTo>
                    <a:pt x="1996" y="7394"/>
                  </a:lnTo>
                  <a:lnTo>
                    <a:pt x="2001" y="7402"/>
                  </a:lnTo>
                  <a:lnTo>
                    <a:pt x="2005" y="7411"/>
                  </a:lnTo>
                  <a:lnTo>
                    <a:pt x="2012" y="7419"/>
                  </a:lnTo>
                  <a:lnTo>
                    <a:pt x="2021" y="7428"/>
                  </a:lnTo>
                  <a:lnTo>
                    <a:pt x="2033" y="7437"/>
                  </a:lnTo>
                  <a:lnTo>
                    <a:pt x="2046" y="7446"/>
                  </a:lnTo>
                  <a:lnTo>
                    <a:pt x="2066" y="7459"/>
                  </a:lnTo>
                  <a:lnTo>
                    <a:pt x="2086" y="7469"/>
                  </a:lnTo>
                  <a:lnTo>
                    <a:pt x="2109" y="7479"/>
                  </a:lnTo>
                  <a:lnTo>
                    <a:pt x="2134" y="7490"/>
                  </a:lnTo>
                  <a:lnTo>
                    <a:pt x="2160" y="7496"/>
                  </a:lnTo>
                  <a:lnTo>
                    <a:pt x="2187" y="7503"/>
                  </a:lnTo>
                  <a:lnTo>
                    <a:pt x="2202" y="7506"/>
                  </a:lnTo>
                  <a:lnTo>
                    <a:pt x="2217" y="7507"/>
                  </a:lnTo>
                  <a:lnTo>
                    <a:pt x="2232" y="7508"/>
                  </a:lnTo>
                  <a:lnTo>
                    <a:pt x="2247" y="7508"/>
                  </a:lnTo>
                  <a:lnTo>
                    <a:pt x="2284" y="7508"/>
                  </a:lnTo>
                  <a:lnTo>
                    <a:pt x="2331" y="7507"/>
                  </a:lnTo>
                  <a:lnTo>
                    <a:pt x="2357" y="7504"/>
                  </a:lnTo>
                  <a:lnTo>
                    <a:pt x="2383" y="7503"/>
                  </a:lnTo>
                  <a:lnTo>
                    <a:pt x="2409" y="7500"/>
                  </a:lnTo>
                  <a:lnTo>
                    <a:pt x="2434" y="7498"/>
                  </a:lnTo>
                  <a:lnTo>
                    <a:pt x="2459" y="7493"/>
                  </a:lnTo>
                  <a:lnTo>
                    <a:pt x="2482" y="7488"/>
                  </a:lnTo>
                  <a:lnTo>
                    <a:pt x="2503" y="7483"/>
                  </a:lnTo>
                  <a:lnTo>
                    <a:pt x="2521" y="7476"/>
                  </a:lnTo>
                  <a:lnTo>
                    <a:pt x="2529" y="7471"/>
                  </a:lnTo>
                  <a:lnTo>
                    <a:pt x="2536" y="7468"/>
                  </a:lnTo>
                  <a:lnTo>
                    <a:pt x="2543" y="7463"/>
                  </a:lnTo>
                  <a:lnTo>
                    <a:pt x="2548" y="7459"/>
                  </a:lnTo>
                  <a:lnTo>
                    <a:pt x="2552" y="7453"/>
                  </a:lnTo>
                  <a:lnTo>
                    <a:pt x="2555" y="7447"/>
                  </a:lnTo>
                  <a:lnTo>
                    <a:pt x="2558" y="7442"/>
                  </a:lnTo>
                  <a:lnTo>
                    <a:pt x="2558" y="7436"/>
                  </a:lnTo>
                  <a:lnTo>
                    <a:pt x="2558" y="7426"/>
                  </a:lnTo>
                  <a:lnTo>
                    <a:pt x="2558" y="7412"/>
                  </a:lnTo>
                  <a:lnTo>
                    <a:pt x="2555" y="7398"/>
                  </a:lnTo>
                  <a:lnTo>
                    <a:pt x="2553" y="7383"/>
                  </a:lnTo>
                  <a:lnTo>
                    <a:pt x="2550" y="7370"/>
                  </a:lnTo>
                  <a:lnTo>
                    <a:pt x="2545" y="7356"/>
                  </a:lnTo>
                  <a:lnTo>
                    <a:pt x="2540" y="7342"/>
                  </a:lnTo>
                  <a:lnTo>
                    <a:pt x="2535" y="7328"/>
                  </a:lnTo>
                  <a:lnTo>
                    <a:pt x="2528" y="7314"/>
                  </a:lnTo>
                  <a:lnTo>
                    <a:pt x="2513" y="7286"/>
                  </a:lnTo>
                  <a:lnTo>
                    <a:pt x="2495" y="7259"/>
                  </a:lnTo>
                  <a:lnTo>
                    <a:pt x="2476" y="7232"/>
                  </a:lnTo>
                  <a:lnTo>
                    <a:pt x="2456" y="7205"/>
                  </a:lnTo>
                  <a:lnTo>
                    <a:pt x="2413" y="7155"/>
                  </a:lnTo>
                  <a:lnTo>
                    <a:pt x="2371" y="7107"/>
                  </a:lnTo>
                  <a:lnTo>
                    <a:pt x="2352" y="7085"/>
                  </a:lnTo>
                  <a:lnTo>
                    <a:pt x="2333" y="7063"/>
                  </a:lnTo>
                  <a:lnTo>
                    <a:pt x="2316" y="7043"/>
                  </a:lnTo>
                  <a:lnTo>
                    <a:pt x="2303" y="7024"/>
                  </a:lnTo>
                  <a:lnTo>
                    <a:pt x="2312" y="6992"/>
                  </a:lnTo>
                  <a:lnTo>
                    <a:pt x="2323" y="6952"/>
                  </a:lnTo>
                  <a:lnTo>
                    <a:pt x="2338" y="6908"/>
                  </a:lnTo>
                  <a:lnTo>
                    <a:pt x="2353" y="6862"/>
                  </a:lnTo>
                  <a:lnTo>
                    <a:pt x="2367" y="6816"/>
                  </a:lnTo>
                  <a:lnTo>
                    <a:pt x="2378" y="6775"/>
                  </a:lnTo>
                  <a:lnTo>
                    <a:pt x="2384" y="6757"/>
                  </a:lnTo>
                  <a:lnTo>
                    <a:pt x="2387" y="6741"/>
                  </a:lnTo>
                  <a:lnTo>
                    <a:pt x="2389" y="6727"/>
                  </a:lnTo>
                  <a:lnTo>
                    <a:pt x="2392" y="6716"/>
                  </a:lnTo>
                  <a:lnTo>
                    <a:pt x="2394" y="6663"/>
                  </a:lnTo>
                  <a:lnTo>
                    <a:pt x="2396" y="6613"/>
                  </a:lnTo>
                  <a:lnTo>
                    <a:pt x="2396" y="6566"/>
                  </a:lnTo>
                  <a:lnTo>
                    <a:pt x="2397" y="6519"/>
                  </a:lnTo>
                  <a:lnTo>
                    <a:pt x="2399" y="6473"/>
                  </a:lnTo>
                  <a:lnTo>
                    <a:pt x="2400" y="6428"/>
                  </a:lnTo>
                  <a:lnTo>
                    <a:pt x="2402" y="6405"/>
                  </a:lnTo>
                  <a:lnTo>
                    <a:pt x="2404" y="6381"/>
                  </a:lnTo>
                  <a:lnTo>
                    <a:pt x="2408" y="6357"/>
                  </a:lnTo>
                  <a:lnTo>
                    <a:pt x="2411" y="6333"/>
                  </a:lnTo>
                  <a:lnTo>
                    <a:pt x="2416" y="6300"/>
                  </a:lnTo>
                  <a:lnTo>
                    <a:pt x="2420" y="6262"/>
                  </a:lnTo>
                  <a:lnTo>
                    <a:pt x="2425" y="6219"/>
                  </a:lnTo>
                  <a:lnTo>
                    <a:pt x="2428" y="6171"/>
                  </a:lnTo>
                  <a:lnTo>
                    <a:pt x="2434" y="6068"/>
                  </a:lnTo>
                  <a:lnTo>
                    <a:pt x="2440" y="5957"/>
                  </a:lnTo>
                  <a:lnTo>
                    <a:pt x="2443" y="5847"/>
                  </a:lnTo>
                  <a:lnTo>
                    <a:pt x="2445" y="5742"/>
                  </a:lnTo>
                  <a:lnTo>
                    <a:pt x="2447" y="5649"/>
                  </a:lnTo>
                  <a:lnTo>
                    <a:pt x="2447" y="5574"/>
                  </a:lnTo>
                  <a:lnTo>
                    <a:pt x="2445" y="5477"/>
                  </a:lnTo>
                  <a:lnTo>
                    <a:pt x="2445" y="5377"/>
                  </a:lnTo>
                  <a:lnTo>
                    <a:pt x="2444" y="5277"/>
                  </a:lnTo>
                  <a:lnTo>
                    <a:pt x="2444" y="5177"/>
                  </a:lnTo>
                  <a:lnTo>
                    <a:pt x="2445" y="5078"/>
                  </a:lnTo>
                  <a:lnTo>
                    <a:pt x="2448" y="4980"/>
                  </a:lnTo>
                  <a:lnTo>
                    <a:pt x="2451" y="4885"/>
                  </a:lnTo>
                  <a:lnTo>
                    <a:pt x="2458" y="4792"/>
                  </a:lnTo>
                  <a:lnTo>
                    <a:pt x="2459" y="4771"/>
                  </a:lnTo>
                  <a:lnTo>
                    <a:pt x="2460" y="4748"/>
                  </a:lnTo>
                  <a:lnTo>
                    <a:pt x="2460" y="4724"/>
                  </a:lnTo>
                  <a:lnTo>
                    <a:pt x="2459" y="4698"/>
                  </a:lnTo>
                  <a:lnTo>
                    <a:pt x="2458" y="4647"/>
                  </a:lnTo>
                  <a:lnTo>
                    <a:pt x="2456" y="4596"/>
                  </a:lnTo>
                  <a:lnTo>
                    <a:pt x="2455" y="4543"/>
                  </a:lnTo>
                  <a:lnTo>
                    <a:pt x="2455" y="4494"/>
                  </a:lnTo>
                  <a:lnTo>
                    <a:pt x="2455" y="4470"/>
                  </a:lnTo>
                  <a:lnTo>
                    <a:pt x="2457" y="4447"/>
                  </a:lnTo>
                  <a:lnTo>
                    <a:pt x="2459" y="4425"/>
                  </a:lnTo>
                  <a:lnTo>
                    <a:pt x="2463" y="4406"/>
                  </a:lnTo>
                  <a:lnTo>
                    <a:pt x="2465" y="4386"/>
                  </a:lnTo>
                  <a:lnTo>
                    <a:pt x="2468" y="4367"/>
                  </a:lnTo>
                  <a:lnTo>
                    <a:pt x="2471" y="4344"/>
                  </a:lnTo>
                  <a:lnTo>
                    <a:pt x="2473" y="4321"/>
                  </a:lnTo>
                  <a:lnTo>
                    <a:pt x="2474" y="4297"/>
                  </a:lnTo>
                  <a:lnTo>
                    <a:pt x="2476" y="4271"/>
                  </a:lnTo>
                  <a:lnTo>
                    <a:pt x="2478" y="4245"/>
                  </a:lnTo>
                  <a:lnTo>
                    <a:pt x="2478" y="4218"/>
                  </a:lnTo>
                  <a:lnTo>
                    <a:pt x="2522" y="4221"/>
                  </a:lnTo>
                  <a:lnTo>
                    <a:pt x="2530" y="4220"/>
                  </a:lnTo>
                  <a:lnTo>
                    <a:pt x="2540" y="4217"/>
                  </a:lnTo>
                  <a:lnTo>
                    <a:pt x="2552" y="4214"/>
                  </a:lnTo>
                  <a:lnTo>
                    <a:pt x="2564" y="4208"/>
                  </a:lnTo>
                  <a:lnTo>
                    <a:pt x="2593" y="4194"/>
                  </a:lnTo>
                  <a:lnTo>
                    <a:pt x="2623" y="4178"/>
                  </a:lnTo>
                  <a:lnTo>
                    <a:pt x="2650" y="4160"/>
                  </a:lnTo>
                  <a:lnTo>
                    <a:pt x="2675" y="4142"/>
                  </a:lnTo>
                  <a:lnTo>
                    <a:pt x="2684" y="4134"/>
                  </a:lnTo>
                  <a:lnTo>
                    <a:pt x="2692" y="4126"/>
                  </a:lnTo>
                  <a:lnTo>
                    <a:pt x="2699" y="4118"/>
                  </a:lnTo>
                  <a:lnTo>
                    <a:pt x="2703" y="4112"/>
                  </a:lnTo>
                  <a:lnTo>
                    <a:pt x="2710" y="4092"/>
                  </a:lnTo>
                  <a:lnTo>
                    <a:pt x="2719" y="4064"/>
                  </a:lnTo>
                  <a:lnTo>
                    <a:pt x="2730" y="4033"/>
                  </a:lnTo>
                  <a:lnTo>
                    <a:pt x="2740" y="3999"/>
                  </a:lnTo>
                  <a:lnTo>
                    <a:pt x="2751" y="3965"/>
                  </a:lnTo>
                  <a:lnTo>
                    <a:pt x="2760" y="3934"/>
                  </a:lnTo>
                  <a:lnTo>
                    <a:pt x="2767" y="3909"/>
                  </a:lnTo>
                  <a:lnTo>
                    <a:pt x="2769" y="3890"/>
                  </a:lnTo>
                  <a:lnTo>
                    <a:pt x="2792" y="3880"/>
                  </a:lnTo>
                  <a:lnTo>
                    <a:pt x="2819" y="3222"/>
                  </a:lnTo>
                  <a:lnTo>
                    <a:pt x="2818" y="3205"/>
                  </a:lnTo>
                  <a:lnTo>
                    <a:pt x="2817" y="3154"/>
                  </a:lnTo>
                  <a:lnTo>
                    <a:pt x="2814" y="3077"/>
                  </a:lnTo>
                  <a:lnTo>
                    <a:pt x="2810" y="2976"/>
                  </a:lnTo>
                  <a:lnTo>
                    <a:pt x="2806" y="2855"/>
                  </a:lnTo>
                  <a:lnTo>
                    <a:pt x="2801" y="2720"/>
                  </a:lnTo>
                  <a:lnTo>
                    <a:pt x="2797" y="2575"/>
                  </a:lnTo>
                  <a:lnTo>
                    <a:pt x="2791" y="2424"/>
                  </a:lnTo>
                  <a:lnTo>
                    <a:pt x="2786" y="2271"/>
                  </a:lnTo>
                  <a:lnTo>
                    <a:pt x="2782" y="2121"/>
                  </a:lnTo>
                  <a:lnTo>
                    <a:pt x="2777" y="1979"/>
                  </a:lnTo>
                  <a:lnTo>
                    <a:pt x="2774" y="1849"/>
                  </a:lnTo>
                  <a:lnTo>
                    <a:pt x="2770" y="1735"/>
                  </a:lnTo>
                  <a:lnTo>
                    <a:pt x="2768" y="1640"/>
                  </a:lnTo>
                  <a:lnTo>
                    <a:pt x="2767" y="1571"/>
                  </a:lnTo>
                  <a:lnTo>
                    <a:pt x="2768" y="1531"/>
                  </a:lnTo>
                  <a:lnTo>
                    <a:pt x="2768" y="1493"/>
                  </a:lnTo>
                  <a:lnTo>
                    <a:pt x="2764" y="1441"/>
                  </a:lnTo>
                  <a:lnTo>
                    <a:pt x="2760" y="1382"/>
                  </a:lnTo>
                  <a:lnTo>
                    <a:pt x="2754" y="1320"/>
                  </a:lnTo>
                  <a:lnTo>
                    <a:pt x="2746" y="1259"/>
                  </a:lnTo>
                  <a:lnTo>
                    <a:pt x="2737" y="1206"/>
                  </a:lnTo>
                  <a:lnTo>
                    <a:pt x="2732" y="1184"/>
                  </a:lnTo>
                  <a:lnTo>
                    <a:pt x="2728" y="1165"/>
                  </a:lnTo>
                  <a:lnTo>
                    <a:pt x="2722" y="1150"/>
                  </a:lnTo>
                  <a:lnTo>
                    <a:pt x="2718" y="1138"/>
                  </a:lnTo>
                  <a:lnTo>
                    <a:pt x="2712" y="1130"/>
                  </a:lnTo>
                  <a:lnTo>
                    <a:pt x="2702" y="1119"/>
                  </a:lnTo>
                  <a:lnTo>
                    <a:pt x="2690" y="1106"/>
                  </a:lnTo>
                  <a:lnTo>
                    <a:pt x="2674" y="1091"/>
                  </a:lnTo>
                  <a:lnTo>
                    <a:pt x="2636" y="1057"/>
                  </a:lnTo>
                  <a:lnTo>
                    <a:pt x="2588" y="1018"/>
                  </a:lnTo>
                  <a:lnTo>
                    <a:pt x="2532" y="975"/>
                  </a:lnTo>
                  <a:lnTo>
                    <a:pt x="2471" y="930"/>
                  </a:lnTo>
                  <a:lnTo>
                    <a:pt x="2436" y="906"/>
                  </a:lnTo>
                  <a:lnTo>
                    <a:pt x="2402" y="883"/>
                  </a:lnTo>
                  <a:lnTo>
                    <a:pt x="2367" y="861"/>
                  </a:lnTo>
                  <a:lnTo>
                    <a:pt x="2329" y="838"/>
                  </a:lnTo>
                  <a:lnTo>
                    <a:pt x="2313" y="827"/>
                  </a:lnTo>
                  <a:lnTo>
                    <a:pt x="2296" y="818"/>
                  </a:lnTo>
                  <a:lnTo>
                    <a:pt x="2277" y="809"/>
                  </a:lnTo>
                  <a:lnTo>
                    <a:pt x="2259" y="801"/>
                  </a:lnTo>
                  <a:lnTo>
                    <a:pt x="2221" y="785"/>
                  </a:lnTo>
                  <a:lnTo>
                    <a:pt x="2184" y="771"/>
                  </a:lnTo>
                  <a:lnTo>
                    <a:pt x="2145" y="760"/>
                  </a:lnTo>
                  <a:lnTo>
                    <a:pt x="2106" y="750"/>
                  </a:lnTo>
                  <a:lnTo>
                    <a:pt x="2068" y="741"/>
                  </a:lnTo>
                  <a:lnTo>
                    <a:pt x="2032" y="733"/>
                  </a:lnTo>
                  <a:lnTo>
                    <a:pt x="1996" y="727"/>
                  </a:lnTo>
                  <a:lnTo>
                    <a:pt x="1963" y="721"/>
                  </a:lnTo>
                  <a:lnTo>
                    <a:pt x="1933" y="717"/>
                  </a:lnTo>
                  <a:lnTo>
                    <a:pt x="1906" y="714"/>
                  </a:lnTo>
                  <a:lnTo>
                    <a:pt x="1864" y="710"/>
                  </a:lnTo>
                  <a:lnTo>
                    <a:pt x="1842" y="709"/>
                  </a:lnTo>
                  <a:lnTo>
                    <a:pt x="1862" y="635"/>
                  </a:lnTo>
                  <a:close/>
                  <a:moveTo>
                    <a:pt x="2480" y="4113"/>
                  </a:moveTo>
                  <a:lnTo>
                    <a:pt x="2480" y="4078"/>
                  </a:lnTo>
                  <a:lnTo>
                    <a:pt x="2486" y="4068"/>
                  </a:lnTo>
                  <a:lnTo>
                    <a:pt x="2490" y="4055"/>
                  </a:lnTo>
                  <a:lnTo>
                    <a:pt x="2494" y="4041"/>
                  </a:lnTo>
                  <a:lnTo>
                    <a:pt x="2497" y="4028"/>
                  </a:lnTo>
                  <a:lnTo>
                    <a:pt x="2502" y="3998"/>
                  </a:lnTo>
                  <a:lnTo>
                    <a:pt x="2507" y="3969"/>
                  </a:lnTo>
                  <a:lnTo>
                    <a:pt x="2510" y="3956"/>
                  </a:lnTo>
                  <a:lnTo>
                    <a:pt x="2512" y="3943"/>
                  </a:lnTo>
                  <a:lnTo>
                    <a:pt x="2515" y="3932"/>
                  </a:lnTo>
                  <a:lnTo>
                    <a:pt x="2520" y="3921"/>
                  </a:lnTo>
                  <a:lnTo>
                    <a:pt x="2524" y="3913"/>
                  </a:lnTo>
                  <a:lnTo>
                    <a:pt x="2531" y="3906"/>
                  </a:lnTo>
                  <a:lnTo>
                    <a:pt x="2535" y="3904"/>
                  </a:lnTo>
                  <a:lnTo>
                    <a:pt x="2538" y="3903"/>
                  </a:lnTo>
                  <a:lnTo>
                    <a:pt x="2542" y="3902"/>
                  </a:lnTo>
                  <a:lnTo>
                    <a:pt x="2546" y="3902"/>
                  </a:lnTo>
                  <a:lnTo>
                    <a:pt x="2579" y="3903"/>
                  </a:lnTo>
                  <a:lnTo>
                    <a:pt x="2579" y="3919"/>
                  </a:lnTo>
                  <a:lnTo>
                    <a:pt x="2580" y="3929"/>
                  </a:lnTo>
                  <a:lnTo>
                    <a:pt x="2582" y="3937"/>
                  </a:lnTo>
                  <a:lnTo>
                    <a:pt x="2584" y="3943"/>
                  </a:lnTo>
                  <a:lnTo>
                    <a:pt x="2585" y="3949"/>
                  </a:lnTo>
                  <a:lnTo>
                    <a:pt x="2587" y="3956"/>
                  </a:lnTo>
                  <a:lnTo>
                    <a:pt x="2587" y="3964"/>
                  </a:lnTo>
                  <a:lnTo>
                    <a:pt x="2587" y="3976"/>
                  </a:lnTo>
                  <a:lnTo>
                    <a:pt x="2586" y="3988"/>
                  </a:lnTo>
                  <a:lnTo>
                    <a:pt x="2585" y="3996"/>
                  </a:lnTo>
                  <a:lnTo>
                    <a:pt x="2583" y="4002"/>
                  </a:lnTo>
                  <a:lnTo>
                    <a:pt x="2580" y="4008"/>
                  </a:lnTo>
                  <a:lnTo>
                    <a:pt x="2579" y="4014"/>
                  </a:lnTo>
                  <a:lnTo>
                    <a:pt x="2577" y="4021"/>
                  </a:lnTo>
                  <a:lnTo>
                    <a:pt x="2575" y="4032"/>
                  </a:lnTo>
                  <a:lnTo>
                    <a:pt x="2574" y="4047"/>
                  </a:lnTo>
                  <a:lnTo>
                    <a:pt x="2566" y="4039"/>
                  </a:lnTo>
                  <a:lnTo>
                    <a:pt x="2495" y="4096"/>
                  </a:lnTo>
                  <a:lnTo>
                    <a:pt x="2503" y="4104"/>
                  </a:lnTo>
                  <a:lnTo>
                    <a:pt x="2480" y="4113"/>
                  </a:lnTo>
                  <a:close/>
                </a:path>
              </a:pathLst>
            </a:custGeom>
            <a:grpFill/>
            <a:ln>
              <a:noFill/>
            </a:ln>
          </p:spPr>
          <p:txBody>
            <a:bodyPr vert="horz" anchor="t" wrap="square" tIns="45720" lIns="91440" bIns="45720" rIns="91440">
              <a:prstTxWarp prst="textNoShape">
                <a:avLst/>
              </a:prstTxWarp>
            </a:bodyPr>
            <a:p>
              <a:pPr fontAlgn="auto" algn="l" indent="0" marR="0" marL="0">
                <a:lnSpc>
                  <a:spcPct val="100000"/>
                </a:lnSpc>
                <a:spcBef>
                  <a:spcPct val="0"/>
                </a:spcBef>
                <a:spcAft>
                  <a:spcPct val="0"/>
                </a:spcAft>
                <a:buNone/>
              </a:pPr>
            </a:p>
          </p:txBody>
        </p:sp>
        <p:sp>
          <p:nvSpPr>
            <p:cNvPr name="Freeform 12" id="12"/>
            <p:cNvSpPr/>
            <p:nvPr/>
          </p:nvSpPr>
          <p:spPr>
            <a:xfrm>
              <a:off x="6556377" y="1581152"/>
              <a:ext cx="88900" cy="638175"/>
            </a:xfrm>
            <a:custGeom>
              <a:avLst/>
              <a:gdLst/>
              <a:ahLst/>
              <a:cxnLst/>
              <a:rect r="r" b="b" t="t" l="l"/>
              <a:pathLst>
                <a:path w="334" h="2412" stroke="true" fill="norm" extrusionOk="true">
                  <a:moveTo>
                    <a:pt x="105" y="0"/>
                  </a:moveTo>
                  <a:lnTo>
                    <a:pt x="0" y="2012"/>
                  </a:lnTo>
                  <a:lnTo>
                    <a:pt x="187" y="2412"/>
                  </a:lnTo>
                  <a:lnTo>
                    <a:pt x="334" y="2129"/>
                  </a:lnTo>
                  <a:lnTo>
                    <a:pt x="229" y="8"/>
                  </a:lnTo>
                  <a:lnTo>
                    <a:pt x="105" y="0"/>
                  </a:lnTo>
                  <a:close/>
                </a:path>
              </a:pathLst>
            </a:custGeom>
            <a:solidFill>
              <a:srgbClr val="FFFFFF"/>
            </a:solidFill>
            <a:ln>
              <a:noFill/>
            </a:ln>
          </p:spPr>
          <p:txBody>
            <a:bodyPr vert="horz" anchor="t" wrap="square" tIns="45720" lIns="91440" bIns="45720" rIns="91440">
              <a:prstTxWarp prst="textNoShape">
                <a:avLst/>
              </a:prstTxWarp>
            </a:bodyPr>
            <a:p>
              <a:pPr fontAlgn="auto" algn="l" indent="0" marR="0" marL="0">
                <a:lnSpc>
                  <a:spcPct val="100000"/>
                </a:lnSpc>
                <a:spcBef>
                  <a:spcPct val="0"/>
                </a:spcBef>
                <a:spcAft>
                  <a:spcPct val="0"/>
                </a:spcAft>
                <a:buNone/>
              </a:pPr>
            </a:p>
          </p:txBody>
        </p:sp>
        <p:sp>
          <p:nvSpPr>
            <p:cNvPr name="Freeform 13" id="13"/>
            <p:cNvSpPr/>
            <p:nvPr/>
          </p:nvSpPr>
          <p:spPr>
            <a:xfrm>
              <a:off x="6702427" y="1119189"/>
              <a:ext cx="115888" cy="93663"/>
            </a:xfrm>
            <a:custGeom>
              <a:avLst/>
              <a:gdLst/>
              <a:ahLst/>
              <a:cxnLst/>
              <a:rect r="r" b="b" t="t" l="l"/>
              <a:pathLst>
                <a:path w="440" h="354" stroke="true" fill="norm" extrusionOk="true">
                  <a:moveTo>
                    <a:pt x="0" y="354"/>
                  </a:moveTo>
                  <a:lnTo>
                    <a:pt x="2" y="326"/>
                  </a:lnTo>
                  <a:lnTo>
                    <a:pt x="5" y="298"/>
                  </a:lnTo>
                  <a:lnTo>
                    <a:pt x="9" y="271"/>
                  </a:lnTo>
                  <a:lnTo>
                    <a:pt x="15" y="245"/>
                  </a:lnTo>
                  <a:lnTo>
                    <a:pt x="23" y="221"/>
                  </a:lnTo>
                  <a:lnTo>
                    <a:pt x="32" y="196"/>
                  </a:lnTo>
                  <a:lnTo>
                    <a:pt x="43" y="173"/>
                  </a:lnTo>
                  <a:lnTo>
                    <a:pt x="56" y="150"/>
                  </a:lnTo>
                  <a:lnTo>
                    <a:pt x="64" y="140"/>
                  </a:lnTo>
                  <a:lnTo>
                    <a:pt x="72" y="130"/>
                  </a:lnTo>
                  <a:lnTo>
                    <a:pt x="80" y="119"/>
                  </a:lnTo>
                  <a:lnTo>
                    <a:pt x="89" y="109"/>
                  </a:lnTo>
                  <a:lnTo>
                    <a:pt x="99" y="99"/>
                  </a:lnTo>
                  <a:lnTo>
                    <a:pt x="110" y="90"/>
                  </a:lnTo>
                  <a:lnTo>
                    <a:pt x="121" y="80"/>
                  </a:lnTo>
                  <a:lnTo>
                    <a:pt x="133" y="71"/>
                  </a:lnTo>
                  <a:lnTo>
                    <a:pt x="145" y="62"/>
                  </a:lnTo>
                  <a:lnTo>
                    <a:pt x="159" y="54"/>
                  </a:lnTo>
                  <a:lnTo>
                    <a:pt x="173" y="45"/>
                  </a:lnTo>
                  <a:lnTo>
                    <a:pt x="187" y="37"/>
                  </a:lnTo>
                  <a:lnTo>
                    <a:pt x="202" y="30"/>
                  </a:lnTo>
                  <a:lnTo>
                    <a:pt x="219" y="22"/>
                  </a:lnTo>
                  <a:lnTo>
                    <a:pt x="237" y="15"/>
                  </a:lnTo>
                  <a:lnTo>
                    <a:pt x="254" y="8"/>
                  </a:lnTo>
                  <a:lnTo>
                    <a:pt x="273" y="5"/>
                  </a:lnTo>
                  <a:lnTo>
                    <a:pt x="290" y="3"/>
                  </a:lnTo>
                  <a:lnTo>
                    <a:pt x="308" y="2"/>
                  </a:lnTo>
                  <a:lnTo>
                    <a:pt x="322" y="0"/>
                  </a:lnTo>
                  <a:lnTo>
                    <a:pt x="337" y="2"/>
                  </a:lnTo>
                  <a:lnTo>
                    <a:pt x="351" y="3"/>
                  </a:lnTo>
                  <a:lnTo>
                    <a:pt x="362" y="5"/>
                  </a:lnTo>
                  <a:lnTo>
                    <a:pt x="374" y="7"/>
                  </a:lnTo>
                  <a:lnTo>
                    <a:pt x="384" y="12"/>
                  </a:lnTo>
                  <a:lnTo>
                    <a:pt x="393" y="15"/>
                  </a:lnTo>
                  <a:lnTo>
                    <a:pt x="402" y="21"/>
                  </a:lnTo>
                  <a:lnTo>
                    <a:pt x="409" y="27"/>
                  </a:lnTo>
                  <a:lnTo>
                    <a:pt x="416" y="32"/>
                  </a:lnTo>
                  <a:lnTo>
                    <a:pt x="422" y="39"/>
                  </a:lnTo>
                  <a:lnTo>
                    <a:pt x="426" y="46"/>
                  </a:lnTo>
                  <a:lnTo>
                    <a:pt x="431" y="54"/>
                  </a:lnTo>
                  <a:lnTo>
                    <a:pt x="434" y="62"/>
                  </a:lnTo>
                  <a:lnTo>
                    <a:pt x="437" y="70"/>
                  </a:lnTo>
                  <a:lnTo>
                    <a:pt x="439" y="79"/>
                  </a:lnTo>
                  <a:lnTo>
                    <a:pt x="440" y="88"/>
                  </a:lnTo>
                  <a:lnTo>
                    <a:pt x="440" y="99"/>
                  </a:lnTo>
                  <a:lnTo>
                    <a:pt x="440" y="108"/>
                  </a:lnTo>
                  <a:lnTo>
                    <a:pt x="439" y="118"/>
                  </a:lnTo>
                  <a:lnTo>
                    <a:pt x="438" y="128"/>
                  </a:lnTo>
                  <a:lnTo>
                    <a:pt x="433" y="149"/>
                  </a:lnTo>
                  <a:lnTo>
                    <a:pt x="426" y="170"/>
                  </a:lnTo>
                  <a:lnTo>
                    <a:pt x="417" y="191"/>
                  </a:lnTo>
                  <a:lnTo>
                    <a:pt x="407" y="212"/>
                  </a:lnTo>
                  <a:lnTo>
                    <a:pt x="397" y="216"/>
                  </a:lnTo>
                  <a:lnTo>
                    <a:pt x="386" y="221"/>
                  </a:lnTo>
                  <a:lnTo>
                    <a:pt x="375" y="224"/>
                  </a:lnTo>
                  <a:lnTo>
                    <a:pt x="364" y="228"/>
                  </a:lnTo>
                  <a:lnTo>
                    <a:pt x="341" y="231"/>
                  </a:lnTo>
                  <a:lnTo>
                    <a:pt x="317" y="235"/>
                  </a:lnTo>
                  <a:lnTo>
                    <a:pt x="265" y="237"/>
                  </a:lnTo>
                  <a:lnTo>
                    <a:pt x="211" y="240"/>
                  </a:lnTo>
                  <a:lnTo>
                    <a:pt x="184" y="244"/>
                  </a:lnTo>
                  <a:lnTo>
                    <a:pt x="157" y="250"/>
                  </a:lnTo>
                  <a:lnTo>
                    <a:pt x="143" y="253"/>
                  </a:lnTo>
                  <a:lnTo>
                    <a:pt x="129" y="256"/>
                  </a:lnTo>
                  <a:lnTo>
                    <a:pt x="115" y="262"/>
                  </a:lnTo>
                  <a:lnTo>
                    <a:pt x="102" y="268"/>
                  </a:lnTo>
                  <a:lnTo>
                    <a:pt x="89" y="275"/>
                  </a:lnTo>
                  <a:lnTo>
                    <a:pt x="75" y="283"/>
                  </a:lnTo>
                  <a:lnTo>
                    <a:pt x="63" y="291"/>
                  </a:lnTo>
                  <a:lnTo>
                    <a:pt x="49" y="301"/>
                  </a:lnTo>
                  <a:lnTo>
                    <a:pt x="37" y="312"/>
                  </a:lnTo>
                  <a:lnTo>
                    <a:pt x="24" y="325"/>
                  </a:lnTo>
                  <a:lnTo>
                    <a:pt x="13" y="339"/>
                  </a:lnTo>
                  <a:lnTo>
                    <a:pt x="0" y="354"/>
                  </a:lnTo>
                  <a:close/>
                </a:path>
              </a:pathLst>
            </a:custGeom>
            <a:grpFill/>
            <a:ln>
              <a:noFill/>
            </a:ln>
          </p:spPr>
          <p:txBody>
            <a:bodyPr vert="horz" anchor="t" wrap="square" tIns="45720" lIns="91440" bIns="45720" rIns="91440">
              <a:prstTxWarp prst="textNoShape">
                <a:avLst/>
              </a:prstTxWarp>
            </a:bodyPr>
            <a:p>
              <a:pPr fontAlgn="auto" algn="l" indent="0" marR="0" marL="0">
                <a:lnSpc>
                  <a:spcPct val="100000"/>
                </a:lnSpc>
                <a:spcBef>
                  <a:spcPct val="0"/>
                </a:spcBef>
                <a:spcAft>
                  <a:spcPct val="0"/>
                </a:spcAft>
                <a:buNone/>
              </a:pPr>
            </a:p>
          </p:txBody>
        </p:sp>
        <p:sp>
          <p:nvSpPr>
            <p:cNvPr name="Freeform 14" id="14"/>
            <p:cNvSpPr/>
            <p:nvPr/>
          </p:nvSpPr>
          <p:spPr>
            <a:xfrm>
              <a:off x="6702427" y="1119189"/>
              <a:ext cx="115888" cy="93663"/>
            </a:xfrm>
            <a:custGeom>
              <a:avLst/>
              <a:gdLst/>
              <a:ahLst/>
              <a:cxnLst/>
              <a:rect r="r" b="b" t="t" l="l"/>
              <a:pathLst>
                <a:path w="440" h="354" stroke="true" fill="norm" extrusionOk="true">
                  <a:moveTo>
                    <a:pt x="0" y="354"/>
                  </a:moveTo>
                  <a:lnTo>
                    <a:pt x="2" y="326"/>
                  </a:lnTo>
                  <a:lnTo>
                    <a:pt x="5" y="298"/>
                  </a:lnTo>
                  <a:lnTo>
                    <a:pt x="9" y="271"/>
                  </a:lnTo>
                  <a:lnTo>
                    <a:pt x="15" y="245"/>
                  </a:lnTo>
                  <a:lnTo>
                    <a:pt x="23" y="221"/>
                  </a:lnTo>
                  <a:lnTo>
                    <a:pt x="32" y="196"/>
                  </a:lnTo>
                  <a:lnTo>
                    <a:pt x="43" y="173"/>
                  </a:lnTo>
                  <a:lnTo>
                    <a:pt x="56" y="150"/>
                  </a:lnTo>
                  <a:lnTo>
                    <a:pt x="64" y="140"/>
                  </a:lnTo>
                  <a:lnTo>
                    <a:pt x="72" y="130"/>
                  </a:lnTo>
                  <a:lnTo>
                    <a:pt x="80" y="119"/>
                  </a:lnTo>
                  <a:lnTo>
                    <a:pt x="89" y="109"/>
                  </a:lnTo>
                  <a:lnTo>
                    <a:pt x="99" y="99"/>
                  </a:lnTo>
                  <a:lnTo>
                    <a:pt x="110" y="90"/>
                  </a:lnTo>
                  <a:lnTo>
                    <a:pt x="121" y="80"/>
                  </a:lnTo>
                  <a:lnTo>
                    <a:pt x="133" y="71"/>
                  </a:lnTo>
                  <a:lnTo>
                    <a:pt x="145" y="62"/>
                  </a:lnTo>
                  <a:lnTo>
                    <a:pt x="159" y="54"/>
                  </a:lnTo>
                  <a:lnTo>
                    <a:pt x="173" y="45"/>
                  </a:lnTo>
                  <a:lnTo>
                    <a:pt x="187" y="37"/>
                  </a:lnTo>
                  <a:lnTo>
                    <a:pt x="202" y="30"/>
                  </a:lnTo>
                  <a:lnTo>
                    <a:pt x="219" y="22"/>
                  </a:lnTo>
                  <a:lnTo>
                    <a:pt x="237" y="15"/>
                  </a:lnTo>
                  <a:lnTo>
                    <a:pt x="254" y="8"/>
                  </a:lnTo>
                  <a:lnTo>
                    <a:pt x="273" y="5"/>
                  </a:lnTo>
                  <a:lnTo>
                    <a:pt x="290" y="3"/>
                  </a:lnTo>
                  <a:lnTo>
                    <a:pt x="308" y="2"/>
                  </a:lnTo>
                  <a:lnTo>
                    <a:pt x="322" y="0"/>
                  </a:lnTo>
                  <a:lnTo>
                    <a:pt x="337" y="2"/>
                  </a:lnTo>
                  <a:lnTo>
                    <a:pt x="351" y="3"/>
                  </a:lnTo>
                  <a:lnTo>
                    <a:pt x="362" y="5"/>
                  </a:lnTo>
                  <a:lnTo>
                    <a:pt x="374" y="7"/>
                  </a:lnTo>
                  <a:lnTo>
                    <a:pt x="384" y="12"/>
                  </a:lnTo>
                  <a:lnTo>
                    <a:pt x="393" y="15"/>
                  </a:lnTo>
                  <a:lnTo>
                    <a:pt x="402" y="21"/>
                  </a:lnTo>
                  <a:lnTo>
                    <a:pt x="409" y="27"/>
                  </a:lnTo>
                  <a:lnTo>
                    <a:pt x="416" y="32"/>
                  </a:lnTo>
                  <a:lnTo>
                    <a:pt x="422" y="39"/>
                  </a:lnTo>
                  <a:lnTo>
                    <a:pt x="426" y="46"/>
                  </a:lnTo>
                  <a:lnTo>
                    <a:pt x="431" y="54"/>
                  </a:lnTo>
                  <a:lnTo>
                    <a:pt x="434" y="62"/>
                  </a:lnTo>
                  <a:lnTo>
                    <a:pt x="437" y="70"/>
                  </a:lnTo>
                  <a:lnTo>
                    <a:pt x="439" y="79"/>
                  </a:lnTo>
                  <a:lnTo>
                    <a:pt x="440" y="88"/>
                  </a:lnTo>
                  <a:lnTo>
                    <a:pt x="440" y="99"/>
                  </a:lnTo>
                  <a:lnTo>
                    <a:pt x="440" y="108"/>
                  </a:lnTo>
                  <a:lnTo>
                    <a:pt x="439" y="118"/>
                  </a:lnTo>
                  <a:lnTo>
                    <a:pt x="438" y="128"/>
                  </a:lnTo>
                  <a:lnTo>
                    <a:pt x="433" y="149"/>
                  </a:lnTo>
                  <a:lnTo>
                    <a:pt x="426" y="170"/>
                  </a:lnTo>
                  <a:lnTo>
                    <a:pt x="417" y="191"/>
                  </a:lnTo>
                  <a:lnTo>
                    <a:pt x="407" y="212"/>
                  </a:lnTo>
                  <a:lnTo>
                    <a:pt x="397" y="216"/>
                  </a:lnTo>
                  <a:lnTo>
                    <a:pt x="386" y="221"/>
                  </a:lnTo>
                  <a:lnTo>
                    <a:pt x="375" y="224"/>
                  </a:lnTo>
                  <a:lnTo>
                    <a:pt x="364" y="228"/>
                  </a:lnTo>
                  <a:lnTo>
                    <a:pt x="341" y="231"/>
                  </a:lnTo>
                  <a:lnTo>
                    <a:pt x="317" y="235"/>
                  </a:lnTo>
                  <a:lnTo>
                    <a:pt x="265" y="237"/>
                  </a:lnTo>
                  <a:lnTo>
                    <a:pt x="211" y="240"/>
                  </a:lnTo>
                  <a:lnTo>
                    <a:pt x="184" y="244"/>
                  </a:lnTo>
                  <a:lnTo>
                    <a:pt x="157" y="250"/>
                  </a:lnTo>
                  <a:lnTo>
                    <a:pt x="143" y="253"/>
                  </a:lnTo>
                  <a:lnTo>
                    <a:pt x="129" y="256"/>
                  </a:lnTo>
                  <a:lnTo>
                    <a:pt x="115" y="262"/>
                  </a:lnTo>
                  <a:lnTo>
                    <a:pt x="102" y="268"/>
                  </a:lnTo>
                  <a:lnTo>
                    <a:pt x="89" y="275"/>
                  </a:lnTo>
                  <a:lnTo>
                    <a:pt x="75" y="283"/>
                  </a:lnTo>
                  <a:lnTo>
                    <a:pt x="63" y="291"/>
                  </a:lnTo>
                  <a:lnTo>
                    <a:pt x="49" y="301"/>
                  </a:lnTo>
                  <a:lnTo>
                    <a:pt x="37" y="312"/>
                  </a:lnTo>
                  <a:lnTo>
                    <a:pt x="24" y="325"/>
                  </a:lnTo>
                  <a:lnTo>
                    <a:pt x="13" y="339"/>
                  </a:lnTo>
                  <a:lnTo>
                    <a:pt x="0" y="354"/>
                  </a:lnTo>
                  <a:close/>
                </a:path>
              </a:pathLst>
            </a:custGeom>
            <a:grpFill/>
            <a:ln>
              <a:noFill/>
              <a:prstDash val="solid"/>
            </a:ln>
          </p:spPr>
          <p:txBody>
            <a:bodyPr vert="horz" anchor="t" wrap="square" tIns="45720" lIns="91440" bIns="45720" rIns="91440">
              <a:prstTxWarp prst="textNoShape">
                <a:avLst/>
              </a:prstTxWarp>
            </a:bodyPr>
            <a:p>
              <a:pPr fontAlgn="auto" algn="l" indent="0" marR="0" marL="0">
                <a:lnSpc>
                  <a:spcPct val="100000"/>
                </a:lnSpc>
                <a:spcBef>
                  <a:spcPct val="0"/>
                </a:spcBef>
                <a:spcAft>
                  <a:spcPct val="0"/>
                </a:spcAft>
                <a:buNone/>
              </a:pPr>
            </a:p>
          </p:txBody>
        </p:sp>
        <p:sp>
          <p:nvSpPr>
            <p:cNvPr name="Freeform 15" id="15"/>
            <p:cNvSpPr/>
            <p:nvPr/>
          </p:nvSpPr>
          <p:spPr>
            <a:xfrm>
              <a:off x="6416677" y="1146177"/>
              <a:ext cx="68263" cy="55563"/>
            </a:xfrm>
            <a:custGeom>
              <a:avLst/>
              <a:gdLst/>
              <a:ahLst/>
              <a:cxnLst/>
              <a:rect r="r" b="b" t="t" l="l"/>
              <a:pathLst>
                <a:path w="258" h="208" stroke="true" fill="norm" extrusionOk="true">
                  <a:moveTo>
                    <a:pt x="258" y="208"/>
                  </a:moveTo>
                  <a:lnTo>
                    <a:pt x="257" y="191"/>
                  </a:lnTo>
                  <a:lnTo>
                    <a:pt x="256" y="175"/>
                  </a:lnTo>
                  <a:lnTo>
                    <a:pt x="253" y="159"/>
                  </a:lnTo>
                  <a:lnTo>
                    <a:pt x="250" y="144"/>
                  </a:lnTo>
                  <a:lnTo>
                    <a:pt x="245" y="130"/>
                  </a:lnTo>
                  <a:lnTo>
                    <a:pt x="240" y="116"/>
                  </a:lnTo>
                  <a:lnTo>
                    <a:pt x="233" y="102"/>
                  </a:lnTo>
                  <a:lnTo>
                    <a:pt x="226" y="88"/>
                  </a:lnTo>
                  <a:lnTo>
                    <a:pt x="217" y="76"/>
                  </a:lnTo>
                  <a:lnTo>
                    <a:pt x="207" y="64"/>
                  </a:lnTo>
                  <a:lnTo>
                    <a:pt x="194" y="53"/>
                  </a:lnTo>
                  <a:lnTo>
                    <a:pt x="180" y="42"/>
                  </a:lnTo>
                  <a:lnTo>
                    <a:pt x="165" y="31"/>
                  </a:lnTo>
                  <a:lnTo>
                    <a:pt x="148" y="22"/>
                  </a:lnTo>
                  <a:lnTo>
                    <a:pt x="130" y="13"/>
                  </a:lnTo>
                  <a:lnTo>
                    <a:pt x="109" y="5"/>
                  </a:lnTo>
                  <a:lnTo>
                    <a:pt x="88" y="2"/>
                  </a:lnTo>
                  <a:lnTo>
                    <a:pt x="68" y="0"/>
                  </a:lnTo>
                  <a:lnTo>
                    <a:pt x="52" y="2"/>
                  </a:lnTo>
                  <a:lnTo>
                    <a:pt x="38" y="5"/>
                  </a:lnTo>
                  <a:lnTo>
                    <a:pt x="33" y="7"/>
                  </a:lnTo>
                  <a:lnTo>
                    <a:pt x="27" y="10"/>
                  </a:lnTo>
                  <a:lnTo>
                    <a:pt x="22" y="12"/>
                  </a:lnTo>
                  <a:lnTo>
                    <a:pt x="18" y="15"/>
                  </a:lnTo>
                  <a:lnTo>
                    <a:pt x="13" y="19"/>
                  </a:lnTo>
                  <a:lnTo>
                    <a:pt x="10" y="23"/>
                  </a:lnTo>
                  <a:lnTo>
                    <a:pt x="8" y="28"/>
                  </a:lnTo>
                  <a:lnTo>
                    <a:pt x="5" y="32"/>
                  </a:lnTo>
                  <a:lnTo>
                    <a:pt x="2" y="42"/>
                  </a:lnTo>
                  <a:lnTo>
                    <a:pt x="0" y="53"/>
                  </a:lnTo>
                  <a:lnTo>
                    <a:pt x="0" y="63"/>
                  </a:lnTo>
                  <a:lnTo>
                    <a:pt x="1" y="76"/>
                  </a:lnTo>
                  <a:lnTo>
                    <a:pt x="4" y="87"/>
                  </a:lnTo>
                  <a:lnTo>
                    <a:pt x="8" y="100"/>
                  </a:lnTo>
                  <a:lnTo>
                    <a:pt x="13" y="112"/>
                  </a:lnTo>
                  <a:lnTo>
                    <a:pt x="19" y="125"/>
                  </a:lnTo>
                  <a:lnTo>
                    <a:pt x="32" y="130"/>
                  </a:lnTo>
                  <a:lnTo>
                    <a:pt x="44" y="134"/>
                  </a:lnTo>
                  <a:lnTo>
                    <a:pt x="58" y="136"/>
                  </a:lnTo>
                  <a:lnTo>
                    <a:pt x="73" y="138"/>
                  </a:lnTo>
                  <a:lnTo>
                    <a:pt x="102" y="140"/>
                  </a:lnTo>
                  <a:lnTo>
                    <a:pt x="135" y="142"/>
                  </a:lnTo>
                  <a:lnTo>
                    <a:pt x="151" y="143"/>
                  </a:lnTo>
                  <a:lnTo>
                    <a:pt x="167" y="147"/>
                  </a:lnTo>
                  <a:lnTo>
                    <a:pt x="183" y="151"/>
                  </a:lnTo>
                  <a:lnTo>
                    <a:pt x="199" y="158"/>
                  </a:lnTo>
                  <a:lnTo>
                    <a:pt x="207" y="162"/>
                  </a:lnTo>
                  <a:lnTo>
                    <a:pt x="215" y="166"/>
                  </a:lnTo>
                  <a:lnTo>
                    <a:pt x="221" y="172"/>
                  </a:lnTo>
                  <a:lnTo>
                    <a:pt x="229" y="178"/>
                  </a:lnTo>
                  <a:lnTo>
                    <a:pt x="237" y="184"/>
                  </a:lnTo>
                  <a:lnTo>
                    <a:pt x="244" y="191"/>
                  </a:lnTo>
                  <a:lnTo>
                    <a:pt x="251" y="199"/>
                  </a:lnTo>
                  <a:lnTo>
                    <a:pt x="258" y="208"/>
                  </a:lnTo>
                  <a:close/>
                </a:path>
              </a:pathLst>
            </a:custGeom>
            <a:grpFill/>
            <a:ln>
              <a:noFill/>
            </a:ln>
          </p:spPr>
          <p:txBody>
            <a:bodyPr vert="horz" anchor="t" wrap="square" tIns="45720" lIns="91440" bIns="45720" rIns="91440">
              <a:prstTxWarp prst="textNoShape">
                <a:avLst/>
              </a:prstTxWarp>
            </a:bodyPr>
            <a:p>
              <a:pPr fontAlgn="auto" algn="l" indent="0" marR="0" marL="0">
                <a:lnSpc>
                  <a:spcPct val="100000"/>
                </a:lnSpc>
                <a:spcBef>
                  <a:spcPct val="0"/>
                </a:spcBef>
                <a:spcAft>
                  <a:spcPct val="0"/>
                </a:spcAft>
                <a:buNone/>
              </a:pPr>
            </a:p>
          </p:txBody>
        </p:sp>
        <p:sp>
          <p:nvSpPr>
            <p:cNvPr name="Freeform 16" id="16"/>
            <p:cNvSpPr/>
            <p:nvPr/>
          </p:nvSpPr>
          <p:spPr>
            <a:xfrm>
              <a:off x="6416677" y="1146177"/>
              <a:ext cx="68263" cy="55563"/>
            </a:xfrm>
            <a:custGeom>
              <a:avLst/>
              <a:gdLst/>
              <a:ahLst/>
              <a:cxnLst/>
              <a:rect r="r" b="b" t="t" l="l"/>
              <a:pathLst>
                <a:path w="258" h="208" stroke="true" fill="norm" extrusionOk="true">
                  <a:moveTo>
                    <a:pt x="258" y="208"/>
                  </a:moveTo>
                  <a:lnTo>
                    <a:pt x="257" y="191"/>
                  </a:lnTo>
                  <a:lnTo>
                    <a:pt x="256" y="175"/>
                  </a:lnTo>
                  <a:lnTo>
                    <a:pt x="253" y="159"/>
                  </a:lnTo>
                  <a:lnTo>
                    <a:pt x="250" y="144"/>
                  </a:lnTo>
                  <a:lnTo>
                    <a:pt x="245" y="130"/>
                  </a:lnTo>
                  <a:lnTo>
                    <a:pt x="240" y="116"/>
                  </a:lnTo>
                  <a:lnTo>
                    <a:pt x="233" y="102"/>
                  </a:lnTo>
                  <a:lnTo>
                    <a:pt x="226" y="88"/>
                  </a:lnTo>
                  <a:lnTo>
                    <a:pt x="217" y="76"/>
                  </a:lnTo>
                  <a:lnTo>
                    <a:pt x="207" y="64"/>
                  </a:lnTo>
                  <a:lnTo>
                    <a:pt x="194" y="53"/>
                  </a:lnTo>
                  <a:lnTo>
                    <a:pt x="180" y="42"/>
                  </a:lnTo>
                  <a:lnTo>
                    <a:pt x="165" y="31"/>
                  </a:lnTo>
                  <a:lnTo>
                    <a:pt x="148" y="22"/>
                  </a:lnTo>
                  <a:lnTo>
                    <a:pt x="130" y="13"/>
                  </a:lnTo>
                  <a:lnTo>
                    <a:pt x="109" y="5"/>
                  </a:lnTo>
                  <a:lnTo>
                    <a:pt x="88" y="2"/>
                  </a:lnTo>
                  <a:lnTo>
                    <a:pt x="68" y="0"/>
                  </a:lnTo>
                  <a:lnTo>
                    <a:pt x="52" y="2"/>
                  </a:lnTo>
                  <a:lnTo>
                    <a:pt x="38" y="5"/>
                  </a:lnTo>
                  <a:lnTo>
                    <a:pt x="33" y="7"/>
                  </a:lnTo>
                  <a:lnTo>
                    <a:pt x="27" y="10"/>
                  </a:lnTo>
                  <a:lnTo>
                    <a:pt x="22" y="12"/>
                  </a:lnTo>
                  <a:lnTo>
                    <a:pt x="18" y="15"/>
                  </a:lnTo>
                  <a:lnTo>
                    <a:pt x="13" y="19"/>
                  </a:lnTo>
                  <a:lnTo>
                    <a:pt x="10" y="23"/>
                  </a:lnTo>
                  <a:lnTo>
                    <a:pt x="8" y="28"/>
                  </a:lnTo>
                  <a:lnTo>
                    <a:pt x="5" y="32"/>
                  </a:lnTo>
                  <a:lnTo>
                    <a:pt x="2" y="42"/>
                  </a:lnTo>
                  <a:lnTo>
                    <a:pt x="0" y="53"/>
                  </a:lnTo>
                  <a:lnTo>
                    <a:pt x="0" y="63"/>
                  </a:lnTo>
                  <a:lnTo>
                    <a:pt x="1" y="76"/>
                  </a:lnTo>
                  <a:lnTo>
                    <a:pt x="4" y="87"/>
                  </a:lnTo>
                  <a:lnTo>
                    <a:pt x="8" y="100"/>
                  </a:lnTo>
                  <a:lnTo>
                    <a:pt x="13" y="112"/>
                  </a:lnTo>
                  <a:lnTo>
                    <a:pt x="19" y="125"/>
                  </a:lnTo>
                  <a:lnTo>
                    <a:pt x="32" y="130"/>
                  </a:lnTo>
                  <a:lnTo>
                    <a:pt x="44" y="134"/>
                  </a:lnTo>
                  <a:lnTo>
                    <a:pt x="58" y="136"/>
                  </a:lnTo>
                  <a:lnTo>
                    <a:pt x="73" y="138"/>
                  </a:lnTo>
                  <a:lnTo>
                    <a:pt x="102" y="140"/>
                  </a:lnTo>
                  <a:lnTo>
                    <a:pt x="135" y="142"/>
                  </a:lnTo>
                  <a:lnTo>
                    <a:pt x="151" y="143"/>
                  </a:lnTo>
                  <a:lnTo>
                    <a:pt x="167" y="147"/>
                  </a:lnTo>
                  <a:lnTo>
                    <a:pt x="183" y="151"/>
                  </a:lnTo>
                  <a:lnTo>
                    <a:pt x="199" y="158"/>
                  </a:lnTo>
                  <a:lnTo>
                    <a:pt x="207" y="162"/>
                  </a:lnTo>
                  <a:lnTo>
                    <a:pt x="215" y="166"/>
                  </a:lnTo>
                  <a:lnTo>
                    <a:pt x="221" y="172"/>
                  </a:lnTo>
                  <a:lnTo>
                    <a:pt x="229" y="178"/>
                  </a:lnTo>
                  <a:lnTo>
                    <a:pt x="237" y="184"/>
                  </a:lnTo>
                  <a:lnTo>
                    <a:pt x="244" y="191"/>
                  </a:lnTo>
                  <a:lnTo>
                    <a:pt x="251" y="199"/>
                  </a:lnTo>
                  <a:lnTo>
                    <a:pt x="258" y="208"/>
                  </a:lnTo>
                  <a:close/>
                </a:path>
              </a:pathLst>
            </a:custGeom>
            <a:grpFill/>
            <a:ln>
              <a:noFill/>
              <a:prstDash val="solid"/>
            </a:ln>
          </p:spPr>
          <p:txBody>
            <a:bodyPr vert="horz" anchor="t" wrap="square" tIns="45720" lIns="91440" bIns="45720" rIns="91440">
              <a:prstTxWarp prst="textNoShape">
                <a:avLst/>
              </a:prstTxWarp>
            </a:bodyPr>
            <a:p>
              <a:pPr fontAlgn="auto" algn="l" indent="0" marR="0" marL="0">
                <a:lnSpc>
                  <a:spcPct val="100000"/>
                </a:lnSpc>
                <a:spcBef>
                  <a:spcPct val="0"/>
                </a:spcBef>
                <a:spcAft>
                  <a:spcPct val="0"/>
                </a:spcAft>
                <a:buNone/>
              </a:pPr>
            </a:p>
          </p:txBody>
        </p:sp>
      </p:grpSp>
      <p:grpSp>
        <p:nvGrpSpPr>
          <p:cNvPr name="Group 17" id="17"/>
          <p:cNvGrpSpPr/>
          <p:nvPr/>
        </p:nvGrpSpPr>
        <p:grpSpPr>
          <a:xfrm>
            <a:off x="3894438" y="1977382"/>
            <a:ext cx="754991" cy="1332042"/>
            <a:chOff x="1285875" y="1247776"/>
            <a:chExt cx="1192213" cy="2103438"/>
          </a:xfrm>
          <a:solidFill>
            <a:schemeClr val="accent6">
              <a:lumMod val="75000"/>
            </a:schemeClr>
          </a:solidFill>
        </p:grpSpPr>
        <p:sp>
          <p:nvSpPr>
            <p:cNvPr name="Freeform 18" id="18"/>
            <p:cNvSpPr/>
            <p:nvPr/>
          </p:nvSpPr>
          <p:spPr>
            <a:xfrm>
              <a:off x="1285875" y="1247776"/>
              <a:ext cx="1192213" cy="2103438"/>
            </a:xfrm>
            <a:custGeom>
              <a:avLst/>
              <a:gdLst/>
              <a:ahLst/>
              <a:cxnLst/>
              <a:rect r="r" b="b" t="t" l="l"/>
              <a:pathLst>
                <a:path w="4505" h="7953" stroke="true" fill="norm" extrusionOk="true">
                  <a:moveTo>
                    <a:pt x="1305" y="1068"/>
                  </a:moveTo>
                  <a:lnTo>
                    <a:pt x="1294" y="1069"/>
                  </a:lnTo>
                  <a:lnTo>
                    <a:pt x="1283" y="1071"/>
                  </a:lnTo>
                  <a:lnTo>
                    <a:pt x="1273" y="1073"/>
                  </a:lnTo>
                  <a:lnTo>
                    <a:pt x="1263" y="1075"/>
                  </a:lnTo>
                  <a:lnTo>
                    <a:pt x="1254" y="1079"/>
                  </a:lnTo>
                  <a:lnTo>
                    <a:pt x="1246" y="1083"/>
                  </a:lnTo>
                  <a:lnTo>
                    <a:pt x="1238" y="1087"/>
                  </a:lnTo>
                  <a:lnTo>
                    <a:pt x="1231" y="1092"/>
                  </a:lnTo>
                  <a:lnTo>
                    <a:pt x="1219" y="1101"/>
                  </a:lnTo>
                  <a:lnTo>
                    <a:pt x="1206" y="1108"/>
                  </a:lnTo>
                  <a:lnTo>
                    <a:pt x="1196" y="1113"/>
                  </a:lnTo>
                  <a:lnTo>
                    <a:pt x="1186" y="1116"/>
                  </a:lnTo>
                  <a:lnTo>
                    <a:pt x="1177" y="1117"/>
                  </a:lnTo>
                  <a:lnTo>
                    <a:pt x="1169" y="1117"/>
                  </a:lnTo>
                  <a:lnTo>
                    <a:pt x="1161" y="1116"/>
                  </a:lnTo>
                  <a:lnTo>
                    <a:pt x="1153" y="1115"/>
                  </a:lnTo>
                  <a:lnTo>
                    <a:pt x="1146" y="1113"/>
                  </a:lnTo>
                  <a:lnTo>
                    <a:pt x="1139" y="1113"/>
                  </a:lnTo>
                  <a:lnTo>
                    <a:pt x="1132" y="1112"/>
                  </a:lnTo>
                  <a:lnTo>
                    <a:pt x="1124" y="1113"/>
                  </a:lnTo>
                  <a:lnTo>
                    <a:pt x="1117" y="1116"/>
                  </a:lnTo>
                  <a:lnTo>
                    <a:pt x="1109" y="1121"/>
                  </a:lnTo>
                  <a:lnTo>
                    <a:pt x="1101" y="1128"/>
                  </a:lnTo>
                  <a:lnTo>
                    <a:pt x="1092" y="1137"/>
                  </a:lnTo>
                  <a:lnTo>
                    <a:pt x="1075" y="1128"/>
                  </a:lnTo>
                  <a:lnTo>
                    <a:pt x="1060" y="1121"/>
                  </a:lnTo>
                  <a:lnTo>
                    <a:pt x="1046" y="1116"/>
                  </a:lnTo>
                  <a:lnTo>
                    <a:pt x="1034" y="1114"/>
                  </a:lnTo>
                  <a:lnTo>
                    <a:pt x="1022" y="1112"/>
                  </a:lnTo>
                  <a:lnTo>
                    <a:pt x="1012" y="1112"/>
                  </a:lnTo>
                  <a:lnTo>
                    <a:pt x="1003" y="1112"/>
                  </a:lnTo>
                  <a:lnTo>
                    <a:pt x="994" y="1113"/>
                  </a:lnTo>
                  <a:lnTo>
                    <a:pt x="974" y="1114"/>
                  </a:lnTo>
                  <a:lnTo>
                    <a:pt x="952" y="1114"/>
                  </a:lnTo>
                  <a:lnTo>
                    <a:pt x="941" y="1112"/>
                  </a:lnTo>
                  <a:lnTo>
                    <a:pt x="927" y="1108"/>
                  </a:lnTo>
                  <a:lnTo>
                    <a:pt x="911" y="1104"/>
                  </a:lnTo>
                  <a:lnTo>
                    <a:pt x="894" y="1096"/>
                  </a:lnTo>
                  <a:lnTo>
                    <a:pt x="860" y="1111"/>
                  </a:lnTo>
                  <a:lnTo>
                    <a:pt x="830" y="1120"/>
                  </a:lnTo>
                  <a:lnTo>
                    <a:pt x="818" y="1123"/>
                  </a:lnTo>
                  <a:lnTo>
                    <a:pt x="806" y="1125"/>
                  </a:lnTo>
                  <a:lnTo>
                    <a:pt x="796" y="1128"/>
                  </a:lnTo>
                  <a:lnTo>
                    <a:pt x="787" y="1128"/>
                  </a:lnTo>
                  <a:lnTo>
                    <a:pt x="779" y="1128"/>
                  </a:lnTo>
                  <a:lnTo>
                    <a:pt x="772" y="1128"/>
                  </a:lnTo>
                  <a:lnTo>
                    <a:pt x="766" y="1125"/>
                  </a:lnTo>
                  <a:lnTo>
                    <a:pt x="760" y="1124"/>
                  </a:lnTo>
                  <a:lnTo>
                    <a:pt x="756" y="1121"/>
                  </a:lnTo>
                  <a:lnTo>
                    <a:pt x="752" y="1117"/>
                  </a:lnTo>
                  <a:lnTo>
                    <a:pt x="749" y="1114"/>
                  </a:lnTo>
                  <a:lnTo>
                    <a:pt x="747" y="1109"/>
                  </a:lnTo>
                  <a:lnTo>
                    <a:pt x="744" y="1099"/>
                  </a:lnTo>
                  <a:lnTo>
                    <a:pt x="743" y="1088"/>
                  </a:lnTo>
                  <a:lnTo>
                    <a:pt x="743" y="1075"/>
                  </a:lnTo>
                  <a:lnTo>
                    <a:pt x="744" y="1061"/>
                  </a:lnTo>
                  <a:lnTo>
                    <a:pt x="748" y="1033"/>
                  </a:lnTo>
                  <a:lnTo>
                    <a:pt x="750" y="1004"/>
                  </a:lnTo>
                  <a:lnTo>
                    <a:pt x="749" y="992"/>
                  </a:lnTo>
                  <a:lnTo>
                    <a:pt x="747" y="979"/>
                  </a:lnTo>
                  <a:lnTo>
                    <a:pt x="743" y="967"/>
                  </a:lnTo>
                  <a:lnTo>
                    <a:pt x="740" y="955"/>
                  </a:lnTo>
                  <a:lnTo>
                    <a:pt x="731" y="931"/>
                  </a:lnTo>
                  <a:lnTo>
                    <a:pt x="723" y="907"/>
                  </a:lnTo>
                  <a:lnTo>
                    <a:pt x="720" y="895"/>
                  </a:lnTo>
                  <a:lnTo>
                    <a:pt x="718" y="881"/>
                  </a:lnTo>
                  <a:lnTo>
                    <a:pt x="717" y="866"/>
                  </a:lnTo>
                  <a:lnTo>
                    <a:pt x="717" y="851"/>
                  </a:lnTo>
                  <a:lnTo>
                    <a:pt x="719" y="834"/>
                  </a:lnTo>
                  <a:lnTo>
                    <a:pt x="723" y="817"/>
                  </a:lnTo>
                  <a:lnTo>
                    <a:pt x="729" y="797"/>
                  </a:lnTo>
                  <a:lnTo>
                    <a:pt x="737" y="777"/>
                  </a:lnTo>
                  <a:lnTo>
                    <a:pt x="904" y="410"/>
                  </a:lnTo>
                  <a:lnTo>
                    <a:pt x="909" y="402"/>
                  </a:lnTo>
                  <a:lnTo>
                    <a:pt x="912" y="395"/>
                  </a:lnTo>
                  <a:lnTo>
                    <a:pt x="917" y="388"/>
                  </a:lnTo>
                  <a:lnTo>
                    <a:pt x="923" y="382"/>
                  </a:lnTo>
                  <a:lnTo>
                    <a:pt x="927" y="378"/>
                  </a:lnTo>
                  <a:lnTo>
                    <a:pt x="933" y="374"/>
                  </a:lnTo>
                  <a:lnTo>
                    <a:pt x="939" y="371"/>
                  </a:lnTo>
                  <a:lnTo>
                    <a:pt x="944" y="369"/>
                  </a:lnTo>
                  <a:lnTo>
                    <a:pt x="950" y="366"/>
                  </a:lnTo>
                  <a:lnTo>
                    <a:pt x="957" y="365"/>
                  </a:lnTo>
                  <a:lnTo>
                    <a:pt x="963" y="364"/>
                  </a:lnTo>
                  <a:lnTo>
                    <a:pt x="970" y="364"/>
                  </a:lnTo>
                  <a:lnTo>
                    <a:pt x="983" y="364"/>
                  </a:lnTo>
                  <a:lnTo>
                    <a:pt x="998" y="368"/>
                  </a:lnTo>
                  <a:lnTo>
                    <a:pt x="1013" y="371"/>
                  </a:lnTo>
                  <a:lnTo>
                    <a:pt x="1028" y="377"/>
                  </a:lnTo>
                  <a:lnTo>
                    <a:pt x="1044" y="384"/>
                  </a:lnTo>
                  <a:lnTo>
                    <a:pt x="1060" y="390"/>
                  </a:lnTo>
                  <a:lnTo>
                    <a:pt x="1093" y="406"/>
                  </a:lnTo>
                  <a:lnTo>
                    <a:pt x="1126" y="422"/>
                  </a:lnTo>
                  <a:lnTo>
                    <a:pt x="1150" y="418"/>
                  </a:lnTo>
                  <a:lnTo>
                    <a:pt x="1174" y="413"/>
                  </a:lnTo>
                  <a:lnTo>
                    <a:pt x="1198" y="410"/>
                  </a:lnTo>
                  <a:lnTo>
                    <a:pt x="1222" y="408"/>
                  </a:lnTo>
                  <a:lnTo>
                    <a:pt x="1235" y="406"/>
                  </a:lnTo>
                  <a:lnTo>
                    <a:pt x="1247" y="406"/>
                  </a:lnTo>
                  <a:lnTo>
                    <a:pt x="1261" y="408"/>
                  </a:lnTo>
                  <a:lnTo>
                    <a:pt x="1274" y="410"/>
                  </a:lnTo>
                  <a:lnTo>
                    <a:pt x="1287" y="412"/>
                  </a:lnTo>
                  <a:lnTo>
                    <a:pt x="1302" y="416"/>
                  </a:lnTo>
                  <a:lnTo>
                    <a:pt x="1316" y="421"/>
                  </a:lnTo>
                  <a:lnTo>
                    <a:pt x="1332" y="427"/>
                  </a:lnTo>
                  <a:lnTo>
                    <a:pt x="1341" y="432"/>
                  </a:lnTo>
                  <a:lnTo>
                    <a:pt x="1350" y="435"/>
                  </a:lnTo>
                  <a:lnTo>
                    <a:pt x="1357" y="437"/>
                  </a:lnTo>
                  <a:lnTo>
                    <a:pt x="1363" y="438"/>
                  </a:lnTo>
                  <a:lnTo>
                    <a:pt x="1367" y="438"/>
                  </a:lnTo>
                  <a:lnTo>
                    <a:pt x="1371" y="437"/>
                  </a:lnTo>
                  <a:lnTo>
                    <a:pt x="1373" y="435"/>
                  </a:lnTo>
                  <a:lnTo>
                    <a:pt x="1374" y="433"/>
                  </a:lnTo>
                  <a:lnTo>
                    <a:pt x="1374" y="429"/>
                  </a:lnTo>
                  <a:lnTo>
                    <a:pt x="1373" y="426"/>
                  </a:lnTo>
                  <a:lnTo>
                    <a:pt x="1372" y="421"/>
                  </a:lnTo>
                  <a:lnTo>
                    <a:pt x="1370" y="417"/>
                  </a:lnTo>
                  <a:lnTo>
                    <a:pt x="1362" y="405"/>
                  </a:lnTo>
                  <a:lnTo>
                    <a:pt x="1351" y="392"/>
                  </a:lnTo>
                  <a:lnTo>
                    <a:pt x="1339" y="378"/>
                  </a:lnTo>
                  <a:lnTo>
                    <a:pt x="1325" y="364"/>
                  </a:lnTo>
                  <a:lnTo>
                    <a:pt x="1310" y="349"/>
                  </a:lnTo>
                  <a:lnTo>
                    <a:pt x="1294" y="336"/>
                  </a:lnTo>
                  <a:lnTo>
                    <a:pt x="1278" y="323"/>
                  </a:lnTo>
                  <a:lnTo>
                    <a:pt x="1262" y="312"/>
                  </a:lnTo>
                  <a:lnTo>
                    <a:pt x="1249" y="302"/>
                  </a:lnTo>
                  <a:lnTo>
                    <a:pt x="1235" y="294"/>
                  </a:lnTo>
                  <a:lnTo>
                    <a:pt x="1267" y="299"/>
                  </a:lnTo>
                  <a:lnTo>
                    <a:pt x="1294" y="299"/>
                  </a:lnTo>
                  <a:lnTo>
                    <a:pt x="1318" y="297"/>
                  </a:lnTo>
                  <a:lnTo>
                    <a:pt x="1339" y="291"/>
                  </a:lnTo>
                  <a:lnTo>
                    <a:pt x="1355" y="283"/>
                  </a:lnTo>
                  <a:lnTo>
                    <a:pt x="1369" y="273"/>
                  </a:lnTo>
                  <a:lnTo>
                    <a:pt x="1379" y="260"/>
                  </a:lnTo>
                  <a:lnTo>
                    <a:pt x="1386" y="245"/>
                  </a:lnTo>
                  <a:lnTo>
                    <a:pt x="1389" y="229"/>
                  </a:lnTo>
                  <a:lnTo>
                    <a:pt x="1390" y="212"/>
                  </a:lnTo>
                  <a:lnTo>
                    <a:pt x="1388" y="195"/>
                  </a:lnTo>
                  <a:lnTo>
                    <a:pt x="1383" y="176"/>
                  </a:lnTo>
                  <a:lnTo>
                    <a:pt x="1375" y="156"/>
                  </a:lnTo>
                  <a:lnTo>
                    <a:pt x="1365" y="138"/>
                  </a:lnTo>
                  <a:lnTo>
                    <a:pt x="1351" y="118"/>
                  </a:lnTo>
                  <a:lnTo>
                    <a:pt x="1335" y="100"/>
                  </a:lnTo>
                  <a:lnTo>
                    <a:pt x="1317" y="82"/>
                  </a:lnTo>
                  <a:lnTo>
                    <a:pt x="1297" y="65"/>
                  </a:lnTo>
                  <a:lnTo>
                    <a:pt x="1274" y="50"/>
                  </a:lnTo>
                  <a:lnTo>
                    <a:pt x="1249" y="36"/>
                  </a:lnTo>
                  <a:lnTo>
                    <a:pt x="1221" y="24"/>
                  </a:lnTo>
                  <a:lnTo>
                    <a:pt x="1191" y="13"/>
                  </a:lnTo>
                  <a:lnTo>
                    <a:pt x="1161" y="6"/>
                  </a:lnTo>
                  <a:lnTo>
                    <a:pt x="1127" y="2"/>
                  </a:lnTo>
                  <a:lnTo>
                    <a:pt x="1092" y="0"/>
                  </a:lnTo>
                  <a:lnTo>
                    <a:pt x="1055" y="1"/>
                  </a:lnTo>
                  <a:lnTo>
                    <a:pt x="1018" y="6"/>
                  </a:lnTo>
                  <a:lnTo>
                    <a:pt x="978" y="14"/>
                  </a:lnTo>
                  <a:lnTo>
                    <a:pt x="935" y="27"/>
                  </a:lnTo>
                  <a:lnTo>
                    <a:pt x="893" y="44"/>
                  </a:lnTo>
                  <a:lnTo>
                    <a:pt x="848" y="67"/>
                  </a:lnTo>
                  <a:lnTo>
                    <a:pt x="804" y="93"/>
                  </a:lnTo>
                  <a:lnTo>
                    <a:pt x="771" y="144"/>
                  </a:lnTo>
                  <a:lnTo>
                    <a:pt x="745" y="180"/>
                  </a:lnTo>
                  <a:lnTo>
                    <a:pt x="736" y="194"/>
                  </a:lnTo>
                  <a:lnTo>
                    <a:pt x="727" y="204"/>
                  </a:lnTo>
                  <a:lnTo>
                    <a:pt x="718" y="212"/>
                  </a:lnTo>
                  <a:lnTo>
                    <a:pt x="710" y="218"/>
                  </a:lnTo>
                  <a:lnTo>
                    <a:pt x="700" y="222"/>
                  </a:lnTo>
                  <a:lnTo>
                    <a:pt x="689" y="225"/>
                  </a:lnTo>
                  <a:lnTo>
                    <a:pt x="677" y="225"/>
                  </a:lnTo>
                  <a:lnTo>
                    <a:pt x="663" y="225"/>
                  </a:lnTo>
                  <a:lnTo>
                    <a:pt x="625" y="222"/>
                  </a:lnTo>
                  <a:lnTo>
                    <a:pt x="573" y="219"/>
                  </a:lnTo>
                  <a:lnTo>
                    <a:pt x="553" y="218"/>
                  </a:lnTo>
                  <a:lnTo>
                    <a:pt x="535" y="218"/>
                  </a:lnTo>
                  <a:lnTo>
                    <a:pt x="519" y="219"/>
                  </a:lnTo>
                  <a:lnTo>
                    <a:pt x="503" y="221"/>
                  </a:lnTo>
                  <a:lnTo>
                    <a:pt x="495" y="224"/>
                  </a:lnTo>
                  <a:lnTo>
                    <a:pt x="488" y="226"/>
                  </a:lnTo>
                  <a:lnTo>
                    <a:pt x="480" y="228"/>
                  </a:lnTo>
                  <a:lnTo>
                    <a:pt x="473" y="232"/>
                  </a:lnTo>
                  <a:lnTo>
                    <a:pt x="466" y="236"/>
                  </a:lnTo>
                  <a:lnTo>
                    <a:pt x="460" y="241"/>
                  </a:lnTo>
                  <a:lnTo>
                    <a:pt x="453" y="246"/>
                  </a:lnTo>
                  <a:lnTo>
                    <a:pt x="446" y="253"/>
                  </a:lnTo>
                  <a:lnTo>
                    <a:pt x="426" y="273"/>
                  </a:lnTo>
                  <a:lnTo>
                    <a:pt x="412" y="285"/>
                  </a:lnTo>
                  <a:lnTo>
                    <a:pt x="401" y="292"/>
                  </a:lnTo>
                  <a:lnTo>
                    <a:pt x="393" y="296"/>
                  </a:lnTo>
                  <a:lnTo>
                    <a:pt x="384" y="297"/>
                  </a:lnTo>
                  <a:lnTo>
                    <a:pt x="374" y="300"/>
                  </a:lnTo>
                  <a:lnTo>
                    <a:pt x="360" y="306"/>
                  </a:lnTo>
                  <a:lnTo>
                    <a:pt x="340" y="317"/>
                  </a:lnTo>
                  <a:lnTo>
                    <a:pt x="326" y="348"/>
                  </a:lnTo>
                  <a:lnTo>
                    <a:pt x="320" y="366"/>
                  </a:lnTo>
                  <a:lnTo>
                    <a:pt x="314" y="385"/>
                  </a:lnTo>
                  <a:lnTo>
                    <a:pt x="310" y="403"/>
                  </a:lnTo>
                  <a:lnTo>
                    <a:pt x="306" y="422"/>
                  </a:lnTo>
                  <a:lnTo>
                    <a:pt x="298" y="461"/>
                  </a:lnTo>
                  <a:lnTo>
                    <a:pt x="292" y="501"/>
                  </a:lnTo>
                  <a:lnTo>
                    <a:pt x="284" y="542"/>
                  </a:lnTo>
                  <a:lnTo>
                    <a:pt x="273" y="584"/>
                  </a:lnTo>
                  <a:lnTo>
                    <a:pt x="268" y="604"/>
                  </a:lnTo>
                  <a:lnTo>
                    <a:pt x="261" y="625"/>
                  </a:lnTo>
                  <a:lnTo>
                    <a:pt x="253" y="645"/>
                  </a:lnTo>
                  <a:lnTo>
                    <a:pt x="245" y="666"/>
                  </a:lnTo>
                  <a:lnTo>
                    <a:pt x="177" y="812"/>
                  </a:lnTo>
                  <a:lnTo>
                    <a:pt x="58" y="1010"/>
                  </a:lnTo>
                  <a:lnTo>
                    <a:pt x="5" y="1137"/>
                  </a:lnTo>
                  <a:lnTo>
                    <a:pt x="0" y="1154"/>
                  </a:lnTo>
                  <a:lnTo>
                    <a:pt x="1" y="1171"/>
                  </a:lnTo>
                  <a:lnTo>
                    <a:pt x="8" y="1191"/>
                  </a:lnTo>
                  <a:lnTo>
                    <a:pt x="21" y="1211"/>
                  </a:lnTo>
                  <a:lnTo>
                    <a:pt x="37" y="1233"/>
                  </a:lnTo>
                  <a:lnTo>
                    <a:pt x="58" y="1257"/>
                  </a:lnTo>
                  <a:lnTo>
                    <a:pt x="83" y="1281"/>
                  </a:lnTo>
                  <a:lnTo>
                    <a:pt x="112" y="1306"/>
                  </a:lnTo>
                  <a:lnTo>
                    <a:pt x="145" y="1333"/>
                  </a:lnTo>
                  <a:lnTo>
                    <a:pt x="181" y="1360"/>
                  </a:lnTo>
                  <a:lnTo>
                    <a:pt x="221" y="1388"/>
                  </a:lnTo>
                  <a:lnTo>
                    <a:pt x="262" y="1417"/>
                  </a:lnTo>
                  <a:lnTo>
                    <a:pt x="306" y="1447"/>
                  </a:lnTo>
                  <a:lnTo>
                    <a:pt x="352" y="1476"/>
                  </a:lnTo>
                  <a:lnTo>
                    <a:pt x="401" y="1506"/>
                  </a:lnTo>
                  <a:lnTo>
                    <a:pt x="450" y="1537"/>
                  </a:lnTo>
                  <a:lnTo>
                    <a:pt x="553" y="1599"/>
                  </a:lnTo>
                  <a:lnTo>
                    <a:pt x="660" y="1661"/>
                  </a:lnTo>
                  <a:lnTo>
                    <a:pt x="766" y="1722"/>
                  </a:lnTo>
                  <a:lnTo>
                    <a:pt x="871" y="1783"/>
                  </a:lnTo>
                  <a:lnTo>
                    <a:pt x="972" y="1841"/>
                  </a:lnTo>
                  <a:lnTo>
                    <a:pt x="1067" y="1897"/>
                  </a:lnTo>
                  <a:lnTo>
                    <a:pt x="1153" y="1948"/>
                  </a:lnTo>
                  <a:lnTo>
                    <a:pt x="1227" y="1996"/>
                  </a:lnTo>
                  <a:lnTo>
                    <a:pt x="1231" y="2047"/>
                  </a:lnTo>
                  <a:lnTo>
                    <a:pt x="1237" y="2095"/>
                  </a:lnTo>
                  <a:lnTo>
                    <a:pt x="1245" y="2143"/>
                  </a:lnTo>
                  <a:lnTo>
                    <a:pt x="1254" y="2189"/>
                  </a:lnTo>
                  <a:lnTo>
                    <a:pt x="1265" y="2236"/>
                  </a:lnTo>
                  <a:lnTo>
                    <a:pt x="1275" y="2281"/>
                  </a:lnTo>
                  <a:lnTo>
                    <a:pt x="1284" y="2324"/>
                  </a:lnTo>
                  <a:lnTo>
                    <a:pt x="1293" y="2367"/>
                  </a:lnTo>
                  <a:lnTo>
                    <a:pt x="1298" y="2388"/>
                  </a:lnTo>
                  <a:lnTo>
                    <a:pt x="1301" y="2412"/>
                  </a:lnTo>
                  <a:lnTo>
                    <a:pt x="1305" y="2437"/>
                  </a:lnTo>
                  <a:lnTo>
                    <a:pt x="1307" y="2465"/>
                  </a:lnTo>
                  <a:lnTo>
                    <a:pt x="1311" y="2524"/>
                  </a:lnTo>
                  <a:lnTo>
                    <a:pt x="1314" y="2588"/>
                  </a:lnTo>
                  <a:lnTo>
                    <a:pt x="1316" y="2652"/>
                  </a:lnTo>
                  <a:lnTo>
                    <a:pt x="1317" y="2715"/>
                  </a:lnTo>
                  <a:lnTo>
                    <a:pt x="1317" y="2773"/>
                  </a:lnTo>
                  <a:lnTo>
                    <a:pt x="1317" y="2826"/>
                  </a:lnTo>
                  <a:lnTo>
                    <a:pt x="1317" y="2884"/>
                  </a:lnTo>
                  <a:lnTo>
                    <a:pt x="1323" y="2926"/>
                  </a:lnTo>
                  <a:lnTo>
                    <a:pt x="1327" y="2966"/>
                  </a:lnTo>
                  <a:lnTo>
                    <a:pt x="1331" y="3007"/>
                  </a:lnTo>
                  <a:lnTo>
                    <a:pt x="1333" y="3047"/>
                  </a:lnTo>
                  <a:lnTo>
                    <a:pt x="1334" y="3088"/>
                  </a:lnTo>
                  <a:lnTo>
                    <a:pt x="1334" y="3128"/>
                  </a:lnTo>
                  <a:lnTo>
                    <a:pt x="1334" y="3169"/>
                  </a:lnTo>
                  <a:lnTo>
                    <a:pt x="1333" y="3209"/>
                  </a:lnTo>
                  <a:lnTo>
                    <a:pt x="1331" y="3249"/>
                  </a:lnTo>
                  <a:lnTo>
                    <a:pt x="1329" y="3290"/>
                  </a:lnTo>
                  <a:lnTo>
                    <a:pt x="1325" y="3330"/>
                  </a:lnTo>
                  <a:lnTo>
                    <a:pt x="1322" y="3371"/>
                  </a:lnTo>
                  <a:lnTo>
                    <a:pt x="1313" y="3454"/>
                  </a:lnTo>
                  <a:lnTo>
                    <a:pt x="1302" y="3536"/>
                  </a:lnTo>
                  <a:lnTo>
                    <a:pt x="1291" y="3620"/>
                  </a:lnTo>
                  <a:lnTo>
                    <a:pt x="1279" y="3706"/>
                  </a:lnTo>
                  <a:lnTo>
                    <a:pt x="1267" y="3794"/>
                  </a:lnTo>
                  <a:lnTo>
                    <a:pt x="1255" y="3883"/>
                  </a:lnTo>
                  <a:lnTo>
                    <a:pt x="1245" y="3975"/>
                  </a:lnTo>
                  <a:lnTo>
                    <a:pt x="1236" y="4070"/>
                  </a:lnTo>
                  <a:lnTo>
                    <a:pt x="1231" y="4118"/>
                  </a:lnTo>
                  <a:lnTo>
                    <a:pt x="1229" y="4167"/>
                  </a:lnTo>
                  <a:lnTo>
                    <a:pt x="1226" y="4216"/>
                  </a:lnTo>
                  <a:lnTo>
                    <a:pt x="1223" y="4267"/>
                  </a:lnTo>
                  <a:lnTo>
                    <a:pt x="1685" y="4351"/>
                  </a:lnTo>
                  <a:lnTo>
                    <a:pt x="1676" y="4241"/>
                  </a:lnTo>
                  <a:lnTo>
                    <a:pt x="1677" y="4256"/>
                  </a:lnTo>
                  <a:lnTo>
                    <a:pt x="1681" y="4295"/>
                  </a:lnTo>
                  <a:lnTo>
                    <a:pt x="1686" y="4352"/>
                  </a:lnTo>
                  <a:lnTo>
                    <a:pt x="1693" y="4420"/>
                  </a:lnTo>
                  <a:lnTo>
                    <a:pt x="1701" y="4496"/>
                  </a:lnTo>
                  <a:lnTo>
                    <a:pt x="1709" y="4572"/>
                  </a:lnTo>
                  <a:lnTo>
                    <a:pt x="1718" y="4642"/>
                  </a:lnTo>
                  <a:lnTo>
                    <a:pt x="1726" y="4700"/>
                  </a:lnTo>
                  <a:lnTo>
                    <a:pt x="1733" y="4751"/>
                  </a:lnTo>
                  <a:lnTo>
                    <a:pt x="1738" y="4802"/>
                  </a:lnTo>
                  <a:lnTo>
                    <a:pt x="1743" y="4852"/>
                  </a:lnTo>
                  <a:lnTo>
                    <a:pt x="1746" y="4904"/>
                  </a:lnTo>
                  <a:lnTo>
                    <a:pt x="1749" y="4955"/>
                  </a:lnTo>
                  <a:lnTo>
                    <a:pt x="1754" y="5006"/>
                  </a:lnTo>
                  <a:lnTo>
                    <a:pt x="1760" y="5057"/>
                  </a:lnTo>
                  <a:lnTo>
                    <a:pt x="1768" y="5106"/>
                  </a:lnTo>
                  <a:lnTo>
                    <a:pt x="1773" y="5145"/>
                  </a:lnTo>
                  <a:lnTo>
                    <a:pt x="1780" y="5189"/>
                  </a:lnTo>
                  <a:lnTo>
                    <a:pt x="1786" y="5237"/>
                  </a:lnTo>
                  <a:lnTo>
                    <a:pt x="1793" y="5287"/>
                  </a:lnTo>
                  <a:lnTo>
                    <a:pt x="1799" y="5341"/>
                  </a:lnTo>
                  <a:lnTo>
                    <a:pt x="1804" y="5395"/>
                  </a:lnTo>
                  <a:lnTo>
                    <a:pt x="1809" y="5453"/>
                  </a:lnTo>
                  <a:lnTo>
                    <a:pt x="1815" y="5510"/>
                  </a:lnTo>
                  <a:lnTo>
                    <a:pt x="1819" y="5568"/>
                  </a:lnTo>
                  <a:lnTo>
                    <a:pt x="1824" y="5625"/>
                  </a:lnTo>
                  <a:lnTo>
                    <a:pt x="1827" y="5681"/>
                  </a:lnTo>
                  <a:lnTo>
                    <a:pt x="1829" y="5735"/>
                  </a:lnTo>
                  <a:lnTo>
                    <a:pt x="1833" y="5787"/>
                  </a:lnTo>
                  <a:lnTo>
                    <a:pt x="1834" y="5835"/>
                  </a:lnTo>
                  <a:lnTo>
                    <a:pt x="1835" y="5881"/>
                  </a:lnTo>
                  <a:lnTo>
                    <a:pt x="1835" y="5921"/>
                  </a:lnTo>
                  <a:lnTo>
                    <a:pt x="1836" y="5974"/>
                  </a:lnTo>
                  <a:lnTo>
                    <a:pt x="1837" y="6025"/>
                  </a:lnTo>
                  <a:lnTo>
                    <a:pt x="1841" y="6077"/>
                  </a:lnTo>
                  <a:lnTo>
                    <a:pt x="1844" y="6128"/>
                  </a:lnTo>
                  <a:lnTo>
                    <a:pt x="1849" y="6179"/>
                  </a:lnTo>
                  <a:lnTo>
                    <a:pt x="1855" y="6230"/>
                  </a:lnTo>
                  <a:lnTo>
                    <a:pt x="1860" y="6280"/>
                  </a:lnTo>
                  <a:lnTo>
                    <a:pt x="1867" y="6330"/>
                  </a:lnTo>
                  <a:lnTo>
                    <a:pt x="1881" y="6430"/>
                  </a:lnTo>
                  <a:lnTo>
                    <a:pt x="1895" y="6527"/>
                  </a:lnTo>
                  <a:lnTo>
                    <a:pt x="1908" y="6624"/>
                  </a:lnTo>
                  <a:lnTo>
                    <a:pt x="1921" y="6719"/>
                  </a:lnTo>
                  <a:lnTo>
                    <a:pt x="1925" y="6762"/>
                  </a:lnTo>
                  <a:lnTo>
                    <a:pt x="1931" y="6811"/>
                  </a:lnTo>
                  <a:lnTo>
                    <a:pt x="1938" y="6864"/>
                  </a:lnTo>
                  <a:lnTo>
                    <a:pt x="1946" y="6918"/>
                  </a:lnTo>
                  <a:lnTo>
                    <a:pt x="1954" y="6970"/>
                  </a:lnTo>
                  <a:lnTo>
                    <a:pt x="1963" y="7020"/>
                  </a:lnTo>
                  <a:lnTo>
                    <a:pt x="1969" y="7042"/>
                  </a:lnTo>
                  <a:lnTo>
                    <a:pt x="1973" y="7064"/>
                  </a:lnTo>
                  <a:lnTo>
                    <a:pt x="1979" y="7084"/>
                  </a:lnTo>
                  <a:lnTo>
                    <a:pt x="1986" y="7101"/>
                  </a:lnTo>
                  <a:lnTo>
                    <a:pt x="1995" y="7128"/>
                  </a:lnTo>
                  <a:lnTo>
                    <a:pt x="2009" y="7168"/>
                  </a:lnTo>
                  <a:lnTo>
                    <a:pt x="2025" y="7216"/>
                  </a:lnTo>
                  <a:lnTo>
                    <a:pt x="2041" y="7269"/>
                  </a:lnTo>
                  <a:lnTo>
                    <a:pt x="2056" y="7321"/>
                  </a:lnTo>
                  <a:lnTo>
                    <a:pt x="2068" y="7370"/>
                  </a:lnTo>
                  <a:lnTo>
                    <a:pt x="2073" y="7392"/>
                  </a:lnTo>
                  <a:lnTo>
                    <a:pt x="2076" y="7413"/>
                  </a:lnTo>
                  <a:lnTo>
                    <a:pt x="2080" y="7429"/>
                  </a:lnTo>
                  <a:lnTo>
                    <a:pt x="2080" y="7442"/>
                  </a:lnTo>
                  <a:lnTo>
                    <a:pt x="2068" y="7466"/>
                  </a:lnTo>
                  <a:lnTo>
                    <a:pt x="2041" y="7517"/>
                  </a:lnTo>
                  <a:lnTo>
                    <a:pt x="2011" y="7570"/>
                  </a:lnTo>
                  <a:lnTo>
                    <a:pt x="1995" y="7602"/>
                  </a:lnTo>
                  <a:lnTo>
                    <a:pt x="1992" y="7614"/>
                  </a:lnTo>
                  <a:lnTo>
                    <a:pt x="1986" y="7637"/>
                  </a:lnTo>
                  <a:lnTo>
                    <a:pt x="1979" y="7669"/>
                  </a:lnTo>
                  <a:lnTo>
                    <a:pt x="1971" y="7703"/>
                  </a:lnTo>
                  <a:lnTo>
                    <a:pt x="1964" y="7738"/>
                  </a:lnTo>
                  <a:lnTo>
                    <a:pt x="1959" y="7769"/>
                  </a:lnTo>
                  <a:lnTo>
                    <a:pt x="1954" y="7793"/>
                  </a:lnTo>
                  <a:lnTo>
                    <a:pt x="1953" y="7805"/>
                  </a:lnTo>
                  <a:lnTo>
                    <a:pt x="1953" y="7815"/>
                  </a:lnTo>
                  <a:lnTo>
                    <a:pt x="1953" y="7840"/>
                  </a:lnTo>
                  <a:lnTo>
                    <a:pt x="1956" y="7862"/>
                  </a:lnTo>
                  <a:lnTo>
                    <a:pt x="1959" y="7872"/>
                  </a:lnTo>
                  <a:lnTo>
                    <a:pt x="1961" y="7880"/>
                  </a:lnTo>
                  <a:lnTo>
                    <a:pt x="1963" y="7888"/>
                  </a:lnTo>
                  <a:lnTo>
                    <a:pt x="1967" y="7895"/>
                  </a:lnTo>
                  <a:lnTo>
                    <a:pt x="1970" y="7901"/>
                  </a:lnTo>
                  <a:lnTo>
                    <a:pt x="1973" y="7906"/>
                  </a:lnTo>
                  <a:lnTo>
                    <a:pt x="1977" y="7911"/>
                  </a:lnTo>
                  <a:lnTo>
                    <a:pt x="1981" y="7916"/>
                  </a:lnTo>
                  <a:lnTo>
                    <a:pt x="1991" y="7922"/>
                  </a:lnTo>
                  <a:lnTo>
                    <a:pt x="2001" y="7927"/>
                  </a:lnTo>
                  <a:lnTo>
                    <a:pt x="2011" y="7930"/>
                  </a:lnTo>
                  <a:lnTo>
                    <a:pt x="2023" y="7934"/>
                  </a:lnTo>
                  <a:lnTo>
                    <a:pt x="2034" y="7936"/>
                  </a:lnTo>
                  <a:lnTo>
                    <a:pt x="2045" y="7938"/>
                  </a:lnTo>
                  <a:lnTo>
                    <a:pt x="2058" y="7941"/>
                  </a:lnTo>
                  <a:lnTo>
                    <a:pt x="2070" y="7943"/>
                  </a:lnTo>
                  <a:lnTo>
                    <a:pt x="2080" y="7948"/>
                  </a:lnTo>
                  <a:lnTo>
                    <a:pt x="2091" y="7953"/>
                  </a:lnTo>
                  <a:lnTo>
                    <a:pt x="2304" y="7953"/>
                  </a:lnTo>
                  <a:lnTo>
                    <a:pt x="2353" y="7924"/>
                  </a:lnTo>
                  <a:lnTo>
                    <a:pt x="2390" y="7904"/>
                  </a:lnTo>
                  <a:lnTo>
                    <a:pt x="2403" y="7896"/>
                  </a:lnTo>
                  <a:lnTo>
                    <a:pt x="2415" y="7889"/>
                  </a:lnTo>
                  <a:lnTo>
                    <a:pt x="2424" y="7882"/>
                  </a:lnTo>
                  <a:lnTo>
                    <a:pt x="2430" y="7874"/>
                  </a:lnTo>
                  <a:lnTo>
                    <a:pt x="2435" y="7865"/>
                  </a:lnTo>
                  <a:lnTo>
                    <a:pt x="2439" y="7853"/>
                  </a:lnTo>
                  <a:lnTo>
                    <a:pt x="2441" y="7838"/>
                  </a:lnTo>
                  <a:lnTo>
                    <a:pt x="2442" y="7820"/>
                  </a:lnTo>
                  <a:lnTo>
                    <a:pt x="2442" y="7770"/>
                  </a:lnTo>
                  <a:lnTo>
                    <a:pt x="2442" y="7697"/>
                  </a:lnTo>
                  <a:lnTo>
                    <a:pt x="2442" y="7686"/>
                  </a:lnTo>
                  <a:lnTo>
                    <a:pt x="2445" y="7676"/>
                  </a:lnTo>
                  <a:lnTo>
                    <a:pt x="2448" y="7665"/>
                  </a:lnTo>
                  <a:lnTo>
                    <a:pt x="2453" y="7655"/>
                  </a:lnTo>
                  <a:lnTo>
                    <a:pt x="2464" y="7637"/>
                  </a:lnTo>
                  <a:lnTo>
                    <a:pt x="2477" y="7618"/>
                  </a:lnTo>
                  <a:lnTo>
                    <a:pt x="2489" y="7600"/>
                  </a:lnTo>
                  <a:lnTo>
                    <a:pt x="2501" y="7581"/>
                  </a:lnTo>
                  <a:lnTo>
                    <a:pt x="2504" y="7572"/>
                  </a:lnTo>
                  <a:lnTo>
                    <a:pt x="2507" y="7560"/>
                  </a:lnTo>
                  <a:lnTo>
                    <a:pt x="2509" y="7550"/>
                  </a:lnTo>
                  <a:lnTo>
                    <a:pt x="2509" y="7538"/>
                  </a:lnTo>
                  <a:lnTo>
                    <a:pt x="2495" y="7422"/>
                  </a:lnTo>
                  <a:lnTo>
                    <a:pt x="2507" y="7400"/>
                  </a:lnTo>
                  <a:lnTo>
                    <a:pt x="2520" y="7378"/>
                  </a:lnTo>
                  <a:lnTo>
                    <a:pt x="2530" y="7354"/>
                  </a:lnTo>
                  <a:lnTo>
                    <a:pt x="2541" y="7328"/>
                  </a:lnTo>
                  <a:lnTo>
                    <a:pt x="2547" y="7301"/>
                  </a:lnTo>
                  <a:lnTo>
                    <a:pt x="2554" y="7272"/>
                  </a:lnTo>
                  <a:lnTo>
                    <a:pt x="2557" y="7256"/>
                  </a:lnTo>
                  <a:lnTo>
                    <a:pt x="2558" y="7241"/>
                  </a:lnTo>
                  <a:lnTo>
                    <a:pt x="2559" y="7225"/>
                  </a:lnTo>
                  <a:lnTo>
                    <a:pt x="2559" y="7208"/>
                  </a:lnTo>
                  <a:lnTo>
                    <a:pt x="2559" y="7134"/>
                  </a:lnTo>
                  <a:lnTo>
                    <a:pt x="2558" y="7116"/>
                  </a:lnTo>
                  <a:lnTo>
                    <a:pt x="2554" y="7096"/>
                  </a:lnTo>
                  <a:lnTo>
                    <a:pt x="2549" y="7077"/>
                  </a:lnTo>
                  <a:lnTo>
                    <a:pt x="2541" y="7056"/>
                  </a:lnTo>
                  <a:lnTo>
                    <a:pt x="2522" y="7015"/>
                  </a:lnTo>
                  <a:lnTo>
                    <a:pt x="2503" y="6973"/>
                  </a:lnTo>
                  <a:lnTo>
                    <a:pt x="2493" y="6952"/>
                  </a:lnTo>
                  <a:lnTo>
                    <a:pt x="2483" y="6930"/>
                  </a:lnTo>
                  <a:lnTo>
                    <a:pt x="2474" y="6910"/>
                  </a:lnTo>
                  <a:lnTo>
                    <a:pt x="2467" y="6890"/>
                  </a:lnTo>
                  <a:lnTo>
                    <a:pt x="2462" y="6871"/>
                  </a:lnTo>
                  <a:lnTo>
                    <a:pt x="2458" y="6851"/>
                  </a:lnTo>
                  <a:lnTo>
                    <a:pt x="2457" y="6842"/>
                  </a:lnTo>
                  <a:lnTo>
                    <a:pt x="2457" y="6833"/>
                  </a:lnTo>
                  <a:lnTo>
                    <a:pt x="2457" y="6824"/>
                  </a:lnTo>
                  <a:lnTo>
                    <a:pt x="2458" y="6816"/>
                  </a:lnTo>
                  <a:lnTo>
                    <a:pt x="2485" y="6538"/>
                  </a:lnTo>
                  <a:lnTo>
                    <a:pt x="2485" y="6517"/>
                  </a:lnTo>
                  <a:lnTo>
                    <a:pt x="2485" y="6507"/>
                  </a:lnTo>
                  <a:lnTo>
                    <a:pt x="2483" y="6498"/>
                  </a:lnTo>
                  <a:lnTo>
                    <a:pt x="2481" y="6491"/>
                  </a:lnTo>
                  <a:lnTo>
                    <a:pt x="2480" y="6485"/>
                  </a:lnTo>
                  <a:lnTo>
                    <a:pt x="2474" y="6474"/>
                  </a:lnTo>
                  <a:lnTo>
                    <a:pt x="2469" y="6466"/>
                  </a:lnTo>
                  <a:lnTo>
                    <a:pt x="2463" y="6459"/>
                  </a:lnTo>
                  <a:lnTo>
                    <a:pt x="2457" y="6451"/>
                  </a:lnTo>
                  <a:lnTo>
                    <a:pt x="2456" y="6448"/>
                  </a:lnTo>
                  <a:lnTo>
                    <a:pt x="2454" y="6443"/>
                  </a:lnTo>
                  <a:lnTo>
                    <a:pt x="2453" y="6438"/>
                  </a:lnTo>
                  <a:lnTo>
                    <a:pt x="2453" y="6432"/>
                  </a:lnTo>
                  <a:lnTo>
                    <a:pt x="2453" y="6410"/>
                  </a:lnTo>
                  <a:lnTo>
                    <a:pt x="2454" y="6369"/>
                  </a:lnTo>
                  <a:lnTo>
                    <a:pt x="2457" y="6328"/>
                  </a:lnTo>
                  <a:lnTo>
                    <a:pt x="2463" y="6289"/>
                  </a:lnTo>
                  <a:lnTo>
                    <a:pt x="2469" y="6251"/>
                  </a:lnTo>
                  <a:lnTo>
                    <a:pt x="2478" y="6214"/>
                  </a:lnTo>
                  <a:lnTo>
                    <a:pt x="2486" y="6178"/>
                  </a:lnTo>
                  <a:lnTo>
                    <a:pt x="2496" y="6144"/>
                  </a:lnTo>
                  <a:lnTo>
                    <a:pt x="2505" y="6111"/>
                  </a:lnTo>
                  <a:lnTo>
                    <a:pt x="2526" y="6047"/>
                  </a:lnTo>
                  <a:lnTo>
                    <a:pt x="2542" y="5986"/>
                  </a:lnTo>
                  <a:lnTo>
                    <a:pt x="2549" y="5959"/>
                  </a:lnTo>
                  <a:lnTo>
                    <a:pt x="2554" y="5931"/>
                  </a:lnTo>
                  <a:lnTo>
                    <a:pt x="2558" y="5904"/>
                  </a:lnTo>
                  <a:lnTo>
                    <a:pt x="2559" y="5879"/>
                  </a:lnTo>
                  <a:lnTo>
                    <a:pt x="2558" y="5817"/>
                  </a:lnTo>
                  <a:lnTo>
                    <a:pt x="2554" y="5738"/>
                  </a:lnTo>
                  <a:lnTo>
                    <a:pt x="2551" y="5647"/>
                  </a:lnTo>
                  <a:lnTo>
                    <a:pt x="2546" y="5552"/>
                  </a:lnTo>
                  <a:lnTo>
                    <a:pt x="2544" y="5459"/>
                  </a:lnTo>
                  <a:lnTo>
                    <a:pt x="2542" y="5377"/>
                  </a:lnTo>
                  <a:lnTo>
                    <a:pt x="2543" y="5343"/>
                  </a:lnTo>
                  <a:lnTo>
                    <a:pt x="2544" y="5313"/>
                  </a:lnTo>
                  <a:lnTo>
                    <a:pt x="2545" y="5289"/>
                  </a:lnTo>
                  <a:lnTo>
                    <a:pt x="2549" y="5273"/>
                  </a:lnTo>
                  <a:lnTo>
                    <a:pt x="2553" y="5253"/>
                  </a:lnTo>
                  <a:lnTo>
                    <a:pt x="2558" y="5226"/>
                  </a:lnTo>
                  <a:lnTo>
                    <a:pt x="2561" y="5194"/>
                  </a:lnTo>
                  <a:lnTo>
                    <a:pt x="2566" y="5159"/>
                  </a:lnTo>
                  <a:lnTo>
                    <a:pt x="2574" y="5078"/>
                  </a:lnTo>
                  <a:lnTo>
                    <a:pt x="2581" y="4990"/>
                  </a:lnTo>
                  <a:lnTo>
                    <a:pt x="2586" y="4901"/>
                  </a:lnTo>
                  <a:lnTo>
                    <a:pt x="2592" y="4816"/>
                  </a:lnTo>
                  <a:lnTo>
                    <a:pt x="2598" y="4743"/>
                  </a:lnTo>
                  <a:lnTo>
                    <a:pt x="2601" y="4688"/>
                  </a:lnTo>
                  <a:lnTo>
                    <a:pt x="2606" y="4696"/>
                  </a:lnTo>
                  <a:lnTo>
                    <a:pt x="2610" y="4706"/>
                  </a:lnTo>
                  <a:lnTo>
                    <a:pt x="2615" y="4720"/>
                  </a:lnTo>
                  <a:lnTo>
                    <a:pt x="2619" y="4736"/>
                  </a:lnTo>
                  <a:lnTo>
                    <a:pt x="2627" y="4775"/>
                  </a:lnTo>
                  <a:lnTo>
                    <a:pt x="2637" y="4820"/>
                  </a:lnTo>
                  <a:lnTo>
                    <a:pt x="2645" y="4874"/>
                  </a:lnTo>
                  <a:lnTo>
                    <a:pt x="2653" y="4933"/>
                  </a:lnTo>
                  <a:lnTo>
                    <a:pt x="2661" y="4994"/>
                  </a:lnTo>
                  <a:lnTo>
                    <a:pt x="2667" y="5059"/>
                  </a:lnTo>
                  <a:lnTo>
                    <a:pt x="2673" y="5125"/>
                  </a:lnTo>
                  <a:lnTo>
                    <a:pt x="2680" y="5190"/>
                  </a:lnTo>
                  <a:lnTo>
                    <a:pt x="2685" y="5253"/>
                  </a:lnTo>
                  <a:lnTo>
                    <a:pt x="2689" y="5313"/>
                  </a:lnTo>
                  <a:lnTo>
                    <a:pt x="2693" y="5369"/>
                  </a:lnTo>
                  <a:lnTo>
                    <a:pt x="2695" y="5419"/>
                  </a:lnTo>
                  <a:lnTo>
                    <a:pt x="2697" y="5462"/>
                  </a:lnTo>
                  <a:lnTo>
                    <a:pt x="2697" y="5496"/>
                  </a:lnTo>
                  <a:lnTo>
                    <a:pt x="2698" y="5555"/>
                  </a:lnTo>
                  <a:lnTo>
                    <a:pt x="2700" y="5611"/>
                  </a:lnTo>
                  <a:lnTo>
                    <a:pt x="2703" y="5664"/>
                  </a:lnTo>
                  <a:lnTo>
                    <a:pt x="2706" y="5714"/>
                  </a:lnTo>
                  <a:lnTo>
                    <a:pt x="2712" y="5763"/>
                  </a:lnTo>
                  <a:lnTo>
                    <a:pt x="2719" y="5813"/>
                  </a:lnTo>
                  <a:lnTo>
                    <a:pt x="2727" y="5863"/>
                  </a:lnTo>
                  <a:lnTo>
                    <a:pt x="2736" y="5915"/>
                  </a:lnTo>
                  <a:lnTo>
                    <a:pt x="2741" y="5950"/>
                  </a:lnTo>
                  <a:lnTo>
                    <a:pt x="2745" y="5982"/>
                  </a:lnTo>
                  <a:lnTo>
                    <a:pt x="2746" y="6009"/>
                  </a:lnTo>
                  <a:lnTo>
                    <a:pt x="2748" y="6035"/>
                  </a:lnTo>
                  <a:lnTo>
                    <a:pt x="2749" y="6080"/>
                  </a:lnTo>
                  <a:lnTo>
                    <a:pt x="2749" y="6120"/>
                  </a:lnTo>
                  <a:lnTo>
                    <a:pt x="2751" y="6138"/>
                  </a:lnTo>
                  <a:lnTo>
                    <a:pt x="2753" y="6158"/>
                  </a:lnTo>
                  <a:lnTo>
                    <a:pt x="2757" y="6177"/>
                  </a:lnTo>
                  <a:lnTo>
                    <a:pt x="2764" y="6197"/>
                  </a:lnTo>
                  <a:lnTo>
                    <a:pt x="2772" y="6218"/>
                  </a:lnTo>
                  <a:lnTo>
                    <a:pt x="2783" y="6241"/>
                  </a:lnTo>
                  <a:lnTo>
                    <a:pt x="2797" y="6266"/>
                  </a:lnTo>
                  <a:lnTo>
                    <a:pt x="2814" y="6294"/>
                  </a:lnTo>
                  <a:lnTo>
                    <a:pt x="2814" y="6319"/>
                  </a:lnTo>
                  <a:lnTo>
                    <a:pt x="2814" y="6344"/>
                  </a:lnTo>
                  <a:lnTo>
                    <a:pt x="2814" y="6369"/>
                  </a:lnTo>
                  <a:lnTo>
                    <a:pt x="2814" y="6394"/>
                  </a:lnTo>
                  <a:lnTo>
                    <a:pt x="2814" y="6418"/>
                  </a:lnTo>
                  <a:lnTo>
                    <a:pt x="2815" y="6442"/>
                  </a:lnTo>
                  <a:lnTo>
                    <a:pt x="2817" y="6466"/>
                  </a:lnTo>
                  <a:lnTo>
                    <a:pt x="2821" y="6490"/>
                  </a:lnTo>
                  <a:lnTo>
                    <a:pt x="2822" y="6499"/>
                  </a:lnTo>
                  <a:lnTo>
                    <a:pt x="2823" y="6510"/>
                  </a:lnTo>
                  <a:lnTo>
                    <a:pt x="2822" y="6519"/>
                  </a:lnTo>
                  <a:lnTo>
                    <a:pt x="2821" y="6528"/>
                  </a:lnTo>
                  <a:lnTo>
                    <a:pt x="2816" y="6546"/>
                  </a:lnTo>
                  <a:lnTo>
                    <a:pt x="2810" y="6566"/>
                  </a:lnTo>
                  <a:lnTo>
                    <a:pt x="2805" y="6587"/>
                  </a:lnTo>
                  <a:lnTo>
                    <a:pt x="2799" y="6610"/>
                  </a:lnTo>
                  <a:lnTo>
                    <a:pt x="2796" y="6623"/>
                  </a:lnTo>
                  <a:lnTo>
                    <a:pt x="2794" y="6637"/>
                  </a:lnTo>
                  <a:lnTo>
                    <a:pt x="2793" y="6650"/>
                  </a:lnTo>
                  <a:lnTo>
                    <a:pt x="2793" y="6666"/>
                  </a:lnTo>
                  <a:lnTo>
                    <a:pt x="2792" y="6695"/>
                  </a:lnTo>
                  <a:lnTo>
                    <a:pt x="2791" y="6723"/>
                  </a:lnTo>
                  <a:lnTo>
                    <a:pt x="2790" y="6750"/>
                  </a:lnTo>
                  <a:lnTo>
                    <a:pt x="2788" y="6776"/>
                  </a:lnTo>
                  <a:lnTo>
                    <a:pt x="2783" y="6824"/>
                  </a:lnTo>
                  <a:lnTo>
                    <a:pt x="2777" y="6870"/>
                  </a:lnTo>
                  <a:lnTo>
                    <a:pt x="2772" y="6914"/>
                  </a:lnTo>
                  <a:lnTo>
                    <a:pt x="2766" y="6958"/>
                  </a:lnTo>
                  <a:lnTo>
                    <a:pt x="2764" y="6980"/>
                  </a:lnTo>
                  <a:lnTo>
                    <a:pt x="2762" y="7002"/>
                  </a:lnTo>
                  <a:lnTo>
                    <a:pt x="2761" y="7025"/>
                  </a:lnTo>
                  <a:lnTo>
                    <a:pt x="2761" y="7049"/>
                  </a:lnTo>
                  <a:lnTo>
                    <a:pt x="2760" y="7156"/>
                  </a:lnTo>
                  <a:lnTo>
                    <a:pt x="2806" y="7462"/>
                  </a:lnTo>
                  <a:lnTo>
                    <a:pt x="2793" y="7464"/>
                  </a:lnTo>
                  <a:lnTo>
                    <a:pt x="2793" y="7517"/>
                  </a:lnTo>
                  <a:lnTo>
                    <a:pt x="2794" y="7528"/>
                  </a:lnTo>
                  <a:lnTo>
                    <a:pt x="2797" y="7540"/>
                  </a:lnTo>
                  <a:lnTo>
                    <a:pt x="2802" y="7551"/>
                  </a:lnTo>
                  <a:lnTo>
                    <a:pt x="2808" y="7562"/>
                  </a:lnTo>
                  <a:lnTo>
                    <a:pt x="2816" y="7573"/>
                  </a:lnTo>
                  <a:lnTo>
                    <a:pt x="2825" y="7584"/>
                  </a:lnTo>
                  <a:lnTo>
                    <a:pt x="2836" y="7594"/>
                  </a:lnTo>
                  <a:lnTo>
                    <a:pt x="2847" y="7604"/>
                  </a:lnTo>
                  <a:lnTo>
                    <a:pt x="2858" y="7612"/>
                  </a:lnTo>
                  <a:lnTo>
                    <a:pt x="2871" y="7620"/>
                  </a:lnTo>
                  <a:lnTo>
                    <a:pt x="2882" y="7628"/>
                  </a:lnTo>
                  <a:lnTo>
                    <a:pt x="2895" y="7633"/>
                  </a:lnTo>
                  <a:lnTo>
                    <a:pt x="2908" y="7638"/>
                  </a:lnTo>
                  <a:lnTo>
                    <a:pt x="2920" y="7641"/>
                  </a:lnTo>
                  <a:lnTo>
                    <a:pt x="2932" y="7644"/>
                  </a:lnTo>
                  <a:lnTo>
                    <a:pt x="2942" y="7645"/>
                  </a:lnTo>
                  <a:lnTo>
                    <a:pt x="3006" y="7645"/>
                  </a:lnTo>
                  <a:lnTo>
                    <a:pt x="3009" y="7662"/>
                  </a:lnTo>
                  <a:lnTo>
                    <a:pt x="3012" y="7678"/>
                  </a:lnTo>
                  <a:lnTo>
                    <a:pt x="3014" y="7693"/>
                  </a:lnTo>
                  <a:lnTo>
                    <a:pt x="3014" y="7706"/>
                  </a:lnTo>
                  <a:lnTo>
                    <a:pt x="3015" y="7730"/>
                  </a:lnTo>
                  <a:lnTo>
                    <a:pt x="3017" y="7752"/>
                  </a:lnTo>
                  <a:lnTo>
                    <a:pt x="3019" y="7761"/>
                  </a:lnTo>
                  <a:lnTo>
                    <a:pt x="3021" y="7770"/>
                  </a:lnTo>
                  <a:lnTo>
                    <a:pt x="3024" y="7780"/>
                  </a:lnTo>
                  <a:lnTo>
                    <a:pt x="3030" y="7789"/>
                  </a:lnTo>
                  <a:lnTo>
                    <a:pt x="3037" y="7798"/>
                  </a:lnTo>
                  <a:lnTo>
                    <a:pt x="3045" y="7807"/>
                  </a:lnTo>
                  <a:lnTo>
                    <a:pt x="3056" y="7816"/>
                  </a:lnTo>
                  <a:lnTo>
                    <a:pt x="3069" y="7825"/>
                  </a:lnTo>
                  <a:lnTo>
                    <a:pt x="3088" y="7838"/>
                  </a:lnTo>
                  <a:lnTo>
                    <a:pt x="3108" y="7849"/>
                  </a:lnTo>
                  <a:lnTo>
                    <a:pt x="3129" y="7860"/>
                  </a:lnTo>
                  <a:lnTo>
                    <a:pt x="3153" y="7870"/>
                  </a:lnTo>
                  <a:lnTo>
                    <a:pt x="3177" y="7878"/>
                  </a:lnTo>
                  <a:lnTo>
                    <a:pt x="3204" y="7884"/>
                  </a:lnTo>
                  <a:lnTo>
                    <a:pt x="3217" y="7886"/>
                  </a:lnTo>
                  <a:lnTo>
                    <a:pt x="3232" y="7888"/>
                  </a:lnTo>
                  <a:lnTo>
                    <a:pt x="3246" y="7889"/>
                  </a:lnTo>
                  <a:lnTo>
                    <a:pt x="3261" y="7889"/>
                  </a:lnTo>
                  <a:lnTo>
                    <a:pt x="3297" y="7889"/>
                  </a:lnTo>
                  <a:lnTo>
                    <a:pt x="3342" y="7887"/>
                  </a:lnTo>
                  <a:lnTo>
                    <a:pt x="3366" y="7886"/>
                  </a:lnTo>
                  <a:lnTo>
                    <a:pt x="3391" y="7884"/>
                  </a:lnTo>
                  <a:lnTo>
                    <a:pt x="3416" y="7881"/>
                  </a:lnTo>
                  <a:lnTo>
                    <a:pt x="3440" y="7878"/>
                  </a:lnTo>
                  <a:lnTo>
                    <a:pt x="3464" y="7874"/>
                  </a:lnTo>
                  <a:lnTo>
                    <a:pt x="3486" y="7869"/>
                  </a:lnTo>
                  <a:lnTo>
                    <a:pt x="3507" y="7863"/>
                  </a:lnTo>
                  <a:lnTo>
                    <a:pt x="3524" y="7856"/>
                  </a:lnTo>
                  <a:lnTo>
                    <a:pt x="3532" y="7852"/>
                  </a:lnTo>
                  <a:lnTo>
                    <a:pt x="3539" y="7847"/>
                  </a:lnTo>
                  <a:lnTo>
                    <a:pt x="3544" y="7842"/>
                  </a:lnTo>
                  <a:lnTo>
                    <a:pt x="3550" y="7838"/>
                  </a:lnTo>
                  <a:lnTo>
                    <a:pt x="3554" y="7832"/>
                  </a:lnTo>
                  <a:lnTo>
                    <a:pt x="3557" y="7828"/>
                  </a:lnTo>
                  <a:lnTo>
                    <a:pt x="3558" y="7821"/>
                  </a:lnTo>
                  <a:lnTo>
                    <a:pt x="3559" y="7815"/>
                  </a:lnTo>
                  <a:lnTo>
                    <a:pt x="3559" y="7805"/>
                  </a:lnTo>
                  <a:lnTo>
                    <a:pt x="3558" y="7790"/>
                  </a:lnTo>
                  <a:lnTo>
                    <a:pt x="3557" y="7775"/>
                  </a:lnTo>
                  <a:lnTo>
                    <a:pt x="3555" y="7761"/>
                  </a:lnTo>
                  <a:lnTo>
                    <a:pt x="3551" y="7746"/>
                  </a:lnTo>
                  <a:lnTo>
                    <a:pt x="3547" y="7732"/>
                  </a:lnTo>
                  <a:lnTo>
                    <a:pt x="3542" y="7718"/>
                  </a:lnTo>
                  <a:lnTo>
                    <a:pt x="3536" y="7703"/>
                  </a:lnTo>
                  <a:lnTo>
                    <a:pt x="3531" y="7688"/>
                  </a:lnTo>
                  <a:lnTo>
                    <a:pt x="3516" y="7660"/>
                  </a:lnTo>
                  <a:lnTo>
                    <a:pt x="3499" y="7632"/>
                  </a:lnTo>
                  <a:lnTo>
                    <a:pt x="3480" y="7604"/>
                  </a:lnTo>
                  <a:lnTo>
                    <a:pt x="3462" y="7576"/>
                  </a:lnTo>
                  <a:lnTo>
                    <a:pt x="3421" y="7524"/>
                  </a:lnTo>
                  <a:lnTo>
                    <a:pt x="3381" y="7474"/>
                  </a:lnTo>
                  <a:lnTo>
                    <a:pt x="3362" y="7452"/>
                  </a:lnTo>
                  <a:lnTo>
                    <a:pt x="3344" y="7430"/>
                  </a:lnTo>
                  <a:lnTo>
                    <a:pt x="3328" y="7408"/>
                  </a:lnTo>
                  <a:lnTo>
                    <a:pt x="3315" y="7390"/>
                  </a:lnTo>
                  <a:lnTo>
                    <a:pt x="3323" y="7357"/>
                  </a:lnTo>
                  <a:lnTo>
                    <a:pt x="3334" y="7316"/>
                  </a:lnTo>
                  <a:lnTo>
                    <a:pt x="3348" y="7270"/>
                  </a:lnTo>
                  <a:lnTo>
                    <a:pt x="3363" y="7222"/>
                  </a:lnTo>
                  <a:lnTo>
                    <a:pt x="3375" y="7175"/>
                  </a:lnTo>
                  <a:lnTo>
                    <a:pt x="3388" y="7132"/>
                  </a:lnTo>
                  <a:lnTo>
                    <a:pt x="3392" y="7113"/>
                  </a:lnTo>
                  <a:lnTo>
                    <a:pt x="3396" y="7096"/>
                  </a:lnTo>
                  <a:lnTo>
                    <a:pt x="3398" y="7081"/>
                  </a:lnTo>
                  <a:lnTo>
                    <a:pt x="3399" y="7071"/>
                  </a:lnTo>
                  <a:lnTo>
                    <a:pt x="3403" y="7016"/>
                  </a:lnTo>
                  <a:lnTo>
                    <a:pt x="3404" y="6965"/>
                  </a:lnTo>
                  <a:lnTo>
                    <a:pt x="3405" y="6914"/>
                  </a:lnTo>
                  <a:lnTo>
                    <a:pt x="3405" y="6866"/>
                  </a:lnTo>
                  <a:lnTo>
                    <a:pt x="3406" y="6819"/>
                  </a:lnTo>
                  <a:lnTo>
                    <a:pt x="3408" y="6773"/>
                  </a:lnTo>
                  <a:lnTo>
                    <a:pt x="3410" y="6749"/>
                  </a:lnTo>
                  <a:lnTo>
                    <a:pt x="3412" y="6723"/>
                  </a:lnTo>
                  <a:lnTo>
                    <a:pt x="3415" y="6699"/>
                  </a:lnTo>
                  <a:lnTo>
                    <a:pt x="3419" y="6674"/>
                  </a:lnTo>
                  <a:lnTo>
                    <a:pt x="3423" y="6640"/>
                  </a:lnTo>
                  <a:lnTo>
                    <a:pt x="3428" y="6600"/>
                  </a:lnTo>
                  <a:lnTo>
                    <a:pt x="3431" y="6555"/>
                  </a:lnTo>
                  <a:lnTo>
                    <a:pt x="3435" y="6506"/>
                  </a:lnTo>
                  <a:lnTo>
                    <a:pt x="3440" y="6400"/>
                  </a:lnTo>
                  <a:lnTo>
                    <a:pt x="3446" y="6286"/>
                  </a:lnTo>
                  <a:lnTo>
                    <a:pt x="3450" y="6171"/>
                  </a:lnTo>
                  <a:lnTo>
                    <a:pt x="3452" y="6063"/>
                  </a:lnTo>
                  <a:lnTo>
                    <a:pt x="3453" y="5967"/>
                  </a:lnTo>
                  <a:lnTo>
                    <a:pt x="3453" y="5889"/>
                  </a:lnTo>
                  <a:lnTo>
                    <a:pt x="3452" y="5839"/>
                  </a:lnTo>
                  <a:lnTo>
                    <a:pt x="3452" y="5789"/>
                  </a:lnTo>
                  <a:lnTo>
                    <a:pt x="3452" y="5737"/>
                  </a:lnTo>
                  <a:lnTo>
                    <a:pt x="3451" y="5686"/>
                  </a:lnTo>
                  <a:lnTo>
                    <a:pt x="3451" y="5634"/>
                  </a:lnTo>
                  <a:lnTo>
                    <a:pt x="3451" y="5583"/>
                  </a:lnTo>
                  <a:lnTo>
                    <a:pt x="3451" y="5530"/>
                  </a:lnTo>
                  <a:lnTo>
                    <a:pt x="3451" y="5479"/>
                  </a:lnTo>
                  <a:lnTo>
                    <a:pt x="3451" y="5427"/>
                  </a:lnTo>
                  <a:lnTo>
                    <a:pt x="3452" y="5376"/>
                  </a:lnTo>
                  <a:lnTo>
                    <a:pt x="3452" y="5326"/>
                  </a:lnTo>
                  <a:lnTo>
                    <a:pt x="3454" y="5275"/>
                  </a:lnTo>
                  <a:lnTo>
                    <a:pt x="3455" y="5225"/>
                  </a:lnTo>
                  <a:lnTo>
                    <a:pt x="3458" y="5177"/>
                  </a:lnTo>
                  <a:lnTo>
                    <a:pt x="3460" y="5128"/>
                  </a:lnTo>
                  <a:lnTo>
                    <a:pt x="3463" y="5081"/>
                  </a:lnTo>
                  <a:lnTo>
                    <a:pt x="3466" y="5035"/>
                  </a:lnTo>
                  <a:lnTo>
                    <a:pt x="3466" y="4985"/>
                  </a:lnTo>
                  <a:lnTo>
                    <a:pt x="3463" y="4931"/>
                  </a:lnTo>
                  <a:lnTo>
                    <a:pt x="3461" y="4878"/>
                  </a:lnTo>
                  <a:lnTo>
                    <a:pt x="3460" y="4824"/>
                  </a:lnTo>
                  <a:lnTo>
                    <a:pt x="3460" y="4772"/>
                  </a:lnTo>
                  <a:lnTo>
                    <a:pt x="3461" y="4747"/>
                  </a:lnTo>
                  <a:lnTo>
                    <a:pt x="3462" y="4724"/>
                  </a:lnTo>
                  <a:lnTo>
                    <a:pt x="3464" y="4702"/>
                  </a:lnTo>
                  <a:lnTo>
                    <a:pt x="3468" y="4681"/>
                  </a:lnTo>
                  <a:lnTo>
                    <a:pt x="3474" y="4641"/>
                  </a:lnTo>
                  <a:lnTo>
                    <a:pt x="3478" y="4594"/>
                  </a:lnTo>
                  <a:lnTo>
                    <a:pt x="3480" y="4542"/>
                  </a:lnTo>
                  <a:lnTo>
                    <a:pt x="3483" y="4487"/>
                  </a:lnTo>
                  <a:lnTo>
                    <a:pt x="3484" y="4432"/>
                  </a:lnTo>
                  <a:lnTo>
                    <a:pt x="3484" y="4378"/>
                  </a:lnTo>
                  <a:lnTo>
                    <a:pt x="3485" y="4328"/>
                  </a:lnTo>
                  <a:lnTo>
                    <a:pt x="3485" y="4283"/>
                  </a:lnTo>
                  <a:lnTo>
                    <a:pt x="3485" y="4155"/>
                  </a:lnTo>
                  <a:lnTo>
                    <a:pt x="3499" y="4154"/>
                  </a:lnTo>
                  <a:lnTo>
                    <a:pt x="3514" y="4152"/>
                  </a:lnTo>
                  <a:lnTo>
                    <a:pt x="3530" y="4148"/>
                  </a:lnTo>
                  <a:lnTo>
                    <a:pt x="3546" y="4145"/>
                  </a:lnTo>
                  <a:lnTo>
                    <a:pt x="3581" y="4135"/>
                  </a:lnTo>
                  <a:lnTo>
                    <a:pt x="3616" y="4123"/>
                  </a:lnTo>
                  <a:lnTo>
                    <a:pt x="3634" y="4116"/>
                  </a:lnTo>
                  <a:lnTo>
                    <a:pt x="3650" y="4110"/>
                  </a:lnTo>
                  <a:lnTo>
                    <a:pt x="3666" y="4102"/>
                  </a:lnTo>
                  <a:lnTo>
                    <a:pt x="3679" y="4094"/>
                  </a:lnTo>
                  <a:lnTo>
                    <a:pt x="3692" y="4086"/>
                  </a:lnTo>
                  <a:lnTo>
                    <a:pt x="3703" y="4076"/>
                  </a:lnTo>
                  <a:lnTo>
                    <a:pt x="3713" y="4068"/>
                  </a:lnTo>
                  <a:lnTo>
                    <a:pt x="3721" y="4059"/>
                  </a:lnTo>
                  <a:lnTo>
                    <a:pt x="3701" y="3947"/>
                  </a:lnTo>
                  <a:lnTo>
                    <a:pt x="3682" y="3843"/>
                  </a:lnTo>
                  <a:lnTo>
                    <a:pt x="3662" y="3745"/>
                  </a:lnTo>
                  <a:lnTo>
                    <a:pt x="3643" y="3652"/>
                  </a:lnTo>
                  <a:lnTo>
                    <a:pt x="3622" y="3564"/>
                  </a:lnTo>
                  <a:lnTo>
                    <a:pt x="3603" y="3480"/>
                  </a:lnTo>
                  <a:lnTo>
                    <a:pt x="3583" y="3400"/>
                  </a:lnTo>
                  <a:lnTo>
                    <a:pt x="3564" y="3321"/>
                  </a:lnTo>
                  <a:lnTo>
                    <a:pt x="3544" y="3243"/>
                  </a:lnTo>
                  <a:lnTo>
                    <a:pt x="3525" y="3166"/>
                  </a:lnTo>
                  <a:lnTo>
                    <a:pt x="3507" y="3088"/>
                  </a:lnTo>
                  <a:lnTo>
                    <a:pt x="3487" y="3009"/>
                  </a:lnTo>
                  <a:lnTo>
                    <a:pt x="3469" y="2928"/>
                  </a:lnTo>
                  <a:lnTo>
                    <a:pt x="3451" y="2843"/>
                  </a:lnTo>
                  <a:lnTo>
                    <a:pt x="3434" y="2754"/>
                  </a:lnTo>
                  <a:lnTo>
                    <a:pt x="3416" y="2661"/>
                  </a:lnTo>
                  <a:lnTo>
                    <a:pt x="3410" y="2624"/>
                  </a:lnTo>
                  <a:lnTo>
                    <a:pt x="3400" y="2562"/>
                  </a:lnTo>
                  <a:lnTo>
                    <a:pt x="3388" y="2483"/>
                  </a:lnTo>
                  <a:lnTo>
                    <a:pt x="3375" y="2396"/>
                  </a:lnTo>
                  <a:lnTo>
                    <a:pt x="3362" y="2313"/>
                  </a:lnTo>
                  <a:lnTo>
                    <a:pt x="3351" y="2241"/>
                  </a:lnTo>
                  <a:lnTo>
                    <a:pt x="3342" y="2191"/>
                  </a:lnTo>
                  <a:lnTo>
                    <a:pt x="3339" y="2170"/>
                  </a:lnTo>
                  <a:lnTo>
                    <a:pt x="3359" y="1986"/>
                  </a:lnTo>
                  <a:lnTo>
                    <a:pt x="3439" y="1937"/>
                  </a:lnTo>
                  <a:lnTo>
                    <a:pt x="3527" y="1885"/>
                  </a:lnTo>
                  <a:lnTo>
                    <a:pt x="3621" y="1832"/>
                  </a:lnTo>
                  <a:lnTo>
                    <a:pt x="3718" y="1776"/>
                  </a:lnTo>
                  <a:lnTo>
                    <a:pt x="3818" y="1719"/>
                  </a:lnTo>
                  <a:lnTo>
                    <a:pt x="3917" y="1660"/>
                  </a:lnTo>
                  <a:lnTo>
                    <a:pt x="4014" y="1603"/>
                  </a:lnTo>
                  <a:lnTo>
                    <a:pt x="4108" y="1545"/>
                  </a:lnTo>
                  <a:lnTo>
                    <a:pt x="4153" y="1517"/>
                  </a:lnTo>
                  <a:lnTo>
                    <a:pt x="4196" y="1489"/>
                  </a:lnTo>
                  <a:lnTo>
                    <a:pt x="4237" y="1461"/>
                  </a:lnTo>
                  <a:lnTo>
                    <a:pt x="4277" y="1435"/>
                  </a:lnTo>
                  <a:lnTo>
                    <a:pt x="4314" y="1409"/>
                  </a:lnTo>
                  <a:lnTo>
                    <a:pt x="4348" y="1383"/>
                  </a:lnTo>
                  <a:lnTo>
                    <a:pt x="4380" y="1359"/>
                  </a:lnTo>
                  <a:lnTo>
                    <a:pt x="4409" y="1335"/>
                  </a:lnTo>
                  <a:lnTo>
                    <a:pt x="4434" y="1311"/>
                  </a:lnTo>
                  <a:lnTo>
                    <a:pt x="4456" y="1289"/>
                  </a:lnTo>
                  <a:lnTo>
                    <a:pt x="4474" y="1267"/>
                  </a:lnTo>
                  <a:lnTo>
                    <a:pt x="4488" y="1247"/>
                  </a:lnTo>
                  <a:lnTo>
                    <a:pt x="4498" y="1228"/>
                  </a:lnTo>
                  <a:lnTo>
                    <a:pt x="4504" y="1210"/>
                  </a:lnTo>
                  <a:lnTo>
                    <a:pt x="4505" y="1194"/>
                  </a:lnTo>
                  <a:lnTo>
                    <a:pt x="4500" y="1179"/>
                  </a:lnTo>
                  <a:lnTo>
                    <a:pt x="4447" y="1051"/>
                  </a:lnTo>
                  <a:lnTo>
                    <a:pt x="4327" y="853"/>
                  </a:lnTo>
                  <a:lnTo>
                    <a:pt x="4260" y="707"/>
                  </a:lnTo>
                  <a:lnTo>
                    <a:pt x="4251" y="686"/>
                  </a:lnTo>
                  <a:lnTo>
                    <a:pt x="4244" y="666"/>
                  </a:lnTo>
                  <a:lnTo>
                    <a:pt x="4237" y="645"/>
                  </a:lnTo>
                  <a:lnTo>
                    <a:pt x="4232" y="625"/>
                  </a:lnTo>
                  <a:lnTo>
                    <a:pt x="4221" y="584"/>
                  </a:lnTo>
                  <a:lnTo>
                    <a:pt x="4213" y="542"/>
                  </a:lnTo>
                  <a:lnTo>
                    <a:pt x="4206" y="502"/>
                  </a:lnTo>
                  <a:lnTo>
                    <a:pt x="4198" y="464"/>
                  </a:lnTo>
                  <a:lnTo>
                    <a:pt x="4195" y="444"/>
                  </a:lnTo>
                  <a:lnTo>
                    <a:pt x="4190" y="426"/>
                  </a:lnTo>
                  <a:lnTo>
                    <a:pt x="4185" y="408"/>
                  </a:lnTo>
                  <a:lnTo>
                    <a:pt x="4179" y="390"/>
                  </a:lnTo>
                  <a:lnTo>
                    <a:pt x="4164" y="358"/>
                  </a:lnTo>
                  <a:lnTo>
                    <a:pt x="4145" y="347"/>
                  </a:lnTo>
                  <a:lnTo>
                    <a:pt x="4130" y="341"/>
                  </a:lnTo>
                  <a:lnTo>
                    <a:pt x="4120" y="339"/>
                  </a:lnTo>
                  <a:lnTo>
                    <a:pt x="4112" y="337"/>
                  </a:lnTo>
                  <a:lnTo>
                    <a:pt x="4104" y="333"/>
                  </a:lnTo>
                  <a:lnTo>
                    <a:pt x="4093" y="328"/>
                  </a:lnTo>
                  <a:lnTo>
                    <a:pt x="4078" y="315"/>
                  </a:lnTo>
                  <a:lnTo>
                    <a:pt x="4058" y="294"/>
                  </a:lnTo>
                  <a:lnTo>
                    <a:pt x="4052" y="289"/>
                  </a:lnTo>
                  <a:lnTo>
                    <a:pt x="4045" y="283"/>
                  </a:lnTo>
                  <a:lnTo>
                    <a:pt x="4038" y="277"/>
                  </a:lnTo>
                  <a:lnTo>
                    <a:pt x="4032" y="274"/>
                  </a:lnTo>
                  <a:lnTo>
                    <a:pt x="4025" y="270"/>
                  </a:lnTo>
                  <a:lnTo>
                    <a:pt x="4017" y="267"/>
                  </a:lnTo>
                  <a:lnTo>
                    <a:pt x="4010" y="265"/>
                  </a:lnTo>
                  <a:lnTo>
                    <a:pt x="4002" y="262"/>
                  </a:lnTo>
                  <a:lnTo>
                    <a:pt x="3986" y="260"/>
                  </a:lnTo>
                  <a:lnTo>
                    <a:pt x="3969" y="259"/>
                  </a:lnTo>
                  <a:lnTo>
                    <a:pt x="3952" y="259"/>
                  </a:lnTo>
                  <a:lnTo>
                    <a:pt x="3932" y="260"/>
                  </a:lnTo>
                  <a:lnTo>
                    <a:pt x="3879" y="264"/>
                  </a:lnTo>
                  <a:lnTo>
                    <a:pt x="3842" y="267"/>
                  </a:lnTo>
                  <a:lnTo>
                    <a:pt x="3828" y="267"/>
                  </a:lnTo>
                  <a:lnTo>
                    <a:pt x="3815" y="266"/>
                  </a:lnTo>
                  <a:lnTo>
                    <a:pt x="3804" y="264"/>
                  </a:lnTo>
                  <a:lnTo>
                    <a:pt x="3795" y="260"/>
                  </a:lnTo>
                  <a:lnTo>
                    <a:pt x="3786" y="253"/>
                  </a:lnTo>
                  <a:lnTo>
                    <a:pt x="3778" y="245"/>
                  </a:lnTo>
                  <a:lnTo>
                    <a:pt x="3769" y="235"/>
                  </a:lnTo>
                  <a:lnTo>
                    <a:pt x="3758" y="221"/>
                  </a:lnTo>
                  <a:lnTo>
                    <a:pt x="3734" y="186"/>
                  </a:lnTo>
                  <a:lnTo>
                    <a:pt x="3701" y="134"/>
                  </a:lnTo>
                  <a:lnTo>
                    <a:pt x="3655" y="108"/>
                  </a:lnTo>
                  <a:lnTo>
                    <a:pt x="3612" y="86"/>
                  </a:lnTo>
                  <a:lnTo>
                    <a:pt x="3568" y="69"/>
                  </a:lnTo>
                  <a:lnTo>
                    <a:pt x="3527" y="57"/>
                  </a:lnTo>
                  <a:lnTo>
                    <a:pt x="3487" y="48"/>
                  </a:lnTo>
                  <a:lnTo>
                    <a:pt x="3450" y="43"/>
                  </a:lnTo>
                  <a:lnTo>
                    <a:pt x="3413" y="41"/>
                  </a:lnTo>
                  <a:lnTo>
                    <a:pt x="3378" y="43"/>
                  </a:lnTo>
                  <a:lnTo>
                    <a:pt x="3344" y="48"/>
                  </a:lnTo>
                  <a:lnTo>
                    <a:pt x="3312" y="56"/>
                  </a:lnTo>
                  <a:lnTo>
                    <a:pt x="3284" y="65"/>
                  </a:lnTo>
                  <a:lnTo>
                    <a:pt x="3256" y="77"/>
                  </a:lnTo>
                  <a:lnTo>
                    <a:pt x="3231" y="91"/>
                  </a:lnTo>
                  <a:lnTo>
                    <a:pt x="3208" y="107"/>
                  </a:lnTo>
                  <a:lnTo>
                    <a:pt x="3188" y="124"/>
                  </a:lnTo>
                  <a:lnTo>
                    <a:pt x="3169" y="141"/>
                  </a:lnTo>
                  <a:lnTo>
                    <a:pt x="3153" y="160"/>
                  </a:lnTo>
                  <a:lnTo>
                    <a:pt x="3140" y="179"/>
                  </a:lnTo>
                  <a:lnTo>
                    <a:pt x="3129" y="198"/>
                  </a:lnTo>
                  <a:lnTo>
                    <a:pt x="3121" y="217"/>
                  </a:lnTo>
                  <a:lnTo>
                    <a:pt x="3117" y="236"/>
                  </a:lnTo>
                  <a:lnTo>
                    <a:pt x="3115" y="254"/>
                  </a:lnTo>
                  <a:lnTo>
                    <a:pt x="3115" y="272"/>
                  </a:lnTo>
                  <a:lnTo>
                    <a:pt x="3119" y="288"/>
                  </a:lnTo>
                  <a:lnTo>
                    <a:pt x="3126" y="301"/>
                  </a:lnTo>
                  <a:lnTo>
                    <a:pt x="3136" y="314"/>
                  </a:lnTo>
                  <a:lnTo>
                    <a:pt x="3150" y="324"/>
                  </a:lnTo>
                  <a:lnTo>
                    <a:pt x="3166" y="332"/>
                  </a:lnTo>
                  <a:lnTo>
                    <a:pt x="3187" y="338"/>
                  </a:lnTo>
                  <a:lnTo>
                    <a:pt x="3211" y="341"/>
                  </a:lnTo>
                  <a:lnTo>
                    <a:pt x="3238" y="340"/>
                  </a:lnTo>
                  <a:lnTo>
                    <a:pt x="3270" y="337"/>
                  </a:lnTo>
                  <a:lnTo>
                    <a:pt x="3256" y="344"/>
                  </a:lnTo>
                  <a:lnTo>
                    <a:pt x="3241" y="353"/>
                  </a:lnTo>
                  <a:lnTo>
                    <a:pt x="3227" y="364"/>
                  </a:lnTo>
                  <a:lnTo>
                    <a:pt x="3211" y="377"/>
                  </a:lnTo>
                  <a:lnTo>
                    <a:pt x="3195" y="390"/>
                  </a:lnTo>
                  <a:lnTo>
                    <a:pt x="3180" y="405"/>
                  </a:lnTo>
                  <a:lnTo>
                    <a:pt x="3166" y="420"/>
                  </a:lnTo>
                  <a:lnTo>
                    <a:pt x="3153" y="434"/>
                  </a:lnTo>
                  <a:lnTo>
                    <a:pt x="3143" y="446"/>
                  </a:lnTo>
                  <a:lnTo>
                    <a:pt x="3135" y="458"/>
                  </a:lnTo>
                  <a:lnTo>
                    <a:pt x="3133" y="462"/>
                  </a:lnTo>
                  <a:lnTo>
                    <a:pt x="3131" y="467"/>
                  </a:lnTo>
                  <a:lnTo>
                    <a:pt x="3131" y="472"/>
                  </a:lnTo>
                  <a:lnTo>
                    <a:pt x="3131" y="475"/>
                  </a:lnTo>
                  <a:lnTo>
                    <a:pt x="3132" y="477"/>
                  </a:lnTo>
                  <a:lnTo>
                    <a:pt x="3133" y="478"/>
                  </a:lnTo>
                  <a:lnTo>
                    <a:pt x="3136" y="480"/>
                  </a:lnTo>
                  <a:lnTo>
                    <a:pt x="3141" y="480"/>
                  </a:lnTo>
                  <a:lnTo>
                    <a:pt x="3148" y="478"/>
                  </a:lnTo>
                  <a:lnTo>
                    <a:pt x="3155" y="476"/>
                  </a:lnTo>
                  <a:lnTo>
                    <a:pt x="3163" y="473"/>
                  </a:lnTo>
                  <a:lnTo>
                    <a:pt x="3173" y="469"/>
                  </a:lnTo>
                  <a:lnTo>
                    <a:pt x="3188" y="462"/>
                  </a:lnTo>
                  <a:lnTo>
                    <a:pt x="3203" y="458"/>
                  </a:lnTo>
                  <a:lnTo>
                    <a:pt x="3216" y="453"/>
                  </a:lnTo>
                  <a:lnTo>
                    <a:pt x="3230" y="451"/>
                  </a:lnTo>
                  <a:lnTo>
                    <a:pt x="3244" y="449"/>
                  </a:lnTo>
                  <a:lnTo>
                    <a:pt x="3256" y="449"/>
                  </a:lnTo>
                  <a:lnTo>
                    <a:pt x="3270" y="448"/>
                  </a:lnTo>
                  <a:lnTo>
                    <a:pt x="3283" y="449"/>
                  </a:lnTo>
                  <a:lnTo>
                    <a:pt x="3307" y="451"/>
                  </a:lnTo>
                  <a:lnTo>
                    <a:pt x="3331" y="456"/>
                  </a:lnTo>
                  <a:lnTo>
                    <a:pt x="3355" y="460"/>
                  </a:lnTo>
                  <a:lnTo>
                    <a:pt x="3379" y="464"/>
                  </a:lnTo>
                  <a:lnTo>
                    <a:pt x="3412" y="449"/>
                  </a:lnTo>
                  <a:lnTo>
                    <a:pt x="3444" y="433"/>
                  </a:lnTo>
                  <a:lnTo>
                    <a:pt x="3460" y="425"/>
                  </a:lnTo>
                  <a:lnTo>
                    <a:pt x="3476" y="419"/>
                  </a:lnTo>
                  <a:lnTo>
                    <a:pt x="3492" y="413"/>
                  </a:lnTo>
                  <a:lnTo>
                    <a:pt x="3507" y="409"/>
                  </a:lnTo>
                  <a:lnTo>
                    <a:pt x="3522" y="406"/>
                  </a:lnTo>
                  <a:lnTo>
                    <a:pt x="3535" y="405"/>
                  </a:lnTo>
                  <a:lnTo>
                    <a:pt x="3542" y="405"/>
                  </a:lnTo>
                  <a:lnTo>
                    <a:pt x="3548" y="406"/>
                  </a:lnTo>
                  <a:lnTo>
                    <a:pt x="3555" y="408"/>
                  </a:lnTo>
                  <a:lnTo>
                    <a:pt x="3560" y="410"/>
                  </a:lnTo>
                  <a:lnTo>
                    <a:pt x="3566" y="412"/>
                  </a:lnTo>
                  <a:lnTo>
                    <a:pt x="3572" y="416"/>
                  </a:lnTo>
                  <a:lnTo>
                    <a:pt x="3578" y="420"/>
                  </a:lnTo>
                  <a:lnTo>
                    <a:pt x="3582" y="425"/>
                  </a:lnTo>
                  <a:lnTo>
                    <a:pt x="3587" y="430"/>
                  </a:lnTo>
                  <a:lnTo>
                    <a:pt x="3591" y="436"/>
                  </a:lnTo>
                  <a:lnTo>
                    <a:pt x="3596" y="443"/>
                  </a:lnTo>
                  <a:lnTo>
                    <a:pt x="3600" y="451"/>
                  </a:lnTo>
                  <a:lnTo>
                    <a:pt x="3767" y="818"/>
                  </a:lnTo>
                  <a:lnTo>
                    <a:pt x="3775" y="839"/>
                  </a:lnTo>
                  <a:lnTo>
                    <a:pt x="3782" y="858"/>
                  </a:lnTo>
                  <a:lnTo>
                    <a:pt x="3786" y="876"/>
                  </a:lnTo>
                  <a:lnTo>
                    <a:pt x="3788" y="892"/>
                  </a:lnTo>
                  <a:lnTo>
                    <a:pt x="3788" y="908"/>
                  </a:lnTo>
                  <a:lnTo>
                    <a:pt x="3787" y="922"/>
                  </a:lnTo>
                  <a:lnTo>
                    <a:pt x="3785" y="936"/>
                  </a:lnTo>
                  <a:lnTo>
                    <a:pt x="3782" y="948"/>
                  </a:lnTo>
                  <a:lnTo>
                    <a:pt x="3774" y="973"/>
                  </a:lnTo>
                  <a:lnTo>
                    <a:pt x="3765" y="996"/>
                  </a:lnTo>
                  <a:lnTo>
                    <a:pt x="3762" y="1008"/>
                  </a:lnTo>
                  <a:lnTo>
                    <a:pt x="3758" y="1020"/>
                  </a:lnTo>
                  <a:lnTo>
                    <a:pt x="3756" y="1033"/>
                  </a:lnTo>
                  <a:lnTo>
                    <a:pt x="3755" y="1047"/>
                  </a:lnTo>
                  <a:lnTo>
                    <a:pt x="3757" y="1074"/>
                  </a:lnTo>
                  <a:lnTo>
                    <a:pt x="3761" y="1103"/>
                  </a:lnTo>
                  <a:lnTo>
                    <a:pt x="3762" y="1116"/>
                  </a:lnTo>
                  <a:lnTo>
                    <a:pt x="3762" y="1129"/>
                  </a:lnTo>
                  <a:lnTo>
                    <a:pt x="3761" y="1141"/>
                  </a:lnTo>
                  <a:lnTo>
                    <a:pt x="3757" y="1151"/>
                  </a:lnTo>
                  <a:lnTo>
                    <a:pt x="3755" y="1155"/>
                  </a:lnTo>
                  <a:lnTo>
                    <a:pt x="3753" y="1160"/>
                  </a:lnTo>
                  <a:lnTo>
                    <a:pt x="3749" y="1162"/>
                  </a:lnTo>
                  <a:lnTo>
                    <a:pt x="3745" y="1165"/>
                  </a:lnTo>
                  <a:lnTo>
                    <a:pt x="3739" y="1168"/>
                  </a:lnTo>
                  <a:lnTo>
                    <a:pt x="3733" y="1169"/>
                  </a:lnTo>
                  <a:lnTo>
                    <a:pt x="3726" y="1170"/>
                  </a:lnTo>
                  <a:lnTo>
                    <a:pt x="3718" y="1170"/>
                  </a:lnTo>
                  <a:lnTo>
                    <a:pt x="3709" y="1169"/>
                  </a:lnTo>
                  <a:lnTo>
                    <a:pt x="3699" y="1167"/>
                  </a:lnTo>
                  <a:lnTo>
                    <a:pt x="3687" y="1164"/>
                  </a:lnTo>
                  <a:lnTo>
                    <a:pt x="3675" y="1161"/>
                  </a:lnTo>
                  <a:lnTo>
                    <a:pt x="3645" y="1152"/>
                  </a:lnTo>
                  <a:lnTo>
                    <a:pt x="3611" y="1138"/>
                  </a:lnTo>
                  <a:lnTo>
                    <a:pt x="3592" y="1145"/>
                  </a:lnTo>
                  <a:lnTo>
                    <a:pt x="3578" y="1151"/>
                  </a:lnTo>
                  <a:lnTo>
                    <a:pt x="3564" y="1153"/>
                  </a:lnTo>
                  <a:lnTo>
                    <a:pt x="3552" y="1155"/>
                  </a:lnTo>
                  <a:lnTo>
                    <a:pt x="3531" y="1156"/>
                  </a:lnTo>
                  <a:lnTo>
                    <a:pt x="3511" y="1154"/>
                  </a:lnTo>
                  <a:lnTo>
                    <a:pt x="3502" y="1154"/>
                  </a:lnTo>
                  <a:lnTo>
                    <a:pt x="3493" y="1153"/>
                  </a:lnTo>
                  <a:lnTo>
                    <a:pt x="3483" y="1154"/>
                  </a:lnTo>
                  <a:lnTo>
                    <a:pt x="3471" y="1155"/>
                  </a:lnTo>
                  <a:lnTo>
                    <a:pt x="3459" y="1159"/>
                  </a:lnTo>
                  <a:lnTo>
                    <a:pt x="3445" y="1163"/>
                  </a:lnTo>
                  <a:lnTo>
                    <a:pt x="3430" y="1170"/>
                  </a:lnTo>
                  <a:lnTo>
                    <a:pt x="3413" y="1178"/>
                  </a:lnTo>
                  <a:lnTo>
                    <a:pt x="3403" y="1168"/>
                  </a:lnTo>
                  <a:lnTo>
                    <a:pt x="3395" y="1161"/>
                  </a:lnTo>
                  <a:lnTo>
                    <a:pt x="3387" y="1156"/>
                  </a:lnTo>
                  <a:lnTo>
                    <a:pt x="3379" y="1154"/>
                  </a:lnTo>
                  <a:lnTo>
                    <a:pt x="3371" y="1154"/>
                  </a:lnTo>
                  <a:lnTo>
                    <a:pt x="3363" y="1154"/>
                  </a:lnTo>
                  <a:lnTo>
                    <a:pt x="3356" y="1155"/>
                  </a:lnTo>
                  <a:lnTo>
                    <a:pt x="3348" y="1157"/>
                  </a:lnTo>
                  <a:lnTo>
                    <a:pt x="3347" y="1097"/>
                  </a:lnTo>
                  <a:lnTo>
                    <a:pt x="3333" y="1092"/>
                  </a:lnTo>
                  <a:lnTo>
                    <a:pt x="3319" y="1089"/>
                  </a:lnTo>
                  <a:lnTo>
                    <a:pt x="3305" y="1085"/>
                  </a:lnTo>
                  <a:lnTo>
                    <a:pt x="3291" y="1082"/>
                  </a:lnTo>
                  <a:lnTo>
                    <a:pt x="3261" y="1079"/>
                  </a:lnTo>
                  <a:lnTo>
                    <a:pt x="3230" y="1076"/>
                  </a:lnTo>
                  <a:lnTo>
                    <a:pt x="3199" y="1076"/>
                  </a:lnTo>
                  <a:lnTo>
                    <a:pt x="3168" y="1077"/>
                  </a:lnTo>
                  <a:lnTo>
                    <a:pt x="3137" y="1081"/>
                  </a:lnTo>
                  <a:lnTo>
                    <a:pt x="3108" y="1085"/>
                  </a:lnTo>
                  <a:lnTo>
                    <a:pt x="3075" y="1090"/>
                  </a:lnTo>
                  <a:lnTo>
                    <a:pt x="3041" y="1095"/>
                  </a:lnTo>
                  <a:lnTo>
                    <a:pt x="3011" y="1098"/>
                  </a:lnTo>
                  <a:lnTo>
                    <a:pt x="2981" y="1101"/>
                  </a:lnTo>
                  <a:lnTo>
                    <a:pt x="2950" y="1105"/>
                  </a:lnTo>
                  <a:lnTo>
                    <a:pt x="2919" y="1108"/>
                  </a:lnTo>
                  <a:lnTo>
                    <a:pt x="2887" y="1113"/>
                  </a:lnTo>
                  <a:lnTo>
                    <a:pt x="2854" y="1119"/>
                  </a:lnTo>
                  <a:lnTo>
                    <a:pt x="2821" y="1127"/>
                  </a:lnTo>
                  <a:lnTo>
                    <a:pt x="2791" y="1135"/>
                  </a:lnTo>
                  <a:lnTo>
                    <a:pt x="2764" y="1143"/>
                  </a:lnTo>
                  <a:lnTo>
                    <a:pt x="2738" y="1151"/>
                  </a:lnTo>
                  <a:lnTo>
                    <a:pt x="2714" y="1160"/>
                  </a:lnTo>
                  <a:lnTo>
                    <a:pt x="2690" y="1168"/>
                  </a:lnTo>
                  <a:lnTo>
                    <a:pt x="2666" y="1175"/>
                  </a:lnTo>
                  <a:lnTo>
                    <a:pt x="2640" y="1181"/>
                  </a:lnTo>
                  <a:lnTo>
                    <a:pt x="2625" y="1153"/>
                  </a:lnTo>
                  <a:lnTo>
                    <a:pt x="2606" y="1115"/>
                  </a:lnTo>
                  <a:lnTo>
                    <a:pt x="2598" y="1096"/>
                  </a:lnTo>
                  <a:lnTo>
                    <a:pt x="2590" y="1076"/>
                  </a:lnTo>
                  <a:lnTo>
                    <a:pt x="2587" y="1068"/>
                  </a:lnTo>
                  <a:lnTo>
                    <a:pt x="2585" y="1059"/>
                  </a:lnTo>
                  <a:lnTo>
                    <a:pt x="2584" y="1051"/>
                  </a:lnTo>
                  <a:lnTo>
                    <a:pt x="2583" y="1043"/>
                  </a:lnTo>
                  <a:lnTo>
                    <a:pt x="2583" y="997"/>
                  </a:lnTo>
                  <a:lnTo>
                    <a:pt x="2584" y="980"/>
                  </a:lnTo>
                  <a:lnTo>
                    <a:pt x="2585" y="967"/>
                  </a:lnTo>
                  <a:lnTo>
                    <a:pt x="2587" y="954"/>
                  </a:lnTo>
                  <a:lnTo>
                    <a:pt x="2591" y="943"/>
                  </a:lnTo>
                  <a:lnTo>
                    <a:pt x="2599" y="921"/>
                  </a:lnTo>
                  <a:lnTo>
                    <a:pt x="2606" y="895"/>
                  </a:lnTo>
                  <a:lnTo>
                    <a:pt x="2641" y="905"/>
                  </a:lnTo>
                  <a:lnTo>
                    <a:pt x="2642" y="893"/>
                  </a:lnTo>
                  <a:lnTo>
                    <a:pt x="2645" y="882"/>
                  </a:lnTo>
                  <a:lnTo>
                    <a:pt x="2647" y="871"/>
                  </a:lnTo>
                  <a:lnTo>
                    <a:pt x="2650" y="860"/>
                  </a:lnTo>
                  <a:lnTo>
                    <a:pt x="2657" y="840"/>
                  </a:lnTo>
                  <a:lnTo>
                    <a:pt x="2665" y="818"/>
                  </a:lnTo>
                  <a:lnTo>
                    <a:pt x="2673" y="796"/>
                  </a:lnTo>
                  <a:lnTo>
                    <a:pt x="2680" y="771"/>
                  </a:lnTo>
                  <a:lnTo>
                    <a:pt x="2682" y="757"/>
                  </a:lnTo>
                  <a:lnTo>
                    <a:pt x="2685" y="742"/>
                  </a:lnTo>
                  <a:lnTo>
                    <a:pt x="2686" y="728"/>
                  </a:lnTo>
                  <a:lnTo>
                    <a:pt x="2687" y="710"/>
                  </a:lnTo>
                  <a:lnTo>
                    <a:pt x="2687" y="675"/>
                  </a:lnTo>
                  <a:lnTo>
                    <a:pt x="2664" y="675"/>
                  </a:lnTo>
                  <a:lnTo>
                    <a:pt x="2663" y="625"/>
                  </a:lnTo>
                  <a:lnTo>
                    <a:pt x="2661" y="576"/>
                  </a:lnTo>
                  <a:lnTo>
                    <a:pt x="2658" y="553"/>
                  </a:lnTo>
                  <a:lnTo>
                    <a:pt x="2656" y="530"/>
                  </a:lnTo>
                  <a:lnTo>
                    <a:pt x="2653" y="507"/>
                  </a:lnTo>
                  <a:lnTo>
                    <a:pt x="2649" y="486"/>
                  </a:lnTo>
                  <a:lnTo>
                    <a:pt x="2643" y="465"/>
                  </a:lnTo>
                  <a:lnTo>
                    <a:pt x="2639" y="445"/>
                  </a:lnTo>
                  <a:lnTo>
                    <a:pt x="2632" y="426"/>
                  </a:lnTo>
                  <a:lnTo>
                    <a:pt x="2625" y="406"/>
                  </a:lnTo>
                  <a:lnTo>
                    <a:pt x="2616" y="389"/>
                  </a:lnTo>
                  <a:lnTo>
                    <a:pt x="2607" y="372"/>
                  </a:lnTo>
                  <a:lnTo>
                    <a:pt x="2597" y="355"/>
                  </a:lnTo>
                  <a:lnTo>
                    <a:pt x="2585" y="340"/>
                  </a:lnTo>
                  <a:lnTo>
                    <a:pt x="2576" y="329"/>
                  </a:lnTo>
                  <a:lnTo>
                    <a:pt x="2566" y="317"/>
                  </a:lnTo>
                  <a:lnTo>
                    <a:pt x="2553" y="306"/>
                  </a:lnTo>
                  <a:lnTo>
                    <a:pt x="2541" y="293"/>
                  </a:lnTo>
                  <a:lnTo>
                    <a:pt x="2526" y="282"/>
                  </a:lnTo>
                  <a:lnTo>
                    <a:pt x="2510" y="269"/>
                  </a:lnTo>
                  <a:lnTo>
                    <a:pt x="2494" y="257"/>
                  </a:lnTo>
                  <a:lnTo>
                    <a:pt x="2477" y="245"/>
                  </a:lnTo>
                  <a:lnTo>
                    <a:pt x="2458" y="235"/>
                  </a:lnTo>
                  <a:lnTo>
                    <a:pt x="2440" y="225"/>
                  </a:lnTo>
                  <a:lnTo>
                    <a:pt x="2422" y="216"/>
                  </a:lnTo>
                  <a:lnTo>
                    <a:pt x="2402" y="208"/>
                  </a:lnTo>
                  <a:lnTo>
                    <a:pt x="2384" y="201"/>
                  </a:lnTo>
                  <a:lnTo>
                    <a:pt x="2366" y="196"/>
                  </a:lnTo>
                  <a:lnTo>
                    <a:pt x="2347" y="194"/>
                  </a:lnTo>
                  <a:lnTo>
                    <a:pt x="2330" y="193"/>
                  </a:lnTo>
                  <a:lnTo>
                    <a:pt x="2307" y="193"/>
                  </a:lnTo>
                  <a:lnTo>
                    <a:pt x="2291" y="193"/>
                  </a:lnTo>
                  <a:lnTo>
                    <a:pt x="2275" y="194"/>
                  </a:lnTo>
                  <a:lnTo>
                    <a:pt x="2259" y="196"/>
                  </a:lnTo>
                  <a:lnTo>
                    <a:pt x="2243" y="200"/>
                  </a:lnTo>
                  <a:lnTo>
                    <a:pt x="2227" y="203"/>
                  </a:lnTo>
                  <a:lnTo>
                    <a:pt x="2212" y="208"/>
                  </a:lnTo>
                  <a:lnTo>
                    <a:pt x="2196" y="213"/>
                  </a:lnTo>
                  <a:lnTo>
                    <a:pt x="2182" y="220"/>
                  </a:lnTo>
                  <a:lnTo>
                    <a:pt x="2167" y="227"/>
                  </a:lnTo>
                  <a:lnTo>
                    <a:pt x="2152" y="235"/>
                  </a:lnTo>
                  <a:lnTo>
                    <a:pt x="2137" y="243"/>
                  </a:lnTo>
                  <a:lnTo>
                    <a:pt x="2123" y="252"/>
                  </a:lnTo>
                  <a:lnTo>
                    <a:pt x="2110" y="261"/>
                  </a:lnTo>
                  <a:lnTo>
                    <a:pt x="2096" y="272"/>
                  </a:lnTo>
                  <a:lnTo>
                    <a:pt x="2083" y="282"/>
                  </a:lnTo>
                  <a:lnTo>
                    <a:pt x="2071" y="293"/>
                  </a:lnTo>
                  <a:lnTo>
                    <a:pt x="2059" y="306"/>
                  </a:lnTo>
                  <a:lnTo>
                    <a:pt x="2048" y="317"/>
                  </a:lnTo>
                  <a:lnTo>
                    <a:pt x="2036" y="330"/>
                  </a:lnTo>
                  <a:lnTo>
                    <a:pt x="2026" y="344"/>
                  </a:lnTo>
                  <a:lnTo>
                    <a:pt x="2017" y="357"/>
                  </a:lnTo>
                  <a:lnTo>
                    <a:pt x="2008" y="371"/>
                  </a:lnTo>
                  <a:lnTo>
                    <a:pt x="2000" y="386"/>
                  </a:lnTo>
                  <a:lnTo>
                    <a:pt x="1992" y="400"/>
                  </a:lnTo>
                  <a:lnTo>
                    <a:pt x="1985" y="414"/>
                  </a:lnTo>
                  <a:lnTo>
                    <a:pt x="1979" y="430"/>
                  </a:lnTo>
                  <a:lnTo>
                    <a:pt x="1973" y="445"/>
                  </a:lnTo>
                  <a:lnTo>
                    <a:pt x="1970" y="461"/>
                  </a:lnTo>
                  <a:lnTo>
                    <a:pt x="1967" y="477"/>
                  </a:lnTo>
                  <a:lnTo>
                    <a:pt x="1964" y="493"/>
                  </a:lnTo>
                  <a:lnTo>
                    <a:pt x="1962" y="509"/>
                  </a:lnTo>
                  <a:lnTo>
                    <a:pt x="1962" y="525"/>
                  </a:lnTo>
                  <a:lnTo>
                    <a:pt x="1962" y="652"/>
                  </a:lnTo>
                  <a:lnTo>
                    <a:pt x="1924" y="670"/>
                  </a:lnTo>
                  <a:lnTo>
                    <a:pt x="1979" y="881"/>
                  </a:lnTo>
                  <a:lnTo>
                    <a:pt x="2007" y="876"/>
                  </a:lnTo>
                  <a:lnTo>
                    <a:pt x="2012" y="890"/>
                  </a:lnTo>
                  <a:lnTo>
                    <a:pt x="2017" y="900"/>
                  </a:lnTo>
                  <a:lnTo>
                    <a:pt x="2019" y="912"/>
                  </a:lnTo>
                  <a:lnTo>
                    <a:pt x="2019" y="929"/>
                  </a:lnTo>
                  <a:lnTo>
                    <a:pt x="2019" y="952"/>
                  </a:lnTo>
                  <a:lnTo>
                    <a:pt x="2019" y="959"/>
                  </a:lnTo>
                  <a:lnTo>
                    <a:pt x="2017" y="965"/>
                  </a:lnTo>
                  <a:lnTo>
                    <a:pt x="2015" y="972"/>
                  </a:lnTo>
                  <a:lnTo>
                    <a:pt x="2011" y="979"/>
                  </a:lnTo>
                  <a:lnTo>
                    <a:pt x="2007" y="986"/>
                  </a:lnTo>
                  <a:lnTo>
                    <a:pt x="2002" y="993"/>
                  </a:lnTo>
                  <a:lnTo>
                    <a:pt x="1995" y="1000"/>
                  </a:lnTo>
                  <a:lnTo>
                    <a:pt x="1988" y="1007"/>
                  </a:lnTo>
                  <a:lnTo>
                    <a:pt x="1973" y="1020"/>
                  </a:lnTo>
                  <a:lnTo>
                    <a:pt x="1955" y="1034"/>
                  </a:lnTo>
                  <a:lnTo>
                    <a:pt x="1935" y="1047"/>
                  </a:lnTo>
                  <a:lnTo>
                    <a:pt x="1912" y="1058"/>
                  </a:lnTo>
                  <a:lnTo>
                    <a:pt x="1889" y="1069"/>
                  </a:lnTo>
                  <a:lnTo>
                    <a:pt x="1864" y="1079"/>
                  </a:lnTo>
                  <a:lnTo>
                    <a:pt x="1839" y="1087"/>
                  </a:lnTo>
                  <a:lnTo>
                    <a:pt x="1812" y="1093"/>
                  </a:lnTo>
                  <a:lnTo>
                    <a:pt x="1787" y="1097"/>
                  </a:lnTo>
                  <a:lnTo>
                    <a:pt x="1762" y="1099"/>
                  </a:lnTo>
                  <a:lnTo>
                    <a:pt x="1749" y="1100"/>
                  </a:lnTo>
                  <a:lnTo>
                    <a:pt x="1737" y="1099"/>
                  </a:lnTo>
                  <a:lnTo>
                    <a:pt x="1725" y="1098"/>
                  </a:lnTo>
                  <a:lnTo>
                    <a:pt x="1713" y="1097"/>
                  </a:lnTo>
                  <a:lnTo>
                    <a:pt x="1673" y="1090"/>
                  </a:lnTo>
                  <a:lnTo>
                    <a:pt x="1624" y="1083"/>
                  </a:lnTo>
                  <a:lnTo>
                    <a:pt x="1568" y="1076"/>
                  </a:lnTo>
                  <a:lnTo>
                    <a:pt x="1508" y="1069"/>
                  </a:lnTo>
                  <a:lnTo>
                    <a:pt x="1449" y="1064"/>
                  </a:lnTo>
                  <a:lnTo>
                    <a:pt x="1394" y="1059"/>
                  </a:lnTo>
                  <a:lnTo>
                    <a:pt x="1345" y="1056"/>
                  </a:lnTo>
                  <a:lnTo>
                    <a:pt x="1306" y="1055"/>
                  </a:lnTo>
                  <a:lnTo>
                    <a:pt x="1305" y="1068"/>
                  </a:lnTo>
                  <a:close/>
                </a:path>
              </a:pathLst>
            </a:custGeom>
            <a:grpFill/>
            <a:ln>
              <a:noFill/>
            </a:ln>
          </p:spPr>
          <p:txBody>
            <a:bodyPr vert="horz" anchor="t" wrap="square" tIns="45720" lIns="91440" bIns="45720" rIns="91440">
              <a:prstTxWarp prst="textNoShape">
                <a:avLst/>
              </a:prstTxWarp>
            </a:bodyPr>
            <a:p>
              <a:pPr fontAlgn="auto" algn="l" indent="0" marR="0" marL="0">
                <a:lnSpc>
                  <a:spcPct val="100000"/>
                </a:lnSpc>
                <a:spcBef>
                  <a:spcPct val="0"/>
                </a:spcBef>
                <a:spcAft>
                  <a:spcPct val="0"/>
                </a:spcAft>
                <a:buNone/>
              </a:pPr>
            </a:p>
          </p:txBody>
        </p:sp>
        <p:sp>
          <p:nvSpPr>
            <p:cNvPr name="Freeform 19" id="19"/>
            <p:cNvSpPr/>
            <p:nvPr/>
          </p:nvSpPr>
          <p:spPr>
            <a:xfrm>
              <a:off x="1851025" y="1609726"/>
              <a:ext cx="88900" cy="525463"/>
            </a:xfrm>
            <a:custGeom>
              <a:avLst/>
              <a:gdLst/>
              <a:ahLst/>
              <a:cxnLst/>
              <a:rect r="r" b="b" t="t" l="l"/>
              <a:pathLst>
                <a:path w="333" h="1983" stroke="true" fill="norm" extrusionOk="true">
                  <a:moveTo>
                    <a:pt x="73" y="1"/>
                  </a:moveTo>
                  <a:lnTo>
                    <a:pt x="0" y="1667"/>
                  </a:lnTo>
                  <a:lnTo>
                    <a:pt x="185" y="1983"/>
                  </a:lnTo>
                  <a:lnTo>
                    <a:pt x="333" y="1759"/>
                  </a:lnTo>
                  <a:lnTo>
                    <a:pt x="218" y="0"/>
                  </a:lnTo>
                  <a:lnTo>
                    <a:pt x="73" y="1"/>
                  </a:lnTo>
                  <a:close/>
                </a:path>
              </a:pathLst>
            </a:custGeom>
            <a:grpFill/>
            <a:ln>
              <a:noFill/>
            </a:ln>
          </p:spPr>
          <p:txBody>
            <a:bodyPr vert="horz" anchor="t" wrap="square" tIns="45720" lIns="91440" bIns="45720" rIns="91440">
              <a:prstTxWarp prst="textNoShape">
                <a:avLst/>
              </a:prstTxWarp>
            </a:bodyPr>
            <a:p>
              <a:pPr fontAlgn="auto" algn="l" indent="0" marR="0" marL="0">
                <a:lnSpc>
                  <a:spcPct val="100000"/>
                </a:lnSpc>
                <a:spcBef>
                  <a:spcPct val="0"/>
                </a:spcBef>
                <a:spcAft>
                  <a:spcPct val="0"/>
                </a:spcAft>
                <a:buNone/>
              </a:pPr>
            </a:p>
          </p:txBody>
        </p:sp>
      </p:grpSp>
      <p:grpSp>
        <p:nvGrpSpPr>
          <p:cNvPr name="Group 20" id="20"/>
          <p:cNvGrpSpPr/>
          <p:nvPr/>
        </p:nvGrpSpPr>
        <p:grpSpPr>
          <a:xfrm>
            <a:off x="3811669" y="3659544"/>
            <a:ext cx="654460" cy="1315956"/>
            <a:chOff x="6213477" y="3922716"/>
            <a:chExt cx="1033463" cy="2078038"/>
          </a:xfrm>
          <a:solidFill>
            <a:srgbClr val="004C0B"/>
          </a:solidFill>
        </p:grpSpPr>
        <p:sp>
          <p:nvSpPr>
            <p:cNvPr name="Freeform 21" id="21"/>
            <p:cNvSpPr/>
            <p:nvPr/>
          </p:nvSpPr>
          <p:spPr>
            <a:xfrm>
              <a:off x="6213477" y="3922716"/>
              <a:ext cx="1033463" cy="2078038"/>
            </a:xfrm>
            <a:custGeom>
              <a:avLst/>
              <a:gdLst/>
              <a:ahLst/>
              <a:cxnLst/>
              <a:rect r="r" b="b" t="t" l="l"/>
              <a:pathLst>
                <a:path w="3903" h="7854" stroke="true" fill="norm" extrusionOk="true">
                  <a:moveTo>
                    <a:pt x="1058" y="2210"/>
                  </a:moveTo>
                  <a:lnTo>
                    <a:pt x="1054" y="2213"/>
                  </a:lnTo>
                  <a:lnTo>
                    <a:pt x="1048" y="2218"/>
                  </a:lnTo>
                  <a:lnTo>
                    <a:pt x="1042" y="2225"/>
                  </a:lnTo>
                  <a:lnTo>
                    <a:pt x="1037" y="2233"/>
                  </a:lnTo>
                  <a:lnTo>
                    <a:pt x="1024" y="2254"/>
                  </a:lnTo>
                  <a:lnTo>
                    <a:pt x="1013" y="2274"/>
                  </a:lnTo>
                  <a:lnTo>
                    <a:pt x="1006" y="2285"/>
                  </a:lnTo>
                  <a:lnTo>
                    <a:pt x="999" y="2294"/>
                  </a:lnTo>
                  <a:lnTo>
                    <a:pt x="992" y="2302"/>
                  </a:lnTo>
                  <a:lnTo>
                    <a:pt x="985" y="2309"/>
                  </a:lnTo>
                  <a:lnTo>
                    <a:pt x="982" y="2311"/>
                  </a:lnTo>
                  <a:lnTo>
                    <a:pt x="978" y="2312"/>
                  </a:lnTo>
                  <a:lnTo>
                    <a:pt x="974" y="2313"/>
                  </a:lnTo>
                  <a:lnTo>
                    <a:pt x="970" y="2314"/>
                  </a:lnTo>
                  <a:lnTo>
                    <a:pt x="967" y="2314"/>
                  </a:lnTo>
                  <a:lnTo>
                    <a:pt x="962" y="2313"/>
                  </a:lnTo>
                  <a:lnTo>
                    <a:pt x="959" y="2311"/>
                  </a:lnTo>
                  <a:lnTo>
                    <a:pt x="954" y="2309"/>
                  </a:lnTo>
                  <a:lnTo>
                    <a:pt x="942" y="2323"/>
                  </a:lnTo>
                  <a:lnTo>
                    <a:pt x="930" y="2335"/>
                  </a:lnTo>
                  <a:lnTo>
                    <a:pt x="919" y="2344"/>
                  </a:lnTo>
                  <a:lnTo>
                    <a:pt x="909" y="2351"/>
                  </a:lnTo>
                  <a:lnTo>
                    <a:pt x="899" y="2355"/>
                  </a:lnTo>
                  <a:lnTo>
                    <a:pt x="890" y="2359"/>
                  </a:lnTo>
                  <a:lnTo>
                    <a:pt x="881" y="2361"/>
                  </a:lnTo>
                  <a:lnTo>
                    <a:pt x="873" y="2363"/>
                  </a:lnTo>
                  <a:lnTo>
                    <a:pt x="855" y="2368"/>
                  </a:lnTo>
                  <a:lnTo>
                    <a:pt x="835" y="2375"/>
                  </a:lnTo>
                  <a:lnTo>
                    <a:pt x="825" y="2381"/>
                  </a:lnTo>
                  <a:lnTo>
                    <a:pt x="814" y="2387"/>
                  </a:lnTo>
                  <a:lnTo>
                    <a:pt x="802" y="2398"/>
                  </a:lnTo>
                  <a:lnTo>
                    <a:pt x="788" y="2410"/>
                  </a:lnTo>
                  <a:lnTo>
                    <a:pt x="752" y="2407"/>
                  </a:lnTo>
                  <a:lnTo>
                    <a:pt x="722" y="2406"/>
                  </a:lnTo>
                  <a:lnTo>
                    <a:pt x="710" y="2406"/>
                  </a:lnTo>
                  <a:lnTo>
                    <a:pt x="698" y="2407"/>
                  </a:lnTo>
                  <a:lnTo>
                    <a:pt x="689" y="2408"/>
                  </a:lnTo>
                  <a:lnTo>
                    <a:pt x="680" y="2410"/>
                  </a:lnTo>
                  <a:lnTo>
                    <a:pt x="673" y="2413"/>
                  </a:lnTo>
                  <a:lnTo>
                    <a:pt x="666" y="2415"/>
                  </a:lnTo>
                  <a:lnTo>
                    <a:pt x="662" y="2418"/>
                  </a:lnTo>
                  <a:lnTo>
                    <a:pt x="657" y="2423"/>
                  </a:lnTo>
                  <a:lnTo>
                    <a:pt x="655" y="2426"/>
                  </a:lnTo>
                  <a:lnTo>
                    <a:pt x="652" y="2431"/>
                  </a:lnTo>
                  <a:lnTo>
                    <a:pt x="651" y="2435"/>
                  </a:lnTo>
                  <a:lnTo>
                    <a:pt x="650" y="2441"/>
                  </a:lnTo>
                  <a:lnTo>
                    <a:pt x="651" y="2453"/>
                  </a:lnTo>
                  <a:lnTo>
                    <a:pt x="654" y="2465"/>
                  </a:lnTo>
                  <a:lnTo>
                    <a:pt x="658" y="2478"/>
                  </a:lnTo>
                  <a:lnTo>
                    <a:pt x="664" y="2491"/>
                  </a:lnTo>
                  <a:lnTo>
                    <a:pt x="678" y="2520"/>
                  </a:lnTo>
                  <a:lnTo>
                    <a:pt x="688" y="2547"/>
                  </a:lnTo>
                  <a:lnTo>
                    <a:pt x="691" y="2562"/>
                  </a:lnTo>
                  <a:lnTo>
                    <a:pt x="694" y="2575"/>
                  </a:lnTo>
                  <a:lnTo>
                    <a:pt x="695" y="2589"/>
                  </a:lnTo>
                  <a:lnTo>
                    <a:pt x="696" y="2602"/>
                  </a:lnTo>
                  <a:lnTo>
                    <a:pt x="696" y="2629"/>
                  </a:lnTo>
                  <a:lnTo>
                    <a:pt x="697" y="2656"/>
                  </a:lnTo>
                  <a:lnTo>
                    <a:pt x="698" y="2670"/>
                  </a:lnTo>
                  <a:lnTo>
                    <a:pt x="702" y="2685"/>
                  </a:lnTo>
                  <a:lnTo>
                    <a:pt x="705" y="2699"/>
                  </a:lnTo>
                  <a:lnTo>
                    <a:pt x="711" y="2715"/>
                  </a:lnTo>
                  <a:lnTo>
                    <a:pt x="718" y="2731"/>
                  </a:lnTo>
                  <a:lnTo>
                    <a:pt x="728" y="2749"/>
                  </a:lnTo>
                  <a:lnTo>
                    <a:pt x="740" y="2767"/>
                  </a:lnTo>
                  <a:lnTo>
                    <a:pt x="755" y="2785"/>
                  </a:lnTo>
                  <a:lnTo>
                    <a:pt x="1094" y="3121"/>
                  </a:lnTo>
                  <a:lnTo>
                    <a:pt x="1096" y="3114"/>
                  </a:lnTo>
                  <a:lnTo>
                    <a:pt x="1096" y="3096"/>
                  </a:lnTo>
                  <a:lnTo>
                    <a:pt x="1097" y="3078"/>
                  </a:lnTo>
                  <a:lnTo>
                    <a:pt x="1098" y="3070"/>
                  </a:lnTo>
                  <a:lnTo>
                    <a:pt x="1098" y="3018"/>
                  </a:lnTo>
                  <a:lnTo>
                    <a:pt x="1098" y="2966"/>
                  </a:lnTo>
                  <a:lnTo>
                    <a:pt x="1096" y="2913"/>
                  </a:lnTo>
                  <a:lnTo>
                    <a:pt x="1095" y="2860"/>
                  </a:lnTo>
                  <a:lnTo>
                    <a:pt x="1091" y="2805"/>
                  </a:lnTo>
                  <a:lnTo>
                    <a:pt x="1089" y="2750"/>
                  </a:lnTo>
                  <a:lnTo>
                    <a:pt x="1086" y="2695"/>
                  </a:lnTo>
                  <a:lnTo>
                    <a:pt x="1082" y="2640"/>
                  </a:lnTo>
                  <a:lnTo>
                    <a:pt x="1079" y="2585"/>
                  </a:lnTo>
                  <a:lnTo>
                    <a:pt x="1075" y="2530"/>
                  </a:lnTo>
                  <a:lnTo>
                    <a:pt x="1072" y="2475"/>
                  </a:lnTo>
                  <a:lnTo>
                    <a:pt x="1069" y="2422"/>
                  </a:lnTo>
                  <a:lnTo>
                    <a:pt x="1065" y="2368"/>
                  </a:lnTo>
                  <a:lnTo>
                    <a:pt x="1063" y="2314"/>
                  </a:lnTo>
                  <a:lnTo>
                    <a:pt x="1061" y="2262"/>
                  </a:lnTo>
                  <a:lnTo>
                    <a:pt x="1058" y="2210"/>
                  </a:lnTo>
                  <a:close/>
                  <a:moveTo>
                    <a:pt x="1099" y="4258"/>
                  </a:moveTo>
                  <a:lnTo>
                    <a:pt x="1091" y="4316"/>
                  </a:lnTo>
                  <a:lnTo>
                    <a:pt x="1085" y="4369"/>
                  </a:lnTo>
                  <a:lnTo>
                    <a:pt x="1079" y="4421"/>
                  </a:lnTo>
                  <a:lnTo>
                    <a:pt x="1075" y="4470"/>
                  </a:lnTo>
                  <a:lnTo>
                    <a:pt x="1072" y="4518"/>
                  </a:lnTo>
                  <a:lnTo>
                    <a:pt x="1071" y="4565"/>
                  </a:lnTo>
                  <a:lnTo>
                    <a:pt x="1070" y="4613"/>
                  </a:lnTo>
                  <a:lnTo>
                    <a:pt x="1070" y="4662"/>
                  </a:lnTo>
                  <a:lnTo>
                    <a:pt x="1070" y="4711"/>
                  </a:lnTo>
                  <a:lnTo>
                    <a:pt x="1067" y="4760"/>
                  </a:lnTo>
                  <a:lnTo>
                    <a:pt x="1064" y="4809"/>
                  </a:lnTo>
                  <a:lnTo>
                    <a:pt x="1061" y="4859"/>
                  </a:lnTo>
                  <a:lnTo>
                    <a:pt x="1057" y="4909"/>
                  </a:lnTo>
                  <a:lnTo>
                    <a:pt x="1055" y="4958"/>
                  </a:lnTo>
                  <a:lnTo>
                    <a:pt x="1053" y="5007"/>
                  </a:lnTo>
                  <a:lnTo>
                    <a:pt x="1054" y="5056"/>
                  </a:lnTo>
                  <a:lnTo>
                    <a:pt x="1055" y="5094"/>
                  </a:lnTo>
                  <a:lnTo>
                    <a:pt x="1055" y="5136"/>
                  </a:lnTo>
                  <a:lnTo>
                    <a:pt x="1054" y="5183"/>
                  </a:lnTo>
                  <a:lnTo>
                    <a:pt x="1053" y="5232"/>
                  </a:lnTo>
                  <a:lnTo>
                    <a:pt x="1049" y="5337"/>
                  </a:lnTo>
                  <a:lnTo>
                    <a:pt x="1043" y="5448"/>
                  </a:lnTo>
                  <a:lnTo>
                    <a:pt x="1037" y="5560"/>
                  </a:lnTo>
                  <a:lnTo>
                    <a:pt x="1027" y="5667"/>
                  </a:lnTo>
                  <a:lnTo>
                    <a:pt x="1023" y="5716"/>
                  </a:lnTo>
                  <a:lnTo>
                    <a:pt x="1018" y="5763"/>
                  </a:lnTo>
                  <a:lnTo>
                    <a:pt x="1013" y="5806"/>
                  </a:lnTo>
                  <a:lnTo>
                    <a:pt x="1008" y="5845"/>
                  </a:lnTo>
                  <a:lnTo>
                    <a:pt x="1001" y="5895"/>
                  </a:lnTo>
                  <a:lnTo>
                    <a:pt x="995" y="5945"/>
                  </a:lnTo>
                  <a:lnTo>
                    <a:pt x="991" y="5995"/>
                  </a:lnTo>
                  <a:lnTo>
                    <a:pt x="987" y="6045"/>
                  </a:lnTo>
                  <a:lnTo>
                    <a:pt x="985" y="6094"/>
                  </a:lnTo>
                  <a:lnTo>
                    <a:pt x="983" y="6143"/>
                  </a:lnTo>
                  <a:lnTo>
                    <a:pt x="982" y="6192"/>
                  </a:lnTo>
                  <a:lnTo>
                    <a:pt x="982" y="6240"/>
                  </a:lnTo>
                  <a:lnTo>
                    <a:pt x="981" y="6337"/>
                  </a:lnTo>
                  <a:lnTo>
                    <a:pt x="982" y="6433"/>
                  </a:lnTo>
                  <a:lnTo>
                    <a:pt x="982" y="6527"/>
                  </a:lnTo>
                  <a:lnTo>
                    <a:pt x="979" y="6621"/>
                  </a:lnTo>
                  <a:lnTo>
                    <a:pt x="979" y="6663"/>
                  </a:lnTo>
                  <a:lnTo>
                    <a:pt x="978" y="6711"/>
                  </a:lnTo>
                  <a:lnTo>
                    <a:pt x="977" y="6761"/>
                  </a:lnTo>
                  <a:lnTo>
                    <a:pt x="977" y="6814"/>
                  </a:lnTo>
                  <a:lnTo>
                    <a:pt x="977" y="6865"/>
                  </a:lnTo>
                  <a:lnTo>
                    <a:pt x="979" y="6915"/>
                  </a:lnTo>
                  <a:lnTo>
                    <a:pt x="982" y="6938"/>
                  </a:lnTo>
                  <a:lnTo>
                    <a:pt x="984" y="6958"/>
                  </a:lnTo>
                  <a:lnTo>
                    <a:pt x="986" y="6978"/>
                  </a:lnTo>
                  <a:lnTo>
                    <a:pt x="990" y="6995"/>
                  </a:lnTo>
                  <a:lnTo>
                    <a:pt x="995" y="7023"/>
                  </a:lnTo>
                  <a:lnTo>
                    <a:pt x="1003" y="7062"/>
                  </a:lnTo>
                  <a:lnTo>
                    <a:pt x="1011" y="7111"/>
                  </a:lnTo>
                  <a:lnTo>
                    <a:pt x="1019" y="7163"/>
                  </a:lnTo>
                  <a:lnTo>
                    <a:pt x="1026" y="7215"/>
                  </a:lnTo>
                  <a:lnTo>
                    <a:pt x="1032" y="7264"/>
                  </a:lnTo>
                  <a:lnTo>
                    <a:pt x="1033" y="7286"/>
                  </a:lnTo>
                  <a:lnTo>
                    <a:pt x="1034" y="7306"/>
                  </a:lnTo>
                  <a:lnTo>
                    <a:pt x="1034" y="7322"/>
                  </a:lnTo>
                  <a:lnTo>
                    <a:pt x="1033" y="7335"/>
                  </a:lnTo>
                  <a:lnTo>
                    <a:pt x="1018" y="7356"/>
                  </a:lnTo>
                  <a:lnTo>
                    <a:pt x="985" y="7400"/>
                  </a:lnTo>
                  <a:lnTo>
                    <a:pt x="951" y="7447"/>
                  </a:lnTo>
                  <a:lnTo>
                    <a:pt x="930" y="7476"/>
                  </a:lnTo>
                  <a:lnTo>
                    <a:pt x="925" y="7487"/>
                  </a:lnTo>
                  <a:lnTo>
                    <a:pt x="917" y="7509"/>
                  </a:lnTo>
                  <a:lnTo>
                    <a:pt x="905" y="7538"/>
                  </a:lnTo>
                  <a:lnTo>
                    <a:pt x="894" y="7570"/>
                  </a:lnTo>
                  <a:lnTo>
                    <a:pt x="882" y="7603"/>
                  </a:lnTo>
                  <a:lnTo>
                    <a:pt x="872" y="7631"/>
                  </a:lnTo>
                  <a:lnTo>
                    <a:pt x="865" y="7653"/>
                  </a:lnTo>
                  <a:lnTo>
                    <a:pt x="862" y="7664"/>
                  </a:lnTo>
                  <a:lnTo>
                    <a:pt x="860" y="7674"/>
                  </a:lnTo>
                  <a:lnTo>
                    <a:pt x="857" y="7699"/>
                  </a:lnTo>
                  <a:lnTo>
                    <a:pt x="857" y="7720"/>
                  </a:lnTo>
                  <a:lnTo>
                    <a:pt x="858" y="7730"/>
                  </a:lnTo>
                  <a:lnTo>
                    <a:pt x="859" y="7738"/>
                  </a:lnTo>
                  <a:lnTo>
                    <a:pt x="860" y="7746"/>
                  </a:lnTo>
                  <a:lnTo>
                    <a:pt x="863" y="7752"/>
                  </a:lnTo>
                  <a:lnTo>
                    <a:pt x="865" y="7759"/>
                  </a:lnTo>
                  <a:lnTo>
                    <a:pt x="867" y="7765"/>
                  </a:lnTo>
                  <a:lnTo>
                    <a:pt x="871" y="7770"/>
                  </a:lnTo>
                  <a:lnTo>
                    <a:pt x="874" y="7774"/>
                  </a:lnTo>
                  <a:lnTo>
                    <a:pt x="882" y="7782"/>
                  </a:lnTo>
                  <a:lnTo>
                    <a:pt x="891" y="7788"/>
                  </a:lnTo>
                  <a:lnTo>
                    <a:pt x="902" y="7794"/>
                  </a:lnTo>
                  <a:lnTo>
                    <a:pt x="912" y="7797"/>
                  </a:lnTo>
                  <a:lnTo>
                    <a:pt x="922" y="7802"/>
                  </a:lnTo>
                  <a:lnTo>
                    <a:pt x="933" y="7805"/>
                  </a:lnTo>
                  <a:lnTo>
                    <a:pt x="944" y="7808"/>
                  </a:lnTo>
                  <a:lnTo>
                    <a:pt x="954" y="7813"/>
                  </a:lnTo>
                  <a:lnTo>
                    <a:pt x="965" y="7819"/>
                  </a:lnTo>
                  <a:lnTo>
                    <a:pt x="974" y="7826"/>
                  </a:lnTo>
                  <a:lnTo>
                    <a:pt x="1177" y="7854"/>
                  </a:lnTo>
                  <a:lnTo>
                    <a:pt x="1230" y="7834"/>
                  </a:lnTo>
                  <a:lnTo>
                    <a:pt x="1266" y="7820"/>
                  </a:lnTo>
                  <a:lnTo>
                    <a:pt x="1281" y="7814"/>
                  </a:lnTo>
                  <a:lnTo>
                    <a:pt x="1293" y="7808"/>
                  </a:lnTo>
                  <a:lnTo>
                    <a:pt x="1302" y="7803"/>
                  </a:lnTo>
                  <a:lnTo>
                    <a:pt x="1310" y="7796"/>
                  </a:lnTo>
                  <a:lnTo>
                    <a:pt x="1316" y="7788"/>
                  </a:lnTo>
                  <a:lnTo>
                    <a:pt x="1320" y="7778"/>
                  </a:lnTo>
                  <a:lnTo>
                    <a:pt x="1325" y="7764"/>
                  </a:lnTo>
                  <a:lnTo>
                    <a:pt x="1328" y="7746"/>
                  </a:lnTo>
                  <a:lnTo>
                    <a:pt x="1335" y="7699"/>
                  </a:lnTo>
                  <a:lnTo>
                    <a:pt x="1345" y="7629"/>
                  </a:lnTo>
                  <a:lnTo>
                    <a:pt x="1348" y="7618"/>
                  </a:lnTo>
                  <a:lnTo>
                    <a:pt x="1351" y="7608"/>
                  </a:lnTo>
                  <a:lnTo>
                    <a:pt x="1356" y="7598"/>
                  </a:lnTo>
                  <a:lnTo>
                    <a:pt x="1361" y="7589"/>
                  </a:lnTo>
                  <a:lnTo>
                    <a:pt x="1375" y="7573"/>
                  </a:lnTo>
                  <a:lnTo>
                    <a:pt x="1390" y="7557"/>
                  </a:lnTo>
                  <a:lnTo>
                    <a:pt x="1404" y="7542"/>
                  </a:lnTo>
                  <a:lnTo>
                    <a:pt x="1416" y="7525"/>
                  </a:lnTo>
                  <a:lnTo>
                    <a:pt x="1422" y="7516"/>
                  </a:lnTo>
                  <a:lnTo>
                    <a:pt x="1425" y="7507"/>
                  </a:lnTo>
                  <a:lnTo>
                    <a:pt x="1429" y="7496"/>
                  </a:lnTo>
                  <a:lnTo>
                    <a:pt x="1430" y="7485"/>
                  </a:lnTo>
                  <a:lnTo>
                    <a:pt x="1433" y="7372"/>
                  </a:lnTo>
                  <a:lnTo>
                    <a:pt x="1449" y="7354"/>
                  </a:lnTo>
                  <a:lnTo>
                    <a:pt x="1463" y="7334"/>
                  </a:lnTo>
                  <a:lnTo>
                    <a:pt x="1477" y="7312"/>
                  </a:lnTo>
                  <a:lnTo>
                    <a:pt x="1489" y="7288"/>
                  </a:lnTo>
                  <a:lnTo>
                    <a:pt x="1501" y="7263"/>
                  </a:lnTo>
                  <a:lnTo>
                    <a:pt x="1510" y="7236"/>
                  </a:lnTo>
                  <a:lnTo>
                    <a:pt x="1514" y="7222"/>
                  </a:lnTo>
                  <a:lnTo>
                    <a:pt x="1518" y="7207"/>
                  </a:lnTo>
                  <a:lnTo>
                    <a:pt x="1521" y="7192"/>
                  </a:lnTo>
                  <a:lnTo>
                    <a:pt x="1524" y="7176"/>
                  </a:lnTo>
                  <a:lnTo>
                    <a:pt x="1534" y="7106"/>
                  </a:lnTo>
                  <a:lnTo>
                    <a:pt x="1535" y="7087"/>
                  </a:lnTo>
                  <a:lnTo>
                    <a:pt x="1534" y="7068"/>
                  </a:lnTo>
                  <a:lnTo>
                    <a:pt x="1532" y="7048"/>
                  </a:lnTo>
                  <a:lnTo>
                    <a:pt x="1527" y="7028"/>
                  </a:lnTo>
                  <a:lnTo>
                    <a:pt x="1516" y="6986"/>
                  </a:lnTo>
                  <a:lnTo>
                    <a:pt x="1502" y="6943"/>
                  </a:lnTo>
                  <a:lnTo>
                    <a:pt x="1495" y="6922"/>
                  </a:lnTo>
                  <a:lnTo>
                    <a:pt x="1489" y="6900"/>
                  </a:lnTo>
                  <a:lnTo>
                    <a:pt x="1484" y="6879"/>
                  </a:lnTo>
                  <a:lnTo>
                    <a:pt x="1479" y="6859"/>
                  </a:lnTo>
                  <a:lnTo>
                    <a:pt x="1477" y="6839"/>
                  </a:lnTo>
                  <a:lnTo>
                    <a:pt x="1476" y="6821"/>
                  </a:lnTo>
                  <a:lnTo>
                    <a:pt x="1477" y="6812"/>
                  </a:lnTo>
                  <a:lnTo>
                    <a:pt x="1478" y="6804"/>
                  </a:lnTo>
                  <a:lnTo>
                    <a:pt x="1479" y="6795"/>
                  </a:lnTo>
                  <a:lnTo>
                    <a:pt x="1481" y="6787"/>
                  </a:lnTo>
                  <a:lnTo>
                    <a:pt x="1544" y="6525"/>
                  </a:lnTo>
                  <a:lnTo>
                    <a:pt x="1548" y="6504"/>
                  </a:lnTo>
                  <a:lnTo>
                    <a:pt x="1548" y="6495"/>
                  </a:lnTo>
                  <a:lnTo>
                    <a:pt x="1549" y="6486"/>
                  </a:lnTo>
                  <a:lnTo>
                    <a:pt x="1548" y="6479"/>
                  </a:lnTo>
                  <a:lnTo>
                    <a:pt x="1547" y="6472"/>
                  </a:lnTo>
                  <a:lnTo>
                    <a:pt x="1543" y="6462"/>
                  </a:lnTo>
                  <a:lnTo>
                    <a:pt x="1539" y="6454"/>
                  </a:lnTo>
                  <a:lnTo>
                    <a:pt x="1534" y="6446"/>
                  </a:lnTo>
                  <a:lnTo>
                    <a:pt x="1530" y="6438"/>
                  </a:lnTo>
                  <a:lnTo>
                    <a:pt x="1529" y="6435"/>
                  </a:lnTo>
                  <a:lnTo>
                    <a:pt x="1528" y="6430"/>
                  </a:lnTo>
                  <a:lnTo>
                    <a:pt x="1528" y="6424"/>
                  </a:lnTo>
                  <a:lnTo>
                    <a:pt x="1528" y="6419"/>
                  </a:lnTo>
                  <a:lnTo>
                    <a:pt x="1532" y="6398"/>
                  </a:lnTo>
                  <a:lnTo>
                    <a:pt x="1539" y="6358"/>
                  </a:lnTo>
                  <a:lnTo>
                    <a:pt x="1547" y="6320"/>
                  </a:lnTo>
                  <a:lnTo>
                    <a:pt x="1557" y="6284"/>
                  </a:lnTo>
                  <a:lnTo>
                    <a:pt x="1569" y="6247"/>
                  </a:lnTo>
                  <a:lnTo>
                    <a:pt x="1582" y="6214"/>
                  </a:lnTo>
                  <a:lnTo>
                    <a:pt x="1596" y="6181"/>
                  </a:lnTo>
                  <a:lnTo>
                    <a:pt x="1609" y="6149"/>
                  </a:lnTo>
                  <a:lnTo>
                    <a:pt x="1623" y="6118"/>
                  </a:lnTo>
                  <a:lnTo>
                    <a:pt x="1651" y="6060"/>
                  </a:lnTo>
                  <a:lnTo>
                    <a:pt x="1675" y="6005"/>
                  </a:lnTo>
                  <a:lnTo>
                    <a:pt x="1686" y="5979"/>
                  </a:lnTo>
                  <a:lnTo>
                    <a:pt x="1694" y="5952"/>
                  </a:lnTo>
                  <a:lnTo>
                    <a:pt x="1701" y="5928"/>
                  </a:lnTo>
                  <a:lnTo>
                    <a:pt x="1705" y="5903"/>
                  </a:lnTo>
                  <a:lnTo>
                    <a:pt x="1713" y="5845"/>
                  </a:lnTo>
                  <a:lnTo>
                    <a:pt x="1721" y="5768"/>
                  </a:lnTo>
                  <a:lnTo>
                    <a:pt x="1729" y="5680"/>
                  </a:lnTo>
                  <a:lnTo>
                    <a:pt x="1739" y="5589"/>
                  </a:lnTo>
                  <a:lnTo>
                    <a:pt x="1749" y="5500"/>
                  </a:lnTo>
                  <a:lnTo>
                    <a:pt x="1758" y="5421"/>
                  </a:lnTo>
                  <a:lnTo>
                    <a:pt x="1764" y="5388"/>
                  </a:lnTo>
                  <a:lnTo>
                    <a:pt x="1768" y="5359"/>
                  </a:lnTo>
                  <a:lnTo>
                    <a:pt x="1774" y="5337"/>
                  </a:lnTo>
                  <a:lnTo>
                    <a:pt x="1779" y="5321"/>
                  </a:lnTo>
                  <a:lnTo>
                    <a:pt x="1799" y="5273"/>
                  </a:lnTo>
                  <a:lnTo>
                    <a:pt x="1820" y="5224"/>
                  </a:lnTo>
                  <a:lnTo>
                    <a:pt x="1839" y="5175"/>
                  </a:lnTo>
                  <a:lnTo>
                    <a:pt x="1859" y="5126"/>
                  </a:lnTo>
                  <a:lnTo>
                    <a:pt x="1878" y="5077"/>
                  </a:lnTo>
                  <a:lnTo>
                    <a:pt x="1898" y="5027"/>
                  </a:lnTo>
                  <a:lnTo>
                    <a:pt x="1916" y="4977"/>
                  </a:lnTo>
                  <a:lnTo>
                    <a:pt x="1934" y="4927"/>
                  </a:lnTo>
                  <a:lnTo>
                    <a:pt x="1952" y="4877"/>
                  </a:lnTo>
                  <a:lnTo>
                    <a:pt x="1971" y="4826"/>
                  </a:lnTo>
                  <a:lnTo>
                    <a:pt x="1989" y="4776"/>
                  </a:lnTo>
                  <a:lnTo>
                    <a:pt x="2006" y="4726"/>
                  </a:lnTo>
                  <a:lnTo>
                    <a:pt x="2024" y="4674"/>
                  </a:lnTo>
                  <a:lnTo>
                    <a:pt x="2042" y="4623"/>
                  </a:lnTo>
                  <a:lnTo>
                    <a:pt x="2060" y="4572"/>
                  </a:lnTo>
                  <a:lnTo>
                    <a:pt x="2077" y="4520"/>
                  </a:lnTo>
                  <a:lnTo>
                    <a:pt x="2263" y="4809"/>
                  </a:lnTo>
                  <a:lnTo>
                    <a:pt x="2269" y="4816"/>
                  </a:lnTo>
                  <a:lnTo>
                    <a:pt x="2275" y="4825"/>
                  </a:lnTo>
                  <a:lnTo>
                    <a:pt x="2282" y="4838"/>
                  </a:lnTo>
                  <a:lnTo>
                    <a:pt x="2289" y="4853"/>
                  </a:lnTo>
                  <a:lnTo>
                    <a:pt x="2303" y="4888"/>
                  </a:lnTo>
                  <a:lnTo>
                    <a:pt x="2318" y="4931"/>
                  </a:lnTo>
                  <a:lnTo>
                    <a:pt x="2335" y="4980"/>
                  </a:lnTo>
                  <a:lnTo>
                    <a:pt x="2351" y="5035"/>
                  </a:lnTo>
                  <a:lnTo>
                    <a:pt x="2369" y="5093"/>
                  </a:lnTo>
                  <a:lnTo>
                    <a:pt x="2386" y="5152"/>
                  </a:lnTo>
                  <a:lnTo>
                    <a:pt x="2419" y="5276"/>
                  </a:lnTo>
                  <a:lnTo>
                    <a:pt x="2447" y="5392"/>
                  </a:lnTo>
                  <a:lnTo>
                    <a:pt x="2460" y="5445"/>
                  </a:lnTo>
                  <a:lnTo>
                    <a:pt x="2470" y="5492"/>
                  </a:lnTo>
                  <a:lnTo>
                    <a:pt x="2479" y="5533"/>
                  </a:lnTo>
                  <a:lnTo>
                    <a:pt x="2485" y="5565"/>
                  </a:lnTo>
                  <a:lnTo>
                    <a:pt x="2496" y="5622"/>
                  </a:lnTo>
                  <a:lnTo>
                    <a:pt x="2506" y="5675"/>
                  </a:lnTo>
                  <a:lnTo>
                    <a:pt x="2517" y="5724"/>
                  </a:lnTo>
                  <a:lnTo>
                    <a:pt x="2530" y="5772"/>
                  </a:lnTo>
                  <a:lnTo>
                    <a:pt x="2542" y="5817"/>
                  </a:lnTo>
                  <a:lnTo>
                    <a:pt x="2557" y="5863"/>
                  </a:lnTo>
                  <a:lnTo>
                    <a:pt x="2572" y="5910"/>
                  </a:lnTo>
                  <a:lnTo>
                    <a:pt x="2589" y="5958"/>
                  </a:lnTo>
                  <a:lnTo>
                    <a:pt x="2601" y="5990"/>
                  </a:lnTo>
                  <a:lnTo>
                    <a:pt x="2609" y="6020"/>
                  </a:lnTo>
                  <a:lnTo>
                    <a:pt x="2616" y="6046"/>
                  </a:lnTo>
                  <a:lnTo>
                    <a:pt x="2620" y="6070"/>
                  </a:lnTo>
                  <a:lnTo>
                    <a:pt x="2628" y="6113"/>
                  </a:lnTo>
                  <a:lnTo>
                    <a:pt x="2635" y="6151"/>
                  </a:lnTo>
                  <a:lnTo>
                    <a:pt x="2640" y="6169"/>
                  </a:lnTo>
                  <a:lnTo>
                    <a:pt x="2645" y="6187"/>
                  </a:lnTo>
                  <a:lnTo>
                    <a:pt x="2652" y="6204"/>
                  </a:lnTo>
                  <a:lnTo>
                    <a:pt x="2661" y="6222"/>
                  </a:lnTo>
                  <a:lnTo>
                    <a:pt x="2673" y="6241"/>
                  </a:lnTo>
                  <a:lnTo>
                    <a:pt x="2686" y="6262"/>
                  </a:lnTo>
                  <a:lnTo>
                    <a:pt x="2705" y="6283"/>
                  </a:lnTo>
                  <a:lnTo>
                    <a:pt x="2725" y="6307"/>
                  </a:lnTo>
                  <a:lnTo>
                    <a:pt x="2730" y="6331"/>
                  </a:lnTo>
                  <a:lnTo>
                    <a:pt x="2733" y="6355"/>
                  </a:lnTo>
                  <a:lnTo>
                    <a:pt x="2737" y="6379"/>
                  </a:lnTo>
                  <a:lnTo>
                    <a:pt x="2741" y="6403"/>
                  </a:lnTo>
                  <a:lnTo>
                    <a:pt x="2746" y="6425"/>
                  </a:lnTo>
                  <a:lnTo>
                    <a:pt x="2750" y="6448"/>
                  </a:lnTo>
                  <a:lnTo>
                    <a:pt x="2756" y="6471"/>
                  </a:lnTo>
                  <a:lnTo>
                    <a:pt x="2764" y="6493"/>
                  </a:lnTo>
                  <a:lnTo>
                    <a:pt x="2766" y="6502"/>
                  </a:lnTo>
                  <a:lnTo>
                    <a:pt x="2768" y="6511"/>
                  </a:lnTo>
                  <a:lnTo>
                    <a:pt x="2769" y="6520"/>
                  </a:lnTo>
                  <a:lnTo>
                    <a:pt x="2769" y="6528"/>
                  </a:lnTo>
                  <a:lnTo>
                    <a:pt x="2768" y="6548"/>
                  </a:lnTo>
                  <a:lnTo>
                    <a:pt x="2765" y="6567"/>
                  </a:lnTo>
                  <a:lnTo>
                    <a:pt x="2763" y="6588"/>
                  </a:lnTo>
                  <a:lnTo>
                    <a:pt x="2762" y="6611"/>
                  </a:lnTo>
                  <a:lnTo>
                    <a:pt x="2761" y="6623"/>
                  </a:lnTo>
                  <a:lnTo>
                    <a:pt x="2762" y="6636"/>
                  </a:lnTo>
                  <a:lnTo>
                    <a:pt x="2763" y="6651"/>
                  </a:lnTo>
                  <a:lnTo>
                    <a:pt x="2765" y="6664"/>
                  </a:lnTo>
                  <a:lnTo>
                    <a:pt x="2770" y="6693"/>
                  </a:lnTo>
                  <a:lnTo>
                    <a:pt x="2773" y="6720"/>
                  </a:lnTo>
                  <a:lnTo>
                    <a:pt x="2776" y="6745"/>
                  </a:lnTo>
                  <a:lnTo>
                    <a:pt x="2778" y="6771"/>
                  </a:lnTo>
                  <a:lnTo>
                    <a:pt x="2781" y="6817"/>
                  </a:lnTo>
                  <a:lnTo>
                    <a:pt x="2782" y="6862"/>
                  </a:lnTo>
                  <a:lnTo>
                    <a:pt x="2785" y="6905"/>
                  </a:lnTo>
                  <a:lnTo>
                    <a:pt x="2787" y="6948"/>
                  </a:lnTo>
                  <a:lnTo>
                    <a:pt x="2790" y="6991"/>
                  </a:lnTo>
                  <a:lnTo>
                    <a:pt x="2796" y="7036"/>
                  </a:lnTo>
                  <a:lnTo>
                    <a:pt x="2813" y="7138"/>
                  </a:lnTo>
                  <a:lnTo>
                    <a:pt x="2906" y="7422"/>
                  </a:lnTo>
                  <a:lnTo>
                    <a:pt x="2893" y="7426"/>
                  </a:lnTo>
                  <a:lnTo>
                    <a:pt x="2903" y="7477"/>
                  </a:lnTo>
                  <a:lnTo>
                    <a:pt x="2905" y="7487"/>
                  </a:lnTo>
                  <a:lnTo>
                    <a:pt x="2911" y="7498"/>
                  </a:lnTo>
                  <a:lnTo>
                    <a:pt x="2916" y="7508"/>
                  </a:lnTo>
                  <a:lnTo>
                    <a:pt x="2924" y="7517"/>
                  </a:lnTo>
                  <a:lnTo>
                    <a:pt x="2933" y="7526"/>
                  </a:lnTo>
                  <a:lnTo>
                    <a:pt x="2945" y="7535"/>
                  </a:lnTo>
                  <a:lnTo>
                    <a:pt x="2955" y="7543"/>
                  </a:lnTo>
                  <a:lnTo>
                    <a:pt x="2968" y="7550"/>
                  </a:lnTo>
                  <a:lnTo>
                    <a:pt x="2980" y="7557"/>
                  </a:lnTo>
                  <a:lnTo>
                    <a:pt x="2993" y="7563"/>
                  </a:lnTo>
                  <a:lnTo>
                    <a:pt x="3005" y="7567"/>
                  </a:lnTo>
                  <a:lnTo>
                    <a:pt x="3019" y="7571"/>
                  </a:lnTo>
                  <a:lnTo>
                    <a:pt x="3032" y="7573"/>
                  </a:lnTo>
                  <a:lnTo>
                    <a:pt x="3043" y="7575"/>
                  </a:lnTo>
                  <a:lnTo>
                    <a:pt x="3055" y="7575"/>
                  </a:lnTo>
                  <a:lnTo>
                    <a:pt x="3065" y="7574"/>
                  </a:lnTo>
                  <a:lnTo>
                    <a:pt x="3126" y="7564"/>
                  </a:lnTo>
                  <a:lnTo>
                    <a:pt x="3132" y="7580"/>
                  </a:lnTo>
                  <a:lnTo>
                    <a:pt x="3137" y="7595"/>
                  </a:lnTo>
                  <a:lnTo>
                    <a:pt x="3142" y="7608"/>
                  </a:lnTo>
                  <a:lnTo>
                    <a:pt x="3144" y="7622"/>
                  </a:lnTo>
                  <a:lnTo>
                    <a:pt x="3150" y="7645"/>
                  </a:lnTo>
                  <a:lnTo>
                    <a:pt x="3154" y="7664"/>
                  </a:lnTo>
                  <a:lnTo>
                    <a:pt x="3156" y="7674"/>
                  </a:lnTo>
                  <a:lnTo>
                    <a:pt x="3161" y="7682"/>
                  </a:lnTo>
                  <a:lnTo>
                    <a:pt x="3166" y="7690"/>
                  </a:lnTo>
                  <a:lnTo>
                    <a:pt x="3172" y="7698"/>
                  </a:lnTo>
                  <a:lnTo>
                    <a:pt x="3180" y="7704"/>
                  </a:lnTo>
                  <a:lnTo>
                    <a:pt x="3190" y="7712"/>
                  </a:lnTo>
                  <a:lnTo>
                    <a:pt x="3201" y="7719"/>
                  </a:lnTo>
                  <a:lnTo>
                    <a:pt x="3216" y="7726"/>
                  </a:lnTo>
                  <a:lnTo>
                    <a:pt x="3235" y="7735"/>
                  </a:lnTo>
                  <a:lnTo>
                    <a:pt x="3256" y="7742"/>
                  </a:lnTo>
                  <a:lnTo>
                    <a:pt x="3279" y="7749"/>
                  </a:lnTo>
                  <a:lnTo>
                    <a:pt x="3303" y="7755"/>
                  </a:lnTo>
                  <a:lnTo>
                    <a:pt x="3328" y="7758"/>
                  </a:lnTo>
                  <a:lnTo>
                    <a:pt x="3354" y="7760"/>
                  </a:lnTo>
                  <a:lnTo>
                    <a:pt x="3367" y="7760"/>
                  </a:lnTo>
                  <a:lnTo>
                    <a:pt x="3380" y="7759"/>
                  </a:lnTo>
                  <a:lnTo>
                    <a:pt x="3395" y="7758"/>
                  </a:lnTo>
                  <a:lnTo>
                    <a:pt x="3409" y="7756"/>
                  </a:lnTo>
                  <a:lnTo>
                    <a:pt x="3443" y="7750"/>
                  </a:lnTo>
                  <a:lnTo>
                    <a:pt x="3486" y="7741"/>
                  </a:lnTo>
                  <a:lnTo>
                    <a:pt x="3509" y="7736"/>
                  </a:lnTo>
                  <a:lnTo>
                    <a:pt x="3533" y="7730"/>
                  </a:lnTo>
                  <a:lnTo>
                    <a:pt x="3555" y="7724"/>
                  </a:lnTo>
                  <a:lnTo>
                    <a:pt x="3578" y="7716"/>
                  </a:lnTo>
                  <a:lnTo>
                    <a:pt x="3600" y="7709"/>
                  </a:lnTo>
                  <a:lnTo>
                    <a:pt x="3621" y="7700"/>
                  </a:lnTo>
                  <a:lnTo>
                    <a:pt x="3639" y="7691"/>
                  </a:lnTo>
                  <a:lnTo>
                    <a:pt x="3654" y="7682"/>
                  </a:lnTo>
                  <a:lnTo>
                    <a:pt x="3661" y="7677"/>
                  </a:lnTo>
                  <a:lnTo>
                    <a:pt x="3666" y="7671"/>
                  </a:lnTo>
                  <a:lnTo>
                    <a:pt x="3672" y="7666"/>
                  </a:lnTo>
                  <a:lnTo>
                    <a:pt x="3675" y="7661"/>
                  </a:lnTo>
                  <a:lnTo>
                    <a:pt x="3679" y="7655"/>
                  </a:lnTo>
                  <a:lnTo>
                    <a:pt x="3681" y="7650"/>
                  </a:lnTo>
                  <a:lnTo>
                    <a:pt x="3681" y="7643"/>
                  </a:lnTo>
                  <a:lnTo>
                    <a:pt x="3681" y="7637"/>
                  </a:lnTo>
                  <a:lnTo>
                    <a:pt x="3679" y="7627"/>
                  </a:lnTo>
                  <a:lnTo>
                    <a:pt x="3677" y="7613"/>
                  </a:lnTo>
                  <a:lnTo>
                    <a:pt x="3673" y="7599"/>
                  </a:lnTo>
                  <a:lnTo>
                    <a:pt x="3669" y="7587"/>
                  </a:lnTo>
                  <a:lnTo>
                    <a:pt x="3663" y="7573"/>
                  </a:lnTo>
                  <a:lnTo>
                    <a:pt x="3656" y="7560"/>
                  </a:lnTo>
                  <a:lnTo>
                    <a:pt x="3649" y="7547"/>
                  </a:lnTo>
                  <a:lnTo>
                    <a:pt x="3641" y="7534"/>
                  </a:lnTo>
                  <a:lnTo>
                    <a:pt x="3633" y="7522"/>
                  </a:lnTo>
                  <a:lnTo>
                    <a:pt x="3615" y="7496"/>
                  </a:lnTo>
                  <a:lnTo>
                    <a:pt x="3594" y="7472"/>
                  </a:lnTo>
                  <a:lnTo>
                    <a:pt x="3573" y="7448"/>
                  </a:lnTo>
                  <a:lnTo>
                    <a:pt x="3550" y="7426"/>
                  </a:lnTo>
                  <a:lnTo>
                    <a:pt x="3503" y="7382"/>
                  </a:lnTo>
                  <a:lnTo>
                    <a:pt x="3456" y="7341"/>
                  </a:lnTo>
                  <a:lnTo>
                    <a:pt x="3434" y="7323"/>
                  </a:lnTo>
                  <a:lnTo>
                    <a:pt x="3414" y="7304"/>
                  </a:lnTo>
                  <a:lnTo>
                    <a:pt x="3395" y="7287"/>
                  </a:lnTo>
                  <a:lnTo>
                    <a:pt x="3379" y="7271"/>
                  </a:lnTo>
                  <a:lnTo>
                    <a:pt x="3382" y="7238"/>
                  </a:lnTo>
                  <a:lnTo>
                    <a:pt x="3386" y="7197"/>
                  </a:lnTo>
                  <a:lnTo>
                    <a:pt x="3392" y="7151"/>
                  </a:lnTo>
                  <a:lnTo>
                    <a:pt x="3398" y="7103"/>
                  </a:lnTo>
                  <a:lnTo>
                    <a:pt x="3403" y="7056"/>
                  </a:lnTo>
                  <a:lnTo>
                    <a:pt x="3407" y="7013"/>
                  </a:lnTo>
                  <a:lnTo>
                    <a:pt x="3409" y="6978"/>
                  </a:lnTo>
                  <a:lnTo>
                    <a:pt x="3409" y="6952"/>
                  </a:lnTo>
                  <a:lnTo>
                    <a:pt x="3403" y="6901"/>
                  </a:lnTo>
                  <a:lnTo>
                    <a:pt x="3396" y="6851"/>
                  </a:lnTo>
                  <a:lnTo>
                    <a:pt x="3388" y="6804"/>
                  </a:lnTo>
                  <a:lnTo>
                    <a:pt x="3382" y="6758"/>
                  </a:lnTo>
                  <a:lnTo>
                    <a:pt x="3375" y="6712"/>
                  </a:lnTo>
                  <a:lnTo>
                    <a:pt x="3369" y="6667"/>
                  </a:lnTo>
                  <a:lnTo>
                    <a:pt x="3364" y="6621"/>
                  </a:lnTo>
                  <a:lnTo>
                    <a:pt x="3363" y="6572"/>
                  </a:lnTo>
                  <a:lnTo>
                    <a:pt x="3362" y="6539"/>
                  </a:lnTo>
                  <a:lnTo>
                    <a:pt x="3360" y="6500"/>
                  </a:lnTo>
                  <a:lnTo>
                    <a:pt x="3356" y="6456"/>
                  </a:lnTo>
                  <a:lnTo>
                    <a:pt x="3352" y="6409"/>
                  </a:lnTo>
                  <a:lnTo>
                    <a:pt x="3340" y="6307"/>
                  </a:lnTo>
                  <a:lnTo>
                    <a:pt x="3327" y="6197"/>
                  </a:lnTo>
                  <a:lnTo>
                    <a:pt x="3311" y="6087"/>
                  </a:lnTo>
                  <a:lnTo>
                    <a:pt x="3296" y="5984"/>
                  </a:lnTo>
                  <a:lnTo>
                    <a:pt x="3281" y="5892"/>
                  </a:lnTo>
                  <a:lnTo>
                    <a:pt x="3270" y="5819"/>
                  </a:lnTo>
                  <a:lnTo>
                    <a:pt x="3252" y="5723"/>
                  </a:lnTo>
                  <a:lnTo>
                    <a:pt x="3235" y="5624"/>
                  </a:lnTo>
                  <a:lnTo>
                    <a:pt x="3218" y="5526"/>
                  </a:lnTo>
                  <a:lnTo>
                    <a:pt x="3201" y="5427"/>
                  </a:lnTo>
                  <a:lnTo>
                    <a:pt x="3185" y="5329"/>
                  </a:lnTo>
                  <a:lnTo>
                    <a:pt x="3171" y="5232"/>
                  </a:lnTo>
                  <a:lnTo>
                    <a:pt x="3159" y="5137"/>
                  </a:lnTo>
                  <a:lnTo>
                    <a:pt x="3150" y="5046"/>
                  </a:lnTo>
                  <a:lnTo>
                    <a:pt x="3144" y="5001"/>
                  </a:lnTo>
                  <a:lnTo>
                    <a:pt x="3135" y="4953"/>
                  </a:lnTo>
                  <a:lnTo>
                    <a:pt x="3124" y="4903"/>
                  </a:lnTo>
                  <a:lnTo>
                    <a:pt x="3114" y="4852"/>
                  </a:lnTo>
                  <a:lnTo>
                    <a:pt x="3104" y="4801"/>
                  </a:lnTo>
                  <a:lnTo>
                    <a:pt x="3096" y="4752"/>
                  </a:lnTo>
                  <a:lnTo>
                    <a:pt x="3092" y="4728"/>
                  </a:lnTo>
                  <a:lnTo>
                    <a:pt x="3090" y="4705"/>
                  </a:lnTo>
                  <a:lnTo>
                    <a:pt x="3089" y="4684"/>
                  </a:lnTo>
                  <a:lnTo>
                    <a:pt x="3089" y="4663"/>
                  </a:lnTo>
                  <a:lnTo>
                    <a:pt x="3009" y="3868"/>
                  </a:lnTo>
                  <a:lnTo>
                    <a:pt x="3023" y="3368"/>
                  </a:lnTo>
                  <a:lnTo>
                    <a:pt x="3028" y="3366"/>
                  </a:lnTo>
                  <a:lnTo>
                    <a:pt x="3033" y="3366"/>
                  </a:lnTo>
                  <a:lnTo>
                    <a:pt x="3039" y="3366"/>
                  </a:lnTo>
                  <a:lnTo>
                    <a:pt x="3044" y="3366"/>
                  </a:lnTo>
                  <a:lnTo>
                    <a:pt x="3056" y="3368"/>
                  </a:lnTo>
                  <a:lnTo>
                    <a:pt x="3069" y="3373"/>
                  </a:lnTo>
                  <a:lnTo>
                    <a:pt x="3104" y="3386"/>
                  </a:lnTo>
                  <a:lnTo>
                    <a:pt x="3152" y="3407"/>
                  </a:lnTo>
                  <a:lnTo>
                    <a:pt x="3169" y="3414"/>
                  </a:lnTo>
                  <a:lnTo>
                    <a:pt x="3185" y="3420"/>
                  </a:lnTo>
                  <a:lnTo>
                    <a:pt x="3201" y="3423"/>
                  </a:lnTo>
                  <a:lnTo>
                    <a:pt x="3216" y="3425"/>
                  </a:lnTo>
                  <a:lnTo>
                    <a:pt x="3224" y="3426"/>
                  </a:lnTo>
                  <a:lnTo>
                    <a:pt x="3232" y="3425"/>
                  </a:lnTo>
                  <a:lnTo>
                    <a:pt x="3239" y="3425"/>
                  </a:lnTo>
                  <a:lnTo>
                    <a:pt x="3247" y="3423"/>
                  </a:lnTo>
                  <a:lnTo>
                    <a:pt x="3255" y="3421"/>
                  </a:lnTo>
                  <a:lnTo>
                    <a:pt x="3263" y="3418"/>
                  </a:lnTo>
                  <a:lnTo>
                    <a:pt x="3271" y="3415"/>
                  </a:lnTo>
                  <a:lnTo>
                    <a:pt x="3279" y="3410"/>
                  </a:lnTo>
                  <a:lnTo>
                    <a:pt x="3304" y="3396"/>
                  </a:lnTo>
                  <a:lnTo>
                    <a:pt x="3321" y="3388"/>
                  </a:lnTo>
                  <a:lnTo>
                    <a:pt x="3328" y="3385"/>
                  </a:lnTo>
                  <a:lnTo>
                    <a:pt x="3332" y="3383"/>
                  </a:lnTo>
                  <a:lnTo>
                    <a:pt x="3337" y="3383"/>
                  </a:lnTo>
                  <a:lnTo>
                    <a:pt x="3342" y="3383"/>
                  </a:lnTo>
                  <a:lnTo>
                    <a:pt x="3350" y="3383"/>
                  </a:lnTo>
                  <a:lnTo>
                    <a:pt x="3360" y="3384"/>
                  </a:lnTo>
                  <a:lnTo>
                    <a:pt x="3375" y="3382"/>
                  </a:lnTo>
                  <a:lnTo>
                    <a:pt x="3396" y="3376"/>
                  </a:lnTo>
                  <a:lnTo>
                    <a:pt x="3420" y="3349"/>
                  </a:lnTo>
                  <a:lnTo>
                    <a:pt x="3432" y="3333"/>
                  </a:lnTo>
                  <a:lnTo>
                    <a:pt x="3443" y="3316"/>
                  </a:lnTo>
                  <a:lnTo>
                    <a:pt x="3454" y="3297"/>
                  </a:lnTo>
                  <a:lnTo>
                    <a:pt x="3464" y="3279"/>
                  </a:lnTo>
                  <a:lnTo>
                    <a:pt x="3483" y="3241"/>
                  </a:lnTo>
                  <a:lnTo>
                    <a:pt x="3504" y="3202"/>
                  </a:lnTo>
                  <a:lnTo>
                    <a:pt x="3526" y="3164"/>
                  </a:lnTo>
                  <a:lnTo>
                    <a:pt x="3549" y="3124"/>
                  </a:lnTo>
                  <a:lnTo>
                    <a:pt x="3561" y="3104"/>
                  </a:lnTo>
                  <a:lnTo>
                    <a:pt x="3574" y="3085"/>
                  </a:lnTo>
                  <a:lnTo>
                    <a:pt x="3587" y="3066"/>
                  </a:lnTo>
                  <a:lnTo>
                    <a:pt x="3602" y="3048"/>
                  </a:lnTo>
                  <a:lnTo>
                    <a:pt x="3713" y="2918"/>
                  </a:lnTo>
                  <a:lnTo>
                    <a:pt x="3898" y="2408"/>
                  </a:lnTo>
                  <a:lnTo>
                    <a:pt x="3903" y="2399"/>
                  </a:lnTo>
                  <a:lnTo>
                    <a:pt x="3903" y="2385"/>
                  </a:lnTo>
                  <a:lnTo>
                    <a:pt x="3900" y="2368"/>
                  </a:lnTo>
                  <a:lnTo>
                    <a:pt x="3892" y="2346"/>
                  </a:lnTo>
                  <a:lnTo>
                    <a:pt x="3881" y="2322"/>
                  </a:lnTo>
                  <a:lnTo>
                    <a:pt x="3866" y="2295"/>
                  </a:lnTo>
                  <a:lnTo>
                    <a:pt x="3849" y="2264"/>
                  </a:lnTo>
                  <a:lnTo>
                    <a:pt x="3830" y="2231"/>
                  </a:lnTo>
                  <a:lnTo>
                    <a:pt x="3807" y="2195"/>
                  </a:lnTo>
                  <a:lnTo>
                    <a:pt x="3783" y="2158"/>
                  </a:lnTo>
                  <a:lnTo>
                    <a:pt x="3756" y="2118"/>
                  </a:lnTo>
                  <a:lnTo>
                    <a:pt x="3727" y="2077"/>
                  </a:lnTo>
                  <a:lnTo>
                    <a:pt x="3665" y="1990"/>
                  </a:lnTo>
                  <a:lnTo>
                    <a:pt x="3598" y="1899"/>
                  </a:lnTo>
                  <a:lnTo>
                    <a:pt x="3528" y="1806"/>
                  </a:lnTo>
                  <a:lnTo>
                    <a:pt x="3456" y="1712"/>
                  </a:lnTo>
                  <a:lnTo>
                    <a:pt x="3385" y="1621"/>
                  </a:lnTo>
                  <a:lnTo>
                    <a:pt x="3316" y="1533"/>
                  </a:lnTo>
                  <a:lnTo>
                    <a:pt x="3252" y="1449"/>
                  </a:lnTo>
                  <a:lnTo>
                    <a:pt x="3194" y="1374"/>
                  </a:lnTo>
                  <a:lnTo>
                    <a:pt x="3143" y="1307"/>
                  </a:lnTo>
                  <a:lnTo>
                    <a:pt x="3101" y="1251"/>
                  </a:lnTo>
                  <a:lnTo>
                    <a:pt x="3082" y="1227"/>
                  </a:lnTo>
                  <a:lnTo>
                    <a:pt x="3064" y="1205"/>
                  </a:lnTo>
                  <a:lnTo>
                    <a:pt x="3045" y="1183"/>
                  </a:lnTo>
                  <a:lnTo>
                    <a:pt x="3027" y="1162"/>
                  </a:lnTo>
                  <a:lnTo>
                    <a:pt x="3010" y="1143"/>
                  </a:lnTo>
                  <a:lnTo>
                    <a:pt x="2991" y="1126"/>
                  </a:lnTo>
                  <a:lnTo>
                    <a:pt x="2972" y="1109"/>
                  </a:lnTo>
                  <a:lnTo>
                    <a:pt x="2953" y="1094"/>
                  </a:lnTo>
                  <a:lnTo>
                    <a:pt x="2932" y="1080"/>
                  </a:lnTo>
                  <a:lnTo>
                    <a:pt x="2911" y="1067"/>
                  </a:lnTo>
                  <a:lnTo>
                    <a:pt x="2889" y="1056"/>
                  </a:lnTo>
                  <a:lnTo>
                    <a:pt x="2865" y="1046"/>
                  </a:lnTo>
                  <a:lnTo>
                    <a:pt x="2839" y="1038"/>
                  </a:lnTo>
                  <a:lnTo>
                    <a:pt x="2812" y="1030"/>
                  </a:lnTo>
                  <a:lnTo>
                    <a:pt x="2782" y="1024"/>
                  </a:lnTo>
                  <a:lnTo>
                    <a:pt x="2752" y="1019"/>
                  </a:lnTo>
                  <a:lnTo>
                    <a:pt x="2725" y="1016"/>
                  </a:lnTo>
                  <a:lnTo>
                    <a:pt x="2692" y="1013"/>
                  </a:lnTo>
                  <a:lnTo>
                    <a:pt x="2657" y="1010"/>
                  </a:lnTo>
                  <a:lnTo>
                    <a:pt x="2618" y="1007"/>
                  </a:lnTo>
                  <a:lnTo>
                    <a:pt x="2580" y="1006"/>
                  </a:lnTo>
                  <a:lnTo>
                    <a:pt x="2544" y="1006"/>
                  </a:lnTo>
                  <a:lnTo>
                    <a:pt x="2526" y="1006"/>
                  </a:lnTo>
                  <a:lnTo>
                    <a:pt x="2510" y="1007"/>
                  </a:lnTo>
                  <a:lnTo>
                    <a:pt x="2496" y="1008"/>
                  </a:lnTo>
                  <a:lnTo>
                    <a:pt x="2482" y="1010"/>
                  </a:lnTo>
                  <a:lnTo>
                    <a:pt x="2465" y="1013"/>
                  </a:lnTo>
                  <a:lnTo>
                    <a:pt x="2449" y="1014"/>
                  </a:lnTo>
                  <a:lnTo>
                    <a:pt x="2434" y="1014"/>
                  </a:lnTo>
                  <a:lnTo>
                    <a:pt x="2419" y="1013"/>
                  </a:lnTo>
                  <a:lnTo>
                    <a:pt x="2391" y="1007"/>
                  </a:lnTo>
                  <a:lnTo>
                    <a:pt x="2366" y="1000"/>
                  </a:lnTo>
                  <a:lnTo>
                    <a:pt x="2342" y="994"/>
                  </a:lnTo>
                  <a:lnTo>
                    <a:pt x="2318" y="989"/>
                  </a:lnTo>
                  <a:lnTo>
                    <a:pt x="2307" y="987"/>
                  </a:lnTo>
                  <a:lnTo>
                    <a:pt x="2294" y="986"/>
                  </a:lnTo>
                  <a:lnTo>
                    <a:pt x="2282" y="987"/>
                  </a:lnTo>
                  <a:lnTo>
                    <a:pt x="2269" y="990"/>
                  </a:lnTo>
                  <a:lnTo>
                    <a:pt x="2253" y="961"/>
                  </a:lnTo>
                  <a:lnTo>
                    <a:pt x="2234" y="923"/>
                  </a:lnTo>
                  <a:lnTo>
                    <a:pt x="2226" y="904"/>
                  </a:lnTo>
                  <a:lnTo>
                    <a:pt x="2218" y="885"/>
                  </a:lnTo>
                  <a:lnTo>
                    <a:pt x="2215" y="875"/>
                  </a:lnTo>
                  <a:lnTo>
                    <a:pt x="2213" y="867"/>
                  </a:lnTo>
                  <a:lnTo>
                    <a:pt x="2212" y="859"/>
                  </a:lnTo>
                  <a:lnTo>
                    <a:pt x="2211" y="851"/>
                  </a:lnTo>
                  <a:lnTo>
                    <a:pt x="2211" y="806"/>
                  </a:lnTo>
                  <a:lnTo>
                    <a:pt x="2212" y="789"/>
                  </a:lnTo>
                  <a:lnTo>
                    <a:pt x="2213" y="775"/>
                  </a:lnTo>
                  <a:lnTo>
                    <a:pt x="2215" y="762"/>
                  </a:lnTo>
                  <a:lnTo>
                    <a:pt x="2219" y="751"/>
                  </a:lnTo>
                  <a:lnTo>
                    <a:pt x="2227" y="729"/>
                  </a:lnTo>
                  <a:lnTo>
                    <a:pt x="2234" y="702"/>
                  </a:lnTo>
                  <a:lnTo>
                    <a:pt x="2269" y="713"/>
                  </a:lnTo>
                  <a:lnTo>
                    <a:pt x="2270" y="700"/>
                  </a:lnTo>
                  <a:lnTo>
                    <a:pt x="2273" y="689"/>
                  </a:lnTo>
                  <a:lnTo>
                    <a:pt x="2275" y="679"/>
                  </a:lnTo>
                  <a:lnTo>
                    <a:pt x="2278" y="668"/>
                  </a:lnTo>
                  <a:lnTo>
                    <a:pt x="2286" y="648"/>
                  </a:lnTo>
                  <a:lnTo>
                    <a:pt x="2294" y="626"/>
                  </a:lnTo>
                  <a:lnTo>
                    <a:pt x="2301" y="604"/>
                  </a:lnTo>
                  <a:lnTo>
                    <a:pt x="2308" y="579"/>
                  </a:lnTo>
                  <a:lnTo>
                    <a:pt x="2311" y="566"/>
                  </a:lnTo>
                  <a:lnTo>
                    <a:pt x="2313" y="551"/>
                  </a:lnTo>
                  <a:lnTo>
                    <a:pt x="2314" y="535"/>
                  </a:lnTo>
                  <a:lnTo>
                    <a:pt x="2315" y="518"/>
                  </a:lnTo>
                  <a:lnTo>
                    <a:pt x="2315" y="483"/>
                  </a:lnTo>
                  <a:lnTo>
                    <a:pt x="2292" y="483"/>
                  </a:lnTo>
                  <a:lnTo>
                    <a:pt x="2291" y="433"/>
                  </a:lnTo>
                  <a:lnTo>
                    <a:pt x="2289" y="384"/>
                  </a:lnTo>
                  <a:lnTo>
                    <a:pt x="2286" y="360"/>
                  </a:lnTo>
                  <a:lnTo>
                    <a:pt x="2284" y="338"/>
                  </a:lnTo>
                  <a:lnTo>
                    <a:pt x="2281" y="315"/>
                  </a:lnTo>
                  <a:lnTo>
                    <a:pt x="2277" y="294"/>
                  </a:lnTo>
                  <a:lnTo>
                    <a:pt x="2271" y="273"/>
                  </a:lnTo>
                  <a:lnTo>
                    <a:pt x="2267" y="254"/>
                  </a:lnTo>
                  <a:lnTo>
                    <a:pt x="2260" y="234"/>
                  </a:lnTo>
                  <a:lnTo>
                    <a:pt x="2253" y="215"/>
                  </a:lnTo>
                  <a:lnTo>
                    <a:pt x="2244" y="196"/>
                  </a:lnTo>
                  <a:lnTo>
                    <a:pt x="2235" y="179"/>
                  </a:lnTo>
                  <a:lnTo>
                    <a:pt x="2225" y="163"/>
                  </a:lnTo>
                  <a:lnTo>
                    <a:pt x="2213" y="147"/>
                  </a:lnTo>
                  <a:lnTo>
                    <a:pt x="2204" y="137"/>
                  </a:lnTo>
                  <a:lnTo>
                    <a:pt x="2194" y="126"/>
                  </a:lnTo>
                  <a:lnTo>
                    <a:pt x="2182" y="114"/>
                  </a:lnTo>
                  <a:lnTo>
                    <a:pt x="2169" y="102"/>
                  </a:lnTo>
                  <a:lnTo>
                    <a:pt x="2154" y="89"/>
                  </a:lnTo>
                  <a:lnTo>
                    <a:pt x="2138" y="78"/>
                  </a:lnTo>
                  <a:lnTo>
                    <a:pt x="2122" y="65"/>
                  </a:lnTo>
                  <a:lnTo>
                    <a:pt x="2104" y="54"/>
                  </a:lnTo>
                  <a:lnTo>
                    <a:pt x="2086" y="43"/>
                  </a:lnTo>
                  <a:lnTo>
                    <a:pt x="2068" y="33"/>
                  </a:lnTo>
                  <a:lnTo>
                    <a:pt x="2050" y="24"/>
                  </a:lnTo>
                  <a:lnTo>
                    <a:pt x="2030" y="16"/>
                  </a:lnTo>
                  <a:lnTo>
                    <a:pt x="2012" y="9"/>
                  </a:lnTo>
                  <a:lnTo>
                    <a:pt x="1994" y="4"/>
                  </a:lnTo>
                  <a:lnTo>
                    <a:pt x="1975" y="1"/>
                  </a:lnTo>
                  <a:lnTo>
                    <a:pt x="1958" y="0"/>
                  </a:lnTo>
                  <a:lnTo>
                    <a:pt x="1935" y="0"/>
                  </a:lnTo>
                  <a:lnTo>
                    <a:pt x="1919" y="1"/>
                  </a:lnTo>
                  <a:lnTo>
                    <a:pt x="1903" y="2"/>
                  </a:lnTo>
                  <a:lnTo>
                    <a:pt x="1887" y="4"/>
                  </a:lnTo>
                  <a:lnTo>
                    <a:pt x="1871" y="8"/>
                  </a:lnTo>
                  <a:lnTo>
                    <a:pt x="1855" y="11"/>
                  </a:lnTo>
                  <a:lnTo>
                    <a:pt x="1840" y="16"/>
                  </a:lnTo>
                  <a:lnTo>
                    <a:pt x="1824" y="22"/>
                  </a:lnTo>
                  <a:lnTo>
                    <a:pt x="1809" y="28"/>
                  </a:lnTo>
                  <a:lnTo>
                    <a:pt x="1795" y="35"/>
                  </a:lnTo>
                  <a:lnTo>
                    <a:pt x="1780" y="42"/>
                  </a:lnTo>
                  <a:lnTo>
                    <a:pt x="1765" y="51"/>
                  </a:lnTo>
                  <a:lnTo>
                    <a:pt x="1751" y="60"/>
                  </a:lnTo>
                  <a:lnTo>
                    <a:pt x="1737" y="70"/>
                  </a:lnTo>
                  <a:lnTo>
                    <a:pt x="1724" y="80"/>
                  </a:lnTo>
                  <a:lnTo>
                    <a:pt x="1711" y="90"/>
                  </a:lnTo>
                  <a:lnTo>
                    <a:pt x="1699" y="102"/>
                  </a:lnTo>
                  <a:lnTo>
                    <a:pt x="1687" y="113"/>
                  </a:lnTo>
                  <a:lnTo>
                    <a:pt x="1676" y="126"/>
                  </a:lnTo>
                  <a:lnTo>
                    <a:pt x="1664" y="138"/>
                  </a:lnTo>
                  <a:lnTo>
                    <a:pt x="1654" y="152"/>
                  </a:lnTo>
                  <a:lnTo>
                    <a:pt x="1645" y="166"/>
                  </a:lnTo>
                  <a:lnTo>
                    <a:pt x="1636" y="179"/>
                  </a:lnTo>
                  <a:lnTo>
                    <a:pt x="1628" y="193"/>
                  </a:lnTo>
                  <a:lnTo>
                    <a:pt x="1620" y="208"/>
                  </a:lnTo>
                  <a:lnTo>
                    <a:pt x="1613" y="223"/>
                  </a:lnTo>
                  <a:lnTo>
                    <a:pt x="1607" y="239"/>
                  </a:lnTo>
                  <a:lnTo>
                    <a:pt x="1603" y="254"/>
                  </a:lnTo>
                  <a:lnTo>
                    <a:pt x="1598" y="270"/>
                  </a:lnTo>
                  <a:lnTo>
                    <a:pt x="1595" y="286"/>
                  </a:lnTo>
                  <a:lnTo>
                    <a:pt x="1592" y="302"/>
                  </a:lnTo>
                  <a:lnTo>
                    <a:pt x="1590" y="318"/>
                  </a:lnTo>
                  <a:lnTo>
                    <a:pt x="1590" y="334"/>
                  </a:lnTo>
                  <a:lnTo>
                    <a:pt x="1590" y="460"/>
                  </a:lnTo>
                  <a:lnTo>
                    <a:pt x="1552" y="479"/>
                  </a:lnTo>
                  <a:lnTo>
                    <a:pt x="1607" y="689"/>
                  </a:lnTo>
                  <a:lnTo>
                    <a:pt x="1635" y="684"/>
                  </a:lnTo>
                  <a:lnTo>
                    <a:pt x="1640" y="698"/>
                  </a:lnTo>
                  <a:lnTo>
                    <a:pt x="1645" y="708"/>
                  </a:lnTo>
                  <a:lnTo>
                    <a:pt x="1647" y="720"/>
                  </a:lnTo>
                  <a:lnTo>
                    <a:pt x="1647" y="737"/>
                  </a:lnTo>
                  <a:lnTo>
                    <a:pt x="1647" y="760"/>
                  </a:lnTo>
                  <a:lnTo>
                    <a:pt x="1649" y="774"/>
                  </a:lnTo>
                  <a:lnTo>
                    <a:pt x="1655" y="797"/>
                  </a:lnTo>
                  <a:lnTo>
                    <a:pt x="1663" y="824"/>
                  </a:lnTo>
                  <a:lnTo>
                    <a:pt x="1671" y="855"/>
                  </a:lnTo>
                  <a:lnTo>
                    <a:pt x="1675" y="871"/>
                  </a:lnTo>
                  <a:lnTo>
                    <a:pt x="1677" y="887"/>
                  </a:lnTo>
                  <a:lnTo>
                    <a:pt x="1679" y="902"/>
                  </a:lnTo>
                  <a:lnTo>
                    <a:pt x="1679" y="917"/>
                  </a:lnTo>
                  <a:lnTo>
                    <a:pt x="1678" y="930"/>
                  </a:lnTo>
                  <a:lnTo>
                    <a:pt x="1676" y="943"/>
                  </a:lnTo>
                  <a:lnTo>
                    <a:pt x="1675" y="947"/>
                  </a:lnTo>
                  <a:lnTo>
                    <a:pt x="1672" y="953"/>
                  </a:lnTo>
                  <a:lnTo>
                    <a:pt x="1669" y="958"/>
                  </a:lnTo>
                  <a:lnTo>
                    <a:pt x="1665" y="961"/>
                  </a:lnTo>
                  <a:lnTo>
                    <a:pt x="1660" y="968"/>
                  </a:lnTo>
                  <a:lnTo>
                    <a:pt x="1653" y="974"/>
                  </a:lnTo>
                  <a:lnTo>
                    <a:pt x="1645" y="978"/>
                  </a:lnTo>
                  <a:lnTo>
                    <a:pt x="1637" y="983"/>
                  </a:lnTo>
                  <a:lnTo>
                    <a:pt x="1619" y="991"/>
                  </a:lnTo>
                  <a:lnTo>
                    <a:pt x="1599" y="997"/>
                  </a:lnTo>
                  <a:lnTo>
                    <a:pt x="1577" y="1001"/>
                  </a:lnTo>
                  <a:lnTo>
                    <a:pt x="1555" y="1003"/>
                  </a:lnTo>
                  <a:lnTo>
                    <a:pt x="1532" y="1005"/>
                  </a:lnTo>
                  <a:lnTo>
                    <a:pt x="1508" y="1006"/>
                  </a:lnTo>
                  <a:lnTo>
                    <a:pt x="1485" y="1005"/>
                  </a:lnTo>
                  <a:lnTo>
                    <a:pt x="1461" y="1003"/>
                  </a:lnTo>
                  <a:lnTo>
                    <a:pt x="1438" y="1001"/>
                  </a:lnTo>
                  <a:lnTo>
                    <a:pt x="1415" y="999"/>
                  </a:lnTo>
                  <a:lnTo>
                    <a:pt x="1375" y="993"/>
                  </a:lnTo>
                  <a:lnTo>
                    <a:pt x="1341" y="987"/>
                  </a:lnTo>
                  <a:lnTo>
                    <a:pt x="1332" y="986"/>
                  </a:lnTo>
                  <a:lnTo>
                    <a:pt x="1321" y="987"/>
                  </a:lnTo>
                  <a:lnTo>
                    <a:pt x="1310" y="989"/>
                  </a:lnTo>
                  <a:lnTo>
                    <a:pt x="1297" y="992"/>
                  </a:lnTo>
                  <a:lnTo>
                    <a:pt x="1284" y="997"/>
                  </a:lnTo>
                  <a:lnTo>
                    <a:pt x="1270" y="1002"/>
                  </a:lnTo>
                  <a:lnTo>
                    <a:pt x="1255" y="1008"/>
                  </a:lnTo>
                  <a:lnTo>
                    <a:pt x="1239" y="1015"/>
                  </a:lnTo>
                  <a:lnTo>
                    <a:pt x="1206" y="1032"/>
                  </a:lnTo>
                  <a:lnTo>
                    <a:pt x="1171" y="1053"/>
                  </a:lnTo>
                  <a:lnTo>
                    <a:pt x="1136" y="1074"/>
                  </a:lnTo>
                  <a:lnTo>
                    <a:pt x="1099" y="1097"/>
                  </a:lnTo>
                  <a:lnTo>
                    <a:pt x="1064" y="1122"/>
                  </a:lnTo>
                  <a:lnTo>
                    <a:pt x="1030" y="1146"/>
                  </a:lnTo>
                  <a:lnTo>
                    <a:pt x="997" y="1171"/>
                  </a:lnTo>
                  <a:lnTo>
                    <a:pt x="966" y="1194"/>
                  </a:lnTo>
                  <a:lnTo>
                    <a:pt x="913" y="1235"/>
                  </a:lnTo>
                  <a:lnTo>
                    <a:pt x="876" y="1266"/>
                  </a:lnTo>
                  <a:lnTo>
                    <a:pt x="803" y="1358"/>
                  </a:lnTo>
                  <a:lnTo>
                    <a:pt x="790" y="1378"/>
                  </a:lnTo>
                  <a:lnTo>
                    <a:pt x="774" y="1399"/>
                  </a:lnTo>
                  <a:lnTo>
                    <a:pt x="756" y="1419"/>
                  </a:lnTo>
                  <a:lnTo>
                    <a:pt x="738" y="1440"/>
                  </a:lnTo>
                  <a:lnTo>
                    <a:pt x="698" y="1483"/>
                  </a:lnTo>
                  <a:lnTo>
                    <a:pt x="654" y="1528"/>
                  </a:lnTo>
                  <a:lnTo>
                    <a:pt x="608" y="1575"/>
                  </a:lnTo>
                  <a:lnTo>
                    <a:pt x="559" y="1625"/>
                  </a:lnTo>
                  <a:lnTo>
                    <a:pt x="535" y="1651"/>
                  </a:lnTo>
                  <a:lnTo>
                    <a:pt x="509" y="1679"/>
                  </a:lnTo>
                  <a:lnTo>
                    <a:pt x="485" y="1707"/>
                  </a:lnTo>
                  <a:lnTo>
                    <a:pt x="461" y="1737"/>
                  </a:lnTo>
                  <a:lnTo>
                    <a:pt x="409" y="1802"/>
                  </a:lnTo>
                  <a:lnTo>
                    <a:pt x="357" y="1867"/>
                  </a:lnTo>
                  <a:lnTo>
                    <a:pt x="307" y="1931"/>
                  </a:lnTo>
                  <a:lnTo>
                    <a:pt x="260" y="1994"/>
                  </a:lnTo>
                  <a:lnTo>
                    <a:pt x="214" y="2055"/>
                  </a:lnTo>
                  <a:lnTo>
                    <a:pt x="173" y="2114"/>
                  </a:lnTo>
                  <a:lnTo>
                    <a:pt x="134" y="2170"/>
                  </a:lnTo>
                  <a:lnTo>
                    <a:pt x="100" y="2224"/>
                  </a:lnTo>
                  <a:lnTo>
                    <a:pt x="84" y="2249"/>
                  </a:lnTo>
                  <a:lnTo>
                    <a:pt x="70" y="2274"/>
                  </a:lnTo>
                  <a:lnTo>
                    <a:pt x="57" y="2298"/>
                  </a:lnTo>
                  <a:lnTo>
                    <a:pt x="44" y="2322"/>
                  </a:lnTo>
                  <a:lnTo>
                    <a:pt x="34" y="2344"/>
                  </a:lnTo>
                  <a:lnTo>
                    <a:pt x="25" y="2366"/>
                  </a:lnTo>
                  <a:lnTo>
                    <a:pt x="17" y="2386"/>
                  </a:lnTo>
                  <a:lnTo>
                    <a:pt x="10" y="2406"/>
                  </a:lnTo>
                  <a:lnTo>
                    <a:pt x="5" y="2425"/>
                  </a:lnTo>
                  <a:lnTo>
                    <a:pt x="2" y="2442"/>
                  </a:lnTo>
                  <a:lnTo>
                    <a:pt x="0" y="2458"/>
                  </a:lnTo>
                  <a:lnTo>
                    <a:pt x="0" y="2474"/>
                  </a:lnTo>
                  <a:lnTo>
                    <a:pt x="1" y="2488"/>
                  </a:lnTo>
                  <a:lnTo>
                    <a:pt x="4" y="2501"/>
                  </a:lnTo>
                  <a:lnTo>
                    <a:pt x="10" y="2512"/>
                  </a:lnTo>
                  <a:lnTo>
                    <a:pt x="17" y="2522"/>
                  </a:lnTo>
                  <a:lnTo>
                    <a:pt x="58" y="2751"/>
                  </a:lnTo>
                  <a:lnTo>
                    <a:pt x="234" y="2918"/>
                  </a:lnTo>
                  <a:lnTo>
                    <a:pt x="345" y="3048"/>
                  </a:lnTo>
                  <a:lnTo>
                    <a:pt x="360" y="3066"/>
                  </a:lnTo>
                  <a:lnTo>
                    <a:pt x="373" y="3085"/>
                  </a:lnTo>
                  <a:lnTo>
                    <a:pt x="386" y="3104"/>
                  </a:lnTo>
                  <a:lnTo>
                    <a:pt x="399" y="3124"/>
                  </a:lnTo>
                  <a:lnTo>
                    <a:pt x="421" y="3164"/>
                  </a:lnTo>
                  <a:lnTo>
                    <a:pt x="443" y="3202"/>
                  </a:lnTo>
                  <a:lnTo>
                    <a:pt x="463" y="3241"/>
                  </a:lnTo>
                  <a:lnTo>
                    <a:pt x="483" y="3279"/>
                  </a:lnTo>
                  <a:lnTo>
                    <a:pt x="493" y="3297"/>
                  </a:lnTo>
                  <a:lnTo>
                    <a:pt x="504" y="3316"/>
                  </a:lnTo>
                  <a:lnTo>
                    <a:pt x="515" y="3333"/>
                  </a:lnTo>
                  <a:lnTo>
                    <a:pt x="527" y="3349"/>
                  </a:lnTo>
                  <a:lnTo>
                    <a:pt x="549" y="3376"/>
                  </a:lnTo>
                  <a:lnTo>
                    <a:pt x="572" y="3382"/>
                  </a:lnTo>
                  <a:lnTo>
                    <a:pt x="587" y="3384"/>
                  </a:lnTo>
                  <a:lnTo>
                    <a:pt x="598" y="3383"/>
                  </a:lnTo>
                  <a:lnTo>
                    <a:pt x="606" y="3383"/>
                  </a:lnTo>
                  <a:lnTo>
                    <a:pt x="609" y="3383"/>
                  </a:lnTo>
                  <a:lnTo>
                    <a:pt x="614" y="3383"/>
                  </a:lnTo>
                  <a:lnTo>
                    <a:pt x="619" y="3385"/>
                  </a:lnTo>
                  <a:lnTo>
                    <a:pt x="626" y="3388"/>
                  </a:lnTo>
                  <a:lnTo>
                    <a:pt x="643" y="3396"/>
                  </a:lnTo>
                  <a:lnTo>
                    <a:pt x="668" y="3410"/>
                  </a:lnTo>
                  <a:lnTo>
                    <a:pt x="676" y="3415"/>
                  </a:lnTo>
                  <a:lnTo>
                    <a:pt x="684" y="3418"/>
                  </a:lnTo>
                  <a:lnTo>
                    <a:pt x="692" y="3421"/>
                  </a:lnTo>
                  <a:lnTo>
                    <a:pt x="700" y="3423"/>
                  </a:lnTo>
                  <a:lnTo>
                    <a:pt x="707" y="3425"/>
                  </a:lnTo>
                  <a:lnTo>
                    <a:pt x="715" y="3425"/>
                  </a:lnTo>
                  <a:lnTo>
                    <a:pt x="723" y="3426"/>
                  </a:lnTo>
                  <a:lnTo>
                    <a:pt x="730" y="3425"/>
                  </a:lnTo>
                  <a:lnTo>
                    <a:pt x="746" y="3423"/>
                  </a:lnTo>
                  <a:lnTo>
                    <a:pt x="761" y="3420"/>
                  </a:lnTo>
                  <a:lnTo>
                    <a:pt x="778" y="3414"/>
                  </a:lnTo>
                  <a:lnTo>
                    <a:pt x="795" y="3407"/>
                  </a:lnTo>
                  <a:lnTo>
                    <a:pt x="819" y="3397"/>
                  </a:lnTo>
                  <a:lnTo>
                    <a:pt x="842" y="3389"/>
                  </a:lnTo>
                  <a:lnTo>
                    <a:pt x="862" y="3381"/>
                  </a:lnTo>
                  <a:lnTo>
                    <a:pt x="880" y="3376"/>
                  </a:lnTo>
                  <a:lnTo>
                    <a:pt x="896" y="3372"/>
                  </a:lnTo>
                  <a:lnTo>
                    <a:pt x="911" y="3369"/>
                  </a:lnTo>
                  <a:lnTo>
                    <a:pt x="925" y="3369"/>
                  </a:lnTo>
                  <a:lnTo>
                    <a:pt x="938" y="3372"/>
                  </a:lnTo>
                  <a:lnTo>
                    <a:pt x="952" y="3375"/>
                  </a:lnTo>
                  <a:lnTo>
                    <a:pt x="967" y="3381"/>
                  </a:lnTo>
                  <a:lnTo>
                    <a:pt x="981" y="3390"/>
                  </a:lnTo>
                  <a:lnTo>
                    <a:pt x="997" y="3400"/>
                  </a:lnTo>
                  <a:lnTo>
                    <a:pt x="1033" y="3429"/>
                  </a:lnTo>
                  <a:lnTo>
                    <a:pt x="1080" y="3469"/>
                  </a:lnTo>
                  <a:lnTo>
                    <a:pt x="1078" y="3542"/>
                  </a:lnTo>
                  <a:lnTo>
                    <a:pt x="1073" y="3640"/>
                  </a:lnTo>
                  <a:lnTo>
                    <a:pt x="1070" y="3754"/>
                  </a:lnTo>
                  <a:lnTo>
                    <a:pt x="1066" y="3877"/>
                  </a:lnTo>
                  <a:lnTo>
                    <a:pt x="1066" y="3937"/>
                  </a:lnTo>
                  <a:lnTo>
                    <a:pt x="1066" y="3997"/>
                  </a:lnTo>
                  <a:lnTo>
                    <a:pt x="1069" y="4053"/>
                  </a:lnTo>
                  <a:lnTo>
                    <a:pt x="1071" y="4105"/>
                  </a:lnTo>
                  <a:lnTo>
                    <a:pt x="1073" y="4130"/>
                  </a:lnTo>
                  <a:lnTo>
                    <a:pt x="1075" y="4153"/>
                  </a:lnTo>
                  <a:lnTo>
                    <a:pt x="1078" y="4176"/>
                  </a:lnTo>
                  <a:lnTo>
                    <a:pt x="1081" y="4196"/>
                  </a:lnTo>
                  <a:lnTo>
                    <a:pt x="1085" y="4215"/>
                  </a:lnTo>
                  <a:lnTo>
                    <a:pt x="1089" y="4231"/>
                  </a:lnTo>
                  <a:lnTo>
                    <a:pt x="1094" y="4246"/>
                  </a:lnTo>
                  <a:lnTo>
                    <a:pt x="1099" y="4258"/>
                  </a:lnTo>
                  <a:close/>
                  <a:moveTo>
                    <a:pt x="2941" y="3080"/>
                  </a:moveTo>
                  <a:lnTo>
                    <a:pt x="2947" y="3056"/>
                  </a:lnTo>
                  <a:lnTo>
                    <a:pt x="2952" y="3032"/>
                  </a:lnTo>
                  <a:lnTo>
                    <a:pt x="2955" y="3008"/>
                  </a:lnTo>
                  <a:lnTo>
                    <a:pt x="2959" y="2983"/>
                  </a:lnTo>
                  <a:lnTo>
                    <a:pt x="2964" y="2933"/>
                  </a:lnTo>
                  <a:lnTo>
                    <a:pt x="2968" y="2881"/>
                  </a:lnTo>
                  <a:lnTo>
                    <a:pt x="2970" y="2829"/>
                  </a:lnTo>
                  <a:lnTo>
                    <a:pt x="2972" y="2776"/>
                  </a:lnTo>
                  <a:lnTo>
                    <a:pt x="2973" y="2722"/>
                  </a:lnTo>
                  <a:lnTo>
                    <a:pt x="2975" y="2669"/>
                  </a:lnTo>
                  <a:lnTo>
                    <a:pt x="2976" y="2615"/>
                  </a:lnTo>
                  <a:lnTo>
                    <a:pt x="2977" y="2562"/>
                  </a:lnTo>
                  <a:lnTo>
                    <a:pt x="2979" y="2510"/>
                  </a:lnTo>
                  <a:lnTo>
                    <a:pt x="2983" y="2458"/>
                  </a:lnTo>
                  <a:lnTo>
                    <a:pt x="2987" y="2408"/>
                  </a:lnTo>
                  <a:lnTo>
                    <a:pt x="2993" y="2359"/>
                  </a:lnTo>
                  <a:lnTo>
                    <a:pt x="2996" y="2336"/>
                  </a:lnTo>
                  <a:lnTo>
                    <a:pt x="3001" y="2312"/>
                  </a:lnTo>
                  <a:lnTo>
                    <a:pt x="3007" y="2289"/>
                  </a:lnTo>
                  <a:lnTo>
                    <a:pt x="3011" y="2267"/>
                  </a:lnTo>
                  <a:lnTo>
                    <a:pt x="3033" y="2290"/>
                  </a:lnTo>
                  <a:lnTo>
                    <a:pt x="3051" y="2310"/>
                  </a:lnTo>
                  <a:lnTo>
                    <a:pt x="3067" y="2325"/>
                  </a:lnTo>
                  <a:lnTo>
                    <a:pt x="3082" y="2338"/>
                  </a:lnTo>
                  <a:lnTo>
                    <a:pt x="3115" y="2368"/>
                  </a:lnTo>
                  <a:lnTo>
                    <a:pt x="3159" y="2410"/>
                  </a:lnTo>
                  <a:lnTo>
                    <a:pt x="3195" y="2407"/>
                  </a:lnTo>
                  <a:lnTo>
                    <a:pt x="3225" y="2406"/>
                  </a:lnTo>
                  <a:lnTo>
                    <a:pt x="3238" y="2406"/>
                  </a:lnTo>
                  <a:lnTo>
                    <a:pt x="3249" y="2407"/>
                  </a:lnTo>
                  <a:lnTo>
                    <a:pt x="3258" y="2408"/>
                  </a:lnTo>
                  <a:lnTo>
                    <a:pt x="3267" y="2410"/>
                  </a:lnTo>
                  <a:lnTo>
                    <a:pt x="3274" y="2413"/>
                  </a:lnTo>
                  <a:lnTo>
                    <a:pt x="3280" y="2415"/>
                  </a:lnTo>
                  <a:lnTo>
                    <a:pt x="3286" y="2418"/>
                  </a:lnTo>
                  <a:lnTo>
                    <a:pt x="3289" y="2423"/>
                  </a:lnTo>
                  <a:lnTo>
                    <a:pt x="3292" y="2426"/>
                  </a:lnTo>
                  <a:lnTo>
                    <a:pt x="3295" y="2431"/>
                  </a:lnTo>
                  <a:lnTo>
                    <a:pt x="3296" y="2435"/>
                  </a:lnTo>
                  <a:lnTo>
                    <a:pt x="3297" y="2441"/>
                  </a:lnTo>
                  <a:lnTo>
                    <a:pt x="3296" y="2453"/>
                  </a:lnTo>
                  <a:lnTo>
                    <a:pt x="3294" y="2465"/>
                  </a:lnTo>
                  <a:lnTo>
                    <a:pt x="3288" y="2478"/>
                  </a:lnTo>
                  <a:lnTo>
                    <a:pt x="3282" y="2491"/>
                  </a:lnTo>
                  <a:lnTo>
                    <a:pt x="3270" y="2520"/>
                  </a:lnTo>
                  <a:lnTo>
                    <a:pt x="3259" y="2547"/>
                  </a:lnTo>
                  <a:lnTo>
                    <a:pt x="3256" y="2562"/>
                  </a:lnTo>
                  <a:lnTo>
                    <a:pt x="3254" y="2575"/>
                  </a:lnTo>
                  <a:lnTo>
                    <a:pt x="3251" y="2589"/>
                  </a:lnTo>
                  <a:lnTo>
                    <a:pt x="3251" y="2602"/>
                  </a:lnTo>
                  <a:lnTo>
                    <a:pt x="3251" y="2629"/>
                  </a:lnTo>
                  <a:lnTo>
                    <a:pt x="3250" y="2656"/>
                  </a:lnTo>
                  <a:lnTo>
                    <a:pt x="3248" y="2670"/>
                  </a:lnTo>
                  <a:lnTo>
                    <a:pt x="3246" y="2685"/>
                  </a:lnTo>
                  <a:lnTo>
                    <a:pt x="3242" y="2699"/>
                  </a:lnTo>
                  <a:lnTo>
                    <a:pt x="3236" y="2715"/>
                  </a:lnTo>
                  <a:lnTo>
                    <a:pt x="3228" y="2731"/>
                  </a:lnTo>
                  <a:lnTo>
                    <a:pt x="3219" y="2749"/>
                  </a:lnTo>
                  <a:lnTo>
                    <a:pt x="3207" y="2767"/>
                  </a:lnTo>
                  <a:lnTo>
                    <a:pt x="3192" y="2785"/>
                  </a:lnTo>
                  <a:lnTo>
                    <a:pt x="2941" y="3080"/>
                  </a:lnTo>
                  <a:close/>
                </a:path>
              </a:pathLst>
            </a:custGeom>
            <a:grpFill/>
            <a:ln>
              <a:noFill/>
            </a:ln>
          </p:spPr>
          <p:txBody>
            <a:bodyPr vert="horz" anchor="t" wrap="square" tIns="45720" lIns="91440" bIns="45720" rIns="91440">
              <a:prstTxWarp prst="textNoShape">
                <a:avLst/>
              </a:prstTxWarp>
            </a:bodyPr>
            <a:p>
              <a:pPr fontAlgn="auto" algn="l" indent="0" marR="0" marL="0">
                <a:lnSpc>
                  <a:spcPct val="100000"/>
                </a:lnSpc>
                <a:spcBef>
                  <a:spcPct val="0"/>
                </a:spcBef>
                <a:spcAft>
                  <a:spcPct val="0"/>
                </a:spcAft>
                <a:buNone/>
              </a:pPr>
            </a:p>
          </p:txBody>
        </p:sp>
        <p:sp>
          <p:nvSpPr>
            <p:cNvPr name="Freeform 22" id="22"/>
            <p:cNvSpPr/>
            <p:nvPr/>
          </p:nvSpPr>
          <p:spPr>
            <a:xfrm>
              <a:off x="6696077" y="4248153"/>
              <a:ext cx="88900" cy="590550"/>
            </a:xfrm>
            <a:custGeom>
              <a:avLst/>
              <a:gdLst/>
              <a:ahLst/>
              <a:cxnLst/>
              <a:rect r="r" b="b" t="t" l="l"/>
              <a:pathLst>
                <a:path w="334" h="2227" stroke="true" fill="norm" extrusionOk="true">
                  <a:moveTo>
                    <a:pt x="105" y="1"/>
                  </a:moveTo>
                  <a:lnTo>
                    <a:pt x="0" y="1827"/>
                  </a:lnTo>
                  <a:lnTo>
                    <a:pt x="186" y="2227"/>
                  </a:lnTo>
                  <a:lnTo>
                    <a:pt x="334" y="1944"/>
                  </a:lnTo>
                  <a:lnTo>
                    <a:pt x="240" y="0"/>
                  </a:lnTo>
                  <a:lnTo>
                    <a:pt x="105" y="1"/>
                  </a:lnTo>
                  <a:close/>
                </a:path>
              </a:pathLst>
            </a:custGeom>
            <a:grpFill/>
            <a:ln>
              <a:noFill/>
              <a:prstDash val="solid"/>
            </a:ln>
          </p:spPr>
          <p:txBody>
            <a:bodyPr vert="horz" anchor="t" wrap="square" tIns="45720" lIns="91440" bIns="45720" rIns="91440">
              <a:prstTxWarp prst="textNoShape">
                <a:avLst/>
              </a:prstTxWarp>
            </a:bodyPr>
            <a:p>
              <a:pPr fontAlgn="auto" algn="l" indent="0" marR="0" marL="0">
                <a:lnSpc>
                  <a:spcPct val="100000"/>
                </a:lnSpc>
                <a:spcBef>
                  <a:spcPct val="0"/>
                </a:spcBef>
                <a:spcAft>
                  <a:spcPct val="0"/>
                </a:spcAft>
                <a:buNone/>
              </a:pPr>
            </a:p>
          </p:txBody>
        </p:sp>
      </p:grpSp>
      <p:grpSp>
        <p:nvGrpSpPr>
          <p:cNvPr name="Group 23" id="23"/>
          <p:cNvGrpSpPr/>
          <p:nvPr/>
        </p:nvGrpSpPr>
        <p:grpSpPr>
          <a:xfrm>
            <a:off x="7534235" y="3652863"/>
            <a:ext cx="774312" cy="1468322"/>
            <a:chOff x="1443813" y="3644955"/>
            <a:chExt cx="1255713" cy="2381199"/>
          </a:xfrm>
          <a:solidFill>
            <a:srgbClr val="007448"/>
          </a:solidFill>
        </p:grpSpPr>
        <p:sp>
          <p:nvSpPr>
            <p:cNvPr name="Freeform 24" id="24"/>
            <p:cNvSpPr/>
            <p:nvPr/>
          </p:nvSpPr>
          <p:spPr>
            <a:xfrm>
              <a:off x="1443813" y="3929066"/>
              <a:ext cx="1255713" cy="2097088"/>
            </a:xfrm>
            <a:custGeom>
              <a:avLst/>
              <a:gdLst/>
              <a:ahLst/>
              <a:cxnLst/>
              <a:rect r="r" b="b" t="t" l="l"/>
              <a:pathLst>
                <a:path w="4745" h="7926" stroke="true" fill="norm" extrusionOk="true">
                  <a:moveTo>
                    <a:pt x="551" y="2635"/>
                  </a:moveTo>
                  <a:lnTo>
                    <a:pt x="543" y="2630"/>
                  </a:lnTo>
                  <a:lnTo>
                    <a:pt x="536" y="2625"/>
                  </a:lnTo>
                  <a:lnTo>
                    <a:pt x="532" y="2619"/>
                  </a:lnTo>
                  <a:lnTo>
                    <a:pt x="527" y="2615"/>
                  </a:lnTo>
                  <a:lnTo>
                    <a:pt x="548" y="2554"/>
                  </a:lnTo>
                  <a:lnTo>
                    <a:pt x="552" y="2550"/>
                  </a:lnTo>
                  <a:lnTo>
                    <a:pt x="554" y="2531"/>
                  </a:lnTo>
                  <a:lnTo>
                    <a:pt x="556" y="2513"/>
                  </a:lnTo>
                  <a:lnTo>
                    <a:pt x="558" y="2494"/>
                  </a:lnTo>
                  <a:lnTo>
                    <a:pt x="560" y="2473"/>
                  </a:lnTo>
                  <a:lnTo>
                    <a:pt x="515" y="2449"/>
                  </a:lnTo>
                  <a:lnTo>
                    <a:pt x="473" y="2425"/>
                  </a:lnTo>
                  <a:lnTo>
                    <a:pt x="437" y="2404"/>
                  </a:lnTo>
                  <a:lnTo>
                    <a:pt x="411" y="2388"/>
                  </a:lnTo>
                  <a:lnTo>
                    <a:pt x="397" y="2377"/>
                  </a:lnTo>
                  <a:lnTo>
                    <a:pt x="382" y="2366"/>
                  </a:lnTo>
                  <a:lnTo>
                    <a:pt x="368" y="2353"/>
                  </a:lnTo>
                  <a:lnTo>
                    <a:pt x="355" y="2339"/>
                  </a:lnTo>
                  <a:lnTo>
                    <a:pt x="331" y="2313"/>
                  </a:lnTo>
                  <a:lnTo>
                    <a:pt x="310" y="2286"/>
                  </a:lnTo>
                  <a:lnTo>
                    <a:pt x="289" y="2262"/>
                  </a:lnTo>
                  <a:lnTo>
                    <a:pt x="271" y="2239"/>
                  </a:lnTo>
                  <a:lnTo>
                    <a:pt x="262" y="2230"/>
                  </a:lnTo>
                  <a:lnTo>
                    <a:pt x="254" y="2222"/>
                  </a:lnTo>
                  <a:lnTo>
                    <a:pt x="246" y="2216"/>
                  </a:lnTo>
                  <a:lnTo>
                    <a:pt x="238" y="2211"/>
                  </a:lnTo>
                  <a:lnTo>
                    <a:pt x="206" y="2192"/>
                  </a:lnTo>
                  <a:lnTo>
                    <a:pt x="38" y="2124"/>
                  </a:lnTo>
                  <a:lnTo>
                    <a:pt x="28" y="2080"/>
                  </a:lnTo>
                  <a:lnTo>
                    <a:pt x="66" y="2064"/>
                  </a:lnTo>
                  <a:lnTo>
                    <a:pt x="248" y="2107"/>
                  </a:lnTo>
                  <a:lnTo>
                    <a:pt x="270" y="2063"/>
                  </a:lnTo>
                  <a:lnTo>
                    <a:pt x="233" y="2044"/>
                  </a:lnTo>
                  <a:lnTo>
                    <a:pt x="195" y="2022"/>
                  </a:lnTo>
                  <a:lnTo>
                    <a:pt x="155" y="1998"/>
                  </a:lnTo>
                  <a:lnTo>
                    <a:pt x="115" y="1971"/>
                  </a:lnTo>
                  <a:lnTo>
                    <a:pt x="97" y="1958"/>
                  </a:lnTo>
                  <a:lnTo>
                    <a:pt x="79" y="1944"/>
                  </a:lnTo>
                  <a:lnTo>
                    <a:pt x="62" y="1930"/>
                  </a:lnTo>
                  <a:lnTo>
                    <a:pt x="46" y="1916"/>
                  </a:lnTo>
                  <a:lnTo>
                    <a:pt x="32" y="1903"/>
                  </a:lnTo>
                  <a:lnTo>
                    <a:pt x="19" y="1889"/>
                  </a:lnTo>
                  <a:lnTo>
                    <a:pt x="8" y="1876"/>
                  </a:lnTo>
                  <a:lnTo>
                    <a:pt x="0" y="1863"/>
                  </a:lnTo>
                  <a:lnTo>
                    <a:pt x="16" y="1831"/>
                  </a:lnTo>
                  <a:lnTo>
                    <a:pt x="33" y="1833"/>
                  </a:lnTo>
                  <a:lnTo>
                    <a:pt x="46" y="1835"/>
                  </a:lnTo>
                  <a:lnTo>
                    <a:pt x="51" y="1836"/>
                  </a:lnTo>
                  <a:lnTo>
                    <a:pt x="58" y="1839"/>
                  </a:lnTo>
                  <a:lnTo>
                    <a:pt x="66" y="1842"/>
                  </a:lnTo>
                  <a:lnTo>
                    <a:pt x="76" y="1847"/>
                  </a:lnTo>
                  <a:lnTo>
                    <a:pt x="219" y="1916"/>
                  </a:lnTo>
                  <a:lnTo>
                    <a:pt x="232" y="1923"/>
                  </a:lnTo>
                  <a:lnTo>
                    <a:pt x="241" y="1929"/>
                  </a:lnTo>
                  <a:lnTo>
                    <a:pt x="249" y="1935"/>
                  </a:lnTo>
                  <a:lnTo>
                    <a:pt x="256" y="1940"/>
                  </a:lnTo>
                  <a:lnTo>
                    <a:pt x="271" y="1952"/>
                  </a:lnTo>
                  <a:lnTo>
                    <a:pt x="290" y="1964"/>
                  </a:lnTo>
                  <a:lnTo>
                    <a:pt x="301" y="1943"/>
                  </a:lnTo>
                  <a:lnTo>
                    <a:pt x="293" y="1935"/>
                  </a:lnTo>
                  <a:lnTo>
                    <a:pt x="282" y="1923"/>
                  </a:lnTo>
                  <a:lnTo>
                    <a:pt x="269" y="1910"/>
                  </a:lnTo>
                  <a:lnTo>
                    <a:pt x="255" y="1891"/>
                  </a:lnTo>
                  <a:lnTo>
                    <a:pt x="224" y="1851"/>
                  </a:lnTo>
                  <a:lnTo>
                    <a:pt x="192" y="1807"/>
                  </a:lnTo>
                  <a:lnTo>
                    <a:pt x="176" y="1784"/>
                  </a:lnTo>
                  <a:lnTo>
                    <a:pt x="162" y="1762"/>
                  </a:lnTo>
                  <a:lnTo>
                    <a:pt x="150" y="1740"/>
                  </a:lnTo>
                  <a:lnTo>
                    <a:pt x="138" y="1721"/>
                  </a:lnTo>
                  <a:lnTo>
                    <a:pt x="130" y="1703"/>
                  </a:lnTo>
                  <a:lnTo>
                    <a:pt x="124" y="1687"/>
                  </a:lnTo>
                  <a:lnTo>
                    <a:pt x="123" y="1681"/>
                  </a:lnTo>
                  <a:lnTo>
                    <a:pt x="122" y="1675"/>
                  </a:lnTo>
                  <a:lnTo>
                    <a:pt x="123" y="1670"/>
                  </a:lnTo>
                  <a:lnTo>
                    <a:pt x="124" y="1666"/>
                  </a:lnTo>
                  <a:lnTo>
                    <a:pt x="128" y="1659"/>
                  </a:lnTo>
                  <a:lnTo>
                    <a:pt x="131" y="1654"/>
                  </a:lnTo>
                  <a:lnTo>
                    <a:pt x="136" y="1649"/>
                  </a:lnTo>
                  <a:lnTo>
                    <a:pt x="140" y="1646"/>
                  </a:lnTo>
                  <a:lnTo>
                    <a:pt x="146" y="1642"/>
                  </a:lnTo>
                  <a:lnTo>
                    <a:pt x="151" y="1641"/>
                  </a:lnTo>
                  <a:lnTo>
                    <a:pt x="156" y="1642"/>
                  </a:lnTo>
                  <a:lnTo>
                    <a:pt x="162" y="1643"/>
                  </a:lnTo>
                  <a:lnTo>
                    <a:pt x="175" y="1650"/>
                  </a:lnTo>
                  <a:lnTo>
                    <a:pt x="186" y="1658"/>
                  </a:lnTo>
                  <a:lnTo>
                    <a:pt x="198" y="1668"/>
                  </a:lnTo>
                  <a:lnTo>
                    <a:pt x="209" y="1679"/>
                  </a:lnTo>
                  <a:lnTo>
                    <a:pt x="231" y="1702"/>
                  </a:lnTo>
                  <a:lnTo>
                    <a:pt x="251" y="1726"/>
                  </a:lnTo>
                  <a:lnTo>
                    <a:pt x="272" y="1751"/>
                  </a:lnTo>
                  <a:lnTo>
                    <a:pt x="294" y="1774"/>
                  </a:lnTo>
                  <a:lnTo>
                    <a:pt x="304" y="1785"/>
                  </a:lnTo>
                  <a:lnTo>
                    <a:pt x="315" y="1794"/>
                  </a:lnTo>
                  <a:lnTo>
                    <a:pt x="327" y="1803"/>
                  </a:lnTo>
                  <a:lnTo>
                    <a:pt x="338" y="1811"/>
                  </a:lnTo>
                  <a:lnTo>
                    <a:pt x="334" y="1795"/>
                  </a:lnTo>
                  <a:lnTo>
                    <a:pt x="328" y="1779"/>
                  </a:lnTo>
                  <a:lnTo>
                    <a:pt x="321" y="1766"/>
                  </a:lnTo>
                  <a:lnTo>
                    <a:pt x="313" y="1751"/>
                  </a:lnTo>
                  <a:lnTo>
                    <a:pt x="295" y="1724"/>
                  </a:lnTo>
                  <a:lnTo>
                    <a:pt x="277" y="1699"/>
                  </a:lnTo>
                  <a:lnTo>
                    <a:pt x="267" y="1687"/>
                  </a:lnTo>
                  <a:lnTo>
                    <a:pt x="261" y="1674"/>
                  </a:lnTo>
                  <a:lnTo>
                    <a:pt x="255" y="1660"/>
                  </a:lnTo>
                  <a:lnTo>
                    <a:pt x="251" y="1647"/>
                  </a:lnTo>
                  <a:lnTo>
                    <a:pt x="250" y="1640"/>
                  </a:lnTo>
                  <a:lnTo>
                    <a:pt x="249" y="1632"/>
                  </a:lnTo>
                  <a:lnTo>
                    <a:pt x="249" y="1625"/>
                  </a:lnTo>
                  <a:lnTo>
                    <a:pt x="250" y="1617"/>
                  </a:lnTo>
                  <a:lnTo>
                    <a:pt x="251" y="1609"/>
                  </a:lnTo>
                  <a:lnTo>
                    <a:pt x="254" y="1600"/>
                  </a:lnTo>
                  <a:lnTo>
                    <a:pt x="256" y="1592"/>
                  </a:lnTo>
                  <a:lnTo>
                    <a:pt x="261" y="1583"/>
                  </a:lnTo>
                  <a:lnTo>
                    <a:pt x="275" y="1591"/>
                  </a:lnTo>
                  <a:lnTo>
                    <a:pt x="291" y="1600"/>
                  </a:lnTo>
                  <a:lnTo>
                    <a:pt x="305" y="1609"/>
                  </a:lnTo>
                  <a:lnTo>
                    <a:pt x="319" y="1619"/>
                  </a:lnTo>
                  <a:lnTo>
                    <a:pt x="331" y="1630"/>
                  </a:lnTo>
                  <a:lnTo>
                    <a:pt x="343" y="1641"/>
                  </a:lnTo>
                  <a:lnTo>
                    <a:pt x="354" y="1652"/>
                  </a:lnTo>
                  <a:lnTo>
                    <a:pt x="366" y="1664"/>
                  </a:lnTo>
                  <a:lnTo>
                    <a:pt x="386" y="1689"/>
                  </a:lnTo>
                  <a:lnTo>
                    <a:pt x="405" y="1714"/>
                  </a:lnTo>
                  <a:lnTo>
                    <a:pt x="423" y="1739"/>
                  </a:lnTo>
                  <a:lnTo>
                    <a:pt x="440" y="1767"/>
                  </a:lnTo>
                  <a:lnTo>
                    <a:pt x="457" y="1793"/>
                  </a:lnTo>
                  <a:lnTo>
                    <a:pt x="475" y="1818"/>
                  </a:lnTo>
                  <a:lnTo>
                    <a:pt x="495" y="1844"/>
                  </a:lnTo>
                  <a:lnTo>
                    <a:pt x="515" y="1868"/>
                  </a:lnTo>
                  <a:lnTo>
                    <a:pt x="527" y="1880"/>
                  </a:lnTo>
                  <a:lnTo>
                    <a:pt x="538" y="1891"/>
                  </a:lnTo>
                  <a:lnTo>
                    <a:pt x="551" y="1903"/>
                  </a:lnTo>
                  <a:lnTo>
                    <a:pt x="564" y="1914"/>
                  </a:lnTo>
                  <a:lnTo>
                    <a:pt x="577" y="1923"/>
                  </a:lnTo>
                  <a:lnTo>
                    <a:pt x="592" y="1934"/>
                  </a:lnTo>
                  <a:lnTo>
                    <a:pt x="607" y="1943"/>
                  </a:lnTo>
                  <a:lnTo>
                    <a:pt x="623" y="1951"/>
                  </a:lnTo>
                  <a:lnTo>
                    <a:pt x="634" y="1927"/>
                  </a:lnTo>
                  <a:lnTo>
                    <a:pt x="641" y="1906"/>
                  </a:lnTo>
                  <a:lnTo>
                    <a:pt x="646" y="1887"/>
                  </a:lnTo>
                  <a:lnTo>
                    <a:pt x="650" y="1870"/>
                  </a:lnTo>
                  <a:lnTo>
                    <a:pt x="654" y="1851"/>
                  </a:lnTo>
                  <a:lnTo>
                    <a:pt x="658" y="1832"/>
                  </a:lnTo>
                  <a:lnTo>
                    <a:pt x="666" y="1811"/>
                  </a:lnTo>
                  <a:lnTo>
                    <a:pt x="677" y="1787"/>
                  </a:lnTo>
                  <a:lnTo>
                    <a:pt x="682" y="1776"/>
                  </a:lnTo>
                  <a:lnTo>
                    <a:pt x="689" y="1762"/>
                  </a:lnTo>
                  <a:lnTo>
                    <a:pt x="696" y="1752"/>
                  </a:lnTo>
                  <a:lnTo>
                    <a:pt x="704" y="1744"/>
                  </a:lnTo>
                  <a:lnTo>
                    <a:pt x="711" y="1738"/>
                  </a:lnTo>
                  <a:lnTo>
                    <a:pt x="719" y="1734"/>
                  </a:lnTo>
                  <a:lnTo>
                    <a:pt x="727" y="1730"/>
                  </a:lnTo>
                  <a:lnTo>
                    <a:pt x="736" y="1728"/>
                  </a:lnTo>
                  <a:lnTo>
                    <a:pt x="748" y="1727"/>
                  </a:lnTo>
                  <a:lnTo>
                    <a:pt x="750" y="1737"/>
                  </a:lnTo>
                  <a:lnTo>
                    <a:pt x="751" y="1756"/>
                  </a:lnTo>
                  <a:lnTo>
                    <a:pt x="751" y="1783"/>
                  </a:lnTo>
                  <a:lnTo>
                    <a:pt x="751" y="1814"/>
                  </a:lnTo>
                  <a:lnTo>
                    <a:pt x="754" y="1809"/>
                  </a:lnTo>
                  <a:lnTo>
                    <a:pt x="758" y="1804"/>
                  </a:lnTo>
                  <a:lnTo>
                    <a:pt x="758" y="1598"/>
                  </a:lnTo>
                  <a:lnTo>
                    <a:pt x="766" y="1583"/>
                  </a:lnTo>
                  <a:lnTo>
                    <a:pt x="773" y="1570"/>
                  </a:lnTo>
                  <a:lnTo>
                    <a:pt x="778" y="1559"/>
                  </a:lnTo>
                  <a:lnTo>
                    <a:pt x="783" y="1548"/>
                  </a:lnTo>
                  <a:lnTo>
                    <a:pt x="790" y="1529"/>
                  </a:lnTo>
                  <a:lnTo>
                    <a:pt x="797" y="1512"/>
                  </a:lnTo>
                  <a:lnTo>
                    <a:pt x="801" y="1504"/>
                  </a:lnTo>
                  <a:lnTo>
                    <a:pt x="806" y="1495"/>
                  </a:lnTo>
                  <a:lnTo>
                    <a:pt x="813" y="1487"/>
                  </a:lnTo>
                  <a:lnTo>
                    <a:pt x="820" y="1476"/>
                  </a:lnTo>
                  <a:lnTo>
                    <a:pt x="830" y="1467"/>
                  </a:lnTo>
                  <a:lnTo>
                    <a:pt x="841" y="1456"/>
                  </a:lnTo>
                  <a:lnTo>
                    <a:pt x="855" y="1444"/>
                  </a:lnTo>
                  <a:lnTo>
                    <a:pt x="872" y="1432"/>
                  </a:lnTo>
                  <a:lnTo>
                    <a:pt x="907" y="1407"/>
                  </a:lnTo>
                  <a:lnTo>
                    <a:pt x="929" y="1390"/>
                  </a:lnTo>
                  <a:lnTo>
                    <a:pt x="948" y="1378"/>
                  </a:lnTo>
                  <a:lnTo>
                    <a:pt x="961" y="1370"/>
                  </a:lnTo>
                  <a:lnTo>
                    <a:pt x="976" y="1363"/>
                  </a:lnTo>
                  <a:lnTo>
                    <a:pt x="996" y="1355"/>
                  </a:lnTo>
                  <a:lnTo>
                    <a:pt x="1023" y="1345"/>
                  </a:lnTo>
                  <a:lnTo>
                    <a:pt x="1061" y="1328"/>
                  </a:lnTo>
                  <a:lnTo>
                    <a:pt x="1085" y="1316"/>
                  </a:lnTo>
                  <a:lnTo>
                    <a:pt x="1107" y="1303"/>
                  </a:lnTo>
                  <a:lnTo>
                    <a:pt x="1127" y="1288"/>
                  </a:lnTo>
                  <a:lnTo>
                    <a:pt x="1147" y="1272"/>
                  </a:lnTo>
                  <a:lnTo>
                    <a:pt x="1165" y="1254"/>
                  </a:lnTo>
                  <a:lnTo>
                    <a:pt x="1182" y="1235"/>
                  </a:lnTo>
                  <a:lnTo>
                    <a:pt x="1198" y="1216"/>
                  </a:lnTo>
                  <a:lnTo>
                    <a:pt x="1214" y="1195"/>
                  </a:lnTo>
                  <a:lnTo>
                    <a:pt x="1228" y="1174"/>
                  </a:lnTo>
                  <a:lnTo>
                    <a:pt x="1243" y="1152"/>
                  </a:lnTo>
                  <a:lnTo>
                    <a:pt x="1255" y="1129"/>
                  </a:lnTo>
                  <a:lnTo>
                    <a:pt x="1269" y="1106"/>
                  </a:lnTo>
                  <a:lnTo>
                    <a:pt x="1294" y="1059"/>
                  </a:lnTo>
                  <a:lnTo>
                    <a:pt x="1318" y="1012"/>
                  </a:lnTo>
                  <a:lnTo>
                    <a:pt x="1402" y="1009"/>
                  </a:lnTo>
                  <a:lnTo>
                    <a:pt x="1429" y="987"/>
                  </a:lnTo>
                  <a:lnTo>
                    <a:pt x="1391" y="841"/>
                  </a:lnTo>
                  <a:lnTo>
                    <a:pt x="1384" y="840"/>
                  </a:lnTo>
                  <a:lnTo>
                    <a:pt x="1376" y="839"/>
                  </a:lnTo>
                  <a:lnTo>
                    <a:pt x="1371" y="836"/>
                  </a:lnTo>
                  <a:lnTo>
                    <a:pt x="1364" y="834"/>
                  </a:lnTo>
                  <a:lnTo>
                    <a:pt x="1358" y="831"/>
                  </a:lnTo>
                  <a:lnTo>
                    <a:pt x="1352" y="827"/>
                  </a:lnTo>
                  <a:lnTo>
                    <a:pt x="1348" y="823"/>
                  </a:lnTo>
                  <a:lnTo>
                    <a:pt x="1342" y="818"/>
                  </a:lnTo>
                  <a:lnTo>
                    <a:pt x="1334" y="809"/>
                  </a:lnTo>
                  <a:lnTo>
                    <a:pt x="1327" y="796"/>
                  </a:lnTo>
                  <a:lnTo>
                    <a:pt x="1322" y="784"/>
                  </a:lnTo>
                  <a:lnTo>
                    <a:pt x="1317" y="770"/>
                  </a:lnTo>
                  <a:lnTo>
                    <a:pt x="1312" y="755"/>
                  </a:lnTo>
                  <a:lnTo>
                    <a:pt x="1310" y="739"/>
                  </a:lnTo>
                  <a:lnTo>
                    <a:pt x="1308" y="724"/>
                  </a:lnTo>
                  <a:lnTo>
                    <a:pt x="1307" y="707"/>
                  </a:lnTo>
                  <a:lnTo>
                    <a:pt x="1306" y="675"/>
                  </a:lnTo>
                  <a:lnTo>
                    <a:pt x="1306" y="644"/>
                  </a:lnTo>
                  <a:lnTo>
                    <a:pt x="1270" y="341"/>
                  </a:lnTo>
                  <a:lnTo>
                    <a:pt x="1270" y="305"/>
                  </a:lnTo>
                  <a:lnTo>
                    <a:pt x="1270" y="291"/>
                  </a:lnTo>
                  <a:lnTo>
                    <a:pt x="1272" y="277"/>
                  </a:lnTo>
                  <a:lnTo>
                    <a:pt x="1276" y="264"/>
                  </a:lnTo>
                  <a:lnTo>
                    <a:pt x="1282" y="250"/>
                  </a:lnTo>
                  <a:lnTo>
                    <a:pt x="1287" y="236"/>
                  </a:lnTo>
                  <a:lnTo>
                    <a:pt x="1295" y="223"/>
                  </a:lnTo>
                  <a:lnTo>
                    <a:pt x="1303" y="209"/>
                  </a:lnTo>
                  <a:lnTo>
                    <a:pt x="1312" y="195"/>
                  </a:lnTo>
                  <a:lnTo>
                    <a:pt x="1324" y="183"/>
                  </a:lnTo>
                  <a:lnTo>
                    <a:pt x="1335" y="169"/>
                  </a:lnTo>
                  <a:lnTo>
                    <a:pt x="1347" y="156"/>
                  </a:lnTo>
                  <a:lnTo>
                    <a:pt x="1360" y="144"/>
                  </a:lnTo>
                  <a:lnTo>
                    <a:pt x="1374" y="132"/>
                  </a:lnTo>
                  <a:lnTo>
                    <a:pt x="1389" y="120"/>
                  </a:lnTo>
                  <a:lnTo>
                    <a:pt x="1404" y="108"/>
                  </a:lnTo>
                  <a:lnTo>
                    <a:pt x="1420" y="98"/>
                  </a:lnTo>
                  <a:lnTo>
                    <a:pt x="1436" y="87"/>
                  </a:lnTo>
                  <a:lnTo>
                    <a:pt x="1453" y="76"/>
                  </a:lnTo>
                  <a:lnTo>
                    <a:pt x="1470" y="67"/>
                  </a:lnTo>
                  <a:lnTo>
                    <a:pt x="1487" y="58"/>
                  </a:lnTo>
                  <a:lnTo>
                    <a:pt x="1506" y="49"/>
                  </a:lnTo>
                  <a:lnTo>
                    <a:pt x="1523" y="41"/>
                  </a:lnTo>
                  <a:lnTo>
                    <a:pt x="1541" y="34"/>
                  </a:lnTo>
                  <a:lnTo>
                    <a:pt x="1559" y="27"/>
                  </a:lnTo>
                  <a:lnTo>
                    <a:pt x="1577" y="20"/>
                  </a:lnTo>
                  <a:lnTo>
                    <a:pt x="1595" y="16"/>
                  </a:lnTo>
                  <a:lnTo>
                    <a:pt x="1612" y="11"/>
                  </a:lnTo>
                  <a:lnTo>
                    <a:pt x="1630" y="7"/>
                  </a:lnTo>
                  <a:lnTo>
                    <a:pt x="1647" y="4"/>
                  </a:lnTo>
                  <a:lnTo>
                    <a:pt x="1665" y="2"/>
                  </a:lnTo>
                  <a:lnTo>
                    <a:pt x="1681" y="0"/>
                  </a:lnTo>
                  <a:lnTo>
                    <a:pt x="1697" y="0"/>
                  </a:lnTo>
                  <a:lnTo>
                    <a:pt x="1716" y="1"/>
                  </a:lnTo>
                  <a:lnTo>
                    <a:pt x="1735" y="3"/>
                  </a:lnTo>
                  <a:lnTo>
                    <a:pt x="1756" y="7"/>
                  </a:lnTo>
                  <a:lnTo>
                    <a:pt x="1774" y="11"/>
                  </a:lnTo>
                  <a:lnTo>
                    <a:pt x="1794" y="17"/>
                  </a:lnTo>
                  <a:lnTo>
                    <a:pt x="1813" y="24"/>
                  </a:lnTo>
                  <a:lnTo>
                    <a:pt x="1832" y="31"/>
                  </a:lnTo>
                  <a:lnTo>
                    <a:pt x="1850" y="39"/>
                  </a:lnTo>
                  <a:lnTo>
                    <a:pt x="1884" y="57"/>
                  </a:lnTo>
                  <a:lnTo>
                    <a:pt x="1917" y="75"/>
                  </a:lnTo>
                  <a:lnTo>
                    <a:pt x="1948" y="95"/>
                  </a:lnTo>
                  <a:lnTo>
                    <a:pt x="1976" y="112"/>
                  </a:lnTo>
                  <a:lnTo>
                    <a:pt x="1992" y="123"/>
                  </a:lnTo>
                  <a:lnTo>
                    <a:pt x="2006" y="135"/>
                  </a:lnTo>
                  <a:lnTo>
                    <a:pt x="2021" y="146"/>
                  </a:lnTo>
                  <a:lnTo>
                    <a:pt x="2035" y="157"/>
                  </a:lnTo>
                  <a:lnTo>
                    <a:pt x="2046" y="170"/>
                  </a:lnTo>
                  <a:lnTo>
                    <a:pt x="2058" y="184"/>
                  </a:lnTo>
                  <a:lnTo>
                    <a:pt x="2068" y="197"/>
                  </a:lnTo>
                  <a:lnTo>
                    <a:pt x="2077" y="212"/>
                  </a:lnTo>
                  <a:lnTo>
                    <a:pt x="2085" y="228"/>
                  </a:lnTo>
                  <a:lnTo>
                    <a:pt x="2092" y="245"/>
                  </a:lnTo>
                  <a:lnTo>
                    <a:pt x="2098" y="264"/>
                  </a:lnTo>
                  <a:lnTo>
                    <a:pt x="2103" y="283"/>
                  </a:lnTo>
                  <a:lnTo>
                    <a:pt x="2107" y="304"/>
                  </a:lnTo>
                  <a:lnTo>
                    <a:pt x="2109" y="327"/>
                  </a:lnTo>
                  <a:lnTo>
                    <a:pt x="2111" y="352"/>
                  </a:lnTo>
                  <a:lnTo>
                    <a:pt x="2112" y="378"/>
                  </a:lnTo>
                  <a:lnTo>
                    <a:pt x="2108" y="415"/>
                  </a:lnTo>
                  <a:lnTo>
                    <a:pt x="2112" y="658"/>
                  </a:lnTo>
                  <a:lnTo>
                    <a:pt x="2112" y="671"/>
                  </a:lnTo>
                  <a:lnTo>
                    <a:pt x="2112" y="684"/>
                  </a:lnTo>
                  <a:lnTo>
                    <a:pt x="2111" y="697"/>
                  </a:lnTo>
                  <a:lnTo>
                    <a:pt x="2109" y="709"/>
                  </a:lnTo>
                  <a:lnTo>
                    <a:pt x="2107" y="721"/>
                  </a:lnTo>
                  <a:lnTo>
                    <a:pt x="2104" y="732"/>
                  </a:lnTo>
                  <a:lnTo>
                    <a:pt x="2100" y="742"/>
                  </a:lnTo>
                  <a:lnTo>
                    <a:pt x="2097" y="751"/>
                  </a:lnTo>
                  <a:lnTo>
                    <a:pt x="2091" y="760"/>
                  </a:lnTo>
                  <a:lnTo>
                    <a:pt x="2085" y="767"/>
                  </a:lnTo>
                  <a:lnTo>
                    <a:pt x="2078" y="774"/>
                  </a:lnTo>
                  <a:lnTo>
                    <a:pt x="2070" y="779"/>
                  </a:lnTo>
                  <a:lnTo>
                    <a:pt x="2061" y="784"/>
                  </a:lnTo>
                  <a:lnTo>
                    <a:pt x="2051" y="787"/>
                  </a:lnTo>
                  <a:lnTo>
                    <a:pt x="2040" y="790"/>
                  </a:lnTo>
                  <a:lnTo>
                    <a:pt x="2027" y="792"/>
                  </a:lnTo>
                  <a:lnTo>
                    <a:pt x="2014" y="793"/>
                  </a:lnTo>
                  <a:lnTo>
                    <a:pt x="2016" y="830"/>
                  </a:lnTo>
                  <a:lnTo>
                    <a:pt x="1978" y="1110"/>
                  </a:lnTo>
                  <a:lnTo>
                    <a:pt x="2221" y="1110"/>
                  </a:lnTo>
                  <a:lnTo>
                    <a:pt x="2248" y="1110"/>
                  </a:lnTo>
                  <a:lnTo>
                    <a:pt x="2274" y="1112"/>
                  </a:lnTo>
                  <a:lnTo>
                    <a:pt x="2300" y="1114"/>
                  </a:lnTo>
                  <a:lnTo>
                    <a:pt x="2327" y="1118"/>
                  </a:lnTo>
                  <a:lnTo>
                    <a:pt x="2352" y="1122"/>
                  </a:lnTo>
                  <a:lnTo>
                    <a:pt x="2376" y="1128"/>
                  </a:lnTo>
                  <a:lnTo>
                    <a:pt x="2400" y="1135"/>
                  </a:lnTo>
                  <a:lnTo>
                    <a:pt x="2422" y="1143"/>
                  </a:lnTo>
                  <a:lnTo>
                    <a:pt x="2443" y="1152"/>
                  </a:lnTo>
                  <a:lnTo>
                    <a:pt x="2463" y="1162"/>
                  </a:lnTo>
                  <a:lnTo>
                    <a:pt x="2481" y="1174"/>
                  </a:lnTo>
                  <a:lnTo>
                    <a:pt x="2497" y="1187"/>
                  </a:lnTo>
                  <a:lnTo>
                    <a:pt x="2504" y="1194"/>
                  </a:lnTo>
                  <a:lnTo>
                    <a:pt x="2511" y="1202"/>
                  </a:lnTo>
                  <a:lnTo>
                    <a:pt x="2516" y="1210"/>
                  </a:lnTo>
                  <a:lnTo>
                    <a:pt x="2522" y="1218"/>
                  </a:lnTo>
                  <a:lnTo>
                    <a:pt x="2528" y="1227"/>
                  </a:lnTo>
                  <a:lnTo>
                    <a:pt x="2531" y="1236"/>
                  </a:lnTo>
                  <a:lnTo>
                    <a:pt x="2536" y="1246"/>
                  </a:lnTo>
                  <a:lnTo>
                    <a:pt x="2538" y="1256"/>
                  </a:lnTo>
                  <a:lnTo>
                    <a:pt x="2566" y="1272"/>
                  </a:lnTo>
                  <a:lnTo>
                    <a:pt x="2590" y="1287"/>
                  </a:lnTo>
                  <a:lnTo>
                    <a:pt x="2608" y="1300"/>
                  </a:lnTo>
                  <a:lnTo>
                    <a:pt x="2623" y="1314"/>
                  </a:lnTo>
                  <a:lnTo>
                    <a:pt x="2635" y="1328"/>
                  </a:lnTo>
                  <a:lnTo>
                    <a:pt x="2646" y="1342"/>
                  </a:lnTo>
                  <a:lnTo>
                    <a:pt x="2654" y="1354"/>
                  </a:lnTo>
                  <a:lnTo>
                    <a:pt x="2660" y="1367"/>
                  </a:lnTo>
                  <a:lnTo>
                    <a:pt x="2672" y="1391"/>
                  </a:lnTo>
                  <a:lnTo>
                    <a:pt x="2686" y="1415"/>
                  </a:lnTo>
                  <a:lnTo>
                    <a:pt x="2694" y="1427"/>
                  </a:lnTo>
                  <a:lnTo>
                    <a:pt x="2705" y="1439"/>
                  </a:lnTo>
                  <a:lnTo>
                    <a:pt x="2718" y="1451"/>
                  </a:lnTo>
                  <a:lnTo>
                    <a:pt x="2734" y="1463"/>
                  </a:lnTo>
                  <a:lnTo>
                    <a:pt x="2759" y="1463"/>
                  </a:lnTo>
                  <a:lnTo>
                    <a:pt x="2778" y="1462"/>
                  </a:lnTo>
                  <a:lnTo>
                    <a:pt x="2786" y="1462"/>
                  </a:lnTo>
                  <a:lnTo>
                    <a:pt x="2793" y="1463"/>
                  </a:lnTo>
                  <a:lnTo>
                    <a:pt x="2799" y="1464"/>
                  </a:lnTo>
                  <a:lnTo>
                    <a:pt x="2803" y="1465"/>
                  </a:lnTo>
                  <a:lnTo>
                    <a:pt x="2808" y="1467"/>
                  </a:lnTo>
                  <a:lnTo>
                    <a:pt x="2810" y="1472"/>
                  </a:lnTo>
                  <a:lnTo>
                    <a:pt x="2814" y="1476"/>
                  </a:lnTo>
                  <a:lnTo>
                    <a:pt x="2815" y="1482"/>
                  </a:lnTo>
                  <a:lnTo>
                    <a:pt x="2818" y="1499"/>
                  </a:lnTo>
                  <a:lnTo>
                    <a:pt x="2819" y="1524"/>
                  </a:lnTo>
                  <a:lnTo>
                    <a:pt x="2865" y="1534"/>
                  </a:lnTo>
                  <a:lnTo>
                    <a:pt x="2897" y="1539"/>
                  </a:lnTo>
                  <a:lnTo>
                    <a:pt x="2918" y="1542"/>
                  </a:lnTo>
                  <a:lnTo>
                    <a:pt x="2934" y="1544"/>
                  </a:lnTo>
                  <a:lnTo>
                    <a:pt x="2941" y="1546"/>
                  </a:lnTo>
                  <a:lnTo>
                    <a:pt x="2947" y="1548"/>
                  </a:lnTo>
                  <a:lnTo>
                    <a:pt x="2957" y="1553"/>
                  </a:lnTo>
                  <a:lnTo>
                    <a:pt x="2966" y="1558"/>
                  </a:lnTo>
                  <a:lnTo>
                    <a:pt x="2990" y="1574"/>
                  </a:lnTo>
                  <a:lnTo>
                    <a:pt x="3026" y="1598"/>
                  </a:lnTo>
                  <a:lnTo>
                    <a:pt x="3078" y="1570"/>
                  </a:lnTo>
                  <a:lnTo>
                    <a:pt x="3112" y="1609"/>
                  </a:lnTo>
                  <a:lnTo>
                    <a:pt x="3128" y="1599"/>
                  </a:lnTo>
                  <a:lnTo>
                    <a:pt x="3148" y="1587"/>
                  </a:lnTo>
                  <a:lnTo>
                    <a:pt x="3169" y="1576"/>
                  </a:lnTo>
                  <a:lnTo>
                    <a:pt x="3192" y="1564"/>
                  </a:lnTo>
                  <a:lnTo>
                    <a:pt x="3204" y="1560"/>
                  </a:lnTo>
                  <a:lnTo>
                    <a:pt x="3216" y="1556"/>
                  </a:lnTo>
                  <a:lnTo>
                    <a:pt x="3228" y="1553"/>
                  </a:lnTo>
                  <a:lnTo>
                    <a:pt x="3239" y="1551"/>
                  </a:lnTo>
                  <a:lnTo>
                    <a:pt x="3249" y="1550"/>
                  </a:lnTo>
                  <a:lnTo>
                    <a:pt x="3261" y="1548"/>
                  </a:lnTo>
                  <a:lnTo>
                    <a:pt x="3271" y="1550"/>
                  </a:lnTo>
                  <a:lnTo>
                    <a:pt x="3280" y="1552"/>
                  </a:lnTo>
                  <a:lnTo>
                    <a:pt x="3462" y="1500"/>
                  </a:lnTo>
                  <a:lnTo>
                    <a:pt x="3465" y="1512"/>
                  </a:lnTo>
                  <a:lnTo>
                    <a:pt x="3496" y="1488"/>
                  </a:lnTo>
                  <a:lnTo>
                    <a:pt x="3521" y="1466"/>
                  </a:lnTo>
                  <a:lnTo>
                    <a:pt x="3529" y="1462"/>
                  </a:lnTo>
                  <a:lnTo>
                    <a:pt x="3536" y="1457"/>
                  </a:lnTo>
                  <a:lnTo>
                    <a:pt x="3544" y="1454"/>
                  </a:lnTo>
                  <a:lnTo>
                    <a:pt x="3553" y="1450"/>
                  </a:lnTo>
                  <a:lnTo>
                    <a:pt x="3564" y="1447"/>
                  </a:lnTo>
                  <a:lnTo>
                    <a:pt x="3574" y="1443"/>
                  </a:lnTo>
                  <a:lnTo>
                    <a:pt x="3587" y="1441"/>
                  </a:lnTo>
                  <a:lnTo>
                    <a:pt x="3600" y="1440"/>
                  </a:lnTo>
                  <a:lnTo>
                    <a:pt x="3641" y="1436"/>
                  </a:lnTo>
                  <a:lnTo>
                    <a:pt x="3668" y="1435"/>
                  </a:lnTo>
                  <a:lnTo>
                    <a:pt x="3684" y="1434"/>
                  </a:lnTo>
                  <a:lnTo>
                    <a:pt x="3694" y="1434"/>
                  </a:lnTo>
                  <a:lnTo>
                    <a:pt x="3699" y="1432"/>
                  </a:lnTo>
                  <a:lnTo>
                    <a:pt x="3702" y="1431"/>
                  </a:lnTo>
                  <a:lnTo>
                    <a:pt x="3708" y="1427"/>
                  </a:lnTo>
                  <a:lnTo>
                    <a:pt x="3714" y="1423"/>
                  </a:lnTo>
                  <a:lnTo>
                    <a:pt x="3731" y="1410"/>
                  </a:lnTo>
                  <a:lnTo>
                    <a:pt x="3758" y="1390"/>
                  </a:lnTo>
                  <a:lnTo>
                    <a:pt x="3771" y="1382"/>
                  </a:lnTo>
                  <a:lnTo>
                    <a:pt x="3787" y="1372"/>
                  </a:lnTo>
                  <a:lnTo>
                    <a:pt x="3806" y="1362"/>
                  </a:lnTo>
                  <a:lnTo>
                    <a:pt x="3827" y="1352"/>
                  </a:lnTo>
                  <a:lnTo>
                    <a:pt x="3872" y="1331"/>
                  </a:lnTo>
                  <a:lnTo>
                    <a:pt x="3919" y="1310"/>
                  </a:lnTo>
                  <a:lnTo>
                    <a:pt x="3934" y="1322"/>
                  </a:lnTo>
                  <a:lnTo>
                    <a:pt x="3934" y="1307"/>
                  </a:lnTo>
                  <a:lnTo>
                    <a:pt x="3935" y="1291"/>
                  </a:lnTo>
                  <a:lnTo>
                    <a:pt x="3939" y="1274"/>
                  </a:lnTo>
                  <a:lnTo>
                    <a:pt x="3944" y="1257"/>
                  </a:lnTo>
                  <a:lnTo>
                    <a:pt x="3951" y="1238"/>
                  </a:lnTo>
                  <a:lnTo>
                    <a:pt x="3958" y="1219"/>
                  </a:lnTo>
                  <a:lnTo>
                    <a:pt x="3967" y="1200"/>
                  </a:lnTo>
                  <a:lnTo>
                    <a:pt x="3975" y="1180"/>
                  </a:lnTo>
                  <a:lnTo>
                    <a:pt x="3994" y="1143"/>
                  </a:lnTo>
                  <a:lnTo>
                    <a:pt x="4011" y="1106"/>
                  </a:lnTo>
                  <a:lnTo>
                    <a:pt x="4019" y="1090"/>
                  </a:lnTo>
                  <a:lnTo>
                    <a:pt x="4025" y="1074"/>
                  </a:lnTo>
                  <a:lnTo>
                    <a:pt x="4029" y="1059"/>
                  </a:lnTo>
                  <a:lnTo>
                    <a:pt x="4033" y="1047"/>
                  </a:lnTo>
                  <a:lnTo>
                    <a:pt x="4036" y="1023"/>
                  </a:lnTo>
                  <a:lnTo>
                    <a:pt x="4037" y="991"/>
                  </a:lnTo>
                  <a:lnTo>
                    <a:pt x="4037" y="954"/>
                  </a:lnTo>
                  <a:lnTo>
                    <a:pt x="4037" y="915"/>
                  </a:lnTo>
                  <a:lnTo>
                    <a:pt x="4037" y="879"/>
                  </a:lnTo>
                  <a:lnTo>
                    <a:pt x="4037" y="847"/>
                  </a:lnTo>
                  <a:lnTo>
                    <a:pt x="4038" y="833"/>
                  </a:lnTo>
                  <a:lnTo>
                    <a:pt x="4038" y="822"/>
                  </a:lnTo>
                  <a:lnTo>
                    <a:pt x="4039" y="814"/>
                  </a:lnTo>
                  <a:lnTo>
                    <a:pt x="4041" y="809"/>
                  </a:lnTo>
                  <a:lnTo>
                    <a:pt x="4051" y="811"/>
                  </a:lnTo>
                  <a:lnTo>
                    <a:pt x="4060" y="812"/>
                  </a:lnTo>
                  <a:lnTo>
                    <a:pt x="4068" y="816"/>
                  </a:lnTo>
                  <a:lnTo>
                    <a:pt x="4075" y="819"/>
                  </a:lnTo>
                  <a:lnTo>
                    <a:pt x="4082" y="825"/>
                  </a:lnTo>
                  <a:lnTo>
                    <a:pt x="4089" y="833"/>
                  </a:lnTo>
                  <a:lnTo>
                    <a:pt x="4095" y="843"/>
                  </a:lnTo>
                  <a:lnTo>
                    <a:pt x="4102" y="856"/>
                  </a:lnTo>
                  <a:lnTo>
                    <a:pt x="4107" y="866"/>
                  </a:lnTo>
                  <a:lnTo>
                    <a:pt x="4117" y="889"/>
                  </a:lnTo>
                  <a:lnTo>
                    <a:pt x="4124" y="908"/>
                  </a:lnTo>
                  <a:lnTo>
                    <a:pt x="4129" y="927"/>
                  </a:lnTo>
                  <a:lnTo>
                    <a:pt x="4132" y="944"/>
                  </a:lnTo>
                  <a:lnTo>
                    <a:pt x="4135" y="960"/>
                  </a:lnTo>
                  <a:lnTo>
                    <a:pt x="4141" y="978"/>
                  </a:lnTo>
                  <a:lnTo>
                    <a:pt x="4148" y="998"/>
                  </a:lnTo>
                  <a:lnTo>
                    <a:pt x="4157" y="1020"/>
                  </a:lnTo>
                  <a:lnTo>
                    <a:pt x="4173" y="1012"/>
                  </a:lnTo>
                  <a:lnTo>
                    <a:pt x="4188" y="1004"/>
                  </a:lnTo>
                  <a:lnTo>
                    <a:pt x="4202" y="995"/>
                  </a:lnTo>
                  <a:lnTo>
                    <a:pt x="4214" y="985"/>
                  </a:lnTo>
                  <a:lnTo>
                    <a:pt x="4226" y="975"/>
                  </a:lnTo>
                  <a:lnTo>
                    <a:pt x="4238" y="964"/>
                  </a:lnTo>
                  <a:lnTo>
                    <a:pt x="4249" y="954"/>
                  </a:lnTo>
                  <a:lnTo>
                    <a:pt x="4259" y="943"/>
                  </a:lnTo>
                  <a:lnTo>
                    <a:pt x="4278" y="920"/>
                  </a:lnTo>
                  <a:lnTo>
                    <a:pt x="4297" y="896"/>
                  </a:lnTo>
                  <a:lnTo>
                    <a:pt x="4314" y="871"/>
                  </a:lnTo>
                  <a:lnTo>
                    <a:pt x="4330" y="847"/>
                  </a:lnTo>
                  <a:lnTo>
                    <a:pt x="4347" y="822"/>
                  </a:lnTo>
                  <a:lnTo>
                    <a:pt x="4364" y="798"/>
                  </a:lnTo>
                  <a:lnTo>
                    <a:pt x="4381" y="774"/>
                  </a:lnTo>
                  <a:lnTo>
                    <a:pt x="4401" y="751"/>
                  </a:lnTo>
                  <a:lnTo>
                    <a:pt x="4411" y="739"/>
                  </a:lnTo>
                  <a:lnTo>
                    <a:pt x="4421" y="729"/>
                  </a:lnTo>
                  <a:lnTo>
                    <a:pt x="4433" y="719"/>
                  </a:lnTo>
                  <a:lnTo>
                    <a:pt x="4445" y="708"/>
                  </a:lnTo>
                  <a:lnTo>
                    <a:pt x="4458" y="699"/>
                  </a:lnTo>
                  <a:lnTo>
                    <a:pt x="4470" y="690"/>
                  </a:lnTo>
                  <a:lnTo>
                    <a:pt x="4485" y="681"/>
                  </a:lnTo>
                  <a:lnTo>
                    <a:pt x="4500" y="674"/>
                  </a:lnTo>
                  <a:lnTo>
                    <a:pt x="4504" y="682"/>
                  </a:lnTo>
                  <a:lnTo>
                    <a:pt x="4506" y="690"/>
                  </a:lnTo>
                  <a:lnTo>
                    <a:pt x="4508" y="698"/>
                  </a:lnTo>
                  <a:lnTo>
                    <a:pt x="4509" y="706"/>
                  </a:lnTo>
                  <a:lnTo>
                    <a:pt x="4510" y="713"/>
                  </a:lnTo>
                  <a:lnTo>
                    <a:pt x="4510" y="720"/>
                  </a:lnTo>
                  <a:lnTo>
                    <a:pt x="4509" y="727"/>
                  </a:lnTo>
                  <a:lnTo>
                    <a:pt x="4508" y="734"/>
                  </a:lnTo>
                  <a:lnTo>
                    <a:pt x="4505" y="747"/>
                  </a:lnTo>
                  <a:lnTo>
                    <a:pt x="4499" y="760"/>
                  </a:lnTo>
                  <a:lnTo>
                    <a:pt x="4492" y="771"/>
                  </a:lnTo>
                  <a:lnTo>
                    <a:pt x="4484" y="784"/>
                  </a:lnTo>
                  <a:lnTo>
                    <a:pt x="4467" y="808"/>
                  </a:lnTo>
                  <a:lnTo>
                    <a:pt x="4450" y="832"/>
                  </a:lnTo>
                  <a:lnTo>
                    <a:pt x="4442" y="846"/>
                  </a:lnTo>
                  <a:lnTo>
                    <a:pt x="4435" y="859"/>
                  </a:lnTo>
                  <a:lnTo>
                    <a:pt x="4430" y="873"/>
                  </a:lnTo>
                  <a:lnTo>
                    <a:pt x="4426" y="889"/>
                  </a:lnTo>
                  <a:lnTo>
                    <a:pt x="4437" y="882"/>
                  </a:lnTo>
                  <a:lnTo>
                    <a:pt x="4448" y="873"/>
                  </a:lnTo>
                  <a:lnTo>
                    <a:pt x="4458" y="864"/>
                  </a:lnTo>
                  <a:lnTo>
                    <a:pt x="4468" y="854"/>
                  </a:lnTo>
                  <a:lnTo>
                    <a:pt x="4489" y="832"/>
                  </a:lnTo>
                  <a:lnTo>
                    <a:pt x="4508" y="808"/>
                  </a:lnTo>
                  <a:lnTo>
                    <a:pt x="4528" y="785"/>
                  </a:lnTo>
                  <a:lnTo>
                    <a:pt x="4548" y="763"/>
                  </a:lnTo>
                  <a:lnTo>
                    <a:pt x="4558" y="754"/>
                  </a:lnTo>
                  <a:lnTo>
                    <a:pt x="4569" y="745"/>
                  </a:lnTo>
                  <a:lnTo>
                    <a:pt x="4580" y="737"/>
                  </a:lnTo>
                  <a:lnTo>
                    <a:pt x="4592" y="731"/>
                  </a:lnTo>
                  <a:lnTo>
                    <a:pt x="4597" y="729"/>
                  </a:lnTo>
                  <a:lnTo>
                    <a:pt x="4603" y="729"/>
                  </a:lnTo>
                  <a:lnTo>
                    <a:pt x="4608" y="730"/>
                  </a:lnTo>
                  <a:lnTo>
                    <a:pt x="4612" y="732"/>
                  </a:lnTo>
                  <a:lnTo>
                    <a:pt x="4617" y="736"/>
                  </a:lnTo>
                  <a:lnTo>
                    <a:pt x="4621" y="740"/>
                  </a:lnTo>
                  <a:lnTo>
                    <a:pt x="4625" y="746"/>
                  </a:lnTo>
                  <a:lnTo>
                    <a:pt x="4628" y="752"/>
                  </a:lnTo>
                  <a:lnTo>
                    <a:pt x="4629" y="755"/>
                  </a:lnTo>
                  <a:lnTo>
                    <a:pt x="4629" y="760"/>
                  </a:lnTo>
                  <a:lnTo>
                    <a:pt x="4628" y="766"/>
                  </a:lnTo>
                  <a:lnTo>
                    <a:pt x="4627" y="772"/>
                  </a:lnTo>
                  <a:lnTo>
                    <a:pt x="4623" y="786"/>
                  </a:lnTo>
                  <a:lnTo>
                    <a:pt x="4614" y="803"/>
                  </a:lnTo>
                  <a:lnTo>
                    <a:pt x="4604" y="823"/>
                  </a:lnTo>
                  <a:lnTo>
                    <a:pt x="4593" y="842"/>
                  </a:lnTo>
                  <a:lnTo>
                    <a:pt x="4579" y="864"/>
                  </a:lnTo>
                  <a:lnTo>
                    <a:pt x="4564" y="884"/>
                  </a:lnTo>
                  <a:lnTo>
                    <a:pt x="4534" y="927"/>
                  </a:lnTo>
                  <a:lnTo>
                    <a:pt x="4505" y="964"/>
                  </a:lnTo>
                  <a:lnTo>
                    <a:pt x="4491" y="980"/>
                  </a:lnTo>
                  <a:lnTo>
                    <a:pt x="4480" y="994"/>
                  </a:lnTo>
                  <a:lnTo>
                    <a:pt x="4469" y="1006"/>
                  </a:lnTo>
                  <a:lnTo>
                    <a:pt x="4461" y="1012"/>
                  </a:lnTo>
                  <a:lnTo>
                    <a:pt x="4472" y="1033"/>
                  </a:lnTo>
                  <a:lnTo>
                    <a:pt x="4490" y="1020"/>
                  </a:lnTo>
                  <a:lnTo>
                    <a:pt x="4504" y="1010"/>
                  </a:lnTo>
                  <a:lnTo>
                    <a:pt x="4509" y="1004"/>
                  </a:lnTo>
                  <a:lnTo>
                    <a:pt x="4517" y="1000"/>
                  </a:lnTo>
                  <a:lnTo>
                    <a:pt x="4526" y="994"/>
                  </a:lnTo>
                  <a:lnTo>
                    <a:pt x="4539" y="987"/>
                  </a:lnTo>
                  <a:lnTo>
                    <a:pt x="4673" y="922"/>
                  </a:lnTo>
                  <a:lnTo>
                    <a:pt x="4690" y="914"/>
                  </a:lnTo>
                  <a:lnTo>
                    <a:pt x="4703" y="912"/>
                  </a:lnTo>
                  <a:lnTo>
                    <a:pt x="4714" y="910"/>
                  </a:lnTo>
                  <a:lnTo>
                    <a:pt x="4730" y="907"/>
                  </a:lnTo>
                  <a:lnTo>
                    <a:pt x="4745" y="938"/>
                  </a:lnTo>
                  <a:lnTo>
                    <a:pt x="4737" y="950"/>
                  </a:lnTo>
                  <a:lnTo>
                    <a:pt x="4727" y="962"/>
                  </a:lnTo>
                  <a:lnTo>
                    <a:pt x="4715" y="975"/>
                  </a:lnTo>
                  <a:lnTo>
                    <a:pt x="4701" y="987"/>
                  </a:lnTo>
                  <a:lnTo>
                    <a:pt x="4687" y="1001"/>
                  </a:lnTo>
                  <a:lnTo>
                    <a:pt x="4671" y="1014"/>
                  </a:lnTo>
                  <a:lnTo>
                    <a:pt x="4653" y="1026"/>
                  </a:lnTo>
                  <a:lnTo>
                    <a:pt x="4636" y="1039"/>
                  </a:lnTo>
                  <a:lnTo>
                    <a:pt x="4598" y="1064"/>
                  </a:lnTo>
                  <a:lnTo>
                    <a:pt x="4561" y="1087"/>
                  </a:lnTo>
                  <a:lnTo>
                    <a:pt x="4524" y="1108"/>
                  </a:lnTo>
                  <a:lnTo>
                    <a:pt x="4491" y="1127"/>
                  </a:lnTo>
                  <a:lnTo>
                    <a:pt x="4512" y="1168"/>
                  </a:lnTo>
                  <a:lnTo>
                    <a:pt x="4683" y="1128"/>
                  </a:lnTo>
                  <a:lnTo>
                    <a:pt x="4719" y="1142"/>
                  </a:lnTo>
                  <a:lnTo>
                    <a:pt x="4709" y="1184"/>
                  </a:lnTo>
                  <a:lnTo>
                    <a:pt x="4550" y="1248"/>
                  </a:lnTo>
                  <a:lnTo>
                    <a:pt x="4521" y="1265"/>
                  </a:lnTo>
                  <a:lnTo>
                    <a:pt x="4514" y="1270"/>
                  </a:lnTo>
                  <a:lnTo>
                    <a:pt x="4506" y="1275"/>
                  </a:lnTo>
                  <a:lnTo>
                    <a:pt x="4498" y="1283"/>
                  </a:lnTo>
                  <a:lnTo>
                    <a:pt x="4490" y="1292"/>
                  </a:lnTo>
                  <a:lnTo>
                    <a:pt x="4473" y="1313"/>
                  </a:lnTo>
                  <a:lnTo>
                    <a:pt x="4453" y="1336"/>
                  </a:lnTo>
                  <a:lnTo>
                    <a:pt x="4433" y="1361"/>
                  </a:lnTo>
                  <a:lnTo>
                    <a:pt x="4410" y="1386"/>
                  </a:lnTo>
                  <a:lnTo>
                    <a:pt x="4398" y="1399"/>
                  </a:lnTo>
                  <a:lnTo>
                    <a:pt x="4385" y="1411"/>
                  </a:lnTo>
                  <a:lnTo>
                    <a:pt x="4371" y="1422"/>
                  </a:lnTo>
                  <a:lnTo>
                    <a:pt x="4357" y="1433"/>
                  </a:lnTo>
                  <a:lnTo>
                    <a:pt x="4344" y="1441"/>
                  </a:lnTo>
                  <a:lnTo>
                    <a:pt x="4325" y="1452"/>
                  </a:lnTo>
                  <a:lnTo>
                    <a:pt x="4302" y="1466"/>
                  </a:lnTo>
                  <a:lnTo>
                    <a:pt x="4277" y="1480"/>
                  </a:lnTo>
                  <a:lnTo>
                    <a:pt x="4251" y="1495"/>
                  </a:lnTo>
                  <a:lnTo>
                    <a:pt x="4223" y="1510"/>
                  </a:lnTo>
                  <a:lnTo>
                    <a:pt x="4197" y="1523"/>
                  </a:lnTo>
                  <a:lnTo>
                    <a:pt x="4172" y="1537"/>
                  </a:lnTo>
                  <a:lnTo>
                    <a:pt x="4229" y="1588"/>
                  </a:lnTo>
                  <a:lnTo>
                    <a:pt x="4249" y="1646"/>
                  </a:lnTo>
                  <a:lnTo>
                    <a:pt x="4239" y="1655"/>
                  </a:lnTo>
                  <a:lnTo>
                    <a:pt x="4227" y="1665"/>
                  </a:lnTo>
                  <a:lnTo>
                    <a:pt x="4211" y="1676"/>
                  </a:lnTo>
                  <a:lnTo>
                    <a:pt x="4189" y="1689"/>
                  </a:lnTo>
                  <a:lnTo>
                    <a:pt x="4165" y="1703"/>
                  </a:lnTo>
                  <a:lnTo>
                    <a:pt x="4138" y="1716"/>
                  </a:lnTo>
                  <a:lnTo>
                    <a:pt x="4107" y="1731"/>
                  </a:lnTo>
                  <a:lnTo>
                    <a:pt x="4073" y="1747"/>
                  </a:lnTo>
                  <a:lnTo>
                    <a:pt x="3997" y="1779"/>
                  </a:lnTo>
                  <a:lnTo>
                    <a:pt x="3914" y="1812"/>
                  </a:lnTo>
                  <a:lnTo>
                    <a:pt x="3824" y="1847"/>
                  </a:lnTo>
                  <a:lnTo>
                    <a:pt x="3731" y="1881"/>
                  </a:lnTo>
                  <a:lnTo>
                    <a:pt x="3636" y="1914"/>
                  </a:lnTo>
                  <a:lnTo>
                    <a:pt x="3541" y="1945"/>
                  </a:lnTo>
                  <a:lnTo>
                    <a:pt x="3448" y="1974"/>
                  </a:lnTo>
                  <a:lnTo>
                    <a:pt x="3361" y="1999"/>
                  </a:lnTo>
                  <a:lnTo>
                    <a:pt x="3319" y="2009"/>
                  </a:lnTo>
                  <a:lnTo>
                    <a:pt x="3280" y="2019"/>
                  </a:lnTo>
                  <a:lnTo>
                    <a:pt x="3242" y="2027"/>
                  </a:lnTo>
                  <a:lnTo>
                    <a:pt x="3208" y="2035"/>
                  </a:lnTo>
                  <a:lnTo>
                    <a:pt x="3176" y="2041"/>
                  </a:lnTo>
                  <a:lnTo>
                    <a:pt x="3148" y="2044"/>
                  </a:lnTo>
                  <a:lnTo>
                    <a:pt x="3121" y="2048"/>
                  </a:lnTo>
                  <a:lnTo>
                    <a:pt x="3100" y="2048"/>
                  </a:lnTo>
                  <a:lnTo>
                    <a:pt x="3026" y="2048"/>
                  </a:lnTo>
                  <a:lnTo>
                    <a:pt x="2710" y="2022"/>
                  </a:lnTo>
                  <a:lnTo>
                    <a:pt x="2682" y="2585"/>
                  </a:lnTo>
                  <a:lnTo>
                    <a:pt x="2682" y="2607"/>
                  </a:lnTo>
                  <a:lnTo>
                    <a:pt x="2682" y="2628"/>
                  </a:lnTo>
                  <a:lnTo>
                    <a:pt x="2683" y="2651"/>
                  </a:lnTo>
                  <a:lnTo>
                    <a:pt x="2684" y="2675"/>
                  </a:lnTo>
                  <a:lnTo>
                    <a:pt x="2689" y="2724"/>
                  </a:lnTo>
                  <a:lnTo>
                    <a:pt x="2695" y="2775"/>
                  </a:lnTo>
                  <a:lnTo>
                    <a:pt x="2699" y="2826"/>
                  </a:lnTo>
                  <a:lnTo>
                    <a:pt x="2705" y="2880"/>
                  </a:lnTo>
                  <a:lnTo>
                    <a:pt x="2708" y="2934"/>
                  </a:lnTo>
                  <a:lnTo>
                    <a:pt x="2710" y="2987"/>
                  </a:lnTo>
                  <a:lnTo>
                    <a:pt x="2710" y="3014"/>
                  </a:lnTo>
                  <a:lnTo>
                    <a:pt x="2711" y="3038"/>
                  </a:lnTo>
                  <a:lnTo>
                    <a:pt x="2712" y="3062"/>
                  </a:lnTo>
                  <a:lnTo>
                    <a:pt x="2714" y="3086"/>
                  </a:lnTo>
                  <a:lnTo>
                    <a:pt x="2720" y="3130"/>
                  </a:lnTo>
                  <a:lnTo>
                    <a:pt x="2727" y="3173"/>
                  </a:lnTo>
                  <a:lnTo>
                    <a:pt x="2735" y="3216"/>
                  </a:lnTo>
                  <a:lnTo>
                    <a:pt x="2744" y="3258"/>
                  </a:lnTo>
                  <a:lnTo>
                    <a:pt x="2752" y="3303"/>
                  </a:lnTo>
                  <a:lnTo>
                    <a:pt x="2761" y="3351"/>
                  </a:lnTo>
                  <a:lnTo>
                    <a:pt x="2774" y="3430"/>
                  </a:lnTo>
                  <a:lnTo>
                    <a:pt x="2789" y="3519"/>
                  </a:lnTo>
                  <a:lnTo>
                    <a:pt x="2805" y="3615"/>
                  </a:lnTo>
                  <a:lnTo>
                    <a:pt x="2819" y="3714"/>
                  </a:lnTo>
                  <a:lnTo>
                    <a:pt x="2827" y="3766"/>
                  </a:lnTo>
                  <a:lnTo>
                    <a:pt x="2833" y="3816"/>
                  </a:lnTo>
                  <a:lnTo>
                    <a:pt x="2840" y="3866"/>
                  </a:lnTo>
                  <a:lnTo>
                    <a:pt x="2845" y="3915"/>
                  </a:lnTo>
                  <a:lnTo>
                    <a:pt x="2849" y="3963"/>
                  </a:lnTo>
                  <a:lnTo>
                    <a:pt x="2853" y="4010"/>
                  </a:lnTo>
                  <a:lnTo>
                    <a:pt x="2855" y="4055"/>
                  </a:lnTo>
                  <a:lnTo>
                    <a:pt x="2856" y="4097"/>
                  </a:lnTo>
                  <a:lnTo>
                    <a:pt x="2856" y="4110"/>
                  </a:lnTo>
                  <a:lnTo>
                    <a:pt x="2855" y="4118"/>
                  </a:lnTo>
                  <a:lnTo>
                    <a:pt x="2854" y="4126"/>
                  </a:lnTo>
                  <a:lnTo>
                    <a:pt x="2851" y="4130"/>
                  </a:lnTo>
                  <a:lnTo>
                    <a:pt x="2849" y="4136"/>
                  </a:lnTo>
                  <a:lnTo>
                    <a:pt x="2841" y="4145"/>
                  </a:lnTo>
                  <a:lnTo>
                    <a:pt x="2831" y="4158"/>
                  </a:lnTo>
                  <a:lnTo>
                    <a:pt x="2833" y="4200"/>
                  </a:lnTo>
                  <a:lnTo>
                    <a:pt x="2838" y="4242"/>
                  </a:lnTo>
                  <a:lnTo>
                    <a:pt x="2843" y="4285"/>
                  </a:lnTo>
                  <a:lnTo>
                    <a:pt x="2850" y="4328"/>
                  </a:lnTo>
                  <a:lnTo>
                    <a:pt x="2857" y="4374"/>
                  </a:lnTo>
                  <a:lnTo>
                    <a:pt x="2863" y="4421"/>
                  </a:lnTo>
                  <a:lnTo>
                    <a:pt x="2865" y="4446"/>
                  </a:lnTo>
                  <a:lnTo>
                    <a:pt x="2866" y="4471"/>
                  </a:lnTo>
                  <a:lnTo>
                    <a:pt x="2867" y="4497"/>
                  </a:lnTo>
                  <a:lnTo>
                    <a:pt x="2867" y="4523"/>
                  </a:lnTo>
                  <a:lnTo>
                    <a:pt x="2867" y="4571"/>
                  </a:lnTo>
                  <a:lnTo>
                    <a:pt x="2867" y="4621"/>
                  </a:lnTo>
                  <a:lnTo>
                    <a:pt x="2866" y="4671"/>
                  </a:lnTo>
                  <a:lnTo>
                    <a:pt x="2866" y="4721"/>
                  </a:lnTo>
                  <a:lnTo>
                    <a:pt x="2867" y="4771"/>
                  </a:lnTo>
                  <a:lnTo>
                    <a:pt x="2869" y="4818"/>
                  </a:lnTo>
                  <a:lnTo>
                    <a:pt x="2872" y="4863"/>
                  </a:lnTo>
                  <a:lnTo>
                    <a:pt x="2878" y="4904"/>
                  </a:lnTo>
                  <a:lnTo>
                    <a:pt x="2881" y="4932"/>
                  </a:lnTo>
                  <a:lnTo>
                    <a:pt x="2882" y="4966"/>
                  </a:lnTo>
                  <a:lnTo>
                    <a:pt x="2883" y="5006"/>
                  </a:lnTo>
                  <a:lnTo>
                    <a:pt x="2885" y="5052"/>
                  </a:lnTo>
                  <a:lnTo>
                    <a:pt x="2883" y="5154"/>
                  </a:lnTo>
                  <a:lnTo>
                    <a:pt x="2880" y="5268"/>
                  </a:lnTo>
                  <a:lnTo>
                    <a:pt x="2877" y="5382"/>
                  </a:lnTo>
                  <a:lnTo>
                    <a:pt x="2872" y="5493"/>
                  </a:lnTo>
                  <a:lnTo>
                    <a:pt x="2869" y="5591"/>
                  </a:lnTo>
                  <a:lnTo>
                    <a:pt x="2867" y="5670"/>
                  </a:lnTo>
                  <a:lnTo>
                    <a:pt x="2867" y="5745"/>
                  </a:lnTo>
                  <a:lnTo>
                    <a:pt x="2866" y="5840"/>
                  </a:lnTo>
                  <a:lnTo>
                    <a:pt x="2865" y="5946"/>
                  </a:lnTo>
                  <a:lnTo>
                    <a:pt x="2862" y="6058"/>
                  </a:lnTo>
                  <a:lnTo>
                    <a:pt x="2858" y="6169"/>
                  </a:lnTo>
                  <a:lnTo>
                    <a:pt x="2853" y="6272"/>
                  </a:lnTo>
                  <a:lnTo>
                    <a:pt x="2849" y="6319"/>
                  </a:lnTo>
                  <a:lnTo>
                    <a:pt x="2846" y="6362"/>
                  </a:lnTo>
                  <a:lnTo>
                    <a:pt x="2841" y="6399"/>
                  </a:lnTo>
                  <a:lnTo>
                    <a:pt x="2837" y="6431"/>
                  </a:lnTo>
                  <a:lnTo>
                    <a:pt x="2831" y="6464"/>
                  </a:lnTo>
                  <a:lnTo>
                    <a:pt x="2826" y="6509"/>
                  </a:lnTo>
                  <a:lnTo>
                    <a:pt x="2823" y="6559"/>
                  </a:lnTo>
                  <a:lnTo>
                    <a:pt x="2818" y="6613"/>
                  </a:lnTo>
                  <a:lnTo>
                    <a:pt x="2815" y="6666"/>
                  </a:lnTo>
                  <a:lnTo>
                    <a:pt x="2811" y="6716"/>
                  </a:lnTo>
                  <a:lnTo>
                    <a:pt x="2809" y="6759"/>
                  </a:lnTo>
                  <a:lnTo>
                    <a:pt x="2807" y="6792"/>
                  </a:lnTo>
                  <a:lnTo>
                    <a:pt x="2805" y="6833"/>
                  </a:lnTo>
                  <a:lnTo>
                    <a:pt x="2802" y="6868"/>
                  </a:lnTo>
                  <a:lnTo>
                    <a:pt x="2802" y="6896"/>
                  </a:lnTo>
                  <a:lnTo>
                    <a:pt x="2801" y="6919"/>
                  </a:lnTo>
                  <a:lnTo>
                    <a:pt x="2801" y="6951"/>
                  </a:lnTo>
                  <a:lnTo>
                    <a:pt x="2799" y="6973"/>
                  </a:lnTo>
                  <a:lnTo>
                    <a:pt x="2797" y="6982"/>
                  </a:lnTo>
                  <a:lnTo>
                    <a:pt x="2793" y="6991"/>
                  </a:lnTo>
                  <a:lnTo>
                    <a:pt x="2787" y="7001"/>
                  </a:lnTo>
                  <a:lnTo>
                    <a:pt x="2779" y="7013"/>
                  </a:lnTo>
                  <a:lnTo>
                    <a:pt x="2757" y="7046"/>
                  </a:lnTo>
                  <a:lnTo>
                    <a:pt x="2721" y="7096"/>
                  </a:lnTo>
                  <a:lnTo>
                    <a:pt x="2753" y="7111"/>
                  </a:lnTo>
                  <a:lnTo>
                    <a:pt x="2774" y="7121"/>
                  </a:lnTo>
                  <a:lnTo>
                    <a:pt x="2781" y="7125"/>
                  </a:lnTo>
                  <a:lnTo>
                    <a:pt x="2786" y="7128"/>
                  </a:lnTo>
                  <a:lnTo>
                    <a:pt x="2791" y="7132"/>
                  </a:lnTo>
                  <a:lnTo>
                    <a:pt x="2795" y="7136"/>
                  </a:lnTo>
                  <a:lnTo>
                    <a:pt x="2801" y="7147"/>
                  </a:lnTo>
                  <a:lnTo>
                    <a:pt x="2809" y="7163"/>
                  </a:lnTo>
                  <a:lnTo>
                    <a:pt x="2819" y="7188"/>
                  </a:lnTo>
                  <a:lnTo>
                    <a:pt x="2838" y="7224"/>
                  </a:lnTo>
                  <a:lnTo>
                    <a:pt x="2848" y="7241"/>
                  </a:lnTo>
                  <a:lnTo>
                    <a:pt x="2861" y="7260"/>
                  </a:lnTo>
                  <a:lnTo>
                    <a:pt x="2874" y="7277"/>
                  </a:lnTo>
                  <a:lnTo>
                    <a:pt x="2891" y="7294"/>
                  </a:lnTo>
                  <a:lnTo>
                    <a:pt x="2909" y="7310"/>
                  </a:lnTo>
                  <a:lnTo>
                    <a:pt x="2926" y="7324"/>
                  </a:lnTo>
                  <a:lnTo>
                    <a:pt x="2944" y="7336"/>
                  </a:lnTo>
                  <a:lnTo>
                    <a:pt x="2961" y="7345"/>
                  </a:lnTo>
                  <a:lnTo>
                    <a:pt x="3006" y="7367"/>
                  </a:lnTo>
                  <a:lnTo>
                    <a:pt x="3046" y="7387"/>
                  </a:lnTo>
                  <a:lnTo>
                    <a:pt x="3084" y="7406"/>
                  </a:lnTo>
                  <a:lnTo>
                    <a:pt x="3124" y="7427"/>
                  </a:lnTo>
                  <a:lnTo>
                    <a:pt x="3145" y="7438"/>
                  </a:lnTo>
                  <a:lnTo>
                    <a:pt x="3167" y="7453"/>
                  </a:lnTo>
                  <a:lnTo>
                    <a:pt x="3189" y="7469"/>
                  </a:lnTo>
                  <a:lnTo>
                    <a:pt x="3208" y="7485"/>
                  </a:lnTo>
                  <a:lnTo>
                    <a:pt x="3241" y="7511"/>
                  </a:lnTo>
                  <a:lnTo>
                    <a:pt x="3258" y="7524"/>
                  </a:lnTo>
                  <a:lnTo>
                    <a:pt x="3257" y="7532"/>
                  </a:lnTo>
                  <a:lnTo>
                    <a:pt x="3255" y="7539"/>
                  </a:lnTo>
                  <a:lnTo>
                    <a:pt x="3253" y="7547"/>
                  </a:lnTo>
                  <a:lnTo>
                    <a:pt x="3248" y="7553"/>
                  </a:lnTo>
                  <a:lnTo>
                    <a:pt x="3244" y="7560"/>
                  </a:lnTo>
                  <a:lnTo>
                    <a:pt x="3239" y="7566"/>
                  </a:lnTo>
                  <a:lnTo>
                    <a:pt x="3233" y="7572"/>
                  </a:lnTo>
                  <a:lnTo>
                    <a:pt x="3226" y="7577"/>
                  </a:lnTo>
                  <a:lnTo>
                    <a:pt x="3212" y="7588"/>
                  </a:lnTo>
                  <a:lnTo>
                    <a:pt x="3196" y="7597"/>
                  </a:lnTo>
                  <a:lnTo>
                    <a:pt x="3177" y="7604"/>
                  </a:lnTo>
                  <a:lnTo>
                    <a:pt x="3158" y="7611"/>
                  </a:lnTo>
                  <a:lnTo>
                    <a:pt x="3136" y="7616"/>
                  </a:lnTo>
                  <a:lnTo>
                    <a:pt x="3116" y="7622"/>
                  </a:lnTo>
                  <a:lnTo>
                    <a:pt x="3094" y="7625"/>
                  </a:lnTo>
                  <a:lnTo>
                    <a:pt x="3071" y="7629"/>
                  </a:lnTo>
                  <a:lnTo>
                    <a:pt x="3049" y="7631"/>
                  </a:lnTo>
                  <a:lnTo>
                    <a:pt x="3029" y="7632"/>
                  </a:lnTo>
                  <a:lnTo>
                    <a:pt x="3008" y="7633"/>
                  </a:lnTo>
                  <a:lnTo>
                    <a:pt x="2990" y="7633"/>
                  </a:lnTo>
                  <a:lnTo>
                    <a:pt x="2949" y="7632"/>
                  </a:lnTo>
                  <a:lnTo>
                    <a:pt x="2907" y="7630"/>
                  </a:lnTo>
                  <a:lnTo>
                    <a:pt x="2865" y="7624"/>
                  </a:lnTo>
                  <a:lnTo>
                    <a:pt x="2825" y="7617"/>
                  </a:lnTo>
                  <a:lnTo>
                    <a:pt x="2806" y="7614"/>
                  </a:lnTo>
                  <a:lnTo>
                    <a:pt x="2786" y="7608"/>
                  </a:lnTo>
                  <a:lnTo>
                    <a:pt x="2768" y="7604"/>
                  </a:lnTo>
                  <a:lnTo>
                    <a:pt x="2751" y="7598"/>
                  </a:lnTo>
                  <a:lnTo>
                    <a:pt x="2734" y="7591"/>
                  </a:lnTo>
                  <a:lnTo>
                    <a:pt x="2718" y="7584"/>
                  </a:lnTo>
                  <a:lnTo>
                    <a:pt x="2703" y="7576"/>
                  </a:lnTo>
                  <a:lnTo>
                    <a:pt x="2690" y="7567"/>
                  </a:lnTo>
                  <a:lnTo>
                    <a:pt x="2665" y="7551"/>
                  </a:lnTo>
                  <a:lnTo>
                    <a:pt x="2644" y="7537"/>
                  </a:lnTo>
                  <a:lnTo>
                    <a:pt x="2626" y="7527"/>
                  </a:lnTo>
                  <a:lnTo>
                    <a:pt x="2611" y="7518"/>
                  </a:lnTo>
                  <a:lnTo>
                    <a:pt x="2598" y="7512"/>
                  </a:lnTo>
                  <a:lnTo>
                    <a:pt x="2586" y="7508"/>
                  </a:lnTo>
                  <a:lnTo>
                    <a:pt x="2575" y="7505"/>
                  </a:lnTo>
                  <a:lnTo>
                    <a:pt x="2563" y="7503"/>
                  </a:lnTo>
                  <a:lnTo>
                    <a:pt x="2539" y="7504"/>
                  </a:lnTo>
                  <a:lnTo>
                    <a:pt x="2507" y="7507"/>
                  </a:lnTo>
                  <a:lnTo>
                    <a:pt x="2488" y="7509"/>
                  </a:lnTo>
                  <a:lnTo>
                    <a:pt x="2464" y="7510"/>
                  </a:lnTo>
                  <a:lnTo>
                    <a:pt x="2436" y="7511"/>
                  </a:lnTo>
                  <a:lnTo>
                    <a:pt x="2404" y="7511"/>
                  </a:lnTo>
                  <a:lnTo>
                    <a:pt x="2369" y="7511"/>
                  </a:lnTo>
                  <a:lnTo>
                    <a:pt x="2338" y="7510"/>
                  </a:lnTo>
                  <a:lnTo>
                    <a:pt x="2311" y="7507"/>
                  </a:lnTo>
                  <a:lnTo>
                    <a:pt x="2285" y="7502"/>
                  </a:lnTo>
                  <a:lnTo>
                    <a:pt x="2274" y="7500"/>
                  </a:lnTo>
                  <a:lnTo>
                    <a:pt x="2263" y="7496"/>
                  </a:lnTo>
                  <a:lnTo>
                    <a:pt x="2251" y="7492"/>
                  </a:lnTo>
                  <a:lnTo>
                    <a:pt x="2241" y="7487"/>
                  </a:lnTo>
                  <a:lnTo>
                    <a:pt x="2219" y="7477"/>
                  </a:lnTo>
                  <a:lnTo>
                    <a:pt x="2197" y="7463"/>
                  </a:lnTo>
                  <a:lnTo>
                    <a:pt x="2197" y="7341"/>
                  </a:lnTo>
                  <a:lnTo>
                    <a:pt x="2171" y="7305"/>
                  </a:lnTo>
                  <a:lnTo>
                    <a:pt x="2188" y="6889"/>
                  </a:lnTo>
                  <a:lnTo>
                    <a:pt x="2185" y="6646"/>
                  </a:lnTo>
                  <a:lnTo>
                    <a:pt x="2149" y="5902"/>
                  </a:lnTo>
                  <a:lnTo>
                    <a:pt x="2136" y="5902"/>
                  </a:lnTo>
                  <a:lnTo>
                    <a:pt x="1932" y="7241"/>
                  </a:lnTo>
                  <a:lnTo>
                    <a:pt x="1941" y="7268"/>
                  </a:lnTo>
                  <a:lnTo>
                    <a:pt x="1961" y="7437"/>
                  </a:lnTo>
                  <a:lnTo>
                    <a:pt x="1953" y="7511"/>
                  </a:lnTo>
                  <a:lnTo>
                    <a:pt x="1957" y="7513"/>
                  </a:lnTo>
                  <a:lnTo>
                    <a:pt x="1964" y="7519"/>
                  </a:lnTo>
                  <a:lnTo>
                    <a:pt x="1973" y="7526"/>
                  </a:lnTo>
                  <a:lnTo>
                    <a:pt x="1984" y="7535"/>
                  </a:lnTo>
                  <a:lnTo>
                    <a:pt x="2008" y="7558"/>
                  </a:lnTo>
                  <a:lnTo>
                    <a:pt x="2034" y="7584"/>
                  </a:lnTo>
                  <a:lnTo>
                    <a:pt x="2083" y="7637"/>
                  </a:lnTo>
                  <a:lnTo>
                    <a:pt x="2112" y="7670"/>
                  </a:lnTo>
                  <a:lnTo>
                    <a:pt x="2131" y="7693"/>
                  </a:lnTo>
                  <a:lnTo>
                    <a:pt x="2149" y="7712"/>
                  </a:lnTo>
                  <a:lnTo>
                    <a:pt x="2159" y="7723"/>
                  </a:lnTo>
                  <a:lnTo>
                    <a:pt x="2168" y="7732"/>
                  </a:lnTo>
                  <a:lnTo>
                    <a:pt x="2177" y="7743"/>
                  </a:lnTo>
                  <a:lnTo>
                    <a:pt x="2185" y="7755"/>
                  </a:lnTo>
                  <a:lnTo>
                    <a:pt x="2194" y="7768"/>
                  </a:lnTo>
                  <a:lnTo>
                    <a:pt x="2201" y="7781"/>
                  </a:lnTo>
                  <a:lnTo>
                    <a:pt x="2205" y="7792"/>
                  </a:lnTo>
                  <a:lnTo>
                    <a:pt x="2209" y="7803"/>
                  </a:lnTo>
                  <a:lnTo>
                    <a:pt x="2213" y="7814"/>
                  </a:lnTo>
                  <a:lnTo>
                    <a:pt x="2218" y="7825"/>
                  </a:lnTo>
                  <a:lnTo>
                    <a:pt x="2225" y="7838"/>
                  </a:lnTo>
                  <a:lnTo>
                    <a:pt x="2234" y="7853"/>
                  </a:lnTo>
                  <a:lnTo>
                    <a:pt x="2225" y="7863"/>
                  </a:lnTo>
                  <a:lnTo>
                    <a:pt x="2215" y="7873"/>
                  </a:lnTo>
                  <a:lnTo>
                    <a:pt x="2202" y="7881"/>
                  </a:lnTo>
                  <a:lnTo>
                    <a:pt x="2188" y="7889"/>
                  </a:lnTo>
                  <a:lnTo>
                    <a:pt x="2173" y="7896"/>
                  </a:lnTo>
                  <a:lnTo>
                    <a:pt x="2156" y="7902"/>
                  </a:lnTo>
                  <a:lnTo>
                    <a:pt x="2139" y="7908"/>
                  </a:lnTo>
                  <a:lnTo>
                    <a:pt x="2121" y="7912"/>
                  </a:lnTo>
                  <a:lnTo>
                    <a:pt x="2101" y="7916"/>
                  </a:lnTo>
                  <a:lnTo>
                    <a:pt x="2082" y="7919"/>
                  </a:lnTo>
                  <a:lnTo>
                    <a:pt x="2062" y="7921"/>
                  </a:lnTo>
                  <a:lnTo>
                    <a:pt x="2043" y="7923"/>
                  </a:lnTo>
                  <a:lnTo>
                    <a:pt x="2003" y="7925"/>
                  </a:lnTo>
                  <a:lnTo>
                    <a:pt x="1965" y="7926"/>
                  </a:lnTo>
                  <a:lnTo>
                    <a:pt x="1941" y="7926"/>
                  </a:lnTo>
                  <a:lnTo>
                    <a:pt x="1909" y="7925"/>
                  </a:lnTo>
                  <a:lnTo>
                    <a:pt x="1878" y="7924"/>
                  </a:lnTo>
                  <a:lnTo>
                    <a:pt x="1848" y="7920"/>
                  </a:lnTo>
                  <a:lnTo>
                    <a:pt x="1817" y="7916"/>
                  </a:lnTo>
                  <a:lnTo>
                    <a:pt x="1786" y="7910"/>
                  </a:lnTo>
                  <a:lnTo>
                    <a:pt x="1757" y="7903"/>
                  </a:lnTo>
                  <a:lnTo>
                    <a:pt x="1729" y="7894"/>
                  </a:lnTo>
                  <a:lnTo>
                    <a:pt x="1701" y="7884"/>
                  </a:lnTo>
                  <a:lnTo>
                    <a:pt x="1676" y="7872"/>
                  </a:lnTo>
                  <a:lnTo>
                    <a:pt x="1652" y="7859"/>
                  </a:lnTo>
                  <a:lnTo>
                    <a:pt x="1642" y="7852"/>
                  </a:lnTo>
                  <a:lnTo>
                    <a:pt x="1630" y="7844"/>
                  </a:lnTo>
                  <a:lnTo>
                    <a:pt x="1621" y="7836"/>
                  </a:lnTo>
                  <a:lnTo>
                    <a:pt x="1612" y="7828"/>
                  </a:lnTo>
                  <a:lnTo>
                    <a:pt x="1603" y="7819"/>
                  </a:lnTo>
                  <a:lnTo>
                    <a:pt x="1595" y="7808"/>
                  </a:lnTo>
                  <a:lnTo>
                    <a:pt x="1588" y="7799"/>
                  </a:lnTo>
                  <a:lnTo>
                    <a:pt x="1581" y="7789"/>
                  </a:lnTo>
                  <a:lnTo>
                    <a:pt x="1575" y="7779"/>
                  </a:lnTo>
                  <a:lnTo>
                    <a:pt x="1570" y="7767"/>
                  </a:lnTo>
                  <a:lnTo>
                    <a:pt x="1566" y="7756"/>
                  </a:lnTo>
                  <a:lnTo>
                    <a:pt x="1563" y="7743"/>
                  </a:lnTo>
                  <a:lnTo>
                    <a:pt x="1526" y="7743"/>
                  </a:lnTo>
                  <a:lnTo>
                    <a:pt x="1517" y="7743"/>
                  </a:lnTo>
                  <a:lnTo>
                    <a:pt x="1508" y="7741"/>
                  </a:lnTo>
                  <a:lnTo>
                    <a:pt x="1500" y="7740"/>
                  </a:lnTo>
                  <a:lnTo>
                    <a:pt x="1491" y="7736"/>
                  </a:lnTo>
                  <a:lnTo>
                    <a:pt x="1475" y="7729"/>
                  </a:lnTo>
                  <a:lnTo>
                    <a:pt x="1459" y="7720"/>
                  </a:lnTo>
                  <a:lnTo>
                    <a:pt x="1430" y="7701"/>
                  </a:lnTo>
                  <a:lnTo>
                    <a:pt x="1404" y="7683"/>
                  </a:lnTo>
                  <a:lnTo>
                    <a:pt x="1404" y="7624"/>
                  </a:lnTo>
                  <a:lnTo>
                    <a:pt x="1402" y="7569"/>
                  </a:lnTo>
                  <a:lnTo>
                    <a:pt x="1398" y="7518"/>
                  </a:lnTo>
                  <a:lnTo>
                    <a:pt x="1394" y="7468"/>
                  </a:lnTo>
                  <a:lnTo>
                    <a:pt x="1388" y="7419"/>
                  </a:lnTo>
                  <a:lnTo>
                    <a:pt x="1381" y="7371"/>
                  </a:lnTo>
                  <a:lnTo>
                    <a:pt x="1372" y="7321"/>
                  </a:lnTo>
                  <a:lnTo>
                    <a:pt x="1362" y="7272"/>
                  </a:lnTo>
                  <a:lnTo>
                    <a:pt x="1351" y="7219"/>
                  </a:lnTo>
                  <a:lnTo>
                    <a:pt x="1343" y="7168"/>
                  </a:lnTo>
                  <a:lnTo>
                    <a:pt x="1338" y="7120"/>
                  </a:lnTo>
                  <a:lnTo>
                    <a:pt x="1334" y="7075"/>
                  </a:lnTo>
                  <a:lnTo>
                    <a:pt x="1332" y="7025"/>
                  </a:lnTo>
                  <a:lnTo>
                    <a:pt x="1331" y="6974"/>
                  </a:lnTo>
                  <a:lnTo>
                    <a:pt x="1331" y="6917"/>
                  </a:lnTo>
                  <a:lnTo>
                    <a:pt x="1331" y="6853"/>
                  </a:lnTo>
                  <a:lnTo>
                    <a:pt x="1331" y="6801"/>
                  </a:lnTo>
                  <a:lnTo>
                    <a:pt x="1331" y="6750"/>
                  </a:lnTo>
                  <a:lnTo>
                    <a:pt x="1331" y="6696"/>
                  </a:lnTo>
                  <a:lnTo>
                    <a:pt x="1331" y="6641"/>
                  </a:lnTo>
                  <a:lnTo>
                    <a:pt x="1331" y="6586"/>
                  </a:lnTo>
                  <a:lnTo>
                    <a:pt x="1330" y="6530"/>
                  </a:lnTo>
                  <a:lnTo>
                    <a:pt x="1330" y="6474"/>
                  </a:lnTo>
                  <a:lnTo>
                    <a:pt x="1330" y="6418"/>
                  </a:lnTo>
                  <a:lnTo>
                    <a:pt x="1328" y="6361"/>
                  </a:lnTo>
                  <a:lnTo>
                    <a:pt x="1327" y="6305"/>
                  </a:lnTo>
                  <a:lnTo>
                    <a:pt x="1326" y="6248"/>
                  </a:lnTo>
                  <a:lnTo>
                    <a:pt x="1325" y="6192"/>
                  </a:lnTo>
                  <a:lnTo>
                    <a:pt x="1324" y="6137"/>
                  </a:lnTo>
                  <a:lnTo>
                    <a:pt x="1323" y="6082"/>
                  </a:lnTo>
                  <a:lnTo>
                    <a:pt x="1322" y="6028"/>
                  </a:lnTo>
                  <a:lnTo>
                    <a:pt x="1319" y="5975"/>
                  </a:lnTo>
                  <a:lnTo>
                    <a:pt x="1317" y="5924"/>
                  </a:lnTo>
                  <a:lnTo>
                    <a:pt x="1314" y="5872"/>
                  </a:lnTo>
                  <a:lnTo>
                    <a:pt x="1311" y="5820"/>
                  </a:lnTo>
                  <a:lnTo>
                    <a:pt x="1310" y="5767"/>
                  </a:lnTo>
                  <a:lnTo>
                    <a:pt x="1309" y="5714"/>
                  </a:lnTo>
                  <a:lnTo>
                    <a:pt x="1311" y="5660"/>
                  </a:lnTo>
                  <a:lnTo>
                    <a:pt x="1312" y="5633"/>
                  </a:lnTo>
                  <a:lnTo>
                    <a:pt x="1315" y="5606"/>
                  </a:lnTo>
                  <a:lnTo>
                    <a:pt x="1317" y="5578"/>
                  </a:lnTo>
                  <a:lnTo>
                    <a:pt x="1322" y="5551"/>
                  </a:lnTo>
                  <a:lnTo>
                    <a:pt x="1327" y="5517"/>
                  </a:lnTo>
                  <a:lnTo>
                    <a:pt x="1335" y="5471"/>
                  </a:lnTo>
                  <a:lnTo>
                    <a:pt x="1344" y="5416"/>
                  </a:lnTo>
                  <a:lnTo>
                    <a:pt x="1355" y="5359"/>
                  </a:lnTo>
                  <a:lnTo>
                    <a:pt x="1363" y="5302"/>
                  </a:lnTo>
                  <a:lnTo>
                    <a:pt x="1370" y="5249"/>
                  </a:lnTo>
                  <a:lnTo>
                    <a:pt x="1372" y="5226"/>
                  </a:lnTo>
                  <a:lnTo>
                    <a:pt x="1373" y="5207"/>
                  </a:lnTo>
                  <a:lnTo>
                    <a:pt x="1374" y="5190"/>
                  </a:lnTo>
                  <a:lnTo>
                    <a:pt x="1373" y="5178"/>
                  </a:lnTo>
                  <a:lnTo>
                    <a:pt x="1365" y="5132"/>
                  </a:lnTo>
                  <a:lnTo>
                    <a:pt x="1358" y="5085"/>
                  </a:lnTo>
                  <a:lnTo>
                    <a:pt x="1351" y="5036"/>
                  </a:lnTo>
                  <a:lnTo>
                    <a:pt x="1346" y="4985"/>
                  </a:lnTo>
                  <a:lnTo>
                    <a:pt x="1340" y="4934"/>
                  </a:lnTo>
                  <a:lnTo>
                    <a:pt x="1334" y="4881"/>
                  </a:lnTo>
                  <a:lnTo>
                    <a:pt x="1330" y="4829"/>
                  </a:lnTo>
                  <a:lnTo>
                    <a:pt x="1325" y="4775"/>
                  </a:lnTo>
                  <a:lnTo>
                    <a:pt x="1320" y="4721"/>
                  </a:lnTo>
                  <a:lnTo>
                    <a:pt x="1317" y="4667"/>
                  </a:lnTo>
                  <a:lnTo>
                    <a:pt x="1314" y="4614"/>
                  </a:lnTo>
                  <a:lnTo>
                    <a:pt x="1311" y="4560"/>
                  </a:lnTo>
                  <a:lnTo>
                    <a:pt x="1309" y="4507"/>
                  </a:lnTo>
                  <a:lnTo>
                    <a:pt x="1308" y="4455"/>
                  </a:lnTo>
                  <a:lnTo>
                    <a:pt x="1307" y="4403"/>
                  </a:lnTo>
                  <a:lnTo>
                    <a:pt x="1307" y="4353"/>
                  </a:lnTo>
                  <a:lnTo>
                    <a:pt x="1280" y="4318"/>
                  </a:lnTo>
                  <a:lnTo>
                    <a:pt x="1258" y="3523"/>
                  </a:lnTo>
                  <a:lnTo>
                    <a:pt x="1245" y="3414"/>
                  </a:lnTo>
                  <a:lnTo>
                    <a:pt x="1244" y="3361"/>
                  </a:lnTo>
                  <a:lnTo>
                    <a:pt x="1239" y="3314"/>
                  </a:lnTo>
                  <a:lnTo>
                    <a:pt x="1232" y="3274"/>
                  </a:lnTo>
                  <a:lnTo>
                    <a:pt x="1223" y="3239"/>
                  </a:lnTo>
                  <a:lnTo>
                    <a:pt x="1211" y="3209"/>
                  </a:lnTo>
                  <a:lnTo>
                    <a:pt x="1197" y="3184"/>
                  </a:lnTo>
                  <a:lnTo>
                    <a:pt x="1181" y="3163"/>
                  </a:lnTo>
                  <a:lnTo>
                    <a:pt x="1164" y="3146"/>
                  </a:lnTo>
                  <a:lnTo>
                    <a:pt x="1144" y="3134"/>
                  </a:lnTo>
                  <a:lnTo>
                    <a:pt x="1124" y="3123"/>
                  </a:lnTo>
                  <a:lnTo>
                    <a:pt x="1102" y="3117"/>
                  </a:lnTo>
                  <a:lnTo>
                    <a:pt x="1079" y="3113"/>
                  </a:lnTo>
                  <a:lnTo>
                    <a:pt x="1056" y="3111"/>
                  </a:lnTo>
                  <a:lnTo>
                    <a:pt x="1032" y="3111"/>
                  </a:lnTo>
                  <a:lnTo>
                    <a:pt x="1007" y="3112"/>
                  </a:lnTo>
                  <a:lnTo>
                    <a:pt x="983" y="3115"/>
                  </a:lnTo>
                  <a:lnTo>
                    <a:pt x="934" y="3122"/>
                  </a:lnTo>
                  <a:lnTo>
                    <a:pt x="885" y="3129"/>
                  </a:lnTo>
                  <a:lnTo>
                    <a:pt x="862" y="3131"/>
                  </a:lnTo>
                  <a:lnTo>
                    <a:pt x="840" y="3133"/>
                  </a:lnTo>
                  <a:lnTo>
                    <a:pt x="818" y="3133"/>
                  </a:lnTo>
                  <a:lnTo>
                    <a:pt x="799" y="3130"/>
                  </a:lnTo>
                  <a:lnTo>
                    <a:pt x="781" y="3127"/>
                  </a:lnTo>
                  <a:lnTo>
                    <a:pt x="765" y="3120"/>
                  </a:lnTo>
                  <a:lnTo>
                    <a:pt x="750" y="3110"/>
                  </a:lnTo>
                  <a:lnTo>
                    <a:pt x="736" y="3096"/>
                  </a:lnTo>
                  <a:lnTo>
                    <a:pt x="726" y="3080"/>
                  </a:lnTo>
                  <a:lnTo>
                    <a:pt x="718" y="3058"/>
                  </a:lnTo>
                  <a:lnTo>
                    <a:pt x="712" y="3033"/>
                  </a:lnTo>
                  <a:lnTo>
                    <a:pt x="710" y="3003"/>
                  </a:lnTo>
                  <a:lnTo>
                    <a:pt x="696" y="2981"/>
                  </a:lnTo>
                  <a:lnTo>
                    <a:pt x="679" y="2949"/>
                  </a:lnTo>
                  <a:lnTo>
                    <a:pt x="660" y="2911"/>
                  </a:lnTo>
                  <a:lnTo>
                    <a:pt x="638" y="2869"/>
                  </a:lnTo>
                  <a:lnTo>
                    <a:pt x="616" y="2826"/>
                  </a:lnTo>
                  <a:lnTo>
                    <a:pt x="596" y="2786"/>
                  </a:lnTo>
                  <a:lnTo>
                    <a:pt x="578" y="2751"/>
                  </a:lnTo>
                  <a:lnTo>
                    <a:pt x="566" y="2724"/>
                  </a:lnTo>
                  <a:lnTo>
                    <a:pt x="562" y="2716"/>
                  </a:lnTo>
                  <a:lnTo>
                    <a:pt x="560" y="2707"/>
                  </a:lnTo>
                  <a:lnTo>
                    <a:pt x="558" y="2698"/>
                  </a:lnTo>
                  <a:lnTo>
                    <a:pt x="556" y="2687"/>
                  </a:lnTo>
                  <a:lnTo>
                    <a:pt x="552" y="2663"/>
                  </a:lnTo>
                  <a:lnTo>
                    <a:pt x="551" y="2635"/>
                  </a:lnTo>
                  <a:close/>
                </a:path>
              </a:pathLst>
            </a:custGeom>
            <a:grpFill/>
            <a:ln>
              <a:noFill/>
            </a:ln>
          </p:spPr>
          <p:txBody>
            <a:bodyPr vert="horz" anchor="t" wrap="square" tIns="45720" lIns="91440" bIns="45720" rIns="91440">
              <a:prstTxWarp prst="textNoShape">
                <a:avLst/>
              </a:prstTxWarp>
            </a:bodyPr>
            <a:p>
              <a:pPr fontAlgn="auto" algn="l" indent="0" marR="0" marL="0">
                <a:lnSpc>
                  <a:spcPct val="100000"/>
                </a:lnSpc>
                <a:spcBef>
                  <a:spcPct val="0"/>
                </a:spcBef>
                <a:spcAft>
                  <a:spcPct val="0"/>
                </a:spcAft>
                <a:buNone/>
              </a:pPr>
            </a:p>
          </p:txBody>
        </p:sp>
        <p:sp>
          <p:nvSpPr>
            <p:cNvPr name="Freeform 25" id="25"/>
            <p:cNvSpPr/>
            <p:nvPr/>
          </p:nvSpPr>
          <p:spPr>
            <a:xfrm>
              <a:off x="1942288" y="4267203"/>
              <a:ext cx="174625" cy="617538"/>
            </a:xfrm>
            <a:custGeom>
              <a:avLst/>
              <a:gdLst/>
              <a:ahLst/>
              <a:cxnLst/>
              <a:rect r="r" b="b" t="t" l="l"/>
              <a:pathLst>
                <a:path w="664" h="2338" stroke="true" fill="norm" extrusionOk="true">
                  <a:moveTo>
                    <a:pt x="0" y="13"/>
                  </a:moveTo>
                  <a:lnTo>
                    <a:pt x="314" y="1985"/>
                  </a:lnTo>
                  <a:lnTo>
                    <a:pt x="578" y="2338"/>
                  </a:lnTo>
                  <a:lnTo>
                    <a:pt x="664" y="2029"/>
                  </a:lnTo>
                  <a:lnTo>
                    <a:pt x="100" y="0"/>
                  </a:lnTo>
                  <a:lnTo>
                    <a:pt x="0" y="13"/>
                  </a:lnTo>
                  <a:close/>
                </a:path>
              </a:pathLst>
            </a:custGeom>
            <a:grpFill/>
            <a:ln>
              <a:noFill/>
            </a:ln>
          </p:spPr>
          <p:txBody>
            <a:bodyPr vert="horz" anchor="t" wrap="square" tIns="45720" lIns="91440" bIns="45720" rIns="91440">
              <a:prstTxWarp prst="textNoShape">
                <a:avLst/>
              </a:prstTxWarp>
            </a:bodyPr>
            <a:p>
              <a:pPr fontAlgn="auto" algn="l" indent="0" marR="0" marL="0">
                <a:lnSpc>
                  <a:spcPct val="100000"/>
                </a:lnSpc>
                <a:spcBef>
                  <a:spcPct val="0"/>
                </a:spcBef>
                <a:spcAft>
                  <a:spcPct val="0"/>
                </a:spcAft>
                <a:buNone/>
              </a:pPr>
            </a:p>
          </p:txBody>
        </p:sp>
        <p:sp>
          <p:nvSpPr>
            <p:cNvPr name="Freeform 26" id="26"/>
            <p:cNvSpPr/>
            <p:nvPr/>
          </p:nvSpPr>
          <p:spPr>
            <a:xfrm>
              <a:off x="1826624" y="3644955"/>
              <a:ext cx="136128" cy="206645"/>
            </a:xfrm>
            <a:custGeom>
              <a:avLst/>
              <a:gdLst/>
              <a:ahLst/>
              <a:cxnLst/>
              <a:rect r="r" b="b" t="t" l="l"/>
              <a:pathLst>
                <a:path w="2272" h="3448" stroke="true" fill="norm" extrusionOk="true">
                  <a:moveTo>
                    <a:pt x="704" y="3230"/>
                  </a:moveTo>
                  <a:lnTo>
                    <a:pt x="1567" y="3230"/>
                  </a:lnTo>
                  <a:lnTo>
                    <a:pt x="1585" y="3233"/>
                  </a:lnTo>
                  <a:lnTo>
                    <a:pt x="1601" y="3242"/>
                  </a:lnTo>
                  <a:lnTo>
                    <a:pt x="1614" y="3253"/>
                  </a:lnTo>
                  <a:lnTo>
                    <a:pt x="1621" y="3269"/>
                  </a:lnTo>
                  <a:lnTo>
                    <a:pt x="1624" y="3287"/>
                  </a:lnTo>
                  <a:lnTo>
                    <a:pt x="1621" y="3304"/>
                  </a:lnTo>
                  <a:lnTo>
                    <a:pt x="1614" y="3320"/>
                  </a:lnTo>
                  <a:lnTo>
                    <a:pt x="1601" y="3333"/>
                  </a:lnTo>
                  <a:lnTo>
                    <a:pt x="1585" y="3340"/>
                  </a:lnTo>
                  <a:lnTo>
                    <a:pt x="1567" y="3343"/>
                  </a:lnTo>
                  <a:lnTo>
                    <a:pt x="1400" y="3343"/>
                  </a:lnTo>
                  <a:lnTo>
                    <a:pt x="1397" y="3367"/>
                  </a:lnTo>
                  <a:lnTo>
                    <a:pt x="1388" y="3389"/>
                  </a:lnTo>
                  <a:lnTo>
                    <a:pt x="1376" y="3409"/>
                  </a:lnTo>
                  <a:lnTo>
                    <a:pt x="1360" y="3425"/>
                  </a:lnTo>
                  <a:lnTo>
                    <a:pt x="1340" y="3438"/>
                  </a:lnTo>
                  <a:lnTo>
                    <a:pt x="1318" y="3445"/>
                  </a:lnTo>
                  <a:lnTo>
                    <a:pt x="1294" y="3448"/>
                  </a:lnTo>
                  <a:lnTo>
                    <a:pt x="978" y="3448"/>
                  </a:lnTo>
                  <a:lnTo>
                    <a:pt x="953" y="3445"/>
                  </a:lnTo>
                  <a:lnTo>
                    <a:pt x="931" y="3438"/>
                  </a:lnTo>
                  <a:lnTo>
                    <a:pt x="912" y="3425"/>
                  </a:lnTo>
                  <a:lnTo>
                    <a:pt x="896" y="3409"/>
                  </a:lnTo>
                  <a:lnTo>
                    <a:pt x="883" y="3389"/>
                  </a:lnTo>
                  <a:lnTo>
                    <a:pt x="875" y="3367"/>
                  </a:lnTo>
                  <a:lnTo>
                    <a:pt x="872" y="3343"/>
                  </a:lnTo>
                  <a:lnTo>
                    <a:pt x="704" y="3343"/>
                  </a:lnTo>
                  <a:lnTo>
                    <a:pt x="686" y="3340"/>
                  </a:lnTo>
                  <a:lnTo>
                    <a:pt x="671" y="3333"/>
                  </a:lnTo>
                  <a:lnTo>
                    <a:pt x="658" y="3320"/>
                  </a:lnTo>
                  <a:lnTo>
                    <a:pt x="651" y="3304"/>
                  </a:lnTo>
                  <a:lnTo>
                    <a:pt x="648" y="3287"/>
                  </a:lnTo>
                  <a:lnTo>
                    <a:pt x="651" y="3269"/>
                  </a:lnTo>
                  <a:lnTo>
                    <a:pt x="658" y="3253"/>
                  </a:lnTo>
                  <a:lnTo>
                    <a:pt x="671" y="3242"/>
                  </a:lnTo>
                  <a:lnTo>
                    <a:pt x="686" y="3233"/>
                  </a:lnTo>
                  <a:lnTo>
                    <a:pt x="704" y="3230"/>
                  </a:lnTo>
                  <a:close/>
                  <a:moveTo>
                    <a:pt x="704" y="3027"/>
                  </a:moveTo>
                  <a:lnTo>
                    <a:pt x="1567" y="3027"/>
                  </a:lnTo>
                  <a:lnTo>
                    <a:pt x="1585" y="3030"/>
                  </a:lnTo>
                  <a:lnTo>
                    <a:pt x="1601" y="3037"/>
                  </a:lnTo>
                  <a:lnTo>
                    <a:pt x="1614" y="3050"/>
                  </a:lnTo>
                  <a:lnTo>
                    <a:pt x="1621" y="3066"/>
                  </a:lnTo>
                  <a:lnTo>
                    <a:pt x="1624" y="3083"/>
                  </a:lnTo>
                  <a:lnTo>
                    <a:pt x="1621" y="3101"/>
                  </a:lnTo>
                  <a:lnTo>
                    <a:pt x="1614" y="3117"/>
                  </a:lnTo>
                  <a:lnTo>
                    <a:pt x="1601" y="3130"/>
                  </a:lnTo>
                  <a:lnTo>
                    <a:pt x="1585" y="3137"/>
                  </a:lnTo>
                  <a:lnTo>
                    <a:pt x="1567" y="3140"/>
                  </a:lnTo>
                  <a:lnTo>
                    <a:pt x="704" y="3140"/>
                  </a:lnTo>
                  <a:lnTo>
                    <a:pt x="686" y="3137"/>
                  </a:lnTo>
                  <a:lnTo>
                    <a:pt x="671" y="3130"/>
                  </a:lnTo>
                  <a:lnTo>
                    <a:pt x="658" y="3117"/>
                  </a:lnTo>
                  <a:lnTo>
                    <a:pt x="651" y="3101"/>
                  </a:lnTo>
                  <a:lnTo>
                    <a:pt x="648" y="3083"/>
                  </a:lnTo>
                  <a:lnTo>
                    <a:pt x="651" y="3066"/>
                  </a:lnTo>
                  <a:lnTo>
                    <a:pt x="658" y="3050"/>
                  </a:lnTo>
                  <a:lnTo>
                    <a:pt x="671" y="3037"/>
                  </a:lnTo>
                  <a:lnTo>
                    <a:pt x="686" y="3030"/>
                  </a:lnTo>
                  <a:lnTo>
                    <a:pt x="704" y="3027"/>
                  </a:lnTo>
                  <a:close/>
                  <a:moveTo>
                    <a:pt x="704" y="2823"/>
                  </a:moveTo>
                  <a:lnTo>
                    <a:pt x="1567" y="2823"/>
                  </a:lnTo>
                  <a:lnTo>
                    <a:pt x="1585" y="2826"/>
                  </a:lnTo>
                  <a:lnTo>
                    <a:pt x="1601" y="2833"/>
                  </a:lnTo>
                  <a:lnTo>
                    <a:pt x="1614" y="2846"/>
                  </a:lnTo>
                  <a:lnTo>
                    <a:pt x="1621" y="2861"/>
                  </a:lnTo>
                  <a:lnTo>
                    <a:pt x="1624" y="2879"/>
                  </a:lnTo>
                  <a:lnTo>
                    <a:pt x="1621" y="2897"/>
                  </a:lnTo>
                  <a:lnTo>
                    <a:pt x="1614" y="2913"/>
                  </a:lnTo>
                  <a:lnTo>
                    <a:pt x="1601" y="2925"/>
                  </a:lnTo>
                  <a:lnTo>
                    <a:pt x="1585" y="2933"/>
                  </a:lnTo>
                  <a:lnTo>
                    <a:pt x="1567" y="2936"/>
                  </a:lnTo>
                  <a:lnTo>
                    <a:pt x="704" y="2936"/>
                  </a:lnTo>
                  <a:lnTo>
                    <a:pt x="686" y="2933"/>
                  </a:lnTo>
                  <a:lnTo>
                    <a:pt x="671" y="2925"/>
                  </a:lnTo>
                  <a:lnTo>
                    <a:pt x="658" y="2913"/>
                  </a:lnTo>
                  <a:lnTo>
                    <a:pt x="651" y="2897"/>
                  </a:lnTo>
                  <a:lnTo>
                    <a:pt x="648" y="2879"/>
                  </a:lnTo>
                  <a:lnTo>
                    <a:pt x="651" y="2861"/>
                  </a:lnTo>
                  <a:lnTo>
                    <a:pt x="658" y="2846"/>
                  </a:lnTo>
                  <a:lnTo>
                    <a:pt x="671" y="2833"/>
                  </a:lnTo>
                  <a:lnTo>
                    <a:pt x="686" y="2826"/>
                  </a:lnTo>
                  <a:lnTo>
                    <a:pt x="704" y="2823"/>
                  </a:lnTo>
                  <a:close/>
                  <a:moveTo>
                    <a:pt x="1136" y="0"/>
                  </a:moveTo>
                  <a:lnTo>
                    <a:pt x="1221" y="4"/>
                  </a:lnTo>
                  <a:lnTo>
                    <a:pt x="1303" y="13"/>
                  </a:lnTo>
                  <a:lnTo>
                    <a:pt x="1384" y="28"/>
                  </a:lnTo>
                  <a:lnTo>
                    <a:pt x="1463" y="49"/>
                  </a:lnTo>
                  <a:lnTo>
                    <a:pt x="1540" y="75"/>
                  </a:lnTo>
                  <a:lnTo>
                    <a:pt x="1614" y="106"/>
                  </a:lnTo>
                  <a:lnTo>
                    <a:pt x="1685" y="143"/>
                  </a:lnTo>
                  <a:lnTo>
                    <a:pt x="1754" y="184"/>
                  </a:lnTo>
                  <a:lnTo>
                    <a:pt x="1819" y="229"/>
                  </a:lnTo>
                  <a:lnTo>
                    <a:pt x="1881" y="279"/>
                  </a:lnTo>
                  <a:lnTo>
                    <a:pt x="1938" y="334"/>
                  </a:lnTo>
                  <a:lnTo>
                    <a:pt x="1993" y="391"/>
                  </a:lnTo>
                  <a:lnTo>
                    <a:pt x="2042" y="453"/>
                  </a:lnTo>
                  <a:lnTo>
                    <a:pt x="2088" y="518"/>
                  </a:lnTo>
                  <a:lnTo>
                    <a:pt x="2129" y="586"/>
                  </a:lnTo>
                  <a:lnTo>
                    <a:pt x="2166" y="657"/>
                  </a:lnTo>
                  <a:lnTo>
                    <a:pt x="2197" y="732"/>
                  </a:lnTo>
                  <a:lnTo>
                    <a:pt x="2223" y="808"/>
                  </a:lnTo>
                  <a:lnTo>
                    <a:pt x="2244" y="887"/>
                  </a:lnTo>
                  <a:lnTo>
                    <a:pt x="2259" y="967"/>
                  </a:lnTo>
                  <a:lnTo>
                    <a:pt x="2268" y="1050"/>
                  </a:lnTo>
                  <a:lnTo>
                    <a:pt x="2272" y="1135"/>
                  </a:lnTo>
                  <a:lnTo>
                    <a:pt x="2269" y="1188"/>
                  </a:lnTo>
                  <a:lnTo>
                    <a:pt x="2264" y="1242"/>
                  </a:lnTo>
                  <a:lnTo>
                    <a:pt x="2255" y="1295"/>
                  </a:lnTo>
                  <a:lnTo>
                    <a:pt x="2243" y="1348"/>
                  </a:lnTo>
                  <a:lnTo>
                    <a:pt x="2229" y="1399"/>
                  </a:lnTo>
                  <a:lnTo>
                    <a:pt x="2213" y="1449"/>
                  </a:lnTo>
                  <a:lnTo>
                    <a:pt x="2195" y="1497"/>
                  </a:lnTo>
                  <a:lnTo>
                    <a:pt x="2176" y="1543"/>
                  </a:lnTo>
                  <a:lnTo>
                    <a:pt x="2156" y="1587"/>
                  </a:lnTo>
                  <a:lnTo>
                    <a:pt x="2136" y="1628"/>
                  </a:lnTo>
                  <a:lnTo>
                    <a:pt x="2118" y="1667"/>
                  </a:lnTo>
                  <a:lnTo>
                    <a:pt x="2099" y="1702"/>
                  </a:lnTo>
                  <a:lnTo>
                    <a:pt x="2081" y="1732"/>
                  </a:lnTo>
                  <a:lnTo>
                    <a:pt x="2065" y="1759"/>
                  </a:lnTo>
                  <a:lnTo>
                    <a:pt x="2051" y="1782"/>
                  </a:lnTo>
                  <a:lnTo>
                    <a:pt x="2040" y="1800"/>
                  </a:lnTo>
                  <a:lnTo>
                    <a:pt x="1990" y="1881"/>
                  </a:lnTo>
                  <a:lnTo>
                    <a:pt x="1910" y="2011"/>
                  </a:lnTo>
                  <a:lnTo>
                    <a:pt x="1871" y="2075"/>
                  </a:lnTo>
                  <a:lnTo>
                    <a:pt x="1836" y="2140"/>
                  </a:lnTo>
                  <a:lnTo>
                    <a:pt x="1801" y="2205"/>
                  </a:lnTo>
                  <a:lnTo>
                    <a:pt x="1770" y="2271"/>
                  </a:lnTo>
                  <a:lnTo>
                    <a:pt x="1741" y="2339"/>
                  </a:lnTo>
                  <a:lnTo>
                    <a:pt x="1716" y="2407"/>
                  </a:lnTo>
                  <a:lnTo>
                    <a:pt x="1694" y="2477"/>
                  </a:lnTo>
                  <a:lnTo>
                    <a:pt x="1677" y="2550"/>
                  </a:lnTo>
                  <a:lnTo>
                    <a:pt x="1666" y="2625"/>
                  </a:lnTo>
                  <a:lnTo>
                    <a:pt x="1661" y="2647"/>
                  </a:lnTo>
                  <a:lnTo>
                    <a:pt x="1651" y="2668"/>
                  </a:lnTo>
                  <a:lnTo>
                    <a:pt x="1638" y="2685"/>
                  </a:lnTo>
                  <a:lnTo>
                    <a:pt x="1621" y="2700"/>
                  </a:lnTo>
                  <a:lnTo>
                    <a:pt x="1602" y="2712"/>
                  </a:lnTo>
                  <a:lnTo>
                    <a:pt x="1580" y="2719"/>
                  </a:lnTo>
                  <a:lnTo>
                    <a:pt x="1557" y="2721"/>
                  </a:lnTo>
                  <a:lnTo>
                    <a:pt x="731" y="2721"/>
                  </a:lnTo>
                  <a:lnTo>
                    <a:pt x="708" y="2719"/>
                  </a:lnTo>
                  <a:lnTo>
                    <a:pt x="686" y="2712"/>
                  </a:lnTo>
                  <a:lnTo>
                    <a:pt x="667" y="2700"/>
                  </a:lnTo>
                  <a:lnTo>
                    <a:pt x="651" y="2685"/>
                  </a:lnTo>
                  <a:lnTo>
                    <a:pt x="637" y="2668"/>
                  </a:lnTo>
                  <a:lnTo>
                    <a:pt x="628" y="2647"/>
                  </a:lnTo>
                  <a:lnTo>
                    <a:pt x="622" y="2624"/>
                  </a:lnTo>
                  <a:lnTo>
                    <a:pt x="611" y="2554"/>
                  </a:lnTo>
                  <a:lnTo>
                    <a:pt x="595" y="2487"/>
                  </a:lnTo>
                  <a:lnTo>
                    <a:pt x="575" y="2421"/>
                  </a:lnTo>
                  <a:lnTo>
                    <a:pt x="551" y="2357"/>
                  </a:lnTo>
                  <a:lnTo>
                    <a:pt x="524" y="2296"/>
                  </a:lnTo>
                  <a:lnTo>
                    <a:pt x="493" y="2234"/>
                  </a:lnTo>
                  <a:lnTo>
                    <a:pt x="461" y="2172"/>
                  </a:lnTo>
                  <a:lnTo>
                    <a:pt x="425" y="2112"/>
                  </a:lnTo>
                  <a:lnTo>
                    <a:pt x="389" y="2052"/>
                  </a:lnTo>
                  <a:lnTo>
                    <a:pt x="351" y="1991"/>
                  </a:lnTo>
                  <a:lnTo>
                    <a:pt x="312" y="1930"/>
                  </a:lnTo>
                  <a:lnTo>
                    <a:pt x="311" y="1928"/>
                  </a:lnTo>
                  <a:lnTo>
                    <a:pt x="301" y="1912"/>
                  </a:lnTo>
                  <a:lnTo>
                    <a:pt x="293" y="1901"/>
                  </a:lnTo>
                  <a:lnTo>
                    <a:pt x="285" y="1887"/>
                  </a:lnTo>
                  <a:lnTo>
                    <a:pt x="277" y="1872"/>
                  </a:lnTo>
                  <a:lnTo>
                    <a:pt x="258" y="1843"/>
                  </a:lnTo>
                  <a:lnTo>
                    <a:pt x="249" y="1831"/>
                  </a:lnTo>
                  <a:lnTo>
                    <a:pt x="242" y="1819"/>
                  </a:lnTo>
                  <a:lnTo>
                    <a:pt x="237" y="1810"/>
                  </a:lnTo>
                  <a:lnTo>
                    <a:pt x="234" y="1804"/>
                  </a:lnTo>
                  <a:lnTo>
                    <a:pt x="233" y="1802"/>
                  </a:lnTo>
                  <a:lnTo>
                    <a:pt x="221" y="1783"/>
                  </a:lnTo>
                  <a:lnTo>
                    <a:pt x="207" y="1761"/>
                  </a:lnTo>
                  <a:lnTo>
                    <a:pt x="191" y="1733"/>
                  </a:lnTo>
                  <a:lnTo>
                    <a:pt x="173" y="1703"/>
                  </a:lnTo>
                  <a:lnTo>
                    <a:pt x="154" y="1667"/>
                  </a:lnTo>
                  <a:lnTo>
                    <a:pt x="135" y="1629"/>
                  </a:lnTo>
                  <a:lnTo>
                    <a:pt x="115" y="1587"/>
                  </a:lnTo>
                  <a:lnTo>
                    <a:pt x="95" y="1543"/>
                  </a:lnTo>
                  <a:lnTo>
                    <a:pt x="76" y="1497"/>
                  </a:lnTo>
                  <a:lnTo>
                    <a:pt x="60" y="1449"/>
                  </a:lnTo>
                  <a:lnTo>
                    <a:pt x="43" y="1399"/>
                  </a:lnTo>
                  <a:lnTo>
                    <a:pt x="28" y="1348"/>
                  </a:lnTo>
                  <a:lnTo>
                    <a:pt x="17" y="1295"/>
                  </a:lnTo>
                  <a:lnTo>
                    <a:pt x="7" y="1242"/>
                  </a:lnTo>
                  <a:lnTo>
                    <a:pt x="2" y="1188"/>
                  </a:lnTo>
                  <a:lnTo>
                    <a:pt x="0" y="1135"/>
                  </a:lnTo>
                  <a:lnTo>
                    <a:pt x="3" y="1050"/>
                  </a:lnTo>
                  <a:lnTo>
                    <a:pt x="13" y="967"/>
                  </a:lnTo>
                  <a:lnTo>
                    <a:pt x="27" y="887"/>
                  </a:lnTo>
                  <a:lnTo>
                    <a:pt x="48" y="808"/>
                  </a:lnTo>
                  <a:lnTo>
                    <a:pt x="74" y="732"/>
                  </a:lnTo>
                  <a:lnTo>
                    <a:pt x="106" y="657"/>
                  </a:lnTo>
                  <a:lnTo>
                    <a:pt x="142" y="586"/>
                  </a:lnTo>
                  <a:lnTo>
                    <a:pt x="183" y="518"/>
                  </a:lnTo>
                  <a:lnTo>
                    <a:pt x="228" y="453"/>
                  </a:lnTo>
                  <a:lnTo>
                    <a:pt x="279" y="391"/>
                  </a:lnTo>
                  <a:lnTo>
                    <a:pt x="333" y="334"/>
                  </a:lnTo>
                  <a:lnTo>
                    <a:pt x="391" y="279"/>
                  </a:lnTo>
                  <a:lnTo>
                    <a:pt x="453" y="229"/>
                  </a:lnTo>
                  <a:lnTo>
                    <a:pt x="518" y="184"/>
                  </a:lnTo>
                  <a:lnTo>
                    <a:pt x="586" y="143"/>
                  </a:lnTo>
                  <a:lnTo>
                    <a:pt x="657" y="106"/>
                  </a:lnTo>
                  <a:lnTo>
                    <a:pt x="731" y="75"/>
                  </a:lnTo>
                  <a:lnTo>
                    <a:pt x="808" y="49"/>
                  </a:lnTo>
                  <a:lnTo>
                    <a:pt x="887" y="28"/>
                  </a:lnTo>
                  <a:lnTo>
                    <a:pt x="968" y="13"/>
                  </a:lnTo>
                  <a:lnTo>
                    <a:pt x="1051" y="4"/>
                  </a:lnTo>
                  <a:lnTo>
                    <a:pt x="1136" y="0"/>
                  </a:lnTo>
                  <a:close/>
                </a:path>
              </a:pathLst>
            </a:custGeom>
            <a:grpFill/>
            <a:ln>
              <a:noFill/>
            </a:ln>
            <a:scene3d>
              <a:camera prst="orthographicFront" zoom="100000"/>
              <a:lightRig rig="threePt" dir="t"/>
            </a:scene3d>
            <a:sp3d prstMaterial="matte">
              <a:extrusionClr>
                <a:srgbClr val="FF9966"/>
              </a:extrusionClr>
            </a:sp3d>
          </p:spPr>
          <p:txBody>
            <a:bodyPr vert="horz" anchor="t" tIns="45720" lIns="91440" bIns="45720" rIns="91440"/>
            <a:p>
              <a:pPr fontAlgn="auto" algn="l" indent="0" marR="0" marL="0">
                <a:lnSpc>
                  <a:spcPct val="100000"/>
                </a:lnSpc>
                <a:spcBef>
                  <a:spcPct val="0"/>
                </a:spcBef>
                <a:spcAft>
                  <a:spcPct val="0"/>
                </a:spcAft>
                <a:buNone/>
              </a:pPr>
            </a:p>
          </p:txBody>
        </p:sp>
      </p:grpSp>
      <p:sp>
        <p:nvSpPr>
          <p:cNvPr name="TextBox 27" id="27"/>
          <p:cNvSpPr txBox="true"/>
          <p:nvPr/>
        </p:nvSpPr>
        <p:spPr>
          <a:xfrm>
            <a:off x="746795" y="1863341"/>
            <a:ext cx="3108546" cy="1721690"/>
          </a:xfrm>
          <a:prstGeom prst="rect">
            <a:avLst/>
          </a:prstGeom>
          <a:noFill/>
        </p:spPr>
        <p:txBody>
          <a:bodyPr anchor="t" rtlCol="false" vert="horz" wrap="square" tIns="45720" lIns="91440" bIns="45720" rIns="91440">
            <a:spAutoFit/>
          </a:bodyPr>
          <a:lstStyle/>
          <a:p>
            <a:pPr algn="l" marL="0">
              <a:lnSpc>
                <a:spcPct val="150000"/>
              </a:lnSpc>
              <a:defRPr/>
            </a:pPr>
            <a:r>
              <a:rPr lang="zh-CN" b="false" i="false" sz="1200" baseline="0" u="none" altLang="en-US">
                <a:solidFill>
                  <a:schemeClr val="tx1"/>
                </a:solidFill>
                <a:latin typeface="微软雅黑"/>
                <a:ea typeface="微软雅黑"/>
              </a:rPr>
              <a:t>哈希表通过散列函数将关键字映射到表中的一个位置，实现O(1)的平均查找时间。常用散列函数有：直接定址法、除留余数法、数字分析法、平方取中法等。</a:t>
            </a:r>
            <a:endParaRPr lang="en-US" sz="1100"/>
          </a:p>
        </p:txBody>
      </p:sp>
      <p:sp>
        <p:nvSpPr>
          <p:cNvPr name="TextBox 28" id="28"/>
          <p:cNvSpPr txBox="true"/>
          <p:nvPr/>
        </p:nvSpPr>
        <p:spPr>
          <a:xfrm>
            <a:off x="746795" y="1372519"/>
            <a:ext cx="2734073" cy="523220"/>
          </a:xfrm>
          <a:prstGeom prst="rect">
            <a:avLst/>
          </a:prstGeom>
          <a:noFill/>
        </p:spPr>
        <p:txBody>
          <a:bodyPr anchor="t" rtlCol="false" vert="horz" wrap="square" tIns="45720" lIns="91440" bIns="45720" rIns="91440">
            <a:spAutoFit/>
          </a:bodyPr>
          <a:lstStyle/>
          <a:p>
            <a:pPr algn="l" marL="0">
              <a:defRPr/>
            </a:pPr>
            <a:r>
              <a:rPr lang="zh-CN" b="true" i="false" sz="1400" baseline="0" u="none" altLang="en-US">
                <a:solidFill>
                  <a:schemeClr val="tx1"/>
                </a:solidFill>
                <a:latin typeface="微软雅黑"/>
                <a:ea typeface="微软雅黑"/>
              </a:rPr>
              <a:t>哈希表概念与散列函数</a:t>
            </a:r>
            <a:endParaRPr lang="en-US" sz="1100"/>
          </a:p>
        </p:txBody>
      </p:sp>
      <p:sp>
        <p:nvSpPr>
          <p:cNvPr name="TextBox 29" id="29"/>
          <p:cNvSpPr txBox="true"/>
          <p:nvPr/>
        </p:nvSpPr>
        <p:spPr>
          <a:xfrm>
            <a:off x="1151997" y="5174628"/>
            <a:ext cx="4686516" cy="1167692"/>
          </a:xfrm>
          <a:prstGeom prst="rect">
            <a:avLst/>
          </a:prstGeom>
          <a:noFill/>
        </p:spPr>
        <p:txBody>
          <a:bodyPr anchor="t" rtlCol="false" vert="horz" wrap="square" tIns="45720" lIns="91440" bIns="45720" rIns="91440">
            <a:spAutoFit/>
          </a:bodyPr>
          <a:lstStyle/>
          <a:p>
            <a:pPr algn="l" marL="0">
              <a:lnSpc>
                <a:spcPct val="150000"/>
              </a:lnSpc>
              <a:defRPr/>
            </a:pPr>
            <a:r>
              <a:rPr lang="zh-CN" b="false" i="false" sz="1200" baseline="0" u="none" altLang="en-US">
                <a:solidFill>
                  <a:schemeClr val="tx1"/>
                </a:solidFill>
                <a:latin typeface="微软雅黑"/>
                <a:ea typeface="微软雅黑"/>
              </a:rPr>
              <a:t>链地址法将哈希表中每个位置对应一个链表，冲突的元素链入同一链表。查找时先计算散列位置，再遍历链表。链地址法性能稳定，删除方便，是主流实现方式（如Java HashMap）。</a:t>
            </a:r>
            <a:endParaRPr lang="en-US" sz="1100"/>
          </a:p>
        </p:txBody>
      </p:sp>
      <p:sp>
        <p:nvSpPr>
          <p:cNvPr name="TextBox 30" id="30"/>
          <p:cNvSpPr txBox="true"/>
          <p:nvPr/>
        </p:nvSpPr>
        <p:spPr>
          <a:xfrm>
            <a:off x="1151997" y="4683806"/>
            <a:ext cx="2734073" cy="523220"/>
          </a:xfrm>
          <a:prstGeom prst="rect">
            <a:avLst/>
          </a:prstGeom>
          <a:noFill/>
        </p:spPr>
        <p:txBody>
          <a:bodyPr anchor="t" rtlCol="false" vert="horz" wrap="square" tIns="45720" lIns="91440" bIns="45720" rIns="91440">
            <a:spAutoFit/>
          </a:bodyPr>
          <a:lstStyle/>
          <a:p>
            <a:pPr algn="l" marL="0">
              <a:defRPr/>
            </a:pPr>
            <a:r>
              <a:rPr lang="zh-CN" b="true" i="false" sz="1400" baseline="0" u="none" altLang="en-US">
                <a:solidFill>
                  <a:schemeClr val="tx1"/>
                </a:solidFill>
                <a:latin typeface="微软雅黑"/>
                <a:ea typeface="微软雅黑"/>
              </a:rPr>
              <a:t>冲突处理方法（二）：链地址法</a:t>
            </a:r>
            <a:endParaRPr lang="en-US" sz="1100"/>
          </a:p>
        </p:txBody>
      </p:sp>
      <p:sp>
        <p:nvSpPr>
          <p:cNvPr name="TextBox 31" id="31"/>
          <p:cNvSpPr txBox="true"/>
          <p:nvPr/>
        </p:nvSpPr>
        <p:spPr>
          <a:xfrm>
            <a:off x="8466354" y="1895739"/>
            <a:ext cx="3108546" cy="1721690"/>
          </a:xfrm>
          <a:prstGeom prst="rect">
            <a:avLst/>
          </a:prstGeom>
          <a:noFill/>
        </p:spPr>
        <p:txBody>
          <a:bodyPr anchor="t" rtlCol="false" vert="horz" wrap="square" tIns="45720" lIns="91440" bIns="45720" rIns="91440">
            <a:spAutoFit/>
          </a:bodyPr>
          <a:lstStyle/>
          <a:p>
            <a:pPr algn="r" marL="0">
              <a:lnSpc>
                <a:spcPct val="150000"/>
              </a:lnSpc>
              <a:defRPr/>
            </a:pPr>
            <a:r>
              <a:rPr lang="zh-CN" b="false" i="false" sz="1200" baseline="0" u="none" altLang="en-US">
                <a:solidFill>
                  <a:schemeClr val="tx1"/>
                </a:solidFill>
                <a:latin typeface="微软雅黑"/>
                <a:ea typeface="微软雅黑"/>
              </a:rPr>
              <a:t>开放地址法包括线性探测（遇冲突向后线性探查）、二次探测（按平方增量探查）、随机探测。线性探测容易产生聚集，二次探测和随机探测可缓解。</a:t>
            </a:r>
            <a:endParaRPr lang="en-US" sz="1100"/>
          </a:p>
        </p:txBody>
      </p:sp>
      <p:sp>
        <p:nvSpPr>
          <p:cNvPr name="TextBox 32" id="32"/>
          <p:cNvSpPr txBox="true"/>
          <p:nvPr/>
        </p:nvSpPr>
        <p:spPr>
          <a:xfrm>
            <a:off x="8965330" y="1384103"/>
            <a:ext cx="2609570" cy="523220"/>
          </a:xfrm>
          <a:prstGeom prst="rect">
            <a:avLst/>
          </a:prstGeom>
          <a:noFill/>
        </p:spPr>
        <p:txBody>
          <a:bodyPr anchor="t" rtlCol="false" vert="horz" wrap="square" tIns="45720" lIns="91440" bIns="45720" rIns="91440">
            <a:spAutoFit/>
          </a:bodyPr>
          <a:lstStyle/>
          <a:p>
            <a:pPr algn="r" marL="0">
              <a:defRPr/>
            </a:pPr>
            <a:r>
              <a:rPr lang="zh-CN" b="true" i="false" sz="1400" baseline="0" u="none" altLang="en-US">
                <a:solidFill>
                  <a:schemeClr val="tx1"/>
                </a:solidFill>
                <a:latin typeface="微软雅黑"/>
                <a:ea typeface="微软雅黑"/>
              </a:rPr>
              <a:t>冲突处理方法（一）：开放地址法</a:t>
            </a:r>
            <a:endParaRPr lang="en-US" sz="1100"/>
          </a:p>
        </p:txBody>
      </p:sp>
      <p:sp>
        <p:nvSpPr>
          <p:cNvPr name="TextBox 33" id="33"/>
          <p:cNvSpPr txBox="true"/>
          <p:nvPr/>
        </p:nvSpPr>
        <p:spPr>
          <a:xfrm>
            <a:off x="6646921" y="5167582"/>
            <a:ext cx="4574928" cy="1167692"/>
          </a:xfrm>
          <a:prstGeom prst="rect">
            <a:avLst/>
          </a:prstGeom>
          <a:noFill/>
        </p:spPr>
        <p:txBody>
          <a:bodyPr anchor="t" rtlCol="false" vert="horz" wrap="square" tIns="45720" lIns="91440" bIns="45720" rIns="91440">
            <a:spAutoFit/>
          </a:bodyPr>
          <a:lstStyle/>
          <a:p>
            <a:pPr algn="r" marL="0">
              <a:lnSpc>
                <a:spcPct val="150000"/>
              </a:lnSpc>
              <a:defRPr/>
            </a:pPr>
            <a:r>
              <a:rPr lang="zh-CN" b="false" i="false" sz="1200" baseline="0" u="none" altLang="en-US">
                <a:solidFill>
                  <a:schemeClr val="tx1"/>
                </a:solidFill>
                <a:latin typeface="微软雅黑"/>
                <a:ea typeface="微软雅黑"/>
              </a:rPr>
              <a:t>哈希表的装填因子α=表中记录数/表长。平均查找长度与α密切相关。当α较小时，冲突少，性能好。通常控制α在0.5~0.8之间，过大则需扩容（rehash）。良好的散列函数能均匀分布数据。</a:t>
            </a:r>
            <a:endParaRPr lang="en-US" sz="1100"/>
          </a:p>
        </p:txBody>
      </p:sp>
      <p:sp>
        <p:nvSpPr>
          <p:cNvPr name="TextBox 34" id="34"/>
          <p:cNvSpPr txBox="true"/>
          <p:nvPr/>
        </p:nvSpPr>
        <p:spPr>
          <a:xfrm>
            <a:off x="8612279" y="4682989"/>
            <a:ext cx="2609570" cy="523220"/>
          </a:xfrm>
          <a:prstGeom prst="rect">
            <a:avLst/>
          </a:prstGeom>
          <a:noFill/>
        </p:spPr>
        <p:txBody>
          <a:bodyPr anchor="t" rtlCol="false" vert="horz" wrap="square" tIns="45720" lIns="91440" bIns="45720" rIns="91440">
            <a:spAutoFit/>
          </a:bodyPr>
          <a:lstStyle/>
          <a:p>
            <a:pPr algn="r" marL="0">
              <a:defRPr/>
            </a:pPr>
            <a:r>
              <a:rPr lang="zh-CN" b="true" i="false" sz="1400" baseline="0" u="none" altLang="en-US">
                <a:solidFill>
                  <a:schemeClr val="tx1"/>
                </a:solidFill>
                <a:latin typeface="微软雅黑"/>
                <a:ea typeface="微软雅黑"/>
              </a:rPr>
              <a:t>哈希表性能分析</a:t>
            </a:r>
            <a:endParaRPr lang="en-US" sz="1100"/>
          </a:p>
        </p:txBody>
      </p:sp>
      <p:sp>
        <p:nvSpPr>
          <p:cNvPr name="TextBox 35" id="35"/>
          <p:cNvSpPr txBox="true"/>
          <p:nvPr/>
        </p:nvSpPr>
        <p:spPr>
          <a:xfrm>
            <a:off x="1353833" y="522726"/>
            <a:ext cx="9484333" cy="480131"/>
          </a:xfrm>
          <a:prstGeom prst="rect">
            <a:avLst/>
          </a:prstGeom>
        </p:spPr>
        <p:txBody>
          <a:bodyPr anchor="ctr" rtlCol="false" vert="horz" wrap="square" tIns="45720" lIns="91440" bIns="45720" rIns="91440">
            <a:spAutoFit/>
          </a:bodyPr>
          <a:lstStyle/>
          <a:p>
            <a:pPr algn="ctr" marL="0">
              <a:lnSpc>
                <a:spcPct val="90000"/>
              </a:lnSpc>
              <a:spcBef>
                <a:spcPct val="0"/>
              </a:spcBef>
              <a:defRPr/>
            </a:pPr>
            <a:r>
              <a:rPr lang="zh-CN" b="true" i="false" sz="2800" baseline="0" u="none" altLang="en-US">
                <a:solidFill>
                  <a:schemeClr val="tx1"/>
                </a:solidFill>
                <a:latin typeface="微软雅黑"/>
                <a:ea typeface="微软雅黑"/>
              </a:rPr>
              <a:t>哈希表</a:t>
            </a:r>
            <a:endParaRPr lang="en-US" sz="1100"/>
          </a:p>
        </p:txBody>
      </p:sp>
      <p:sp>
        <p:nvSpPr>
          <p:cNvPr name="Freeform 36" id="36"/>
          <p:cNvSpPr/>
          <p:nvPr/>
        </p:nvSpPr>
        <p:spPr>
          <a:xfrm flipV="true">
            <a:off x="0" y="-3205"/>
            <a:ext cx="12192000" cy="230049"/>
          </a:xfrm>
          <a:custGeom>
            <a:avLst/>
            <a:gdLst/>
            <a:ahLst/>
            <a:cxnLst/>
            <a:rect r="r" b="b" t="t" l="l"/>
            <a:pathLst>
              <a:path w="12192000" h="368971" stroke="true" fill="norm" extrusionOk="true">
                <a:moveTo>
                  <a:pt x="146784" y="0"/>
                </a:moveTo>
                <a:lnTo>
                  <a:pt x="12045216" y="0"/>
                </a:lnTo>
                <a:cubicBezTo>
                  <a:pt x="12126283" y="0"/>
                  <a:pt x="12192000" y="65717"/>
                  <a:pt x="12192000" y="146784"/>
                </a:cubicBezTo>
                <a:lnTo>
                  <a:pt x="12192000" y="368971"/>
                </a:lnTo>
                <a:lnTo>
                  <a:pt x="0" y="368971"/>
                </a:lnTo>
                <a:lnTo>
                  <a:pt x="0" y="146784"/>
                </a:lnTo>
                <a:cubicBezTo>
                  <a:pt x="0" y="65717"/>
                  <a:pt x="65717" y="0"/>
                  <a:pt x="146784" y="0"/>
                </a:cubicBezTo>
                <a:close/>
              </a:path>
            </a:pathLst>
          </a:custGeom>
          <a:solidFill>
            <a:srgbClr val="007611"/>
          </a:solidFill>
          <a:ln>
            <a:noFill/>
          </a:ln>
        </p:spPr>
        <p:txBody>
          <a:bodyPr vert="horz" anchor="ctr" wrap="square" tIns="45720" lIns="91440" bIns="45720" rIns="91440">
            <a:noAutofit/>
          </a:bodyPr>
          <a:p>
            <a:pPr algn="ctr" marL="0"/>
          </a:p>
        </p:txBody>
      </p:sp>
      <p:sp>
        <p:nvSpPr>
          <p:cNvPr name="Freeform 37" id="37"/>
          <p:cNvSpPr/>
          <p:nvPr/>
        </p:nvSpPr>
        <p:spPr>
          <a:xfrm>
            <a:off x="0" y="6638203"/>
            <a:ext cx="12192000" cy="230049"/>
          </a:xfrm>
          <a:custGeom>
            <a:avLst/>
            <a:gdLst/>
            <a:ahLst/>
            <a:cxnLst/>
            <a:rect r="r" b="b" t="t" l="l"/>
            <a:pathLst>
              <a:path w="12192000" h="368971" stroke="true" fill="norm" extrusionOk="true">
                <a:moveTo>
                  <a:pt x="146784" y="0"/>
                </a:moveTo>
                <a:lnTo>
                  <a:pt x="12045216" y="0"/>
                </a:lnTo>
                <a:cubicBezTo>
                  <a:pt x="12126283" y="0"/>
                  <a:pt x="12192000" y="65717"/>
                  <a:pt x="12192000" y="146784"/>
                </a:cubicBezTo>
                <a:lnTo>
                  <a:pt x="12192000" y="368971"/>
                </a:lnTo>
                <a:lnTo>
                  <a:pt x="0" y="368971"/>
                </a:lnTo>
                <a:lnTo>
                  <a:pt x="0" y="146784"/>
                </a:lnTo>
                <a:cubicBezTo>
                  <a:pt x="0" y="65717"/>
                  <a:pt x="65717" y="0"/>
                  <a:pt x="146784" y="0"/>
                </a:cubicBezTo>
                <a:close/>
              </a:path>
            </a:pathLst>
          </a:custGeom>
          <a:solidFill>
            <a:schemeClr val="accent6">
              <a:lumMod val="40000"/>
              <a:lumOff val="60000"/>
            </a:schemeClr>
          </a:solidFill>
          <a:ln>
            <a:noFill/>
          </a:ln>
        </p:spPr>
        <p:txBody>
          <a:bodyPr vert="horz" anchor="ctr" wrap="square" tIns="45720" lIns="91440" bIns="45720" rIns="91440">
            <a:noAutofit/>
          </a:bodyPr>
          <a:p>
            <a:pPr algn="ctr" marL="0"/>
          </a:p>
        </p:txBody>
      </p:sp>
      <p:sp>
        <p:nvSpPr>
          <p:cNvPr name="AutoShape 38" id="38"/>
          <p:cNvSpPr/>
          <p:nvPr/>
        </p:nvSpPr>
        <p:spPr>
          <a:xfrm>
            <a:off x="10795000" y="6540500"/>
            <a:ext cx="1270000" cy="190500"/>
          </a:xfrm>
          <a:prstGeom prst="rect">
            <a:avLst/>
          </a:prstGeom>
          <a:solidFill>
            <a:srgbClr val="000000">
              <a:alpha val="0"/>
            </a:srgbClr>
          </a:solidFill>
        </p:spPr>
        <p:txBody>
          <a:bodyPr anchor="t" rtlCol="false"/>
          <a:lstStyle/>
          <a:p>
            <a:pPr algn="r">
              <a:defRPr/>
            </a:pPr>
            <a:r>
              <a:rPr lang="en-US" b="false" i="false" sz="800" baseline="0" u="none">
                <a:solidFill>
                  <a:srgbClr val="808080"/>
                </a:solidFill>
                <a:latin typeface="Microsoft YaHei"/>
                <a:ea typeface="Microsoft YaHei"/>
              </a:rPr>
              <a:t>内容由AI生成</a:t>
            </a:r>
            <a:endParaRPr lang="en-US" sz="1100"/>
          </a:p>
        </p:txBody>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bg>
      <p:bgPr>
        <a:solidFill>
          <a:schemeClr val="bg1"/>
        </a:solidFill>
      </p:bgPr>
    </p:bg>
    <p:spTree>
      <p:nvGrpSpPr>
        <p:cNvPr id="1" name=""/>
        <p:cNvGrpSpPr/>
        <p:nvPr/>
      </p:nvGrpSpPr>
      <p:grpSpPr>
        <a:xfrm>
          <a:off x="0" y="0"/>
          <a:ext cx="0" cy="0"/>
          <a:chOff x="0" y="0"/>
          <a:chExt cx="0" cy="0"/>
        </a:xfrm>
      </p:grpSpPr>
      <p:sp>
        <p:nvSpPr>
          <p:cNvPr name="AutoShape 2" id="2"/>
          <p:cNvSpPr/>
          <p:nvPr/>
        </p:nvSpPr>
        <p:spPr>
          <a:xfrm>
            <a:off x="660400" y="1238778"/>
            <a:ext cx="2690067" cy="1490582"/>
          </a:xfrm>
          <a:prstGeom prst="rect">
            <a:avLst/>
          </a:prstGeom>
          <a:blipFill>
            <a:blip r:embed="rId2"/>
            <a:stretch>
              <a:fillRect t="-10244" l="0" b="-10070" r="0"/>
            </a:stretch>
          </a:blipFill>
          <a:ln>
            <a:noFill/>
          </a:ln>
          <a:effectLst/>
        </p:spPr>
        <p:txBody>
          <a:bodyPr vert="horz" rot="0" anchor="t" wrap="square" tIns="45720" lIns="91440" bIns="45720" rIns="91440">
            <a:prstTxWarp prst="textNoShape">
              <a:avLst/>
            </a:prstTxWarp>
            <a:noAutofit/>
          </a:bodyPr>
          <a:p>
            <a:pPr algn="ctr" marL="0"/>
          </a:p>
        </p:txBody>
      </p:sp>
      <p:sp>
        <p:nvSpPr>
          <p:cNvPr name="TextBox 3" id="3"/>
          <p:cNvSpPr txBox="true"/>
          <p:nvPr/>
        </p:nvSpPr>
        <p:spPr>
          <a:xfrm>
            <a:off x="4139598" y="1276432"/>
            <a:ext cx="6207006" cy="338554"/>
          </a:xfrm>
          <a:prstGeom prst="rect">
            <a:avLst/>
          </a:prstGeom>
          <a:noFill/>
        </p:spPr>
        <p:txBody>
          <a:bodyPr anchor="t" rtlCol="false" vert="horz" wrap="square" tIns="45720" lIns="91440" bIns="45720" rIns="91440">
            <a:spAutoFit/>
          </a:bodyPr>
          <a:lstStyle/>
          <a:p>
            <a:pPr algn="l" marL="0">
              <a:defRPr/>
            </a:pPr>
            <a:r>
              <a:rPr lang="zh-CN" b="true" i="false" sz="1600" baseline="0" u="none" altLang="en-US">
                <a:solidFill>
                  <a:schemeClr val="tx1"/>
                </a:solidFill>
                <a:latin typeface="微软雅黑"/>
                <a:ea typeface="微软雅黑"/>
              </a:rPr>
              <a:t>冒泡排序</a:t>
            </a:r>
            <a:endParaRPr lang="en-US" sz="1100"/>
          </a:p>
        </p:txBody>
      </p:sp>
      <p:sp>
        <p:nvSpPr>
          <p:cNvPr name="TextBox 4" id="4"/>
          <p:cNvSpPr txBox="true"/>
          <p:nvPr/>
        </p:nvSpPr>
        <p:spPr>
          <a:xfrm>
            <a:off x="3526930" y="1738097"/>
            <a:ext cx="6819674" cy="381000"/>
          </a:xfrm>
          <a:prstGeom prst="rect">
            <a:avLst/>
          </a:prstGeom>
          <a:noFill/>
        </p:spPr>
        <p:txBody>
          <a:bodyPr anchor="t" rtlCol="false" vert="horz" wrap="square" tIns="45720" lIns="91440" bIns="45720" rIns="91440">
            <a:spAutoFit/>
          </a:bodyPr>
          <a:lstStyle/>
          <a:p>
            <a:pPr algn="l" marL="0">
              <a:lnSpc>
                <a:spcPct val="120000"/>
              </a:lnSpc>
              <a:defRPr/>
            </a:pPr>
            <a:r>
              <a:rPr lang="zh-CN" b="false" i="false" sz="1400" baseline="0" u="none" altLang="en-US">
                <a:ln/>
                <a:solidFill>
                  <a:schemeClr val="tx1"/>
                </a:solidFill>
                <a:effectLst/>
                <a:latin typeface="微软雅黑"/>
                <a:ea typeface="微软雅黑"/>
              </a:rPr>
              <a:t>重复遍历数组，依次比较相邻元素，若逆序则交换，每一趟将最大元素浮到末尾。时间复杂度O(n^2)，稳定排序。优化：设置标志位，若某趟无交换则提前结束。</a:t>
            </a:r>
            <a:endParaRPr lang="en-US" sz="1100"/>
          </a:p>
        </p:txBody>
      </p:sp>
      <p:sp>
        <p:nvSpPr>
          <p:cNvPr name="TextBox 5" id="5"/>
          <p:cNvSpPr txBox="true"/>
          <p:nvPr/>
        </p:nvSpPr>
        <p:spPr>
          <a:xfrm>
            <a:off x="3526930" y="1244017"/>
            <a:ext cx="612668" cy="461665"/>
          </a:xfrm>
          <a:prstGeom prst="rect">
            <a:avLst/>
          </a:prstGeom>
          <a:noFill/>
          <a:effectLst/>
        </p:spPr>
        <p:txBody>
          <a:bodyPr anchor="t" rtlCol="false" vert="horz" wrap="none" tIns="45720" lIns="91440" bIns="45720" rIns="91440">
            <a:spAutoFit/>
          </a:bodyPr>
          <a:lstStyle/>
          <a:p>
            <a:pPr algn="l" marL="0">
              <a:defRPr/>
            </a:pPr>
            <a:r>
              <a:rPr lang="en-US" b="true" i="false" sz="2400" baseline="0" u="none">
                <a:solidFill>
                  <a:schemeClr val="tx1"/>
                </a:solidFill>
                <a:effectLst/>
                <a:latin typeface="微软雅黑"/>
                <a:ea typeface="微软雅黑"/>
              </a:rPr>
              <a:t>01.</a:t>
            </a:r>
            <a:endParaRPr lang="en-US" sz="1100"/>
          </a:p>
        </p:txBody>
      </p:sp>
      <p:sp>
        <p:nvSpPr>
          <p:cNvPr name="AutoShape 6" id="6"/>
          <p:cNvSpPr/>
          <p:nvPr/>
        </p:nvSpPr>
        <p:spPr>
          <a:xfrm>
            <a:off x="660400" y="2995388"/>
            <a:ext cx="2690067" cy="1490582"/>
          </a:xfrm>
          <a:prstGeom prst="rect">
            <a:avLst/>
          </a:prstGeom>
          <a:blipFill>
            <a:blip r:embed="rId3"/>
            <a:stretch>
              <a:fillRect t="-10244" l="0" b="-10070" r="0"/>
            </a:stretch>
          </a:blipFill>
          <a:ln>
            <a:noFill/>
          </a:ln>
          <a:effectLst/>
        </p:spPr>
        <p:txBody>
          <a:bodyPr vert="horz" rot="0" anchor="t" wrap="square" tIns="45720" lIns="91440" bIns="45720" rIns="91440">
            <a:prstTxWarp prst="textNoShape">
              <a:avLst/>
            </a:prstTxWarp>
            <a:noAutofit/>
          </a:bodyPr>
          <a:p>
            <a:pPr algn="ctr" marL="0"/>
          </a:p>
        </p:txBody>
      </p:sp>
      <p:sp>
        <p:nvSpPr>
          <p:cNvPr name="TextBox 7" id="7"/>
          <p:cNvSpPr txBox="true"/>
          <p:nvPr/>
        </p:nvSpPr>
        <p:spPr>
          <a:xfrm>
            <a:off x="4096945" y="3037804"/>
            <a:ext cx="6207006" cy="338554"/>
          </a:xfrm>
          <a:prstGeom prst="rect">
            <a:avLst/>
          </a:prstGeom>
          <a:noFill/>
        </p:spPr>
        <p:txBody>
          <a:bodyPr anchor="t" rtlCol="false" vert="horz" wrap="square" tIns="45720" lIns="91440" bIns="45720" rIns="91440">
            <a:spAutoFit/>
          </a:bodyPr>
          <a:lstStyle/>
          <a:p>
            <a:pPr algn="l" marL="0">
              <a:defRPr/>
            </a:pPr>
            <a:r>
              <a:rPr lang="zh-CN" b="true" i="false" sz="1600" baseline="0" u="none" altLang="en-US">
                <a:solidFill>
                  <a:schemeClr val="tx1"/>
                </a:solidFill>
                <a:latin typeface="微软雅黑"/>
                <a:ea typeface="微软雅黑"/>
              </a:rPr>
              <a:t>直接插入排序</a:t>
            </a:r>
            <a:endParaRPr lang="en-US" sz="1100"/>
          </a:p>
        </p:txBody>
      </p:sp>
      <p:sp>
        <p:nvSpPr>
          <p:cNvPr name="TextBox 8" id="8"/>
          <p:cNvSpPr txBox="true"/>
          <p:nvPr/>
        </p:nvSpPr>
        <p:spPr>
          <a:xfrm>
            <a:off x="3526930" y="3489467"/>
            <a:ext cx="6819674" cy="381000"/>
          </a:xfrm>
          <a:prstGeom prst="rect">
            <a:avLst/>
          </a:prstGeom>
          <a:noFill/>
        </p:spPr>
        <p:txBody>
          <a:bodyPr anchor="t" rtlCol="false" vert="horz" wrap="square" tIns="45720" lIns="91440" bIns="45720" rIns="91440">
            <a:spAutoFit/>
          </a:bodyPr>
          <a:lstStyle/>
          <a:p>
            <a:pPr algn="l" fontAlgn="auto" indent="0" marR="0" marL="0">
              <a:lnSpc>
                <a:spcPct val="120000"/>
              </a:lnSpc>
              <a:spcBef>
                <a:spcPct val="0"/>
              </a:spcBef>
              <a:spcAft>
                <a:spcPct val="0"/>
              </a:spcAft>
              <a:defRPr/>
            </a:pPr>
            <a:r>
              <a:rPr lang="zh-CN" b="false" i="false" sz="1400" baseline="0" u="none" altLang="en-US">
                <a:ln/>
                <a:solidFill>
                  <a:schemeClr val="tx1"/>
                </a:solidFill>
                <a:effectLst/>
                <a:latin typeface="微软雅黑"/>
                <a:ea typeface="微软雅黑"/>
              </a:rPr>
              <a:t>将未排序元素依次插入到已排序序列的合适位置。最好的情况（有序）时间复杂度O(n)，最坏O(n^2)，稳定排序。适用于小规模或基本有序的数据。</a:t>
            </a:r>
            <a:endParaRPr lang="en-US" sz="1100"/>
          </a:p>
        </p:txBody>
      </p:sp>
      <p:sp>
        <p:nvSpPr>
          <p:cNvPr name="TextBox 9" id="9"/>
          <p:cNvSpPr txBox="true"/>
          <p:nvPr/>
        </p:nvSpPr>
        <p:spPr>
          <a:xfrm>
            <a:off x="3526930" y="2995387"/>
            <a:ext cx="612668" cy="461665"/>
          </a:xfrm>
          <a:prstGeom prst="rect">
            <a:avLst/>
          </a:prstGeom>
          <a:noFill/>
          <a:effectLst/>
        </p:spPr>
        <p:txBody>
          <a:bodyPr anchor="t" rtlCol="false" vert="horz" wrap="none" tIns="45720" lIns="91440" bIns="45720" rIns="91440">
            <a:spAutoFit/>
          </a:bodyPr>
          <a:lstStyle/>
          <a:p>
            <a:pPr algn="l" marL="0">
              <a:defRPr/>
            </a:pPr>
            <a:r>
              <a:rPr lang="en-US" b="true" i="false" sz="2400" baseline="0" u="none">
                <a:solidFill>
                  <a:schemeClr val="tx1"/>
                </a:solidFill>
                <a:effectLst/>
                <a:latin typeface="微软雅黑"/>
                <a:ea typeface="微软雅黑"/>
              </a:rPr>
              <a:t>02.</a:t>
            </a:r>
            <a:endParaRPr lang="en-US" sz="1100"/>
          </a:p>
        </p:txBody>
      </p:sp>
      <p:sp>
        <p:nvSpPr>
          <p:cNvPr name="AutoShape 10" id="10"/>
          <p:cNvSpPr/>
          <p:nvPr/>
        </p:nvSpPr>
        <p:spPr>
          <a:xfrm>
            <a:off x="660400" y="4746756"/>
            <a:ext cx="2690067" cy="1490582"/>
          </a:xfrm>
          <a:prstGeom prst="rect">
            <a:avLst/>
          </a:prstGeom>
          <a:blipFill>
            <a:blip r:embed="rId4"/>
            <a:stretch>
              <a:fillRect t="-1576" l="0" b="-1550" r="0"/>
            </a:stretch>
          </a:blipFill>
          <a:ln>
            <a:noFill/>
          </a:ln>
          <a:effectLst/>
        </p:spPr>
        <p:txBody>
          <a:bodyPr vert="horz" rot="0" anchor="t" wrap="square" tIns="45720" lIns="91440" bIns="45720" rIns="91440">
            <a:prstTxWarp prst="textNoShape">
              <a:avLst/>
            </a:prstTxWarp>
            <a:noAutofit/>
          </a:bodyPr>
          <a:p>
            <a:pPr algn="ctr" marL="0"/>
          </a:p>
        </p:txBody>
      </p:sp>
      <p:sp>
        <p:nvSpPr>
          <p:cNvPr name="TextBox 11" id="11"/>
          <p:cNvSpPr txBox="true"/>
          <p:nvPr/>
        </p:nvSpPr>
        <p:spPr>
          <a:xfrm>
            <a:off x="4096945" y="4799176"/>
            <a:ext cx="6207006" cy="338554"/>
          </a:xfrm>
          <a:prstGeom prst="rect">
            <a:avLst/>
          </a:prstGeom>
          <a:noFill/>
        </p:spPr>
        <p:txBody>
          <a:bodyPr anchor="t" rtlCol="false" vert="horz" wrap="square" tIns="45720" lIns="91440" bIns="45720" rIns="91440">
            <a:spAutoFit/>
          </a:bodyPr>
          <a:lstStyle/>
          <a:p>
            <a:pPr algn="l" marL="0">
              <a:defRPr/>
            </a:pPr>
            <a:r>
              <a:rPr lang="zh-CN" b="true" i="false" sz="1600" baseline="0" u="none" altLang="en-US">
                <a:solidFill>
                  <a:schemeClr val="tx1"/>
                </a:solidFill>
                <a:latin typeface="微软雅黑"/>
                <a:ea typeface="微软雅黑"/>
              </a:rPr>
              <a:t>简单选择排序</a:t>
            </a:r>
            <a:endParaRPr lang="en-US" sz="1100"/>
          </a:p>
        </p:txBody>
      </p:sp>
      <p:sp>
        <p:nvSpPr>
          <p:cNvPr name="TextBox 12" id="12"/>
          <p:cNvSpPr txBox="true"/>
          <p:nvPr/>
        </p:nvSpPr>
        <p:spPr>
          <a:xfrm>
            <a:off x="3526930" y="5240836"/>
            <a:ext cx="6819674" cy="381000"/>
          </a:xfrm>
          <a:prstGeom prst="rect">
            <a:avLst/>
          </a:prstGeom>
          <a:noFill/>
        </p:spPr>
        <p:txBody>
          <a:bodyPr anchor="t" rtlCol="false" vert="horz" wrap="square" tIns="45720" lIns="91440" bIns="45720" rIns="91440">
            <a:spAutoFit/>
          </a:bodyPr>
          <a:lstStyle/>
          <a:p>
            <a:pPr algn="l" fontAlgn="auto" indent="0" marR="0" marL="0">
              <a:lnSpc>
                <a:spcPct val="120000"/>
              </a:lnSpc>
              <a:spcBef>
                <a:spcPct val="0"/>
              </a:spcBef>
              <a:spcAft>
                <a:spcPct val="0"/>
              </a:spcAft>
              <a:defRPr/>
            </a:pPr>
            <a:r>
              <a:rPr lang="zh-CN" b="false" i="false" sz="1400" baseline="0" u="none" altLang="en-US">
                <a:ln/>
                <a:solidFill>
                  <a:schemeClr val="tx1"/>
                </a:solidFill>
                <a:effectLst/>
                <a:latin typeface="微软雅黑"/>
                <a:ea typeface="微软雅黑"/>
              </a:rPr>
              <a:t>每趟选择未排序部分的最小元素放到已排序末尾。时间复杂度始终为O(n^2)，不稳定（例如5,8,5,2—第一个5会与2交换，导致相对顺序改变）。</a:t>
            </a:r>
            <a:endParaRPr lang="en-US" sz="1100"/>
          </a:p>
        </p:txBody>
      </p:sp>
      <p:sp>
        <p:nvSpPr>
          <p:cNvPr name="TextBox 13" id="13"/>
          <p:cNvSpPr txBox="true"/>
          <p:nvPr/>
        </p:nvSpPr>
        <p:spPr>
          <a:xfrm>
            <a:off x="3526930" y="4746756"/>
            <a:ext cx="612668" cy="461665"/>
          </a:xfrm>
          <a:prstGeom prst="rect">
            <a:avLst/>
          </a:prstGeom>
          <a:noFill/>
          <a:effectLst/>
        </p:spPr>
        <p:txBody>
          <a:bodyPr anchor="t" rtlCol="false" vert="horz" wrap="none" tIns="45720" lIns="91440" bIns="45720" rIns="91440">
            <a:spAutoFit/>
          </a:bodyPr>
          <a:lstStyle/>
          <a:p>
            <a:pPr algn="l" marL="0">
              <a:defRPr/>
            </a:pPr>
            <a:r>
              <a:rPr lang="en-US" b="true" i="false" sz="2400" baseline="0" u="none">
                <a:solidFill>
                  <a:schemeClr val="tx1"/>
                </a:solidFill>
                <a:effectLst/>
                <a:latin typeface="微软雅黑"/>
                <a:ea typeface="微软雅黑"/>
              </a:rPr>
              <a:t>03.</a:t>
            </a:r>
            <a:endParaRPr lang="en-US" sz="1100"/>
          </a:p>
        </p:txBody>
      </p:sp>
      <p:sp>
        <p:nvSpPr>
          <p:cNvPr name="AutoShape 14" id="14"/>
          <p:cNvSpPr/>
          <p:nvPr/>
        </p:nvSpPr>
        <p:spPr>
          <a:xfrm>
            <a:off x="660400" y="1238778"/>
            <a:ext cx="79081" cy="1490582"/>
          </a:xfrm>
          <a:prstGeom prst="rect">
            <a:avLst/>
          </a:prstGeom>
          <a:solidFill>
            <a:schemeClr val="accent1"/>
          </a:solidFill>
          <a:ln cap="rnd">
            <a:noFill/>
            <a:prstDash val="solid"/>
          </a:ln>
          <a:effectLst>
            <a:outerShdw algn="ctr" blurRad="76200" dir="5400000" dist="50800" rotWithShape="false">
              <a:schemeClr val="accent1">
                <a:alpha val="20000"/>
              </a:schemeClr>
            </a:outerShdw>
          </a:effectLst>
        </p:spPr>
        <p:txBody>
          <a:bodyPr vert="horz" rot="0" anchor="ctr" wrap="square" tIns="45720" lIns="91440" bIns="45720" rIns="91440">
            <a:normAutofit/>
          </a:bodyPr>
          <a:p>
            <a:pPr algn="ctr" marL="0"/>
          </a:p>
        </p:txBody>
      </p:sp>
      <p:sp>
        <p:nvSpPr>
          <p:cNvPr name="AutoShape 15" id="15"/>
          <p:cNvSpPr/>
          <p:nvPr/>
        </p:nvSpPr>
        <p:spPr>
          <a:xfrm>
            <a:off x="660400" y="2995388"/>
            <a:ext cx="79081" cy="1490582"/>
          </a:xfrm>
          <a:prstGeom prst="rect">
            <a:avLst/>
          </a:prstGeom>
          <a:solidFill>
            <a:schemeClr val="accent2"/>
          </a:solidFill>
          <a:ln cap="rnd">
            <a:noFill/>
            <a:prstDash val="solid"/>
          </a:ln>
          <a:effectLst>
            <a:outerShdw algn="ctr" blurRad="76200" dir="5400000" dist="50800" rotWithShape="false">
              <a:schemeClr val="accent2">
                <a:alpha val="20000"/>
              </a:schemeClr>
            </a:outerShdw>
          </a:effectLst>
        </p:spPr>
        <p:txBody>
          <a:bodyPr vert="horz" rot="0" anchor="ctr" wrap="square" tIns="45720" lIns="91440" bIns="45720" rIns="91440">
            <a:normAutofit/>
          </a:bodyPr>
          <a:p>
            <a:pPr algn="ctr" marL="0"/>
          </a:p>
        </p:txBody>
      </p:sp>
      <p:sp>
        <p:nvSpPr>
          <p:cNvPr name="AutoShape 16" id="16"/>
          <p:cNvSpPr/>
          <p:nvPr/>
        </p:nvSpPr>
        <p:spPr>
          <a:xfrm>
            <a:off x="660400" y="4746756"/>
            <a:ext cx="79081" cy="1490582"/>
          </a:xfrm>
          <a:prstGeom prst="rect">
            <a:avLst/>
          </a:prstGeom>
          <a:solidFill>
            <a:schemeClr val="accent3"/>
          </a:solidFill>
          <a:ln cap="rnd">
            <a:noFill/>
            <a:prstDash val="solid"/>
          </a:ln>
          <a:effectLst>
            <a:outerShdw algn="ctr" blurRad="76200" dir="5400000" dist="50800" rotWithShape="false">
              <a:schemeClr val="accent3">
                <a:alpha val="20000"/>
              </a:schemeClr>
            </a:outerShdw>
          </a:effectLst>
        </p:spPr>
        <p:txBody>
          <a:bodyPr vert="horz" rot="0" anchor="ctr" wrap="square" tIns="45720" lIns="91440" bIns="45720" rIns="91440">
            <a:normAutofit/>
          </a:bodyPr>
          <a:p>
            <a:pPr algn="ctr" marL="0"/>
          </a:p>
        </p:txBody>
      </p:sp>
      <p:sp>
        <p:nvSpPr>
          <p:cNvPr name="AutoShape 17" id="17"/>
          <p:cNvSpPr/>
          <p:nvPr>
            <p:ph type="title"/>
          </p:nvPr>
        </p:nvSpPr>
        <p:spPr>
          <a:xfrm>
            <a:off x="6343378" y="1136894"/>
            <a:ext cx="5164367" cy="954107"/>
          </a:xfrm>
        </p:spPr>
        <p:txBody>
          <a:bodyPr vert="horz" anchor="b" tIns="45720" lIns="91440" bIns="45720" rIns="91440">
            <a:normAutofit/>
          </a:bodyPr>
          <a:p>
            <a:pPr algn="l">
              <a:lnSpc>
                <a:spcPct val="100000"/>
              </a:lnSpc>
              <a:spcBef>
                <a:spcPct val="0"/>
              </a:spcBef>
            </a:pPr>
            <a:r>
              <a:rPr lang="zh-CN" b="true" i="false" sz="2800" baseline="0" u="none" altLang="en-US">
                <a:solidFill>
                  <a:schemeClr val="tx1"/>
                </a:solidFill>
                <a:latin typeface="微软雅黑"/>
                <a:ea typeface="微软雅黑"/>
              </a:rPr>
              <a:t>内部排序（一）：简单排序</a:t>
            </a:r>
          </a:p>
        </p:txBody>
      </p:sp>
      <p:sp>
        <p:nvSpPr>
          <p:cNvPr name="AutoShape 18" id="18"/>
          <p:cNvSpPr/>
          <p:nvPr/>
        </p:nvSpPr>
        <p:spPr>
          <a:xfrm>
            <a:off x="10795000" y="6540500"/>
            <a:ext cx="1270000" cy="190500"/>
          </a:xfrm>
          <a:prstGeom prst="rect">
            <a:avLst/>
          </a:prstGeom>
          <a:solidFill>
            <a:srgbClr val="000000">
              <a:alpha val="0"/>
            </a:srgbClr>
          </a:solidFill>
        </p:spPr>
        <p:txBody>
          <a:bodyPr anchor="t" rtlCol="false"/>
          <a:lstStyle/>
          <a:p>
            <a:pPr algn="r">
              <a:defRPr/>
            </a:pPr>
            <a:r>
              <a:rPr lang="en-US" b="false" i="false" sz="800" baseline="0" u="none">
                <a:solidFill>
                  <a:srgbClr val="808080"/>
                </a:solidFill>
                <a:latin typeface="Microsoft YaHei"/>
                <a:ea typeface="Microsoft YaHei"/>
              </a:rPr>
              <a:t>内容由AI生成</a:t>
            </a:r>
            <a:endParaRPr lang="en-US" sz="1100"/>
          </a:p>
        </p:txBody>
      </p:sp>
    </p:spTree>
  </p:cSld>
  <p:clrMapOvr>
    <a:masterClrMapping/>
  </p:clrMapOvr>
  <p:transition spd="fast"/>
</p:sld>
</file>

<file path=ppt/slides/slide32.xml><?xml version="1.0" encoding="utf-8"?>
<p:sld xmlns:p="http://schemas.openxmlformats.org/presentationml/2006/main" xmlns:a="http://schemas.openxmlformats.org/drawingml/2006/main" xmlns:r="http://schemas.openxmlformats.org/officeDocument/2006/relationships">
  <p:cSld>
    <p:bg>
      <p:bgPr>
        <a:solidFill>
          <a:schemeClr val="bg1"/>
        </a:solidFill>
      </p:bgPr>
    </p:bg>
    <p:spTree>
      <p:nvGrpSpPr>
        <p:cNvPr id="1" name=""/>
        <p:cNvGrpSpPr/>
        <p:nvPr/>
      </p:nvGrpSpPr>
      <p:grpSpPr>
        <a:xfrm>
          <a:off x="0" y="0"/>
          <a:ext cx="0" cy="0"/>
          <a:chOff x="0" y="0"/>
          <a:chExt cx="0" cy="0"/>
        </a:xfrm>
      </p:grpSpPr>
      <p:sp>
        <p:nvSpPr>
          <p:cNvPr name="AutoShape 2" id="2"/>
          <p:cNvSpPr/>
          <p:nvPr>
            <p:ph type="title"/>
          </p:nvPr>
        </p:nvSpPr>
        <p:spPr>
          <a:xfrm>
            <a:off x="6343378" y="1136894"/>
            <a:ext cx="5164367" cy="954107"/>
          </a:xfrm>
        </p:spPr>
        <p:txBody>
          <a:bodyPr vert="horz" anchor="b" tIns="45720" lIns="91440" bIns="45720" rIns="91440">
            <a:normAutofit/>
          </a:bodyPr>
          <a:p>
            <a:pPr algn="l">
              <a:lnSpc>
                <a:spcPct val="100000"/>
              </a:lnSpc>
              <a:spcBef>
                <a:spcPct val="0"/>
              </a:spcBef>
            </a:pPr>
            <a:r>
              <a:rPr lang="en-US" b="true" i="false" sz="2800" baseline="0" u="none">
                <a:solidFill>
                  <a:schemeClr val="tx1"/>
                </a:solidFill>
                <a:latin typeface="微软雅黑"/>
                <a:ea typeface="微软雅黑"/>
              </a:rPr>
              <a:t>内部排序（二）：高效排序</a:t>
            </a:r>
          </a:p>
        </p:txBody>
      </p:sp>
      <p:sp>
        <p:nvSpPr>
          <p:cNvPr name="AutoShape 3" id="3"/>
          <p:cNvSpPr/>
          <p:nvPr/>
        </p:nvSpPr>
        <p:spPr>
          <a:xfrm>
            <a:off x="660400" y="1279551"/>
            <a:ext cx="2658868" cy="2127690"/>
          </a:xfrm>
          <a:prstGeom prst="roundRect">
            <a:avLst>
              <a:gd name="adj" fmla="val 4070"/>
            </a:avLst>
          </a:prstGeom>
          <a:blipFill>
            <a:blip r:embed="rId2"/>
            <a:stretch>
              <a:fillRect t="515" l="-11787" b="-515" r="-11911"/>
            </a:stretch>
          </a:blipFill>
          <a:ln>
            <a:noFill/>
          </a:ln>
          <a:effectLst/>
        </p:spPr>
        <p:txBody>
          <a:bodyPr vert="horz" rot="0" anchor="t" wrap="square" tIns="45720" lIns="91440" bIns="45720" rIns="91440">
            <a:prstTxWarp prst="textNoShape">
              <a:avLst/>
            </a:prstTxWarp>
            <a:noAutofit/>
          </a:bodyPr>
          <a:p>
            <a:pPr algn="ctr" marL="0"/>
          </a:p>
        </p:txBody>
      </p:sp>
      <p:sp>
        <p:nvSpPr>
          <p:cNvPr name="AutoShape 4" id="4"/>
          <p:cNvSpPr/>
          <p:nvPr/>
        </p:nvSpPr>
        <p:spPr>
          <a:xfrm>
            <a:off x="1142159" y="3300580"/>
            <a:ext cx="2937967" cy="2833519"/>
          </a:xfrm>
          <a:prstGeom prst="roundRect">
            <a:avLst>
              <a:gd name="adj" fmla="val 4070"/>
            </a:avLst>
          </a:prstGeom>
          <a:solidFill>
            <a:schemeClr val="accent1">
              <a:alpha val="15000"/>
            </a:schemeClr>
          </a:solidFill>
          <a:ln cap="rnd">
            <a:noFill/>
            <a:prstDash val="solid"/>
          </a:ln>
          <a:effectLst/>
        </p:spPr>
        <p:txBody>
          <a:bodyPr vert="horz" rot="0" anchor="ctr" wrap="square" tIns="45720" lIns="91440" bIns="45720" rIns="91440">
            <a:prstTxWarp prst="textNoShape">
              <a:avLst/>
            </a:prstTxWarp>
            <a:normAutofit/>
          </a:bodyPr>
          <a:p>
            <a:pPr algn="ctr" marL="0"/>
          </a:p>
        </p:txBody>
      </p:sp>
      <p:sp>
        <p:nvSpPr>
          <p:cNvPr name="TextBox 5" id="5"/>
          <p:cNvSpPr txBox="true"/>
          <p:nvPr/>
        </p:nvSpPr>
        <p:spPr>
          <a:xfrm>
            <a:off x="1770418" y="4450227"/>
            <a:ext cx="2309708" cy="1539240"/>
          </a:xfrm>
          <a:prstGeom prst="rect">
            <a:avLst/>
          </a:prstGeom>
          <a:noFill/>
        </p:spPr>
        <p:txBody>
          <a:bodyPr anchor="t" rtlCol="false" vert="horz" wrap="square" tIns="45720" lIns="91440" bIns="45720" rIns="91440">
            <a:spAutoFit/>
          </a:bodyPr>
          <a:lstStyle/>
          <a:p>
            <a:pPr algn="l" marL="0">
              <a:lnSpc>
                <a:spcPct val="120000"/>
              </a:lnSpc>
              <a:defRPr/>
            </a:pPr>
            <a:r>
              <a:rPr lang="zh-CN" b="false" i="false" sz="1400" baseline="0" u="none" altLang="en-US">
                <a:solidFill>
                  <a:schemeClr val="tx1"/>
                </a:solidFill>
                <a:latin typeface="微软雅黑"/>
                <a:ea typeface="微软雅黑"/>
              </a:rPr>
              <a:t>将整个序列按一定增量分组，对每组进行直接插入排序，然后缩小增量重复。增量序列的选择影响性能，常见减半法。时间复杂度平均接近O(n^1.3)，不稳定。</a:t>
            </a:r>
            <a:endParaRPr lang="en-US" sz="1100"/>
          </a:p>
        </p:txBody>
      </p:sp>
      <p:sp>
        <p:nvSpPr>
          <p:cNvPr name="AutoShape 6" id="6"/>
          <p:cNvSpPr/>
          <p:nvPr/>
        </p:nvSpPr>
        <p:spPr>
          <a:xfrm>
            <a:off x="1294967" y="4534195"/>
            <a:ext cx="444222" cy="444220"/>
          </a:xfrm>
          <a:prstGeom prst="ellipse">
            <a:avLst/>
          </a:prstGeom>
          <a:gradFill>
            <a:gsLst>
              <a:gs pos="0">
                <a:srgbClr val="7ECEF4">
                  <a:lumMod val="60000"/>
                  <a:lumOff val="40000"/>
                </a:srgbClr>
              </a:gs>
              <a:gs pos="50000">
                <a:srgbClr val="7ECEF4"/>
              </a:gs>
            </a:gsLst>
            <a:lin ang="2700000"/>
          </a:gradFill>
          <a:ln cap="flat">
            <a:noFill/>
            <a:prstDash val="solid"/>
            <a:miter lim="800000"/>
          </a:ln>
        </p:spPr>
        <p:txBody>
          <a:bodyPr vert="horz" anchor="ctr" tIns="108000" lIns="108000" bIns="108000" rIns="108000">
            <a:normAutofit/>
          </a:bodyPr>
          <a:p>
            <a:pPr algn="l" marL="0"/>
          </a:p>
        </p:txBody>
      </p:sp>
      <p:sp>
        <p:nvSpPr>
          <p:cNvPr name="Freeform 7" id="7"/>
          <p:cNvSpPr/>
          <p:nvPr/>
        </p:nvSpPr>
        <p:spPr>
          <a:xfrm>
            <a:off x="1414298" y="4679220"/>
            <a:ext cx="205561" cy="154170"/>
          </a:xfrm>
          <a:custGeom>
            <a:avLst/>
            <a:gdLst/>
            <a:ahLst/>
            <a:cxnLst/>
            <a:rect r="r" b="b" t="t" l="l"/>
            <a:pathLst>
              <a:path w="533400" h="400050" stroke="true" fill="norm" extrusionOk="true">
                <a:moveTo>
                  <a:pt x="505433" y="621"/>
                </a:moveTo>
                <a:cubicBezTo>
                  <a:pt x="521245" y="621"/>
                  <a:pt x="534008" y="13385"/>
                  <a:pt x="534008" y="29196"/>
                </a:cubicBezTo>
                <a:lnTo>
                  <a:pt x="534008" y="372096"/>
                </a:lnTo>
                <a:cubicBezTo>
                  <a:pt x="534008" y="387907"/>
                  <a:pt x="521245" y="400671"/>
                  <a:pt x="505433" y="400671"/>
                </a:cubicBezTo>
                <a:lnTo>
                  <a:pt x="29183" y="400671"/>
                </a:lnTo>
                <a:cubicBezTo>
                  <a:pt x="13371" y="400671"/>
                  <a:pt x="608" y="387907"/>
                  <a:pt x="608" y="372096"/>
                </a:cubicBezTo>
                <a:lnTo>
                  <a:pt x="608" y="29196"/>
                </a:lnTo>
                <a:cubicBezTo>
                  <a:pt x="608" y="13385"/>
                  <a:pt x="13371" y="621"/>
                  <a:pt x="29183" y="621"/>
                </a:cubicBezTo>
                <a:lnTo>
                  <a:pt x="505433" y="621"/>
                </a:lnTo>
                <a:close/>
                <a:moveTo>
                  <a:pt x="391419" y="198646"/>
                </a:moveTo>
                <a:cubicBezTo>
                  <a:pt x="378846" y="189121"/>
                  <a:pt x="360939" y="191597"/>
                  <a:pt x="351414" y="204170"/>
                </a:cubicBezTo>
                <a:lnTo>
                  <a:pt x="351414" y="204170"/>
                </a:lnTo>
                <a:lnTo>
                  <a:pt x="267118" y="315613"/>
                </a:lnTo>
                <a:cubicBezTo>
                  <a:pt x="266355" y="316660"/>
                  <a:pt x="265498" y="317518"/>
                  <a:pt x="264641" y="318470"/>
                </a:cubicBezTo>
                <a:cubicBezTo>
                  <a:pt x="253592" y="329710"/>
                  <a:pt x="235495" y="329805"/>
                  <a:pt x="224255" y="318756"/>
                </a:cubicBezTo>
                <a:lnTo>
                  <a:pt x="224255" y="318756"/>
                </a:lnTo>
                <a:lnTo>
                  <a:pt x="162152" y="257415"/>
                </a:lnTo>
                <a:cubicBezTo>
                  <a:pt x="161485" y="256844"/>
                  <a:pt x="160914" y="256177"/>
                  <a:pt x="160247" y="255701"/>
                </a:cubicBezTo>
                <a:cubicBezTo>
                  <a:pt x="148055" y="245699"/>
                  <a:pt x="130053" y="247414"/>
                  <a:pt x="120052" y="259606"/>
                </a:cubicBezTo>
                <a:lnTo>
                  <a:pt x="120052" y="259606"/>
                </a:lnTo>
                <a:lnTo>
                  <a:pt x="32517" y="366095"/>
                </a:lnTo>
                <a:cubicBezTo>
                  <a:pt x="31088" y="367810"/>
                  <a:pt x="30326" y="369905"/>
                  <a:pt x="30326" y="372096"/>
                </a:cubicBezTo>
                <a:cubicBezTo>
                  <a:pt x="30326" y="377335"/>
                  <a:pt x="34612" y="381621"/>
                  <a:pt x="39851" y="381621"/>
                </a:cubicBezTo>
                <a:lnTo>
                  <a:pt x="39851" y="381621"/>
                </a:lnTo>
                <a:lnTo>
                  <a:pt x="497242" y="381621"/>
                </a:lnTo>
                <a:cubicBezTo>
                  <a:pt x="499146" y="381621"/>
                  <a:pt x="500956" y="381050"/>
                  <a:pt x="502480" y="380002"/>
                </a:cubicBezTo>
                <a:cubicBezTo>
                  <a:pt x="506862" y="377049"/>
                  <a:pt x="508005" y="371144"/>
                  <a:pt x="505147" y="366762"/>
                </a:cubicBezTo>
                <a:lnTo>
                  <a:pt x="505147" y="366762"/>
                </a:lnTo>
                <a:lnTo>
                  <a:pt x="397991" y="205504"/>
                </a:lnTo>
                <a:cubicBezTo>
                  <a:pt x="396181" y="202932"/>
                  <a:pt x="393990" y="200551"/>
                  <a:pt x="391419" y="198646"/>
                </a:cubicBezTo>
                <a:close/>
                <a:moveTo>
                  <a:pt x="95858" y="57771"/>
                </a:moveTo>
                <a:cubicBezTo>
                  <a:pt x="74808" y="57771"/>
                  <a:pt x="57758" y="74821"/>
                  <a:pt x="57758" y="95871"/>
                </a:cubicBezTo>
                <a:cubicBezTo>
                  <a:pt x="57758" y="116921"/>
                  <a:pt x="74808" y="133971"/>
                  <a:pt x="95858" y="133971"/>
                </a:cubicBezTo>
                <a:cubicBezTo>
                  <a:pt x="116908" y="133971"/>
                  <a:pt x="133958" y="116921"/>
                  <a:pt x="133958" y="95871"/>
                </a:cubicBezTo>
                <a:cubicBezTo>
                  <a:pt x="133958" y="74821"/>
                  <a:pt x="116908" y="57771"/>
                  <a:pt x="95858" y="57771"/>
                </a:cubicBezTo>
                <a:close/>
              </a:path>
            </a:pathLst>
          </a:custGeom>
          <a:solidFill>
            <a:srgbClr val="FFFFFF"/>
          </a:solidFill>
          <a:ln>
            <a:noFill/>
          </a:ln>
        </p:spPr>
        <p:txBody>
          <a:bodyPr vert="horz" anchor="t" tIns="45720" lIns="91440" bIns="45720" rIns="91440">
            <a:normAutofit/>
          </a:bodyPr>
          <a:p>
            <a:pPr algn="l" marL="0"/>
          </a:p>
        </p:txBody>
      </p:sp>
      <p:sp>
        <p:nvSpPr>
          <p:cNvPr name="TextBox 8" id="8"/>
          <p:cNvSpPr txBox="true"/>
          <p:nvPr/>
        </p:nvSpPr>
        <p:spPr>
          <a:xfrm>
            <a:off x="1294967" y="3986107"/>
            <a:ext cx="2658868" cy="338554"/>
          </a:xfrm>
          <a:prstGeom prst="rect">
            <a:avLst/>
          </a:prstGeom>
          <a:noFill/>
        </p:spPr>
        <p:txBody>
          <a:bodyPr anchor="b" rtlCol="false" vert="horz" wrap="square" tIns="45720" lIns="91440" bIns="45720" rIns="91440">
            <a:spAutoFit/>
          </a:bodyPr>
          <a:lstStyle/>
          <a:p>
            <a:pPr algn="l" marL="0">
              <a:defRPr/>
            </a:pPr>
            <a:r>
              <a:rPr lang="zh-CN" b="true" i="false" sz="1600" baseline="0" u="none" altLang="en-US">
                <a:solidFill>
                  <a:schemeClr val="tx1"/>
                </a:solidFill>
                <a:latin typeface="微软雅黑"/>
                <a:ea typeface="微软雅黑"/>
              </a:rPr>
              <a:t>希尔排序</a:t>
            </a:r>
            <a:endParaRPr lang="en-US" sz="1100"/>
          </a:p>
        </p:txBody>
      </p:sp>
      <p:sp>
        <p:nvSpPr>
          <p:cNvPr name="AutoShape 9" id="9"/>
          <p:cNvSpPr/>
          <p:nvPr/>
        </p:nvSpPr>
        <p:spPr>
          <a:xfrm>
            <a:off x="4379786" y="1279551"/>
            <a:ext cx="2658868" cy="2127690"/>
          </a:xfrm>
          <a:prstGeom prst="roundRect">
            <a:avLst>
              <a:gd name="adj" fmla="val 4070"/>
            </a:avLst>
          </a:prstGeom>
          <a:blipFill>
            <a:blip r:embed="rId3"/>
            <a:stretch>
              <a:fillRect t="0" l="-21495" b="0" r="-21291"/>
            </a:stretch>
          </a:blipFill>
          <a:ln>
            <a:noFill/>
          </a:ln>
          <a:effectLst/>
        </p:spPr>
        <p:txBody>
          <a:bodyPr vert="horz" rot="0" anchor="t" wrap="square" tIns="45720" lIns="91440" bIns="45720" rIns="91440">
            <a:prstTxWarp prst="textNoShape">
              <a:avLst/>
            </a:prstTxWarp>
            <a:noAutofit/>
          </a:bodyPr>
          <a:p>
            <a:pPr algn="ctr" marL="0"/>
          </a:p>
        </p:txBody>
      </p:sp>
      <p:sp>
        <p:nvSpPr>
          <p:cNvPr name="AutoShape 10" id="10"/>
          <p:cNvSpPr/>
          <p:nvPr/>
        </p:nvSpPr>
        <p:spPr>
          <a:xfrm>
            <a:off x="4861546" y="3300580"/>
            <a:ext cx="2937967" cy="2833519"/>
          </a:xfrm>
          <a:prstGeom prst="roundRect">
            <a:avLst>
              <a:gd name="adj" fmla="val 4070"/>
            </a:avLst>
          </a:prstGeom>
          <a:solidFill>
            <a:schemeClr val="accent2">
              <a:alpha val="15000"/>
            </a:schemeClr>
          </a:solidFill>
          <a:ln cap="rnd">
            <a:noFill/>
            <a:prstDash val="solid"/>
          </a:ln>
          <a:effectLst/>
        </p:spPr>
        <p:txBody>
          <a:bodyPr vert="horz" rot="0" anchor="ctr" wrap="square" tIns="45720" lIns="91440" bIns="45720" rIns="91440">
            <a:prstTxWarp prst="textNoShape">
              <a:avLst/>
            </a:prstTxWarp>
            <a:normAutofit/>
          </a:bodyPr>
          <a:p>
            <a:pPr algn="ctr" marL="0"/>
          </a:p>
        </p:txBody>
      </p:sp>
      <p:sp>
        <p:nvSpPr>
          <p:cNvPr name="TextBox 11" id="11"/>
          <p:cNvSpPr txBox="true"/>
          <p:nvPr/>
        </p:nvSpPr>
        <p:spPr>
          <a:xfrm>
            <a:off x="5014354" y="3986107"/>
            <a:ext cx="2658868" cy="338554"/>
          </a:xfrm>
          <a:prstGeom prst="rect">
            <a:avLst/>
          </a:prstGeom>
          <a:noFill/>
        </p:spPr>
        <p:txBody>
          <a:bodyPr anchor="b" rtlCol="false" vert="horz" wrap="square" tIns="45720" lIns="91440" bIns="45720" rIns="91440">
            <a:spAutoFit/>
          </a:bodyPr>
          <a:lstStyle/>
          <a:p>
            <a:pPr algn="l" marL="0">
              <a:defRPr/>
            </a:pPr>
            <a:r>
              <a:rPr lang="zh-CN" b="true" i="false" sz="1600" baseline="0" u="none" altLang="en-US">
                <a:solidFill>
                  <a:schemeClr val="tx1"/>
                </a:solidFill>
                <a:latin typeface="微软雅黑"/>
                <a:ea typeface="微软雅黑"/>
              </a:rPr>
              <a:t>快速排序</a:t>
            </a:r>
            <a:endParaRPr lang="en-US" sz="1100"/>
          </a:p>
        </p:txBody>
      </p:sp>
      <p:sp>
        <p:nvSpPr>
          <p:cNvPr name="AutoShape 12" id="12"/>
          <p:cNvSpPr/>
          <p:nvPr/>
        </p:nvSpPr>
        <p:spPr>
          <a:xfrm>
            <a:off x="5014354" y="4534195"/>
            <a:ext cx="444222" cy="444220"/>
          </a:xfrm>
          <a:prstGeom prst="ellipse">
            <a:avLst/>
          </a:prstGeom>
          <a:gradFill>
            <a:gsLst>
              <a:gs pos="0">
                <a:srgbClr val="C490BF">
                  <a:lumMod val="60000"/>
                  <a:lumOff val="40000"/>
                </a:srgbClr>
              </a:gs>
              <a:gs pos="50000">
                <a:srgbClr val="C490BF"/>
              </a:gs>
            </a:gsLst>
            <a:lin ang="2700000"/>
          </a:gradFill>
          <a:ln cap="flat">
            <a:noFill/>
            <a:prstDash val="solid"/>
            <a:miter lim="800000"/>
          </a:ln>
        </p:spPr>
        <p:txBody>
          <a:bodyPr vert="horz" anchor="ctr" tIns="108000" lIns="108000" bIns="108000" rIns="108000">
            <a:normAutofit/>
          </a:bodyPr>
          <a:p>
            <a:pPr algn="l" marL="0"/>
          </a:p>
        </p:txBody>
      </p:sp>
      <p:sp>
        <p:nvSpPr>
          <p:cNvPr name="Freeform 13" id="13"/>
          <p:cNvSpPr/>
          <p:nvPr/>
        </p:nvSpPr>
        <p:spPr>
          <a:xfrm>
            <a:off x="5133684" y="4686222"/>
            <a:ext cx="205561" cy="163687"/>
          </a:xfrm>
          <a:custGeom>
            <a:avLst/>
            <a:gdLst/>
            <a:ahLst/>
            <a:cxnLst/>
            <a:rect r="r" b="b" t="t" l="l"/>
            <a:pathLst>
              <a:path w="514350" h="409575" stroke="true" fill="norm" extrusionOk="true">
                <a:moveTo>
                  <a:pt x="486767" y="621"/>
                </a:moveTo>
                <a:cubicBezTo>
                  <a:pt x="502579" y="621"/>
                  <a:pt x="515342" y="13385"/>
                  <a:pt x="515342" y="29196"/>
                </a:cubicBezTo>
                <a:lnTo>
                  <a:pt x="515342" y="324471"/>
                </a:lnTo>
                <a:cubicBezTo>
                  <a:pt x="515342" y="340282"/>
                  <a:pt x="502579" y="353046"/>
                  <a:pt x="486767" y="353046"/>
                </a:cubicBezTo>
                <a:lnTo>
                  <a:pt x="192159" y="353046"/>
                </a:lnTo>
                <a:lnTo>
                  <a:pt x="115387" y="410196"/>
                </a:lnTo>
                <a:lnTo>
                  <a:pt x="115387" y="353046"/>
                </a:lnTo>
                <a:lnTo>
                  <a:pt x="29567" y="353046"/>
                </a:lnTo>
                <a:cubicBezTo>
                  <a:pt x="13755" y="353046"/>
                  <a:pt x="992" y="340282"/>
                  <a:pt x="992" y="324471"/>
                </a:cubicBezTo>
                <a:lnTo>
                  <a:pt x="992" y="29196"/>
                </a:lnTo>
                <a:cubicBezTo>
                  <a:pt x="992" y="13385"/>
                  <a:pt x="13755" y="621"/>
                  <a:pt x="29567" y="621"/>
                </a:cubicBezTo>
                <a:lnTo>
                  <a:pt x="486767" y="621"/>
                </a:lnTo>
                <a:close/>
                <a:moveTo>
                  <a:pt x="124817" y="143496"/>
                </a:moveTo>
                <a:cubicBezTo>
                  <a:pt x="106434" y="143496"/>
                  <a:pt x="91480" y="158450"/>
                  <a:pt x="91480" y="176834"/>
                </a:cubicBezTo>
                <a:cubicBezTo>
                  <a:pt x="91480" y="195217"/>
                  <a:pt x="106434" y="210171"/>
                  <a:pt x="124817" y="210171"/>
                </a:cubicBezTo>
                <a:cubicBezTo>
                  <a:pt x="143200" y="210171"/>
                  <a:pt x="158155" y="195217"/>
                  <a:pt x="158155" y="176834"/>
                </a:cubicBezTo>
                <a:cubicBezTo>
                  <a:pt x="158155" y="158450"/>
                  <a:pt x="143200" y="143496"/>
                  <a:pt x="124817" y="143496"/>
                </a:cubicBezTo>
                <a:close/>
                <a:moveTo>
                  <a:pt x="258167" y="143496"/>
                </a:moveTo>
                <a:cubicBezTo>
                  <a:pt x="239784" y="143496"/>
                  <a:pt x="224830" y="158450"/>
                  <a:pt x="224830" y="176834"/>
                </a:cubicBezTo>
                <a:cubicBezTo>
                  <a:pt x="224830" y="195217"/>
                  <a:pt x="239784" y="210171"/>
                  <a:pt x="258167" y="210171"/>
                </a:cubicBezTo>
                <a:cubicBezTo>
                  <a:pt x="276550" y="210171"/>
                  <a:pt x="291505" y="195217"/>
                  <a:pt x="291505" y="176834"/>
                </a:cubicBezTo>
                <a:cubicBezTo>
                  <a:pt x="291505" y="158450"/>
                  <a:pt x="276550" y="143496"/>
                  <a:pt x="258167" y="143496"/>
                </a:cubicBezTo>
                <a:close/>
                <a:moveTo>
                  <a:pt x="391517" y="143496"/>
                </a:moveTo>
                <a:cubicBezTo>
                  <a:pt x="373134" y="143496"/>
                  <a:pt x="358180" y="158450"/>
                  <a:pt x="358180" y="176834"/>
                </a:cubicBezTo>
                <a:cubicBezTo>
                  <a:pt x="358180" y="195217"/>
                  <a:pt x="373134" y="210171"/>
                  <a:pt x="391517" y="210171"/>
                </a:cubicBezTo>
                <a:cubicBezTo>
                  <a:pt x="409900" y="210171"/>
                  <a:pt x="424855" y="195217"/>
                  <a:pt x="424855" y="176834"/>
                </a:cubicBezTo>
                <a:cubicBezTo>
                  <a:pt x="424855" y="158450"/>
                  <a:pt x="409900" y="143496"/>
                  <a:pt x="391517" y="143496"/>
                </a:cubicBezTo>
                <a:close/>
              </a:path>
            </a:pathLst>
          </a:custGeom>
          <a:solidFill>
            <a:srgbClr val="FFFFFF"/>
          </a:solidFill>
          <a:ln>
            <a:noFill/>
          </a:ln>
        </p:spPr>
        <p:txBody>
          <a:bodyPr vert="horz" anchor="t" tIns="45720" lIns="91440" bIns="45720" rIns="91440">
            <a:normAutofit/>
          </a:bodyPr>
          <a:p>
            <a:pPr algn="l" marL="0"/>
          </a:p>
        </p:txBody>
      </p:sp>
      <p:sp>
        <p:nvSpPr>
          <p:cNvPr name="TextBox 14" id="14"/>
          <p:cNvSpPr txBox="true"/>
          <p:nvPr/>
        </p:nvSpPr>
        <p:spPr>
          <a:xfrm>
            <a:off x="5489805" y="4450227"/>
            <a:ext cx="2309708" cy="1828800"/>
          </a:xfrm>
          <a:prstGeom prst="rect">
            <a:avLst/>
          </a:prstGeom>
          <a:noFill/>
        </p:spPr>
        <p:txBody>
          <a:bodyPr anchor="t" rtlCol="false" vert="horz" wrap="square" tIns="45720" lIns="91440" bIns="45720" rIns="91440">
            <a:spAutoFit/>
          </a:bodyPr>
          <a:lstStyle/>
          <a:p>
            <a:pPr algn="l" marL="0">
              <a:lnSpc>
                <a:spcPct val="120000"/>
              </a:lnSpc>
              <a:defRPr/>
            </a:pPr>
            <a:r>
              <a:rPr lang="zh-CN" b="false" i="false" sz="1400" baseline="0" u="none" altLang="en-US">
                <a:solidFill>
                  <a:schemeClr val="tx1"/>
                </a:solidFill>
                <a:latin typeface="微软雅黑"/>
                <a:ea typeface="微软雅黑"/>
              </a:rPr>
              <a:t>选取基准元素，将数组分成两部分，左边小于基准，右边大于基准，然后递归排序。平均时间复杂度O(nlogn)，最坏O(n^2)，但通过随机选基准可避免最坏情况。快速排序是不稳定排序，但实际应用最广。</a:t>
            </a:r>
            <a:endParaRPr lang="en-US" sz="1100"/>
          </a:p>
        </p:txBody>
      </p:sp>
      <p:sp>
        <p:nvSpPr>
          <p:cNvPr name="AutoShape 15" id="15"/>
          <p:cNvSpPr/>
          <p:nvPr/>
        </p:nvSpPr>
        <p:spPr>
          <a:xfrm>
            <a:off x="8099174" y="1279551"/>
            <a:ext cx="2658868" cy="2127690"/>
          </a:xfrm>
          <a:prstGeom prst="roundRect">
            <a:avLst>
              <a:gd name="adj" fmla="val 4070"/>
            </a:avLst>
          </a:prstGeom>
          <a:blipFill>
            <a:blip r:embed="rId4"/>
            <a:stretch>
              <a:fillRect t="0" l="-10065" b="0" r="-9969"/>
            </a:stretch>
          </a:blipFill>
          <a:ln>
            <a:noFill/>
          </a:ln>
          <a:effectLst/>
        </p:spPr>
        <p:txBody>
          <a:bodyPr vert="horz" rot="0" anchor="t" wrap="square" tIns="45720" lIns="91440" bIns="45720" rIns="91440">
            <a:prstTxWarp prst="textNoShape">
              <a:avLst/>
            </a:prstTxWarp>
            <a:noAutofit/>
          </a:bodyPr>
          <a:p>
            <a:pPr algn="ctr" marL="0"/>
          </a:p>
        </p:txBody>
      </p:sp>
      <p:sp>
        <p:nvSpPr>
          <p:cNvPr name="AutoShape 16" id="16"/>
          <p:cNvSpPr/>
          <p:nvPr/>
        </p:nvSpPr>
        <p:spPr>
          <a:xfrm>
            <a:off x="8580933" y="3300580"/>
            <a:ext cx="2937967" cy="2833519"/>
          </a:xfrm>
          <a:prstGeom prst="roundRect">
            <a:avLst>
              <a:gd name="adj" fmla="val 4070"/>
            </a:avLst>
          </a:prstGeom>
          <a:solidFill>
            <a:schemeClr val="accent1">
              <a:alpha val="15000"/>
            </a:schemeClr>
          </a:solidFill>
          <a:ln cap="rnd">
            <a:noFill/>
            <a:prstDash val="solid"/>
          </a:ln>
          <a:effectLst/>
        </p:spPr>
        <p:txBody>
          <a:bodyPr vert="horz" rot="0" anchor="ctr" wrap="square" tIns="45720" lIns="91440" bIns="45720" rIns="91440">
            <a:prstTxWarp prst="textNoShape">
              <a:avLst/>
            </a:prstTxWarp>
            <a:normAutofit/>
          </a:bodyPr>
          <a:p>
            <a:pPr algn="ctr" marL="0"/>
          </a:p>
        </p:txBody>
      </p:sp>
      <p:sp>
        <p:nvSpPr>
          <p:cNvPr name="TextBox 17" id="17"/>
          <p:cNvSpPr txBox="true"/>
          <p:nvPr/>
        </p:nvSpPr>
        <p:spPr>
          <a:xfrm>
            <a:off x="9209192" y="4450227"/>
            <a:ext cx="2309708" cy="1362681"/>
          </a:xfrm>
          <a:prstGeom prst="rect">
            <a:avLst/>
          </a:prstGeom>
          <a:noFill/>
        </p:spPr>
        <p:txBody>
          <a:bodyPr anchor="t" rtlCol="false" vert="horz" wrap="square" tIns="45720" lIns="91440" bIns="45720" rIns="91440">
            <a:spAutoFit/>
          </a:bodyPr>
          <a:lstStyle/>
          <a:p>
            <a:pPr algn="l" marL="0">
              <a:lnSpc>
                <a:spcPct val="120000"/>
              </a:lnSpc>
              <a:defRPr/>
            </a:pPr>
            <a:r>
              <a:rPr lang="zh-CN" b="false" i="false" sz="1400" baseline="0" u="none" altLang="en-US">
                <a:solidFill>
                  <a:schemeClr val="tx1"/>
                </a:solidFill>
                <a:latin typeface="微软雅黑"/>
                <a:ea typeface="微软雅黑"/>
              </a:rPr>
              <a:t>将数组二分为子序列，递归排序后合并两个有序子序列。时间复杂度始终O(nlogn)，需要额外O(n)空间，稳定排序。常用于外部排序。</a:t>
            </a:r>
            <a:endParaRPr lang="en-US" sz="1100"/>
          </a:p>
        </p:txBody>
      </p:sp>
      <p:sp>
        <p:nvSpPr>
          <p:cNvPr name="TextBox 18" id="18"/>
          <p:cNvSpPr txBox="true"/>
          <p:nvPr/>
        </p:nvSpPr>
        <p:spPr>
          <a:xfrm>
            <a:off x="8733741" y="3986107"/>
            <a:ext cx="2658868" cy="338554"/>
          </a:xfrm>
          <a:prstGeom prst="rect">
            <a:avLst/>
          </a:prstGeom>
          <a:noFill/>
        </p:spPr>
        <p:txBody>
          <a:bodyPr anchor="b" rtlCol="false" vert="horz" wrap="square" tIns="45720" lIns="91440" bIns="45720" rIns="91440">
            <a:spAutoFit/>
          </a:bodyPr>
          <a:lstStyle/>
          <a:p>
            <a:pPr algn="l" marL="0">
              <a:defRPr/>
            </a:pPr>
            <a:r>
              <a:rPr lang="zh-CN" b="true" i="false" sz="1600" baseline="0" u="none" altLang="en-US">
                <a:solidFill>
                  <a:schemeClr val="tx1"/>
                </a:solidFill>
                <a:latin typeface="微软雅黑"/>
                <a:ea typeface="微软雅黑"/>
              </a:rPr>
              <a:t>归并排序</a:t>
            </a:r>
            <a:endParaRPr lang="en-US" sz="1100"/>
          </a:p>
        </p:txBody>
      </p:sp>
      <p:sp>
        <p:nvSpPr>
          <p:cNvPr name="AutoShape 19" id="19"/>
          <p:cNvSpPr/>
          <p:nvPr/>
        </p:nvSpPr>
        <p:spPr>
          <a:xfrm>
            <a:off x="8733741" y="4534195"/>
            <a:ext cx="444222" cy="444220"/>
          </a:xfrm>
          <a:prstGeom prst="ellipse">
            <a:avLst/>
          </a:prstGeom>
          <a:gradFill>
            <a:gsLst>
              <a:gs pos="0">
                <a:srgbClr val="7ECEF4">
                  <a:lumMod val="60000"/>
                  <a:lumOff val="40000"/>
                </a:srgbClr>
              </a:gs>
              <a:gs pos="50000">
                <a:srgbClr val="7ECEF4"/>
              </a:gs>
            </a:gsLst>
            <a:lin ang="2700000"/>
          </a:gradFill>
          <a:ln cap="flat">
            <a:noFill/>
            <a:prstDash val="solid"/>
            <a:miter lim="800000"/>
          </a:ln>
        </p:spPr>
        <p:txBody>
          <a:bodyPr vert="horz" anchor="ctr" tIns="108000" lIns="108000" bIns="108000" rIns="108000">
            <a:normAutofit/>
          </a:bodyPr>
          <a:p>
            <a:pPr algn="l" marL="0"/>
          </a:p>
        </p:txBody>
      </p:sp>
      <p:sp>
        <p:nvSpPr>
          <p:cNvPr name="Freeform 20" id="20"/>
          <p:cNvSpPr/>
          <p:nvPr/>
        </p:nvSpPr>
        <p:spPr>
          <a:xfrm>
            <a:off x="8871425" y="4653525"/>
            <a:ext cx="168853" cy="205561"/>
          </a:xfrm>
          <a:custGeom>
            <a:avLst/>
            <a:gdLst/>
            <a:ahLst/>
            <a:cxnLst/>
            <a:rect r="r" b="b" t="t" l="l"/>
            <a:pathLst>
              <a:path w="438150" h="533400" stroke="true" fill="norm" extrusionOk="true">
                <a:moveTo>
                  <a:pt x="283816" y="621"/>
                </a:moveTo>
                <a:cubicBezTo>
                  <a:pt x="284578" y="621"/>
                  <a:pt x="285340" y="621"/>
                  <a:pt x="286102" y="716"/>
                </a:cubicBezTo>
                <a:lnTo>
                  <a:pt x="286102" y="124446"/>
                </a:lnTo>
                <a:lnTo>
                  <a:pt x="286197" y="126160"/>
                </a:lnTo>
                <a:cubicBezTo>
                  <a:pt x="287055" y="141115"/>
                  <a:pt x="299532" y="153021"/>
                  <a:pt x="314677" y="153021"/>
                </a:cubicBezTo>
                <a:lnTo>
                  <a:pt x="314677" y="153021"/>
                </a:lnTo>
                <a:lnTo>
                  <a:pt x="438407" y="153021"/>
                </a:lnTo>
                <a:cubicBezTo>
                  <a:pt x="438502" y="153783"/>
                  <a:pt x="438502" y="154545"/>
                  <a:pt x="438502" y="155307"/>
                </a:cubicBezTo>
                <a:lnTo>
                  <a:pt x="438502" y="505446"/>
                </a:lnTo>
                <a:cubicBezTo>
                  <a:pt x="438502" y="521257"/>
                  <a:pt x="425739" y="534021"/>
                  <a:pt x="409927" y="534021"/>
                </a:cubicBezTo>
                <a:lnTo>
                  <a:pt x="28927" y="534021"/>
                </a:lnTo>
                <a:cubicBezTo>
                  <a:pt x="13115" y="534021"/>
                  <a:pt x="352" y="521257"/>
                  <a:pt x="352" y="505446"/>
                </a:cubicBezTo>
                <a:lnTo>
                  <a:pt x="352" y="29196"/>
                </a:lnTo>
                <a:cubicBezTo>
                  <a:pt x="352" y="13385"/>
                  <a:pt x="13115" y="621"/>
                  <a:pt x="28927" y="621"/>
                </a:cubicBezTo>
                <a:lnTo>
                  <a:pt x="283816" y="621"/>
                </a:lnTo>
                <a:close/>
                <a:moveTo>
                  <a:pt x="248002" y="200646"/>
                </a:moveTo>
                <a:lnTo>
                  <a:pt x="152752" y="200646"/>
                </a:lnTo>
                <a:lnTo>
                  <a:pt x="152752" y="410196"/>
                </a:lnTo>
                <a:lnTo>
                  <a:pt x="171802" y="410196"/>
                </a:lnTo>
                <a:lnTo>
                  <a:pt x="171802" y="314946"/>
                </a:lnTo>
                <a:lnTo>
                  <a:pt x="248002" y="314946"/>
                </a:lnTo>
                <a:lnTo>
                  <a:pt x="250098" y="314946"/>
                </a:lnTo>
                <a:cubicBezTo>
                  <a:pt x="280673" y="313803"/>
                  <a:pt x="305152" y="288657"/>
                  <a:pt x="305152" y="257796"/>
                </a:cubicBezTo>
                <a:cubicBezTo>
                  <a:pt x="305152" y="226268"/>
                  <a:pt x="279530" y="200646"/>
                  <a:pt x="248002" y="200646"/>
                </a:cubicBezTo>
                <a:lnTo>
                  <a:pt x="248002" y="200646"/>
                </a:lnTo>
                <a:close/>
                <a:moveTo>
                  <a:pt x="248002" y="219696"/>
                </a:moveTo>
                <a:cubicBezTo>
                  <a:pt x="269052" y="219696"/>
                  <a:pt x="286102" y="236746"/>
                  <a:pt x="286102" y="257796"/>
                </a:cubicBezTo>
                <a:cubicBezTo>
                  <a:pt x="286102" y="278846"/>
                  <a:pt x="269052" y="295896"/>
                  <a:pt x="248002" y="295896"/>
                </a:cubicBezTo>
                <a:lnTo>
                  <a:pt x="248002" y="295896"/>
                </a:lnTo>
                <a:lnTo>
                  <a:pt x="171802" y="295896"/>
                </a:lnTo>
                <a:lnTo>
                  <a:pt x="171802" y="219696"/>
                </a:lnTo>
                <a:lnTo>
                  <a:pt x="248002" y="219696"/>
                </a:lnTo>
                <a:close/>
                <a:moveTo>
                  <a:pt x="428977" y="133971"/>
                </a:moveTo>
                <a:lnTo>
                  <a:pt x="314677" y="133971"/>
                </a:lnTo>
                <a:lnTo>
                  <a:pt x="313534" y="133876"/>
                </a:lnTo>
                <a:cubicBezTo>
                  <a:pt x="308772" y="133304"/>
                  <a:pt x="305152" y="129304"/>
                  <a:pt x="305152" y="124446"/>
                </a:cubicBezTo>
                <a:lnTo>
                  <a:pt x="305152" y="124446"/>
                </a:lnTo>
                <a:lnTo>
                  <a:pt x="305152" y="10146"/>
                </a:lnTo>
                <a:lnTo>
                  <a:pt x="428977" y="133971"/>
                </a:lnTo>
                <a:close/>
              </a:path>
            </a:pathLst>
          </a:custGeom>
          <a:solidFill>
            <a:srgbClr val="FFFFFF"/>
          </a:solidFill>
          <a:ln>
            <a:noFill/>
          </a:ln>
        </p:spPr>
        <p:txBody>
          <a:bodyPr vert="horz" anchor="t" tIns="45720" lIns="91440" bIns="45720" rIns="91440">
            <a:normAutofit/>
          </a:bodyPr>
          <a:p>
            <a:pPr algn="l" marL="0"/>
          </a:p>
        </p:txBody>
      </p:sp>
      <p:sp>
        <p:nvSpPr>
          <p:cNvPr name="AutoShape 21" id="21"/>
          <p:cNvSpPr/>
          <p:nvPr/>
        </p:nvSpPr>
        <p:spPr>
          <a:xfrm>
            <a:off x="10795000" y="6540500"/>
            <a:ext cx="1270000" cy="190500"/>
          </a:xfrm>
          <a:prstGeom prst="rect">
            <a:avLst/>
          </a:prstGeom>
          <a:solidFill>
            <a:srgbClr val="000000">
              <a:alpha val="0"/>
            </a:srgbClr>
          </a:solidFill>
        </p:spPr>
        <p:txBody>
          <a:bodyPr anchor="t" rtlCol="false"/>
          <a:lstStyle/>
          <a:p>
            <a:pPr algn="r">
              <a:defRPr/>
            </a:pPr>
            <a:r>
              <a:rPr lang="en-US" b="false" i="false" sz="800" baseline="0" u="none">
                <a:solidFill>
                  <a:srgbClr val="808080"/>
                </a:solidFill>
                <a:latin typeface="Microsoft YaHei"/>
                <a:ea typeface="Microsoft YaHei"/>
              </a:rPr>
              <a:t>内容由AI生成</a:t>
            </a:r>
            <a:endParaRPr lang="en-US" sz="1100"/>
          </a:p>
        </p:txBody>
      </p:sp>
    </p:spTree>
  </p:cSld>
  <p:clrMapOvr>
    <a:masterClrMapping/>
  </p:clrMapOvr>
  <p:transition spd="fast"/>
</p:sld>
</file>

<file path=ppt/slides/slide33.xml><?xml version="1.0" encoding="utf-8"?>
<p:sld xmlns:p="http://schemas.openxmlformats.org/presentationml/2006/main" xmlns:a="http://schemas.openxmlformats.org/drawingml/2006/main" xmlns:r="http://schemas.openxmlformats.org/officeDocument/2006/relationships">
  <p:cSld>
    <p:bg>
      <p:bgPr>
        <a:solidFill>
          <a:schemeClr val="bg1"/>
        </a:solidFill>
      </p:bgPr>
    </p:bg>
    <p:spTree>
      <p:nvGrpSpPr>
        <p:cNvPr id="1" name=""/>
        <p:cNvGrpSpPr/>
        <p:nvPr/>
      </p:nvGrpSpPr>
      <p:grpSpPr>
        <a:xfrm>
          <a:off x="0" y="0"/>
          <a:ext cx="0" cy="0"/>
          <a:chOff x="0" y="0"/>
          <a:chExt cx="0" cy="0"/>
        </a:xfrm>
      </p:grpSpPr>
      <p:sp>
        <p:nvSpPr>
          <p:cNvPr name="AutoShape 2" id="2"/>
          <p:cNvSpPr/>
          <p:nvPr>
            <p:ph type="title"/>
          </p:nvPr>
        </p:nvSpPr>
        <p:spPr>
          <a:xfrm>
            <a:off x="6343378" y="1136894"/>
            <a:ext cx="5164367" cy="954107"/>
          </a:xfrm>
        </p:spPr>
        <p:txBody>
          <a:bodyPr vert="horz" anchor="b" tIns="45720" lIns="91440" bIns="45720" rIns="91440">
            <a:normAutofit/>
          </a:bodyPr>
          <a:p>
            <a:pPr algn="l">
              <a:lnSpc>
                <a:spcPct val="90000"/>
              </a:lnSpc>
              <a:spcBef>
                <a:spcPct val="0"/>
              </a:spcBef>
            </a:pPr>
            <a:r>
              <a:rPr lang="zh-CN" b="true" i="false" sz="2800" baseline="0" u="none" altLang="en-US">
                <a:solidFill>
                  <a:schemeClr val="tx1"/>
                </a:solidFill>
                <a:latin typeface="微软雅黑"/>
                <a:ea typeface="微软雅黑"/>
              </a:rPr>
              <a:t>堆排序与外部排序</a:t>
            </a:r>
          </a:p>
        </p:txBody>
      </p:sp>
      <p:sp>
        <p:nvSpPr>
          <p:cNvPr name="Freeform 3" id="3"/>
          <p:cNvSpPr/>
          <p:nvPr/>
        </p:nvSpPr>
        <p:spPr>
          <a:xfrm>
            <a:off x="-9367" y="3248025"/>
            <a:ext cx="4068000" cy="2898775"/>
          </a:xfrm>
          <a:custGeom>
            <a:avLst/>
            <a:gdLst/>
            <a:ahLst/>
            <a:cxnLst/>
            <a:rect r="r" b="b" t="t" l="l"/>
            <a:pathLst>
              <a:path w="1329" h="1826" stroke="true" fill="norm" extrusionOk="true">
                <a:moveTo>
                  <a:pt x="1329" y="0"/>
                </a:moveTo>
                <a:lnTo>
                  <a:pt x="0" y="774"/>
                </a:lnTo>
                <a:lnTo>
                  <a:pt x="0" y="1826"/>
                </a:lnTo>
                <a:lnTo>
                  <a:pt x="1329" y="1052"/>
                </a:lnTo>
                <a:lnTo>
                  <a:pt x="1329" y="0"/>
                </a:lnTo>
                <a:close/>
              </a:path>
            </a:pathLst>
          </a:custGeom>
          <a:blipFill>
            <a:blip r:embed="rId2"/>
            <a:stretch>
              <a:fillRect t="0" l="-10218" b="0" r="-10218"/>
            </a:stretch>
          </a:blipFill>
          <a:ln w="38100">
            <a:solidFill>
              <a:schemeClr val="bg1"/>
            </a:solidFill>
          </a:ln>
          <a:effectLst/>
        </p:spPr>
        <p:txBody>
          <a:bodyPr vert="horz" anchor="ctr" tIns="45720" lIns="91440" bIns="45720" rIns="91440">
            <a:normAutofit/>
          </a:bodyPr>
          <a:p>
            <a:pPr algn="ctr" marL="0"/>
          </a:p>
        </p:txBody>
      </p:sp>
      <p:sp>
        <p:nvSpPr>
          <p:cNvPr name="AutoShape 4" id="4"/>
          <p:cNvSpPr/>
          <p:nvPr/>
        </p:nvSpPr>
        <p:spPr>
          <a:xfrm>
            <a:off x="673274" y="1326652"/>
            <a:ext cx="2702721" cy="362792"/>
          </a:xfrm>
          <a:prstGeom prst="rect">
            <a:avLst/>
          </a:prstGeom>
          <a:noFill/>
          <a:ln>
            <a:noFill/>
          </a:ln>
        </p:spPr>
        <p:txBody>
          <a:bodyPr vert="horz" anchor="t" wrap="square" tIns="45720" lIns="91440" bIns="45720" rIns="91440">
            <a:spAutoFit/>
          </a:bodyPr>
          <a:p>
            <a:pPr algn="ctr" marL="0">
              <a:lnSpc>
                <a:spcPct val="120000"/>
              </a:lnSpc>
            </a:pPr>
            <a:r>
              <a:rPr lang="zh-CN" b="true" i="false" sz="1600" baseline="0" u="none" altLang="en-US">
                <a:solidFill>
                  <a:schemeClr val="tx1"/>
                </a:solidFill>
                <a:latin typeface="微软雅黑"/>
                <a:ea typeface="微软雅黑"/>
              </a:rPr>
              <a:t>堆排序原理</a:t>
            </a:r>
          </a:p>
        </p:txBody>
      </p:sp>
      <p:sp>
        <p:nvSpPr>
          <p:cNvPr name="TextBox 5" id="5"/>
          <p:cNvSpPr txBox="true"/>
          <p:nvPr/>
        </p:nvSpPr>
        <p:spPr>
          <a:xfrm>
            <a:off x="673272" y="1927657"/>
            <a:ext cx="2702723" cy="1539240"/>
          </a:xfrm>
          <a:prstGeom prst="rect">
            <a:avLst/>
          </a:prstGeom>
          <a:noFill/>
          <a:ln>
            <a:noFill/>
          </a:ln>
        </p:spPr>
        <p:txBody>
          <a:bodyPr anchor="t" rtlCol="false" vert="horz" wrap="square" tIns="45720" lIns="91440" bIns="45720" rIns="91440">
            <a:spAutoFit/>
          </a:bodyPr>
          <a:lstStyle/>
          <a:p>
            <a:pPr algn="ctr" marL="0">
              <a:lnSpc>
                <a:spcPct val="150000"/>
              </a:lnSpc>
              <a:spcBef>
                <a:spcPct val="0"/>
              </a:spcBef>
              <a:defRPr/>
            </a:pPr>
            <a:r>
              <a:rPr lang="zh-CN" b="false" i="false" sz="1400" baseline="0" u="none" altLang="en-US">
                <a:solidFill>
                  <a:schemeClr val="tx1"/>
                </a:solidFill>
                <a:latin typeface="微软雅黑"/>
                <a:ea typeface="微软雅黑"/>
              </a:rPr>
              <a:t>利用堆（大根堆）每次取出堆顶最大值，与末尾交换后调整堆。建堆O(n)，每次取最大值调整O(logn)，总时间复杂度O(nlogn)，不稳定。就地的原地排序算法。</a:t>
            </a:r>
            <a:endParaRPr lang="en-US" sz="1100"/>
          </a:p>
        </p:txBody>
      </p:sp>
      <p:sp>
        <p:nvSpPr>
          <p:cNvPr name="Freeform 6" id="6"/>
          <p:cNvSpPr/>
          <p:nvPr/>
        </p:nvSpPr>
        <p:spPr>
          <a:xfrm>
            <a:off x="4057317" y="3249612"/>
            <a:ext cx="4068000" cy="2897188"/>
          </a:xfrm>
          <a:custGeom>
            <a:avLst/>
            <a:gdLst/>
            <a:ahLst/>
            <a:cxnLst/>
            <a:rect r="r" b="b" t="t" l="l"/>
            <a:pathLst>
              <a:path w="1329" h="1825" stroke="true" fill="norm" extrusionOk="true">
                <a:moveTo>
                  <a:pt x="0" y="0"/>
                </a:moveTo>
                <a:lnTo>
                  <a:pt x="0" y="1051"/>
                </a:lnTo>
                <a:lnTo>
                  <a:pt x="1329" y="1825"/>
                </a:lnTo>
                <a:lnTo>
                  <a:pt x="1329" y="774"/>
                </a:lnTo>
                <a:lnTo>
                  <a:pt x="0" y="0"/>
                </a:lnTo>
                <a:close/>
              </a:path>
            </a:pathLst>
          </a:custGeom>
          <a:blipFill>
            <a:blip r:embed="rId3"/>
            <a:stretch>
              <a:fillRect t="0" l="-3540" b="0" r="-3540"/>
            </a:stretch>
          </a:blipFill>
          <a:ln w="38100">
            <a:solidFill>
              <a:schemeClr val="bg1"/>
            </a:solidFill>
          </a:ln>
          <a:effectLst/>
        </p:spPr>
        <p:txBody>
          <a:bodyPr vert="horz" anchor="ctr" tIns="45720" lIns="91440" bIns="45720" rIns="91440">
            <a:normAutofit/>
          </a:bodyPr>
          <a:p>
            <a:pPr algn="ctr" marL="0"/>
          </a:p>
        </p:txBody>
      </p:sp>
      <p:sp>
        <p:nvSpPr>
          <p:cNvPr name="AutoShape 7" id="7"/>
          <p:cNvSpPr/>
          <p:nvPr/>
        </p:nvSpPr>
        <p:spPr>
          <a:xfrm>
            <a:off x="4739960" y="1326652"/>
            <a:ext cx="2702721" cy="362792"/>
          </a:xfrm>
          <a:prstGeom prst="rect">
            <a:avLst/>
          </a:prstGeom>
          <a:noFill/>
          <a:ln>
            <a:noFill/>
          </a:ln>
        </p:spPr>
        <p:txBody>
          <a:bodyPr vert="horz" anchor="t" wrap="square" tIns="45720" lIns="91440" bIns="45720" rIns="91440">
            <a:spAutoFit/>
          </a:bodyPr>
          <a:p>
            <a:pPr algn="ctr" marL="0">
              <a:lnSpc>
                <a:spcPct val="120000"/>
              </a:lnSpc>
            </a:pPr>
            <a:r>
              <a:rPr lang="zh-CN" b="true" i="false" sz="1600" baseline="0" u="none" altLang="en-US">
                <a:solidFill>
                  <a:schemeClr val="tx1"/>
                </a:solidFill>
                <a:latin typeface="微软雅黑"/>
                <a:ea typeface="微软雅黑"/>
              </a:rPr>
              <a:t>外部排序概念</a:t>
            </a:r>
          </a:p>
        </p:txBody>
      </p:sp>
      <p:sp>
        <p:nvSpPr>
          <p:cNvPr name="TextBox 8" id="8"/>
          <p:cNvSpPr txBox="true"/>
          <p:nvPr/>
        </p:nvSpPr>
        <p:spPr>
          <a:xfrm>
            <a:off x="4739958" y="1927657"/>
            <a:ext cx="2702723" cy="1539240"/>
          </a:xfrm>
          <a:prstGeom prst="rect">
            <a:avLst/>
          </a:prstGeom>
          <a:noFill/>
          <a:ln>
            <a:noFill/>
          </a:ln>
        </p:spPr>
        <p:txBody>
          <a:bodyPr anchor="t" rtlCol="false" vert="horz" wrap="square" tIns="45720" lIns="91440" bIns="45720" rIns="91440">
            <a:spAutoFit/>
          </a:bodyPr>
          <a:lstStyle/>
          <a:p>
            <a:pPr algn="ctr" marL="0">
              <a:lnSpc>
                <a:spcPct val="150000"/>
              </a:lnSpc>
              <a:spcBef>
                <a:spcPct val="0"/>
              </a:spcBef>
              <a:defRPr/>
            </a:pPr>
            <a:r>
              <a:rPr lang="zh-CN" b="false" i="false" sz="1400" baseline="0" u="none" altLang="en-US">
                <a:solidFill>
                  <a:schemeClr val="tx1"/>
                </a:solidFill>
                <a:latin typeface="微软雅黑"/>
                <a:ea typeface="微软雅黑"/>
              </a:rPr>
              <a:t>当数据量极大无法全部装入内存时，需使用外部排序。常见方法是归并排序的变种：先生成若干有序子文件（run），然后多路归并。外部排序的主要开销在于磁盘I/O。</a:t>
            </a:r>
            <a:endParaRPr lang="en-US" sz="1100"/>
          </a:p>
        </p:txBody>
      </p:sp>
      <p:sp>
        <p:nvSpPr>
          <p:cNvPr name="Freeform 9" id="9"/>
          <p:cNvSpPr/>
          <p:nvPr/>
        </p:nvSpPr>
        <p:spPr>
          <a:xfrm>
            <a:off x="8124000" y="3248025"/>
            <a:ext cx="4068000" cy="2898775"/>
          </a:xfrm>
          <a:custGeom>
            <a:avLst/>
            <a:gdLst/>
            <a:ahLst/>
            <a:cxnLst/>
            <a:rect r="r" b="b" t="t" l="l"/>
            <a:pathLst>
              <a:path w="1329" h="1826" stroke="true" fill="norm" extrusionOk="true">
                <a:moveTo>
                  <a:pt x="1329" y="0"/>
                </a:moveTo>
                <a:lnTo>
                  <a:pt x="0" y="774"/>
                </a:lnTo>
                <a:lnTo>
                  <a:pt x="0" y="1826"/>
                </a:lnTo>
                <a:lnTo>
                  <a:pt x="1329" y="1052"/>
                </a:lnTo>
                <a:lnTo>
                  <a:pt x="1329" y="0"/>
                </a:lnTo>
                <a:close/>
              </a:path>
            </a:pathLst>
          </a:custGeom>
          <a:blipFill>
            <a:blip r:embed="rId4"/>
            <a:stretch>
              <a:fillRect t="0" l="-5" b="0" r="-5"/>
            </a:stretch>
          </a:blipFill>
          <a:ln w="38100">
            <a:solidFill>
              <a:schemeClr val="bg1"/>
            </a:solidFill>
          </a:ln>
          <a:effectLst/>
        </p:spPr>
        <p:txBody>
          <a:bodyPr vert="horz" anchor="ctr" tIns="45720" lIns="91440" bIns="45720" rIns="91440">
            <a:normAutofit/>
          </a:bodyPr>
          <a:p>
            <a:pPr algn="ctr" marL="0"/>
          </a:p>
        </p:txBody>
      </p:sp>
      <p:sp>
        <p:nvSpPr>
          <p:cNvPr name="AutoShape 10" id="10"/>
          <p:cNvSpPr/>
          <p:nvPr/>
        </p:nvSpPr>
        <p:spPr>
          <a:xfrm>
            <a:off x="8806645" y="1326652"/>
            <a:ext cx="2702721" cy="362792"/>
          </a:xfrm>
          <a:prstGeom prst="rect">
            <a:avLst/>
          </a:prstGeom>
          <a:noFill/>
          <a:ln>
            <a:noFill/>
          </a:ln>
        </p:spPr>
        <p:txBody>
          <a:bodyPr vert="horz" anchor="t" wrap="square" tIns="45720" lIns="91440" bIns="45720" rIns="91440">
            <a:spAutoFit/>
          </a:bodyPr>
          <a:p>
            <a:pPr algn="ctr" marL="0">
              <a:lnSpc>
                <a:spcPct val="120000"/>
              </a:lnSpc>
            </a:pPr>
            <a:r>
              <a:rPr lang="zh-CN" b="true" i="false" sz="1600" baseline="0" u="none" altLang="en-US">
                <a:solidFill>
                  <a:schemeClr val="tx1"/>
                </a:solidFill>
                <a:latin typeface="微软雅黑"/>
                <a:ea typeface="微软雅黑"/>
              </a:rPr>
              <a:t>排序算法总结与选择</a:t>
            </a:r>
          </a:p>
        </p:txBody>
      </p:sp>
      <p:sp>
        <p:nvSpPr>
          <p:cNvPr name="TextBox 11" id="11"/>
          <p:cNvSpPr txBox="true"/>
          <p:nvPr/>
        </p:nvSpPr>
        <p:spPr>
          <a:xfrm>
            <a:off x="8806643" y="1927657"/>
            <a:ext cx="2702723" cy="1901190"/>
          </a:xfrm>
          <a:prstGeom prst="rect">
            <a:avLst/>
          </a:prstGeom>
          <a:noFill/>
          <a:ln>
            <a:noFill/>
          </a:ln>
        </p:spPr>
        <p:txBody>
          <a:bodyPr anchor="t" rtlCol="false" vert="horz" wrap="square" tIns="45720" lIns="91440" bIns="45720" rIns="91440">
            <a:spAutoFit/>
          </a:bodyPr>
          <a:lstStyle/>
          <a:p>
            <a:pPr algn="ctr" marL="0">
              <a:lnSpc>
                <a:spcPct val="150000"/>
              </a:lnSpc>
              <a:spcBef>
                <a:spcPct val="0"/>
              </a:spcBef>
              <a:defRPr/>
            </a:pPr>
            <a:r>
              <a:rPr lang="zh-CN" b="false" i="false" sz="1400" baseline="0" u="none" altLang="en-US">
                <a:solidFill>
                  <a:schemeClr val="tx1"/>
                </a:solidFill>
                <a:latin typeface="微软雅黑"/>
                <a:ea typeface="微软雅黑"/>
              </a:rPr>
              <a:t>稳定排序：冒泡、插入、归并、基数；不稳定：选择、希尔、快排、堆排。数据量小用插入或冒泡；基本有序用插入；大量数据用快排或归并；要求稳定用归并；要求最坏情况高效用堆排或归并。</a:t>
            </a:r>
            <a:endParaRPr lang="en-US" sz="1100"/>
          </a:p>
        </p:txBody>
      </p:sp>
      <p:sp>
        <p:nvSpPr>
          <p:cNvPr name="AutoShape 12" id="12"/>
          <p:cNvSpPr/>
          <p:nvPr/>
        </p:nvSpPr>
        <p:spPr>
          <a:xfrm>
            <a:off x="1406495" y="3429000"/>
            <a:ext cx="1105648" cy="1105644"/>
          </a:xfrm>
          <a:prstGeom prst="ellipse">
            <a:avLst/>
          </a:prstGeom>
          <a:solidFill>
            <a:schemeClr val="tx1">
              <a:lumMod val="50000"/>
              <a:lumOff val="50000"/>
            </a:schemeClr>
          </a:solidFill>
          <a:ln w="57150">
            <a:solidFill>
              <a:schemeClr val="bg1"/>
            </a:solidFill>
            <a:prstDash val="solid"/>
          </a:ln>
        </p:spPr>
        <p:txBody>
          <a:bodyPr vert="horz" anchor="ctr" wrap="square" tIns="45720" lIns="91440" bIns="45720" rIns="91440">
            <a:normAutofit/>
          </a:bodyPr>
          <a:p>
            <a:pPr fontAlgn="base" algn="ctr" indent="-225425" marL="225425">
              <a:spcBef>
                <a:spcPct val="0"/>
              </a:spcBef>
              <a:spcAft>
                <a:spcPct val="0"/>
              </a:spcAft>
            </a:pPr>
          </a:p>
        </p:txBody>
      </p:sp>
      <p:sp>
        <p:nvSpPr>
          <p:cNvPr name="AutoShape 13" id="13"/>
          <p:cNvSpPr/>
          <p:nvPr/>
        </p:nvSpPr>
        <p:spPr>
          <a:xfrm>
            <a:off x="5473179" y="3429000"/>
            <a:ext cx="1105648" cy="1105644"/>
          </a:xfrm>
          <a:prstGeom prst="ellipse">
            <a:avLst/>
          </a:prstGeom>
          <a:solidFill>
            <a:schemeClr val="accent1"/>
          </a:solidFill>
          <a:ln w="57150">
            <a:solidFill>
              <a:schemeClr val="bg1"/>
            </a:solidFill>
            <a:prstDash val="solid"/>
          </a:ln>
        </p:spPr>
        <p:txBody>
          <a:bodyPr vert="horz" anchor="ctr" wrap="square" tIns="45720" lIns="91440" bIns="45720" rIns="91440">
            <a:normAutofit/>
          </a:bodyPr>
          <a:p>
            <a:pPr fontAlgn="base" algn="ctr" indent="-225425" marL="225425">
              <a:spcBef>
                <a:spcPct val="0"/>
              </a:spcBef>
              <a:spcAft>
                <a:spcPct val="0"/>
              </a:spcAft>
            </a:pPr>
          </a:p>
        </p:txBody>
      </p:sp>
      <p:sp>
        <p:nvSpPr>
          <p:cNvPr name="AutoShape 14" id="14"/>
          <p:cNvSpPr/>
          <p:nvPr/>
        </p:nvSpPr>
        <p:spPr>
          <a:xfrm>
            <a:off x="9539862" y="3429000"/>
            <a:ext cx="1105648" cy="1105644"/>
          </a:xfrm>
          <a:prstGeom prst="ellipse">
            <a:avLst/>
          </a:prstGeom>
          <a:solidFill>
            <a:schemeClr val="tx1">
              <a:lumMod val="50000"/>
              <a:lumOff val="50000"/>
            </a:schemeClr>
          </a:solidFill>
          <a:ln w="57150">
            <a:solidFill>
              <a:schemeClr val="bg1"/>
            </a:solidFill>
            <a:prstDash val="solid"/>
          </a:ln>
        </p:spPr>
        <p:txBody>
          <a:bodyPr vert="horz" anchor="ctr" wrap="square" tIns="45720" lIns="91440" bIns="45720" rIns="91440">
            <a:normAutofit/>
          </a:bodyPr>
          <a:p>
            <a:pPr fontAlgn="base" algn="ctr" indent="-225425" marL="225425">
              <a:spcBef>
                <a:spcPct val="0"/>
              </a:spcBef>
              <a:spcAft>
                <a:spcPct val="0"/>
              </a:spcAft>
            </a:pPr>
          </a:p>
        </p:txBody>
      </p:sp>
      <p:sp>
        <p:nvSpPr>
          <p:cNvPr name="TextBox 15" id="15"/>
          <p:cNvSpPr txBox="true"/>
          <p:nvPr/>
        </p:nvSpPr>
        <p:spPr>
          <a:xfrm>
            <a:off x="1620872" y="3657601"/>
            <a:ext cx="676893" cy="584775"/>
          </a:xfrm>
          <a:prstGeom prst="rect">
            <a:avLst/>
          </a:prstGeom>
          <a:noFill/>
        </p:spPr>
        <p:txBody>
          <a:bodyPr anchor="t" rtlCol="false" vert="horz" wrap="square" tIns="45720" lIns="91440" bIns="45720" rIns="91440">
            <a:spAutoFit/>
          </a:bodyPr>
          <a:lstStyle/>
          <a:p>
            <a:pPr algn="ctr" marL="0">
              <a:defRPr/>
            </a:pPr>
            <a:r>
              <a:rPr lang="en-US" b="false" i="false" sz="3200" baseline="0" u="none">
                <a:solidFill>
                  <a:schemeClr val="bg1"/>
                </a:solidFill>
                <a:latin typeface="微软雅黑"/>
                <a:ea typeface="微软雅黑"/>
              </a:rPr>
              <a:t>01</a:t>
            </a:r>
            <a:endParaRPr lang="en-US" sz="1100"/>
          </a:p>
        </p:txBody>
      </p:sp>
      <p:sp>
        <p:nvSpPr>
          <p:cNvPr name="TextBox 16" id="16"/>
          <p:cNvSpPr txBox="true"/>
          <p:nvPr/>
        </p:nvSpPr>
        <p:spPr>
          <a:xfrm>
            <a:off x="5670677" y="3657600"/>
            <a:ext cx="676893" cy="584775"/>
          </a:xfrm>
          <a:prstGeom prst="rect">
            <a:avLst/>
          </a:prstGeom>
          <a:noFill/>
        </p:spPr>
        <p:txBody>
          <a:bodyPr anchor="t" rtlCol="false" vert="horz" wrap="square" tIns="45720" lIns="91440" bIns="45720" rIns="91440">
            <a:spAutoFit/>
          </a:bodyPr>
          <a:lstStyle/>
          <a:p>
            <a:pPr algn="ctr" marL="0">
              <a:defRPr/>
            </a:pPr>
            <a:r>
              <a:rPr lang="en-US" b="false" i="false" sz="3200" baseline="0" u="none">
                <a:solidFill>
                  <a:schemeClr val="bg1"/>
                </a:solidFill>
                <a:latin typeface="微软雅黑"/>
                <a:ea typeface="微软雅黑"/>
              </a:rPr>
              <a:t>02</a:t>
            </a:r>
            <a:endParaRPr lang="en-US" sz="1100"/>
          </a:p>
        </p:txBody>
      </p:sp>
      <p:sp>
        <p:nvSpPr>
          <p:cNvPr name="TextBox 17" id="17"/>
          <p:cNvSpPr txBox="true"/>
          <p:nvPr/>
        </p:nvSpPr>
        <p:spPr>
          <a:xfrm>
            <a:off x="9754239" y="3689434"/>
            <a:ext cx="676893" cy="584775"/>
          </a:xfrm>
          <a:prstGeom prst="rect">
            <a:avLst/>
          </a:prstGeom>
          <a:noFill/>
        </p:spPr>
        <p:txBody>
          <a:bodyPr anchor="t" rtlCol="false" vert="horz" wrap="square" tIns="45720" lIns="91440" bIns="45720" rIns="91440">
            <a:spAutoFit/>
          </a:bodyPr>
          <a:lstStyle/>
          <a:p>
            <a:pPr algn="ctr" marL="0">
              <a:defRPr/>
            </a:pPr>
            <a:r>
              <a:rPr lang="en-US" b="false" i="false" sz="3200" baseline="0" u="none">
                <a:solidFill>
                  <a:schemeClr val="bg1"/>
                </a:solidFill>
                <a:latin typeface="微软雅黑"/>
                <a:ea typeface="微软雅黑"/>
              </a:rPr>
              <a:t>03</a:t>
            </a:r>
            <a:endParaRPr lang="en-US" sz="1100"/>
          </a:p>
        </p:txBody>
      </p:sp>
      <p:sp>
        <p:nvSpPr>
          <p:cNvPr name="AutoShape 18" id="18"/>
          <p:cNvSpPr/>
          <p:nvPr/>
        </p:nvSpPr>
        <p:spPr>
          <a:xfrm>
            <a:off x="10795000" y="6540500"/>
            <a:ext cx="1270000" cy="190500"/>
          </a:xfrm>
          <a:prstGeom prst="rect">
            <a:avLst/>
          </a:prstGeom>
          <a:solidFill>
            <a:srgbClr val="000000">
              <a:alpha val="0"/>
            </a:srgbClr>
          </a:solidFill>
        </p:spPr>
        <p:txBody>
          <a:bodyPr anchor="t" rtlCol="false"/>
          <a:lstStyle/>
          <a:p>
            <a:pPr algn="r">
              <a:defRPr/>
            </a:pPr>
            <a:r>
              <a:rPr lang="en-US" b="false" i="false" sz="800" baseline="0" u="none">
                <a:solidFill>
                  <a:srgbClr val="808080"/>
                </a:solidFill>
                <a:latin typeface="Microsoft YaHei"/>
                <a:ea typeface="Microsoft YaHei"/>
              </a:rPr>
              <a:t>内容由AI生成</a:t>
            </a:r>
            <a:endParaRPr lang="en-US" sz="1100"/>
          </a:p>
        </p:txBody>
      </p:sp>
    </p:spTree>
  </p:cSld>
  <p:clrMapOvr>
    <a:masterClrMapping/>
  </p:clrMapOvr>
  <p:transition spd="fast"/>
</p:sld>
</file>

<file path=ppt/slides/slide34.xml><?xml version="1.0" encoding="utf-8"?>
<p:sld xmlns:p="http://schemas.openxmlformats.org/presentationml/2006/main" xmlns:a="http://schemas.openxmlformats.org/drawingml/2006/main" xmlns:r="http://schemas.openxmlformats.org/officeDocument/2006/relationships">
  <p:cSld>
    <p:bg>
      <p:bgPr>
        <a:blipFill rotWithShape="true">
          <a:blip r:embed="rId2"/>
          <a:srcRect/>
          <a:stretch>
            <a:fillRect t="0" l="0" b="0" r="0"/>
          </a:stretch>
        </a:blipFill>
      </p:bgPr>
    </p:bg>
    <p:spTree>
      <p:nvGrpSpPr>
        <p:cNvPr id="1" name=""/>
        <p:cNvGrpSpPr/>
        <p:nvPr/>
      </p:nvGrpSpPr>
      <p:grpSpPr>
        <a:xfrm>
          <a:off x="0" y="0"/>
          <a:ext cx="0" cy="0"/>
          <a:chOff x="0" y="0"/>
          <a:chExt cx="0" cy="0"/>
        </a:xfrm>
      </p:grpSpPr>
      <p:sp>
        <p:nvSpPr>
          <p:cNvPr name="AutoShape 2" id="2"/>
          <p:cNvSpPr/>
          <p:nvPr/>
        </p:nvSpPr>
        <p:spPr>
          <a:xfrm>
            <a:off x="0" y="0"/>
            <a:ext cx="12192000" cy="6858000"/>
          </a:xfrm>
          <a:prstGeom prst="rect">
            <a:avLst/>
          </a:prstGeom>
          <a:gradFill rotWithShape="true" flip="none">
            <a:gsLst>
              <a:gs pos="0">
                <a:srgbClr val="0A854D"/>
              </a:gs>
              <a:gs pos="100000">
                <a:srgbClr val="318B49">
                  <a:alpha val="0"/>
                </a:srgbClr>
              </a:gs>
            </a:gsLst>
            <a:lin ang="5400000"/>
            <a:tileRect/>
          </a:gradFill>
          <a:ln>
            <a:noFill/>
          </a:ln>
        </p:spPr>
        <p:txBody>
          <a:bodyPr vert="horz" anchor="ctr" tIns="45720" lIns="91440" bIns="45720" rIns="91440"/>
          <a:p>
            <a:pPr algn="ctr" marL="0"/>
          </a:p>
        </p:txBody>
      </p:sp>
      <p:sp>
        <p:nvSpPr>
          <p:cNvPr name="TextBox 3" id="3"/>
          <p:cNvSpPr txBox="true"/>
          <p:nvPr/>
        </p:nvSpPr>
        <p:spPr>
          <a:xfrm>
            <a:off x="1665296" y="2971817"/>
            <a:ext cx="8861408" cy="830997"/>
          </a:xfrm>
          <a:prstGeom prst="rect">
            <a:avLst/>
          </a:prstGeom>
          <a:noFill/>
        </p:spPr>
        <p:txBody>
          <a:bodyPr anchor="t" rtlCol="false" vert="horz" wrap="square" tIns="45720" lIns="91440" bIns="45720" rIns="91440">
            <a:spAutoFit/>
          </a:bodyPr>
          <a:lstStyle/>
          <a:p>
            <a:pPr algn="ctr" marL="0">
              <a:defRPr/>
            </a:pPr>
            <a:r>
              <a:rPr lang="zh-CN" b="true" i="false" sz="4800" baseline="0" u="none" altLang="en-US">
                <a:solidFill>
                  <a:schemeClr val="bg1"/>
                </a:solidFill>
                <a:latin typeface="微软雅黑"/>
                <a:ea typeface="微软雅黑"/>
              </a:rPr>
              <a:t>总结与展望</a:t>
            </a:r>
            <a:endParaRPr lang="en-US" sz="1100"/>
          </a:p>
        </p:txBody>
      </p:sp>
      <p:sp>
        <p:nvSpPr>
          <p:cNvPr name="Freeform 4" id="4"/>
          <p:cNvSpPr/>
          <p:nvPr/>
        </p:nvSpPr>
        <p:spPr>
          <a:xfrm>
            <a:off x="650240" y="893196"/>
            <a:ext cx="378355" cy="378355"/>
          </a:xfrm>
          <a:custGeom>
            <a:avLst/>
            <a:gdLst/>
            <a:ahLst/>
            <a:cxnLst/>
            <a:rect r="r" b="b" t="t" l="l"/>
            <a:pathLst>
              <a:path w="634790" h="634790" stroke="true" fill="norm" extrusionOk="true">
                <a:moveTo>
                  <a:pt x="268240" y="235406"/>
                </a:moveTo>
                <a:lnTo>
                  <a:pt x="268240" y="486178"/>
                </a:lnTo>
                <a:lnTo>
                  <a:pt x="368960" y="486178"/>
                </a:lnTo>
                <a:lnTo>
                  <a:pt x="368960" y="235406"/>
                </a:lnTo>
                <a:close/>
                <a:moveTo>
                  <a:pt x="319337" y="127942"/>
                </a:moveTo>
                <a:cubicBezTo>
                  <a:pt x="305602" y="127942"/>
                  <a:pt x="294063" y="132613"/>
                  <a:pt x="284721" y="141955"/>
                </a:cubicBezTo>
                <a:cubicBezTo>
                  <a:pt x="275379" y="151296"/>
                  <a:pt x="270709" y="162667"/>
                  <a:pt x="270709" y="176066"/>
                </a:cubicBezTo>
                <a:cubicBezTo>
                  <a:pt x="270709" y="189754"/>
                  <a:pt x="275391" y="201281"/>
                  <a:pt x="284757" y="210646"/>
                </a:cubicBezTo>
                <a:cubicBezTo>
                  <a:pt x="294122" y="220012"/>
                  <a:pt x="305649" y="224695"/>
                  <a:pt x="319337" y="224695"/>
                </a:cubicBezTo>
                <a:cubicBezTo>
                  <a:pt x="332973" y="224695"/>
                  <a:pt x="344487" y="219999"/>
                  <a:pt x="353878" y="210607"/>
                </a:cubicBezTo>
                <a:cubicBezTo>
                  <a:pt x="363270" y="201215"/>
                  <a:pt x="367966" y="189701"/>
                  <a:pt x="367966" y="176066"/>
                </a:cubicBezTo>
                <a:cubicBezTo>
                  <a:pt x="367966" y="162719"/>
                  <a:pt x="363282" y="151362"/>
                  <a:pt x="353914" y="141994"/>
                </a:cubicBezTo>
                <a:cubicBezTo>
                  <a:pt x="344546" y="132626"/>
                  <a:pt x="333020" y="127942"/>
                  <a:pt x="319337" y="127942"/>
                </a:cubicBezTo>
                <a:close/>
                <a:moveTo>
                  <a:pt x="317395" y="0"/>
                </a:moveTo>
                <a:cubicBezTo>
                  <a:pt x="492687" y="0"/>
                  <a:pt x="634790" y="142103"/>
                  <a:pt x="634790" y="317395"/>
                </a:cubicBezTo>
                <a:cubicBezTo>
                  <a:pt x="634790" y="492687"/>
                  <a:pt x="492687" y="634790"/>
                  <a:pt x="317395" y="634790"/>
                </a:cubicBezTo>
                <a:cubicBezTo>
                  <a:pt x="142103" y="634790"/>
                  <a:pt x="0" y="492687"/>
                  <a:pt x="0" y="317395"/>
                </a:cubicBezTo>
                <a:cubicBezTo>
                  <a:pt x="0" y="142103"/>
                  <a:pt x="142103" y="0"/>
                  <a:pt x="317395" y="0"/>
                </a:cubicBezTo>
                <a:close/>
              </a:path>
            </a:pathLst>
          </a:custGeom>
          <a:solidFill>
            <a:schemeClr val="bg1"/>
          </a:solidFill>
          <a:ln>
            <a:noFill/>
          </a:ln>
        </p:spPr>
        <p:txBody>
          <a:bodyPr vert="horz" anchor="ctr" wrap="square" tIns="45720" lIns="91440" bIns="45720" rIns="91440">
            <a:noAutofit/>
          </a:bodyPr>
          <a:p>
            <a:pPr algn="ctr" marL="0"/>
          </a:p>
        </p:txBody>
      </p:sp>
      <p:sp>
        <p:nvSpPr>
          <p:cNvPr name="TextBox 5" id="5"/>
          <p:cNvSpPr txBox="true"/>
          <p:nvPr/>
        </p:nvSpPr>
        <p:spPr>
          <a:xfrm>
            <a:off x="1051967" y="890172"/>
            <a:ext cx="2569777" cy="400110"/>
          </a:xfrm>
          <a:prstGeom prst="rect">
            <a:avLst/>
          </a:prstGeom>
          <a:noFill/>
        </p:spPr>
        <p:txBody>
          <a:bodyPr anchor="t" rtlCol="false" vert="horz" wrap="square" tIns="45720" lIns="91440" bIns="45720" rIns="91440">
            <a:spAutoFit/>
          </a:bodyPr>
          <a:lstStyle/>
          <a:p>
            <a:pPr algn="l" marL="0">
              <a:defRPr/>
            </a:pPr>
            <a:r>
              <a:rPr lang="en-US" b="true" i="false" sz="2000" baseline="0" u="none">
                <a:solidFill>
                  <a:schemeClr val="bg1"/>
                </a:solidFill>
                <a:latin typeface="微软雅黑"/>
                <a:ea typeface="微软雅黑"/>
              </a:rPr>
              <a:t>YOUR LOGO</a:t>
            </a:r>
            <a:endParaRPr lang="en-US" sz="1100"/>
          </a:p>
        </p:txBody>
      </p:sp>
      <p:sp>
        <p:nvSpPr>
          <p:cNvPr name="TextBox 6" id="6"/>
          <p:cNvSpPr txBox="true"/>
          <p:nvPr/>
        </p:nvSpPr>
        <p:spPr>
          <a:xfrm>
            <a:off x="4283777" y="4106376"/>
            <a:ext cx="3624446" cy="369332"/>
          </a:xfrm>
          <a:prstGeom prst="rect">
            <a:avLst/>
          </a:prstGeom>
          <a:noFill/>
        </p:spPr>
        <p:txBody>
          <a:bodyPr anchor="t" rtlCol="false" vert="horz" wrap="square" tIns="45720" lIns="91440" bIns="45720" rIns="91440">
            <a:spAutoFit/>
          </a:bodyPr>
          <a:lstStyle/>
          <a:p>
            <a:pPr algn="l" marL="0">
              <a:defRPr/>
            </a:pPr>
            <a:r>
              <a:rPr lang="en-US" b="false" i="false" sz="1800" baseline="0" u="none">
                <a:solidFill>
                  <a:schemeClr val="bg1"/>
                </a:solidFill>
                <a:latin typeface="微软雅黑"/>
                <a:ea typeface="微软雅黑"/>
              </a:rPr>
              <a:t>Power point design</a:t>
            </a:r>
            <a:endParaRPr lang="en-US" sz="1100"/>
          </a:p>
        </p:txBody>
      </p:sp>
      <p:cxnSp>
        <p:nvCxnSpPr>
          <p:cNvPr name="Connector 7" id="7"/>
          <p:cNvCxnSpPr/>
          <p:nvPr/>
        </p:nvCxnSpPr>
        <p:spPr>
          <a:xfrm>
            <a:off x="6647813" y="4291042"/>
            <a:ext cx="1260410" cy="0"/>
          </a:xfrm>
          <a:prstGeom prst="line">
            <a:avLst/>
          </a:prstGeom>
          <a:ln w="9525">
            <a:solidFill>
              <a:schemeClr val="bg1"/>
            </a:solidFill>
          </a:ln>
        </p:spPr>
      </p:cxnSp>
      <p:grpSp>
        <p:nvGrpSpPr>
          <p:cNvPr name="Group 8" id="8"/>
          <p:cNvGrpSpPr/>
          <p:nvPr/>
        </p:nvGrpSpPr>
        <p:grpSpPr>
          <a:xfrm>
            <a:off x="4682966" y="1963176"/>
            <a:ext cx="2826067" cy="858555"/>
            <a:chOff x="4263846" y="2243095"/>
            <a:chExt cx="2826067" cy="858555"/>
          </a:xfrm>
        </p:grpSpPr>
        <p:sp>
          <p:nvSpPr>
            <p:cNvPr name="TextBox 9" id="9"/>
            <p:cNvSpPr txBox="true"/>
            <p:nvPr/>
          </p:nvSpPr>
          <p:spPr>
            <a:xfrm>
              <a:off x="4263846" y="2270653"/>
              <a:ext cx="1988820" cy="830997"/>
            </a:xfrm>
            <a:prstGeom prst="rect">
              <a:avLst/>
            </a:prstGeom>
            <a:noFill/>
          </p:spPr>
          <p:txBody>
            <a:bodyPr anchor="t" rtlCol="false" vert="horz" wrap="square" tIns="45720" lIns="91440" bIns="45720" rIns="91440">
              <a:spAutoFit/>
            </a:bodyPr>
            <a:lstStyle/>
            <a:p>
              <a:pPr algn="l" marL="0">
                <a:defRPr/>
              </a:pPr>
              <a:r>
                <a:rPr lang="en-US" b="false" i="false" sz="4800" baseline="0" u="none">
                  <a:solidFill>
                    <a:schemeClr val="bg1"/>
                  </a:solidFill>
                  <a:latin typeface="微软雅黑"/>
                  <a:ea typeface="微软雅黑"/>
                </a:rPr>
                <a:t>PART</a:t>
              </a:r>
              <a:endParaRPr lang="en-US" sz="1100"/>
            </a:p>
          </p:txBody>
        </p:sp>
        <p:sp>
          <p:nvSpPr>
            <p:cNvPr name="TextBox 10" id="10"/>
            <p:cNvSpPr txBox="true"/>
            <p:nvPr/>
          </p:nvSpPr>
          <p:spPr>
            <a:xfrm>
              <a:off x="6008599" y="2243095"/>
              <a:ext cx="1081314" cy="830997"/>
            </a:xfrm>
            <a:prstGeom prst="rect">
              <a:avLst/>
            </a:prstGeom>
            <a:noFill/>
          </p:spPr>
          <p:txBody>
            <a:bodyPr anchor="t" rtlCol="false" vert="horz" wrap="square" tIns="45720" lIns="91440" bIns="45720" rIns="91440">
              <a:spAutoFit/>
            </a:bodyPr>
            <a:lstStyle/>
            <a:p>
              <a:pPr algn="l" marL="0">
                <a:defRPr/>
              </a:pPr>
              <a:r>
                <a:rPr lang="en-US" b="false" i="false" sz="4800" baseline="0" u="none">
                  <a:solidFill>
                    <a:schemeClr val="bg1"/>
                  </a:solidFill>
                  <a:latin typeface="微软雅黑"/>
                  <a:ea typeface="微软雅黑"/>
                </a:rPr>
                <a:t>07</a:t>
              </a:r>
              <a:endParaRPr lang="en-US" sz="1100"/>
            </a:p>
          </p:txBody>
        </p:sp>
      </p:grpSp>
      <p:sp>
        <p:nvSpPr>
          <p:cNvPr name="AutoShape 11" id="11"/>
          <p:cNvSpPr/>
          <p:nvPr/>
        </p:nvSpPr>
        <p:spPr>
          <a:xfrm>
            <a:off x="10795000" y="6540500"/>
            <a:ext cx="1270000" cy="190500"/>
          </a:xfrm>
          <a:prstGeom prst="rect">
            <a:avLst/>
          </a:prstGeom>
          <a:solidFill>
            <a:srgbClr val="000000">
              <a:alpha val="0"/>
            </a:srgbClr>
          </a:solidFill>
        </p:spPr>
        <p:txBody>
          <a:bodyPr anchor="t" rtlCol="false"/>
          <a:lstStyle/>
          <a:p>
            <a:pPr algn="r">
              <a:defRPr/>
            </a:pPr>
            <a:r>
              <a:rPr lang="en-US" b="false" i="false" sz="800" baseline="0" u="none">
                <a:solidFill>
                  <a:srgbClr val="808080"/>
                </a:solidFill>
                <a:latin typeface="Microsoft YaHei"/>
                <a:ea typeface="Microsoft YaHei"/>
              </a:rPr>
              <a:t>内容由AI生成</a:t>
            </a:r>
            <a:endParaRPr lang="en-US" sz="1100"/>
          </a:p>
        </p:txBody>
      </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bg>
      <p:bgPr>
        <a:solidFill>
          <a:schemeClr val="bg1"/>
        </a:solidFill>
      </p:bgPr>
    </p:bg>
    <p:spTree>
      <p:nvGrpSpPr>
        <p:cNvPr id="1" name=""/>
        <p:cNvGrpSpPr/>
        <p:nvPr/>
      </p:nvGrpSpPr>
      <p:grpSpPr>
        <a:xfrm>
          <a:off x="0" y="0"/>
          <a:ext cx="0" cy="0"/>
          <a:chOff x="0" y="0"/>
          <a:chExt cx="0" cy="0"/>
        </a:xfrm>
      </p:grpSpPr>
      <p:sp>
        <p:nvSpPr>
          <p:cNvPr name="AutoShape 2" id="2"/>
          <p:cNvSpPr/>
          <p:nvPr>
            <p:ph type="title" idx="4294967295"/>
          </p:nvPr>
        </p:nvSpPr>
        <p:spPr>
          <a:xfrm>
            <a:off x="6343378" y="1136894"/>
            <a:ext cx="5164367" cy="954107"/>
          </a:xfrm>
        </p:spPr>
        <p:txBody>
          <a:bodyPr vert="horz" anchor="b" tIns="45720" lIns="91440" bIns="45720" rIns="91440">
            <a:normAutofit/>
          </a:bodyPr>
          <a:p>
            <a:pPr algn="l">
              <a:lnSpc>
                <a:spcPct val="90000"/>
              </a:lnSpc>
              <a:spcBef>
                <a:spcPct val="0"/>
              </a:spcBef>
            </a:pPr>
            <a:r>
              <a:rPr lang="zh-CN" b="true" i="false" sz="2800" baseline="0" u="none" altLang="en-US">
                <a:solidFill>
                  <a:schemeClr val="tx1"/>
                </a:solidFill>
                <a:latin typeface="微软雅黑"/>
                <a:ea typeface="微软雅黑"/>
              </a:rPr>
              <a:t>内容回顾</a:t>
            </a:r>
          </a:p>
        </p:txBody>
      </p:sp>
      <p:sp>
        <p:nvSpPr>
          <p:cNvPr name="TextBox 3" id="3"/>
          <p:cNvSpPr txBox="true"/>
          <p:nvPr/>
        </p:nvSpPr>
        <p:spPr>
          <a:xfrm>
            <a:off x="1379129" y="2263705"/>
            <a:ext cx="2744978" cy="338554"/>
          </a:xfrm>
          <a:prstGeom prst="rect">
            <a:avLst/>
          </a:prstGeom>
          <a:noFill/>
        </p:spPr>
        <p:txBody>
          <a:bodyPr anchor="t" rtlCol="false" vert="horz" wrap="square" tIns="45720" lIns="91440" bIns="45720" rIns="91440">
            <a:spAutoFit/>
          </a:bodyPr>
          <a:lstStyle/>
          <a:p>
            <a:pPr algn="l" marL="0">
              <a:defRPr/>
            </a:pPr>
            <a:r>
              <a:rPr lang="zh-CN" b="true" i="false" sz="1600" baseline="0" u="none" altLang="en-US">
                <a:solidFill>
                  <a:schemeClr val="tx1"/>
                </a:solidFill>
                <a:latin typeface="微软雅黑"/>
                <a:ea typeface="微软雅黑"/>
              </a:rPr>
              <a:t>核心知识点梳理</a:t>
            </a:r>
            <a:endParaRPr lang="en-US" sz="1100"/>
          </a:p>
        </p:txBody>
      </p:sp>
      <p:sp>
        <p:nvSpPr>
          <p:cNvPr name="AutoShape 4" id="4"/>
          <p:cNvSpPr/>
          <p:nvPr/>
        </p:nvSpPr>
        <p:spPr>
          <a:xfrm>
            <a:off x="1397935" y="2764073"/>
            <a:ext cx="2714224" cy="1901190"/>
          </a:xfrm>
          <a:prstGeom prst="rect">
            <a:avLst/>
          </a:prstGeom>
          <a:ln>
            <a:noFill/>
          </a:ln>
        </p:spPr>
        <p:txBody>
          <a:bodyPr vert="horz" anchor="t" wrap="square" tIns="45720" lIns="91440" bIns="45720" rIns="91440">
            <a:spAutoFit/>
          </a:bodyPr>
          <a:p>
            <a:pPr algn="l" marL="0">
              <a:lnSpc>
                <a:spcPct val="150000"/>
              </a:lnSpc>
            </a:pPr>
            <a:r>
              <a:rPr lang="zh-CN" b="false" i="false" sz="1400" baseline="0" u="none" altLang="en-US">
                <a:solidFill>
                  <a:schemeClr val="tx1"/>
                </a:solidFill>
                <a:latin typeface="微软雅黑"/>
                <a:ea typeface="微软雅黑"/>
              </a:rPr>
              <a:t>本课程覆盖了线性表、栈和队列、树、图、查找与排序等经典数据结构。重点掌握每种结构的逻辑特性、存储方式、基本操作及其复杂度，并能根据实际问题选择合适的结构。</a:t>
            </a:r>
          </a:p>
        </p:txBody>
      </p:sp>
      <p:sp>
        <p:nvSpPr>
          <p:cNvPr name="TextBox 5" id="5"/>
          <p:cNvSpPr txBox="true"/>
          <p:nvPr/>
        </p:nvSpPr>
        <p:spPr>
          <a:xfrm>
            <a:off x="1379129" y="1413581"/>
            <a:ext cx="880532" cy="830997"/>
          </a:xfrm>
          <a:prstGeom prst="rect">
            <a:avLst/>
          </a:prstGeom>
          <a:noFill/>
        </p:spPr>
        <p:txBody>
          <a:bodyPr anchor="t" rtlCol="false" vert="horz" wrap="square" tIns="45720" lIns="91440" bIns="45720" rIns="91440">
            <a:spAutoFit/>
          </a:bodyPr>
          <a:lstStyle/>
          <a:p>
            <a:pPr algn="l" marL="0">
              <a:defRPr/>
            </a:pPr>
            <a:r>
              <a:rPr lang="en-US" b="true" i="false" sz="4800" baseline="0" u="none">
                <a:solidFill>
                  <a:srgbClr val="000000"/>
                </a:solidFill>
                <a:latin typeface="微软雅黑"/>
                <a:ea typeface="微软雅黑"/>
              </a:rPr>
              <a:t>01</a:t>
            </a:r>
            <a:endParaRPr lang="en-US" sz="1100"/>
          </a:p>
        </p:txBody>
      </p:sp>
      <p:sp>
        <p:nvSpPr>
          <p:cNvPr name="TextBox 6" id="6"/>
          <p:cNvSpPr txBox="true"/>
          <p:nvPr/>
        </p:nvSpPr>
        <p:spPr>
          <a:xfrm>
            <a:off x="4833262" y="2263705"/>
            <a:ext cx="2744978" cy="338554"/>
          </a:xfrm>
          <a:prstGeom prst="rect">
            <a:avLst/>
          </a:prstGeom>
          <a:noFill/>
        </p:spPr>
        <p:txBody>
          <a:bodyPr anchor="t" rtlCol="false" vert="horz" wrap="square" tIns="45720" lIns="91440" bIns="45720" rIns="91440">
            <a:spAutoFit/>
          </a:bodyPr>
          <a:lstStyle/>
          <a:p>
            <a:pPr algn="l" marL="0">
              <a:defRPr/>
            </a:pPr>
            <a:r>
              <a:rPr lang="zh-CN" b="true" i="false" sz="1600" baseline="0" u="none" altLang="en-US">
                <a:ln/>
                <a:solidFill>
                  <a:schemeClr val="tx1"/>
                </a:solidFill>
                <a:effectLst/>
                <a:latin typeface="微软雅黑"/>
                <a:ea typeface="微软雅黑"/>
              </a:rPr>
              <a:t>学习方法建议</a:t>
            </a:r>
            <a:endParaRPr lang="en-US" sz="1100"/>
          </a:p>
        </p:txBody>
      </p:sp>
      <p:sp>
        <p:nvSpPr>
          <p:cNvPr name="AutoShape 7" id="7"/>
          <p:cNvSpPr/>
          <p:nvPr/>
        </p:nvSpPr>
        <p:spPr>
          <a:xfrm>
            <a:off x="4852068" y="2764073"/>
            <a:ext cx="2714224" cy="1669688"/>
          </a:xfrm>
          <a:prstGeom prst="rect">
            <a:avLst/>
          </a:prstGeom>
          <a:ln>
            <a:noFill/>
          </a:ln>
        </p:spPr>
        <p:txBody>
          <a:bodyPr vert="horz" anchor="t" wrap="square" tIns="45720" lIns="91440" bIns="45720" rIns="91440">
            <a:spAutoFit/>
          </a:bodyPr>
          <a:p>
            <a:pPr algn="l" marL="0">
              <a:lnSpc>
                <a:spcPct val="150000"/>
              </a:lnSpc>
            </a:pPr>
            <a:r>
              <a:rPr lang="zh-CN" b="false" i="false" sz="1400" baseline="0" u="none" altLang="en-US">
                <a:solidFill>
                  <a:schemeClr val="tx1"/>
                </a:solidFill>
                <a:latin typeface="微软雅黑"/>
                <a:ea typeface="微软雅黑"/>
              </a:rPr>
              <a:t>通过大量编程实践加深理解，建议使用C/C++或Java实现常见数据结构并测试。结合LeetCode等在线题库练习相关算法题。建立知识体系，对比不同结构的异同。</a:t>
            </a:r>
          </a:p>
        </p:txBody>
      </p:sp>
      <p:sp>
        <p:nvSpPr>
          <p:cNvPr name="TextBox 8" id="8"/>
          <p:cNvSpPr txBox="true"/>
          <p:nvPr/>
        </p:nvSpPr>
        <p:spPr>
          <a:xfrm>
            <a:off x="4833262" y="1413581"/>
            <a:ext cx="880532" cy="830997"/>
          </a:xfrm>
          <a:prstGeom prst="rect">
            <a:avLst/>
          </a:prstGeom>
          <a:noFill/>
        </p:spPr>
        <p:txBody>
          <a:bodyPr anchor="t" rtlCol="false" vert="horz" wrap="square" tIns="45720" lIns="91440" bIns="45720" rIns="91440">
            <a:spAutoFit/>
          </a:bodyPr>
          <a:lstStyle/>
          <a:p>
            <a:pPr algn="l" marL="0">
              <a:defRPr/>
            </a:pPr>
            <a:r>
              <a:rPr lang="en-US" b="true" i="false" sz="4800" baseline="0" u="none">
                <a:solidFill>
                  <a:srgbClr val="000000"/>
                </a:solidFill>
                <a:latin typeface="微软雅黑"/>
                <a:ea typeface="微软雅黑"/>
              </a:rPr>
              <a:t>02</a:t>
            </a:r>
            <a:endParaRPr lang="en-US" sz="1100"/>
          </a:p>
        </p:txBody>
      </p:sp>
      <p:sp>
        <p:nvSpPr>
          <p:cNvPr name="TextBox 9" id="9"/>
          <p:cNvSpPr txBox="true"/>
          <p:nvPr/>
        </p:nvSpPr>
        <p:spPr>
          <a:xfrm>
            <a:off x="8287395" y="2263705"/>
            <a:ext cx="2744978" cy="338554"/>
          </a:xfrm>
          <a:prstGeom prst="rect">
            <a:avLst/>
          </a:prstGeom>
          <a:noFill/>
        </p:spPr>
        <p:txBody>
          <a:bodyPr anchor="t" rtlCol="false" vert="horz" wrap="square" tIns="45720" lIns="91440" bIns="45720" rIns="91440">
            <a:spAutoFit/>
          </a:bodyPr>
          <a:lstStyle/>
          <a:p>
            <a:pPr algn="l" marL="0">
              <a:defRPr/>
            </a:pPr>
            <a:r>
              <a:rPr lang="zh-CN" b="true" i="false" sz="1600" baseline="0" u="none" altLang="en-US">
                <a:ln/>
                <a:solidFill>
                  <a:schemeClr val="tx1"/>
                </a:solidFill>
                <a:effectLst/>
                <a:latin typeface="微软雅黑"/>
                <a:ea typeface="微软雅黑"/>
              </a:rPr>
              <a:t>后续进阶方向</a:t>
            </a:r>
            <a:endParaRPr lang="en-US" sz="1100"/>
          </a:p>
        </p:txBody>
      </p:sp>
      <p:sp>
        <p:nvSpPr>
          <p:cNvPr name="AutoShape 10" id="10"/>
          <p:cNvSpPr/>
          <p:nvPr/>
        </p:nvSpPr>
        <p:spPr>
          <a:xfrm>
            <a:off x="8306201" y="2764073"/>
            <a:ext cx="2714224" cy="1901190"/>
          </a:xfrm>
          <a:prstGeom prst="rect">
            <a:avLst/>
          </a:prstGeom>
          <a:ln>
            <a:noFill/>
          </a:ln>
        </p:spPr>
        <p:txBody>
          <a:bodyPr vert="horz" anchor="t" wrap="square" tIns="45720" lIns="91440" bIns="45720" rIns="91440">
            <a:spAutoFit/>
          </a:bodyPr>
          <a:p>
            <a:pPr algn="l" marL="0">
              <a:lnSpc>
                <a:spcPct val="150000"/>
              </a:lnSpc>
            </a:pPr>
            <a:r>
              <a:rPr lang="zh-CN" b="false" i="false" sz="1400" baseline="0" u="none" altLang="en-US">
                <a:solidFill>
                  <a:schemeClr val="tx1"/>
                </a:solidFill>
                <a:latin typeface="微软雅黑"/>
                <a:ea typeface="微软雅黑"/>
              </a:rPr>
              <a:t>进一步学习高级数据结构如红黑树、B树、跳表、Trie树、并查集等。结合算法设计与分析课程，掌握动态规划、贪心等高级算法。探索数据结构在实际系统（如数据库索引、搜索引擎）中的应用。</a:t>
            </a:r>
          </a:p>
        </p:txBody>
      </p:sp>
      <p:sp>
        <p:nvSpPr>
          <p:cNvPr name="TextBox 11" id="11"/>
          <p:cNvSpPr txBox="true"/>
          <p:nvPr/>
        </p:nvSpPr>
        <p:spPr>
          <a:xfrm>
            <a:off x="8287395" y="1413581"/>
            <a:ext cx="880532" cy="830997"/>
          </a:xfrm>
          <a:prstGeom prst="rect">
            <a:avLst/>
          </a:prstGeom>
          <a:noFill/>
        </p:spPr>
        <p:txBody>
          <a:bodyPr anchor="t" rtlCol="false" vert="horz" wrap="square" tIns="45720" lIns="91440" bIns="45720" rIns="91440">
            <a:spAutoFit/>
          </a:bodyPr>
          <a:lstStyle/>
          <a:p>
            <a:pPr algn="l" marL="0">
              <a:defRPr/>
            </a:pPr>
            <a:r>
              <a:rPr lang="en-US" b="true" i="false" sz="4800" baseline="0" u="none">
                <a:solidFill>
                  <a:srgbClr val="000000"/>
                </a:solidFill>
                <a:latin typeface="微软雅黑"/>
                <a:ea typeface="微软雅黑"/>
              </a:rPr>
              <a:t>03</a:t>
            </a:r>
            <a:endParaRPr lang="en-US" sz="1100"/>
          </a:p>
        </p:txBody>
      </p:sp>
      <p:sp>
        <p:nvSpPr>
          <p:cNvPr name="AutoShape 12" id="12"/>
          <p:cNvSpPr/>
          <p:nvPr/>
        </p:nvSpPr>
        <p:spPr>
          <a:xfrm>
            <a:off x="1394506" y="4780233"/>
            <a:ext cx="2714224" cy="1205528"/>
          </a:xfrm>
          <a:prstGeom prst="rect">
            <a:avLst/>
          </a:prstGeom>
          <a:blipFill>
            <a:blip r:embed="rId2">
              <a:duotone>
                <a:prstClr val="black"/>
                <a:schemeClr val="accent1">
                  <a:satMod val="400000"/>
                  <a:tint val="45000"/>
                </a:schemeClr>
              </a:duotone>
            </a:blip>
            <a:stretch>
              <a:fillRect t="-25293" l="0" b="-24762" r="0"/>
            </a:stretch>
          </a:blipFill>
          <a:ln>
            <a:noFill/>
          </a:ln>
          <a:effectLst/>
        </p:spPr>
        <p:txBody>
          <a:bodyPr vert="horz" rot="0" anchor="t" wrap="square" tIns="45720" lIns="91440" bIns="45720" rIns="91440">
            <a:prstTxWarp prst="textNoShape">
              <a:avLst/>
            </a:prstTxWarp>
            <a:noAutofit/>
          </a:bodyPr>
          <a:p>
            <a:pPr algn="ctr" marL="0"/>
          </a:p>
        </p:txBody>
      </p:sp>
      <p:sp>
        <p:nvSpPr>
          <p:cNvPr name="AutoShape 13" id="13"/>
          <p:cNvSpPr/>
          <p:nvPr/>
        </p:nvSpPr>
        <p:spPr>
          <a:xfrm>
            <a:off x="4852068" y="4780233"/>
            <a:ext cx="2714224" cy="1205528"/>
          </a:xfrm>
          <a:prstGeom prst="rect">
            <a:avLst/>
          </a:prstGeom>
          <a:blipFill>
            <a:blip r:embed="rId3">
              <a:duotone>
                <a:prstClr val="black"/>
                <a:schemeClr val="accent1">
                  <a:satMod val="400000"/>
                  <a:tint val="45000"/>
                </a:schemeClr>
              </a:duotone>
            </a:blip>
            <a:stretch>
              <a:fillRect t="-25293" l="0" b="-24762" r="0"/>
            </a:stretch>
          </a:blipFill>
          <a:ln>
            <a:noFill/>
          </a:ln>
          <a:effectLst/>
        </p:spPr>
        <p:txBody>
          <a:bodyPr vert="horz" rot="0" anchor="t" wrap="square" tIns="45720" lIns="91440" bIns="45720" rIns="91440">
            <a:prstTxWarp prst="textNoShape">
              <a:avLst/>
            </a:prstTxWarp>
            <a:noAutofit/>
          </a:bodyPr>
          <a:p>
            <a:pPr algn="ctr" marL="0"/>
          </a:p>
        </p:txBody>
      </p:sp>
      <p:sp>
        <p:nvSpPr>
          <p:cNvPr name="AutoShape 14" id="14"/>
          <p:cNvSpPr/>
          <p:nvPr/>
        </p:nvSpPr>
        <p:spPr>
          <a:xfrm>
            <a:off x="8302772" y="4780233"/>
            <a:ext cx="2714224" cy="1205528"/>
          </a:xfrm>
          <a:prstGeom prst="rect">
            <a:avLst/>
          </a:prstGeom>
          <a:blipFill>
            <a:blip r:embed="rId4">
              <a:duotone>
                <a:prstClr val="black"/>
                <a:schemeClr val="accent1">
                  <a:satMod val="400000"/>
                  <a:tint val="45000"/>
                </a:schemeClr>
              </a:duotone>
            </a:blip>
            <a:stretch>
              <a:fillRect t="-25224" l="0" b="-24698" r="0"/>
            </a:stretch>
          </a:blipFill>
          <a:ln>
            <a:noFill/>
          </a:ln>
          <a:effectLst/>
        </p:spPr>
        <p:txBody>
          <a:bodyPr vert="horz" rot="0" anchor="t" wrap="square" tIns="45720" lIns="91440" bIns="45720" rIns="91440">
            <a:prstTxWarp prst="textNoShape">
              <a:avLst/>
            </a:prstTxWarp>
            <a:noAutofit/>
          </a:bodyPr>
          <a:p>
            <a:pPr algn="ctr" marL="0"/>
          </a:p>
        </p:txBody>
      </p:sp>
      <p:sp>
        <p:nvSpPr>
          <p:cNvPr name="AutoShape 15" id="15"/>
          <p:cNvSpPr/>
          <p:nvPr/>
        </p:nvSpPr>
        <p:spPr>
          <a:xfrm>
            <a:off x="10795000" y="6540500"/>
            <a:ext cx="1270000" cy="190500"/>
          </a:xfrm>
          <a:prstGeom prst="rect">
            <a:avLst/>
          </a:prstGeom>
          <a:solidFill>
            <a:srgbClr val="000000">
              <a:alpha val="0"/>
            </a:srgbClr>
          </a:solidFill>
        </p:spPr>
        <p:txBody>
          <a:bodyPr anchor="t" rtlCol="false"/>
          <a:lstStyle/>
          <a:p>
            <a:pPr algn="r">
              <a:defRPr/>
            </a:pPr>
            <a:r>
              <a:rPr lang="en-US" b="false" i="false" sz="800" baseline="0" u="none">
                <a:solidFill>
                  <a:srgbClr val="808080"/>
                </a:solidFill>
                <a:latin typeface="Microsoft YaHei"/>
                <a:ea typeface="Microsoft YaHei"/>
              </a:rPr>
              <a:t>内容由AI生成</a:t>
            </a:r>
            <a:endParaRPr lang="en-US" sz="1100"/>
          </a:p>
        </p:txBody>
      </p:sp>
    </p:spTree>
  </p:cSld>
  <p:clrMapOvr>
    <a:masterClrMapping/>
  </p:clrMapOvr>
  <p:transition spd="fast"/>
</p:sld>
</file>

<file path=ppt/slides/slide36.xml><?xml version="1.0" encoding="utf-8"?>
<p:sld xmlns:p="http://schemas.openxmlformats.org/presentationml/2006/main" xmlns:a="http://schemas.openxmlformats.org/drawingml/2006/main" xmlns:r="http://schemas.openxmlformats.org/officeDocument/2006/relationships">
  <p:cSld>
    <p:bg>
      <p:bgPr>
        <a:solidFill>
          <a:schemeClr val="bg1"/>
        </a:solidFill>
      </p:bgPr>
    </p:bg>
    <p:spTree>
      <p:nvGrpSpPr>
        <p:cNvPr id="1" name=""/>
        <p:cNvGrpSpPr/>
        <p:nvPr/>
      </p:nvGrpSpPr>
      <p:grpSpPr>
        <a:xfrm>
          <a:off x="0" y="0"/>
          <a:ext cx="0" cy="0"/>
          <a:chOff x="0" y="0"/>
          <a:chExt cx="0" cy="0"/>
        </a:xfrm>
      </p:grpSpPr>
      <p:sp>
        <p:nvSpPr>
          <p:cNvPr name="AutoShape 2" id="2"/>
          <p:cNvSpPr/>
          <p:nvPr>
            <p:ph type="title"/>
          </p:nvPr>
        </p:nvSpPr>
        <p:spPr>
          <a:xfrm>
            <a:off x="6343378" y="1136894"/>
            <a:ext cx="5164367" cy="954107"/>
          </a:xfrm>
        </p:spPr>
        <p:txBody>
          <a:bodyPr vert="horz" anchor="b" tIns="45720" lIns="91440" bIns="45720" rIns="91440">
            <a:normAutofit/>
          </a:bodyPr>
          <a:p>
            <a:pPr algn="l">
              <a:lnSpc>
                <a:spcPct val="90000"/>
              </a:lnSpc>
              <a:spcBef>
                <a:spcPct val="0"/>
              </a:spcBef>
            </a:pPr>
            <a:r>
              <a:rPr lang="zh-CN" b="true" i="false" sz="2800" baseline="0" u="none" altLang="en-US">
                <a:solidFill>
                  <a:srgbClr val="000000"/>
                </a:solidFill>
                <a:latin typeface="微软雅黑"/>
                <a:ea typeface="微软雅黑"/>
              </a:rPr>
              <a:t>课程作业与考核</a:t>
            </a:r>
          </a:p>
        </p:txBody>
      </p:sp>
      <p:sp>
        <p:nvSpPr>
          <p:cNvPr name="TextBox 3" id="3"/>
          <p:cNvSpPr txBox="true"/>
          <p:nvPr/>
        </p:nvSpPr>
        <p:spPr>
          <a:xfrm>
            <a:off x="1121961" y="2137980"/>
            <a:ext cx="3589109" cy="1177290"/>
          </a:xfrm>
          <a:prstGeom prst="rect">
            <a:avLst/>
          </a:prstGeom>
          <a:noFill/>
          <a:ln>
            <a:noFill/>
          </a:ln>
        </p:spPr>
        <p:txBody>
          <a:bodyPr anchor="t" rtlCol="false" vert="horz" wrap="square" tIns="45720" lIns="91440" bIns="45720" rIns="91440">
            <a:spAutoFit/>
          </a:bodyPr>
          <a:lstStyle/>
          <a:p>
            <a:pPr algn="l" fontAlgn="auto" indent="0" marR="0" marL="0">
              <a:lnSpc>
                <a:spcPct val="150000"/>
              </a:lnSpc>
              <a:spcBef>
                <a:spcPct val="0"/>
              </a:spcBef>
              <a:spcAft>
                <a:spcPct val="0"/>
              </a:spcAft>
              <a:defRPr/>
            </a:pPr>
            <a:r>
              <a:rPr lang="zh-CN" b="false" i="false" sz="1400" baseline="0" u="none" altLang="en-US">
                <a:ln/>
                <a:solidFill>
                  <a:schemeClr val="tx1"/>
                </a:solidFill>
                <a:effectLst/>
                <a:latin typeface="微软雅黑"/>
                <a:ea typeface="微软雅黑"/>
              </a:rPr>
              <a:t>实现一个学生成绩管理系统，综合运用链表、栈、队列、二叉排序树及排序算法。要求提供菜单界面，支持增删改查、排序与保存功能，并提交源码与实验报告。</a:t>
            </a:r>
            <a:endParaRPr lang="en-US" sz="1100"/>
          </a:p>
        </p:txBody>
      </p:sp>
      <p:sp>
        <p:nvSpPr>
          <p:cNvPr name="TextBox 4" id="4"/>
          <p:cNvSpPr txBox="true"/>
          <p:nvPr/>
        </p:nvSpPr>
        <p:spPr>
          <a:xfrm flipH="true">
            <a:off x="1080067" y="1737870"/>
            <a:ext cx="3677303" cy="338554"/>
          </a:xfrm>
          <a:prstGeom prst="rect">
            <a:avLst/>
          </a:prstGeom>
          <a:noFill/>
          <a:ln cap="rnd">
            <a:noFill/>
            <a:prstDash val="solid"/>
          </a:ln>
          <a:effectLst/>
        </p:spPr>
        <p:txBody>
          <a:bodyPr anchor="ctr" rtlCol="false" vert="horz" rot="0" wrap="square" tIns="45720" lIns="91440" bIns="45720" rIns="91440">
            <a:prstTxWarp prst="textNoShape">
              <a:avLst/>
            </a:prstTxWarp>
            <a:spAutoFit/>
          </a:bodyPr>
          <a:lstStyle/>
          <a:p>
            <a:pPr algn="l" marL="0">
              <a:defRPr/>
            </a:pPr>
            <a:r>
              <a:rPr lang="zh-CN" b="true" i="false" sz="1600" baseline="0" u="none" altLang="en-US">
                <a:solidFill>
                  <a:schemeClr val="tx1"/>
                </a:solidFill>
                <a:latin typeface="微软雅黑"/>
                <a:ea typeface="微软雅黑"/>
              </a:rPr>
              <a:t>程序设计项目</a:t>
            </a:r>
            <a:endParaRPr lang="en-US" sz="1100"/>
          </a:p>
        </p:txBody>
      </p:sp>
      <p:sp>
        <p:nvSpPr>
          <p:cNvPr name="AutoShape 5" id="5"/>
          <p:cNvSpPr/>
          <p:nvPr/>
        </p:nvSpPr>
        <p:spPr>
          <a:xfrm rot="2700000">
            <a:off x="443826" y="1736370"/>
            <a:ext cx="444222" cy="444220"/>
          </a:xfrm>
          <a:prstGeom prst="rect">
            <a:avLst/>
          </a:prstGeom>
          <a:solidFill>
            <a:schemeClr val="accent1"/>
          </a:solidFill>
          <a:ln cap="rnd">
            <a:noFill/>
            <a:prstDash val="solid"/>
          </a:ln>
          <a:effectLst>
            <a:outerShdw algn="ctr" blurRad="254000" dist="127000" rotWithShape="false">
              <a:schemeClr val="accent1">
                <a:alpha val="32000"/>
              </a:schemeClr>
            </a:outerShdw>
          </a:effectLst>
        </p:spPr>
        <p:txBody>
          <a:bodyPr vert="horz" rot="0" anchor="ctr" wrap="square" tIns="45720" lIns="91440" bIns="45720" rIns="91440">
            <a:prstTxWarp prst="textNoShape">
              <a:avLst/>
            </a:prstTxWarp>
            <a:normAutofit/>
          </a:bodyPr>
          <a:p>
            <a:pPr algn="ctr" marL="0"/>
          </a:p>
        </p:txBody>
      </p:sp>
      <p:sp>
        <p:nvSpPr>
          <p:cNvPr name="Freeform 6" id="6"/>
          <p:cNvSpPr/>
          <p:nvPr/>
        </p:nvSpPr>
        <p:spPr>
          <a:xfrm>
            <a:off x="563157" y="1881394"/>
            <a:ext cx="205561" cy="154170"/>
          </a:xfrm>
          <a:custGeom>
            <a:avLst/>
            <a:gdLst/>
            <a:ahLst/>
            <a:cxnLst/>
            <a:rect r="r" b="b" t="t" l="l"/>
            <a:pathLst>
              <a:path w="533400" h="400050" stroke="true" fill="norm" extrusionOk="true">
                <a:moveTo>
                  <a:pt x="534008" y="621"/>
                </a:moveTo>
                <a:lnTo>
                  <a:pt x="534008" y="400671"/>
                </a:lnTo>
                <a:lnTo>
                  <a:pt x="608" y="400671"/>
                </a:lnTo>
                <a:lnTo>
                  <a:pt x="608" y="621"/>
                </a:lnTo>
                <a:lnTo>
                  <a:pt x="534008" y="621"/>
                </a:lnTo>
                <a:close/>
                <a:moveTo>
                  <a:pt x="375607" y="172071"/>
                </a:moveTo>
                <a:lnTo>
                  <a:pt x="247401" y="341616"/>
                </a:lnTo>
                <a:lnTo>
                  <a:pt x="139768" y="235317"/>
                </a:lnTo>
                <a:lnTo>
                  <a:pt x="19658" y="381621"/>
                </a:lnTo>
                <a:lnTo>
                  <a:pt x="514958" y="381621"/>
                </a:lnTo>
                <a:lnTo>
                  <a:pt x="375607" y="172071"/>
                </a:lnTo>
                <a:close/>
                <a:moveTo>
                  <a:pt x="95858" y="57771"/>
                </a:moveTo>
                <a:cubicBezTo>
                  <a:pt x="74808" y="57771"/>
                  <a:pt x="57758" y="74821"/>
                  <a:pt x="57758" y="95871"/>
                </a:cubicBezTo>
                <a:cubicBezTo>
                  <a:pt x="57758" y="116921"/>
                  <a:pt x="74808" y="133971"/>
                  <a:pt x="95858" y="133971"/>
                </a:cubicBezTo>
                <a:cubicBezTo>
                  <a:pt x="116908" y="133971"/>
                  <a:pt x="133958" y="116921"/>
                  <a:pt x="133958" y="95871"/>
                </a:cubicBezTo>
                <a:cubicBezTo>
                  <a:pt x="133958" y="74821"/>
                  <a:pt x="116908" y="57771"/>
                  <a:pt x="95858" y="57771"/>
                </a:cubicBezTo>
                <a:close/>
              </a:path>
            </a:pathLst>
          </a:custGeom>
          <a:solidFill>
            <a:srgbClr val="FFFFFF"/>
          </a:solidFill>
          <a:ln>
            <a:noFill/>
          </a:ln>
        </p:spPr>
        <p:txBody>
          <a:bodyPr vert="horz" anchor="t" tIns="45720" lIns="91440" bIns="45720" rIns="91440">
            <a:normAutofit/>
          </a:bodyPr>
          <a:p>
            <a:pPr algn="l" marL="0"/>
          </a:p>
        </p:txBody>
      </p:sp>
      <p:sp>
        <p:nvSpPr>
          <p:cNvPr name="TextBox 7" id="7"/>
          <p:cNvSpPr txBox="true"/>
          <p:nvPr/>
        </p:nvSpPr>
        <p:spPr>
          <a:xfrm>
            <a:off x="1121961" y="3817899"/>
            <a:ext cx="4356100" cy="1177290"/>
          </a:xfrm>
          <a:prstGeom prst="rect">
            <a:avLst/>
          </a:prstGeom>
          <a:noFill/>
          <a:ln>
            <a:noFill/>
          </a:ln>
        </p:spPr>
        <p:txBody>
          <a:bodyPr anchor="t" rtlCol="false" vert="horz" wrap="square" tIns="45720" lIns="91440" bIns="45720" rIns="91440">
            <a:spAutoFit/>
          </a:bodyPr>
          <a:lstStyle/>
          <a:p>
            <a:pPr algn="l" marL="0">
              <a:lnSpc>
                <a:spcPct val="150000"/>
              </a:lnSpc>
              <a:defRPr/>
            </a:pPr>
            <a:r>
              <a:rPr lang="zh-CN" b="false" i="false" sz="1400" baseline="0" u="none" altLang="en-US">
                <a:ln/>
                <a:solidFill>
                  <a:schemeClr val="tx1"/>
                </a:solidFill>
                <a:effectLst/>
                <a:latin typeface="微软雅黑"/>
                <a:ea typeface="微软雅黑"/>
              </a:rPr>
              <a:t>考试题型包括选择题、填空题、应用题（画图构造树/图）、算法设计题。重点考核线性表操作、二叉树遍历、图的遍历与最短路径、哈希表冲突解决、排序算法复杂度与稳定性。</a:t>
            </a:r>
            <a:endParaRPr lang="en-US" sz="1100"/>
          </a:p>
        </p:txBody>
      </p:sp>
      <p:sp>
        <p:nvSpPr>
          <p:cNvPr name="TextBox 8" id="8"/>
          <p:cNvSpPr txBox="true"/>
          <p:nvPr/>
        </p:nvSpPr>
        <p:spPr>
          <a:xfrm flipH="true">
            <a:off x="1080067" y="3417789"/>
            <a:ext cx="4444294" cy="338554"/>
          </a:xfrm>
          <a:prstGeom prst="rect">
            <a:avLst/>
          </a:prstGeom>
          <a:noFill/>
          <a:ln cap="rnd">
            <a:noFill/>
            <a:prstDash val="solid"/>
          </a:ln>
          <a:effectLst/>
        </p:spPr>
        <p:txBody>
          <a:bodyPr anchor="ctr" rtlCol="false" vert="horz" rot="0" wrap="square" tIns="45720" lIns="91440" bIns="45720" rIns="91440">
            <a:prstTxWarp prst="textNoShape">
              <a:avLst/>
            </a:prstTxWarp>
            <a:spAutoFit/>
          </a:bodyPr>
          <a:lstStyle/>
          <a:p>
            <a:pPr algn="l" marL="0">
              <a:defRPr/>
            </a:pPr>
            <a:r>
              <a:rPr lang="zh-CN" b="true" i="false" sz="1600" baseline="0" u="none" altLang="en-US">
                <a:solidFill>
                  <a:schemeClr val="tx1"/>
                </a:solidFill>
                <a:latin typeface="微软雅黑"/>
                <a:ea typeface="微软雅黑"/>
              </a:rPr>
              <a:t>期末考试说明</a:t>
            </a:r>
            <a:endParaRPr lang="en-US" sz="1100"/>
          </a:p>
        </p:txBody>
      </p:sp>
      <p:grpSp>
        <p:nvGrpSpPr>
          <p:cNvPr name="Group 9" id="9"/>
          <p:cNvGrpSpPr/>
          <p:nvPr/>
        </p:nvGrpSpPr>
        <p:grpSpPr>
          <a:xfrm>
            <a:off x="433756" y="3441191"/>
            <a:ext cx="444220" cy="444222"/>
            <a:chOff x="1036531" y="4783367"/>
            <a:chExt cx="444220" cy="444222"/>
          </a:xfrm>
        </p:grpSpPr>
        <p:sp>
          <p:nvSpPr>
            <p:cNvPr name="AutoShape 10" id="10"/>
            <p:cNvSpPr/>
            <p:nvPr/>
          </p:nvSpPr>
          <p:spPr>
            <a:xfrm rot="2700000">
              <a:off x="1036530" y="4783368"/>
              <a:ext cx="444222" cy="444220"/>
            </a:xfrm>
            <a:prstGeom prst="rect">
              <a:avLst/>
            </a:prstGeom>
            <a:solidFill>
              <a:schemeClr val="accent2"/>
            </a:solidFill>
            <a:ln cap="rnd">
              <a:noFill/>
              <a:prstDash val="solid"/>
            </a:ln>
            <a:effectLst>
              <a:outerShdw algn="ctr" blurRad="254000" dist="127000" rotWithShape="false">
                <a:schemeClr val="accent2">
                  <a:alpha val="32000"/>
                </a:schemeClr>
              </a:outerShdw>
            </a:effectLst>
          </p:spPr>
          <p:txBody>
            <a:bodyPr vert="horz" rot="0" anchor="ctr" wrap="square" tIns="45720" lIns="91440" bIns="45720" rIns="91440">
              <a:prstTxWarp prst="textNoShape">
                <a:avLst/>
              </a:prstTxWarp>
              <a:normAutofit/>
            </a:bodyPr>
            <a:p>
              <a:pPr algn="ctr" marL="0"/>
            </a:p>
          </p:txBody>
        </p:sp>
        <p:sp>
          <p:nvSpPr>
            <p:cNvPr name="Freeform 11" id="11"/>
            <p:cNvSpPr/>
            <p:nvPr/>
          </p:nvSpPr>
          <p:spPr>
            <a:xfrm>
              <a:off x="1155861" y="4921052"/>
              <a:ext cx="205561" cy="168853"/>
            </a:xfrm>
            <a:custGeom>
              <a:avLst/>
              <a:gdLst/>
              <a:ahLst/>
              <a:cxnLst/>
              <a:rect r="r" b="b" t="t" l="l"/>
              <a:pathLst>
                <a:path w="533400" h="438150" stroke="true" fill="norm" extrusionOk="true">
                  <a:moveTo>
                    <a:pt x="96626" y="133971"/>
                  </a:moveTo>
                  <a:lnTo>
                    <a:pt x="125201" y="286371"/>
                  </a:lnTo>
                  <a:lnTo>
                    <a:pt x="410951" y="286371"/>
                  </a:lnTo>
                  <a:lnTo>
                    <a:pt x="439526" y="133971"/>
                  </a:lnTo>
                  <a:lnTo>
                    <a:pt x="534776" y="133971"/>
                  </a:lnTo>
                  <a:lnTo>
                    <a:pt x="515726" y="381621"/>
                  </a:lnTo>
                  <a:lnTo>
                    <a:pt x="458576" y="381621"/>
                  </a:lnTo>
                  <a:lnTo>
                    <a:pt x="458576" y="438771"/>
                  </a:lnTo>
                  <a:lnTo>
                    <a:pt x="439526" y="438771"/>
                  </a:lnTo>
                  <a:lnTo>
                    <a:pt x="439526" y="381621"/>
                  </a:lnTo>
                  <a:lnTo>
                    <a:pt x="96626" y="381621"/>
                  </a:lnTo>
                  <a:lnTo>
                    <a:pt x="96626" y="438771"/>
                  </a:lnTo>
                  <a:lnTo>
                    <a:pt x="77576" y="438771"/>
                  </a:lnTo>
                  <a:lnTo>
                    <a:pt x="77576" y="381621"/>
                  </a:lnTo>
                  <a:lnTo>
                    <a:pt x="20426" y="381621"/>
                  </a:lnTo>
                  <a:lnTo>
                    <a:pt x="1376" y="133971"/>
                  </a:lnTo>
                  <a:lnTo>
                    <a:pt x="96626" y="133971"/>
                  </a:lnTo>
                  <a:close/>
                  <a:moveTo>
                    <a:pt x="487151" y="621"/>
                  </a:moveTo>
                  <a:lnTo>
                    <a:pt x="487151" y="114921"/>
                  </a:lnTo>
                  <a:lnTo>
                    <a:pt x="425239" y="114921"/>
                  </a:lnTo>
                  <a:lnTo>
                    <a:pt x="396664" y="267321"/>
                  </a:lnTo>
                  <a:lnTo>
                    <a:pt x="139489" y="267321"/>
                  </a:lnTo>
                  <a:lnTo>
                    <a:pt x="110914" y="114921"/>
                  </a:lnTo>
                  <a:lnTo>
                    <a:pt x="58526" y="114921"/>
                  </a:lnTo>
                  <a:lnTo>
                    <a:pt x="58526" y="621"/>
                  </a:lnTo>
                  <a:lnTo>
                    <a:pt x="487151" y="621"/>
                  </a:lnTo>
                  <a:close/>
                </a:path>
              </a:pathLst>
            </a:custGeom>
            <a:solidFill>
              <a:srgbClr val="FFFFFF"/>
            </a:solidFill>
            <a:ln>
              <a:noFill/>
            </a:ln>
          </p:spPr>
          <p:txBody>
            <a:bodyPr vert="horz" anchor="t" tIns="45720" lIns="91440" bIns="45720" rIns="91440">
              <a:normAutofit/>
            </a:bodyPr>
            <a:p>
              <a:pPr algn="l" marL="0"/>
            </a:p>
          </p:txBody>
        </p:sp>
      </p:grpSp>
      <p:sp>
        <p:nvSpPr>
          <p:cNvPr name="TextBox 12" id="12"/>
          <p:cNvSpPr txBox="true"/>
          <p:nvPr/>
        </p:nvSpPr>
        <p:spPr>
          <a:xfrm>
            <a:off x="1121961" y="5497817"/>
            <a:ext cx="4356100" cy="815340"/>
          </a:xfrm>
          <a:prstGeom prst="rect">
            <a:avLst/>
          </a:prstGeom>
          <a:noFill/>
          <a:ln>
            <a:noFill/>
          </a:ln>
        </p:spPr>
        <p:txBody>
          <a:bodyPr anchor="t" rtlCol="false" vert="horz" wrap="square" tIns="45720" lIns="91440" bIns="45720" rIns="91440">
            <a:spAutoFit/>
          </a:bodyPr>
          <a:lstStyle/>
          <a:p>
            <a:pPr algn="l" fontAlgn="auto" indent="0" marR="0" marL="0">
              <a:lnSpc>
                <a:spcPct val="150000"/>
              </a:lnSpc>
              <a:spcBef>
                <a:spcPct val="0"/>
              </a:spcBef>
              <a:spcAft>
                <a:spcPct val="0"/>
              </a:spcAft>
              <a:defRPr/>
            </a:pPr>
            <a:r>
              <a:rPr lang="zh-CN" b="false" i="false" sz="1400" baseline="0" u="none" altLang="en-US">
                <a:ln/>
                <a:solidFill>
                  <a:schemeClr val="tx1"/>
                </a:solidFill>
                <a:effectLst/>
                <a:latin typeface="微软雅黑"/>
                <a:ea typeface="微软雅黑"/>
              </a:rPr>
              <a:t>经典教材：《数据结构（C语言版）》严蔚敏；在线课程：浙江大学《数据结构》MOOC；刷题平台：LeetCode、牛客网；可视化工具：VisuAlgo.</a:t>
            </a:r>
            <a:endParaRPr lang="en-US" sz="1100"/>
          </a:p>
        </p:txBody>
      </p:sp>
      <p:sp>
        <p:nvSpPr>
          <p:cNvPr name="TextBox 13" id="13"/>
          <p:cNvSpPr txBox="true"/>
          <p:nvPr/>
        </p:nvSpPr>
        <p:spPr>
          <a:xfrm flipH="true">
            <a:off x="1080067" y="5097707"/>
            <a:ext cx="4444294" cy="338554"/>
          </a:xfrm>
          <a:prstGeom prst="rect">
            <a:avLst/>
          </a:prstGeom>
          <a:noFill/>
          <a:ln cap="rnd">
            <a:noFill/>
            <a:prstDash val="solid"/>
          </a:ln>
          <a:effectLst/>
        </p:spPr>
        <p:txBody>
          <a:bodyPr anchor="ctr" rtlCol="false" vert="horz" rot="0" wrap="square" tIns="45720" lIns="91440" bIns="45720" rIns="91440">
            <a:prstTxWarp prst="textNoShape">
              <a:avLst/>
            </a:prstTxWarp>
            <a:spAutoFit/>
          </a:bodyPr>
          <a:lstStyle/>
          <a:p>
            <a:pPr algn="l" marL="0">
              <a:defRPr/>
            </a:pPr>
            <a:r>
              <a:rPr lang="zh-CN" b="true" i="false" sz="1600" baseline="0" u="none" altLang="en-US">
                <a:solidFill>
                  <a:schemeClr val="tx1"/>
                </a:solidFill>
                <a:latin typeface="微软雅黑"/>
                <a:ea typeface="微软雅黑"/>
              </a:rPr>
              <a:t>推荐学习资源</a:t>
            </a:r>
            <a:endParaRPr lang="en-US" sz="1100"/>
          </a:p>
        </p:txBody>
      </p:sp>
      <p:grpSp>
        <p:nvGrpSpPr>
          <p:cNvPr name="Group 14" id="14"/>
          <p:cNvGrpSpPr/>
          <p:nvPr/>
        </p:nvGrpSpPr>
        <p:grpSpPr>
          <a:xfrm>
            <a:off x="444957" y="5121765"/>
            <a:ext cx="444220" cy="444222"/>
            <a:chOff x="5203060" y="5186585"/>
            <a:chExt cx="444220" cy="444222"/>
          </a:xfrm>
        </p:grpSpPr>
        <p:sp>
          <p:nvSpPr>
            <p:cNvPr name="AutoShape 15" id="15"/>
            <p:cNvSpPr/>
            <p:nvPr/>
          </p:nvSpPr>
          <p:spPr>
            <a:xfrm rot="2700000">
              <a:off x="5203059" y="5186586"/>
              <a:ext cx="444222" cy="444220"/>
            </a:xfrm>
            <a:prstGeom prst="rect">
              <a:avLst/>
            </a:prstGeom>
            <a:solidFill>
              <a:schemeClr val="accent3"/>
            </a:solidFill>
            <a:ln cap="rnd">
              <a:noFill/>
              <a:prstDash val="solid"/>
            </a:ln>
            <a:effectLst>
              <a:outerShdw algn="ctr" blurRad="254000" dist="127000" rotWithShape="false">
                <a:schemeClr val="accent3">
                  <a:alpha val="32000"/>
                </a:schemeClr>
              </a:outerShdw>
            </a:effectLst>
          </p:spPr>
          <p:txBody>
            <a:bodyPr vert="horz" rot="0" anchor="ctr" wrap="square" tIns="45720" lIns="91440" bIns="45720" rIns="91440">
              <a:prstTxWarp prst="textNoShape">
                <a:avLst/>
              </a:prstTxWarp>
              <a:normAutofit/>
            </a:bodyPr>
            <a:p>
              <a:pPr algn="ctr" marL="0"/>
            </a:p>
          </p:txBody>
        </p:sp>
        <p:sp>
          <p:nvSpPr>
            <p:cNvPr name="Freeform 16" id="16"/>
            <p:cNvSpPr/>
            <p:nvPr/>
          </p:nvSpPr>
          <p:spPr>
            <a:xfrm>
              <a:off x="5322390" y="5315093"/>
              <a:ext cx="205561" cy="187207"/>
            </a:xfrm>
            <a:custGeom>
              <a:avLst/>
              <a:gdLst/>
              <a:ahLst/>
              <a:cxnLst/>
              <a:rect r="r" b="b" t="t" l="l"/>
              <a:pathLst>
                <a:path w="533400" h="485775" stroke="true" fill="norm" extrusionOk="true">
                  <a:moveTo>
                    <a:pt x="125329" y="229221"/>
                  </a:moveTo>
                  <a:lnTo>
                    <a:pt x="125329" y="276846"/>
                  </a:lnTo>
                  <a:lnTo>
                    <a:pt x="144379" y="276846"/>
                  </a:lnTo>
                  <a:lnTo>
                    <a:pt x="144379" y="229221"/>
                  </a:lnTo>
                  <a:lnTo>
                    <a:pt x="392029" y="229221"/>
                  </a:lnTo>
                  <a:lnTo>
                    <a:pt x="392029" y="276846"/>
                  </a:lnTo>
                  <a:lnTo>
                    <a:pt x="411079" y="276846"/>
                  </a:lnTo>
                  <a:lnTo>
                    <a:pt x="411079" y="229221"/>
                  </a:lnTo>
                  <a:lnTo>
                    <a:pt x="534904" y="229221"/>
                  </a:lnTo>
                  <a:lnTo>
                    <a:pt x="534904" y="486396"/>
                  </a:lnTo>
                  <a:lnTo>
                    <a:pt x="1504" y="486396"/>
                  </a:lnTo>
                  <a:lnTo>
                    <a:pt x="1504" y="229221"/>
                  </a:lnTo>
                  <a:lnTo>
                    <a:pt x="125329" y="229221"/>
                  </a:lnTo>
                  <a:close/>
                  <a:moveTo>
                    <a:pt x="411079" y="621"/>
                  </a:moveTo>
                  <a:lnTo>
                    <a:pt x="411079" y="114921"/>
                  </a:lnTo>
                  <a:lnTo>
                    <a:pt x="534904" y="114921"/>
                  </a:lnTo>
                  <a:lnTo>
                    <a:pt x="534904" y="210171"/>
                  </a:lnTo>
                  <a:lnTo>
                    <a:pt x="1504" y="210171"/>
                  </a:lnTo>
                  <a:lnTo>
                    <a:pt x="1504" y="114921"/>
                  </a:lnTo>
                  <a:lnTo>
                    <a:pt x="125329" y="114921"/>
                  </a:lnTo>
                  <a:lnTo>
                    <a:pt x="125329" y="621"/>
                  </a:lnTo>
                  <a:lnTo>
                    <a:pt x="411079" y="621"/>
                  </a:lnTo>
                  <a:close/>
                  <a:moveTo>
                    <a:pt x="392029" y="19671"/>
                  </a:moveTo>
                  <a:lnTo>
                    <a:pt x="144379" y="19671"/>
                  </a:lnTo>
                  <a:lnTo>
                    <a:pt x="144379" y="114921"/>
                  </a:lnTo>
                  <a:lnTo>
                    <a:pt x="392029" y="114921"/>
                  </a:lnTo>
                  <a:lnTo>
                    <a:pt x="392029" y="19671"/>
                  </a:lnTo>
                  <a:close/>
                </a:path>
              </a:pathLst>
            </a:custGeom>
            <a:solidFill>
              <a:srgbClr val="FFFFFF"/>
            </a:solidFill>
            <a:ln>
              <a:noFill/>
            </a:ln>
          </p:spPr>
          <p:txBody>
            <a:bodyPr vert="horz" anchor="t" tIns="45720" lIns="91440" bIns="45720" rIns="91440">
              <a:normAutofit/>
            </a:bodyPr>
            <a:p>
              <a:pPr algn="l" marL="0"/>
            </a:p>
          </p:txBody>
        </p:sp>
      </p:grpSp>
      <p:sp>
        <p:nvSpPr>
          <p:cNvPr name="AutoShape 17" id="17"/>
          <p:cNvSpPr/>
          <p:nvPr/>
        </p:nvSpPr>
        <p:spPr>
          <a:xfrm flipH="true" rot="18900000">
            <a:off x="8269871" y="2685381"/>
            <a:ext cx="2994389" cy="2977099"/>
          </a:xfrm>
          <a:prstGeom prst="rect">
            <a:avLst/>
          </a:prstGeom>
          <a:blipFill>
            <a:blip r:embed="rId2"/>
            <a:stretch>
              <a:fillRect t="-25542" l="0" b="-25329" r="0"/>
            </a:stretch>
          </a:blipFill>
          <a:ln>
            <a:noFill/>
          </a:ln>
          <a:effectLst/>
        </p:spPr>
        <p:txBody>
          <a:bodyPr vert="horz" rot="0" anchor="t" wrap="square" tIns="45720" lIns="91440" bIns="45720" rIns="91440">
            <a:prstTxWarp prst="textNoShape">
              <a:avLst/>
            </a:prstTxWarp>
            <a:noAutofit/>
          </a:bodyPr>
          <a:p>
            <a:pPr algn="ctr" marL="0"/>
          </a:p>
        </p:txBody>
      </p:sp>
      <p:sp>
        <p:nvSpPr>
          <p:cNvPr name="Freeform 18" id="18"/>
          <p:cNvSpPr/>
          <p:nvPr/>
        </p:nvSpPr>
        <p:spPr>
          <a:xfrm>
            <a:off x="9868823" y="1112753"/>
            <a:ext cx="3303326" cy="2996418"/>
          </a:xfrm>
          <a:custGeom>
            <a:avLst/>
            <a:gdLst/>
            <a:ahLst/>
            <a:cxnLst/>
            <a:rect r="r" b="b" t="t" l="l"/>
            <a:pathLst>
              <a:path w="3303326" h="2996418" stroke="true" fill="norm" extrusionOk="true">
                <a:moveTo>
                  <a:pt x="891291" y="0"/>
                </a:moveTo>
                <a:lnTo>
                  <a:pt x="3303326" y="0"/>
                </a:lnTo>
                <a:lnTo>
                  <a:pt x="3303326" y="1798219"/>
                </a:lnTo>
                <a:lnTo>
                  <a:pt x="2105127" y="2996418"/>
                </a:lnTo>
                <a:lnTo>
                  <a:pt x="0" y="891291"/>
                </a:lnTo>
                <a:close/>
              </a:path>
            </a:pathLst>
          </a:custGeom>
          <a:blipFill>
            <a:blip r:embed="rId3"/>
            <a:stretch>
              <a:fillRect t="-32821" l="0" b="-32543" r="0"/>
            </a:stretch>
          </a:blipFill>
          <a:ln>
            <a:noFill/>
          </a:ln>
          <a:effectLst/>
        </p:spPr>
        <p:txBody>
          <a:bodyPr vert="horz" anchor="ctr" wrap="square" tIns="45720" lIns="91440" bIns="45720" rIns="91440">
            <a:noAutofit/>
          </a:bodyPr>
          <a:p>
            <a:pPr algn="ctr" marL="0"/>
          </a:p>
        </p:txBody>
      </p:sp>
      <p:sp>
        <p:nvSpPr>
          <p:cNvPr name="Freeform 19" id="19"/>
          <p:cNvSpPr/>
          <p:nvPr/>
        </p:nvSpPr>
        <p:spPr>
          <a:xfrm>
            <a:off x="5486784" y="1119116"/>
            <a:ext cx="4222480" cy="2996418"/>
          </a:xfrm>
          <a:custGeom>
            <a:avLst/>
            <a:gdLst/>
            <a:ahLst/>
            <a:cxnLst/>
            <a:rect r="r" b="b" t="t" l="l"/>
            <a:pathLst>
              <a:path w="4483378" h="3181560" stroke="true" fill="norm" extrusionOk="true">
                <a:moveTo>
                  <a:pt x="946362" y="0"/>
                </a:moveTo>
                <a:lnTo>
                  <a:pt x="3549998" y="0"/>
                </a:lnTo>
                <a:lnTo>
                  <a:pt x="4483378" y="933381"/>
                </a:lnTo>
                <a:lnTo>
                  <a:pt x="2235198" y="3181560"/>
                </a:lnTo>
                <a:lnTo>
                  <a:pt x="0" y="946362"/>
                </a:lnTo>
                <a:close/>
              </a:path>
            </a:pathLst>
          </a:custGeom>
          <a:blipFill>
            <a:blip r:embed="rId4"/>
            <a:stretch>
              <a:fillRect t="-46969" l="0" b="-46573" r="0"/>
            </a:stretch>
          </a:blipFill>
          <a:ln>
            <a:noFill/>
          </a:ln>
          <a:effectLst/>
        </p:spPr>
        <p:txBody>
          <a:bodyPr vert="horz" anchor="ctr" wrap="square" tIns="45720" lIns="91440" bIns="45720" rIns="91440">
            <a:noAutofit/>
          </a:bodyPr>
          <a:p>
            <a:pPr algn="ctr" marL="0"/>
          </a:p>
        </p:txBody>
      </p:sp>
      <p:sp>
        <p:nvSpPr>
          <p:cNvPr name="AutoShape 20" id="20"/>
          <p:cNvSpPr/>
          <p:nvPr/>
        </p:nvSpPr>
        <p:spPr>
          <a:xfrm flipH="true" flipV="true" rot="18900000">
            <a:off x="9419446" y="4267360"/>
            <a:ext cx="352707" cy="352707"/>
          </a:xfrm>
          <a:prstGeom prst="rect">
            <a:avLst/>
          </a:prstGeom>
          <a:solidFill>
            <a:schemeClr val="accent6"/>
          </a:solidFill>
          <a:ln cap="rnd">
            <a:noFill/>
            <a:prstDash val="solid"/>
          </a:ln>
          <a:effectLst>
            <a:outerShdw algn="ctr" blurRad="254000" dist="127000" rotWithShape="false">
              <a:schemeClr val="accent6">
                <a:alpha val="32000"/>
              </a:schemeClr>
            </a:outerShdw>
          </a:effectLst>
        </p:spPr>
        <p:txBody>
          <a:bodyPr vert="horz" rot="0" anchor="ctr" wrap="square" tIns="45720" lIns="91440" bIns="45720" rIns="91440">
            <a:prstTxWarp prst="textNoShape">
              <a:avLst/>
            </a:prstTxWarp>
            <a:noAutofit/>
          </a:bodyPr>
          <a:p>
            <a:pPr algn="ctr" marL="0"/>
          </a:p>
        </p:txBody>
      </p:sp>
      <p:sp>
        <p:nvSpPr>
          <p:cNvPr name="AutoShape 21" id="21"/>
          <p:cNvSpPr/>
          <p:nvPr/>
        </p:nvSpPr>
        <p:spPr>
          <a:xfrm>
            <a:off x="10795000" y="6540500"/>
            <a:ext cx="1270000" cy="190500"/>
          </a:xfrm>
          <a:prstGeom prst="rect">
            <a:avLst/>
          </a:prstGeom>
          <a:solidFill>
            <a:srgbClr val="000000">
              <a:alpha val="0"/>
            </a:srgbClr>
          </a:solidFill>
        </p:spPr>
        <p:txBody>
          <a:bodyPr anchor="t" rtlCol="false"/>
          <a:lstStyle/>
          <a:p>
            <a:pPr algn="r">
              <a:defRPr/>
            </a:pPr>
            <a:r>
              <a:rPr lang="en-US" b="false" i="false" sz="800" baseline="0" u="none">
                <a:solidFill>
                  <a:srgbClr val="808080"/>
                </a:solidFill>
                <a:latin typeface="Microsoft YaHei"/>
                <a:ea typeface="Microsoft YaHei"/>
              </a:rPr>
              <a:t>内容由AI生成</a:t>
            </a:r>
            <a:endParaRPr lang="en-US" sz="1100"/>
          </a:p>
        </p:txBody>
      </p:sp>
    </p:spTree>
  </p:cSld>
  <p:clrMapOvr>
    <a:masterClrMapping/>
  </p:clrMapOvr>
</p:sld>
</file>

<file path=ppt/slides/slide37.xml><?xml version="1.0" encoding="utf-8"?>
<p:sld xmlns:p="http://schemas.openxmlformats.org/presentationml/2006/main" xmlns:a="http://schemas.openxmlformats.org/drawingml/2006/main" xmlns:r="http://schemas.openxmlformats.org/officeDocument/2006/relationships">
  <p:cSld>
    <p:bg>
      <p:bgPr>
        <a:blipFill rotWithShape="true">
          <a:blip r:embed="rId2"/>
          <a:srcRect/>
          <a:stretch>
            <a:fillRect t="0" l="0" b="0" r="0"/>
          </a:stretch>
        </a:blipFill>
      </p:bgPr>
    </p:bg>
    <p:spTree>
      <p:nvGrpSpPr>
        <p:cNvPr id="1" name=""/>
        <p:cNvGrpSpPr/>
        <p:nvPr/>
      </p:nvGrpSpPr>
      <p:grpSpPr>
        <a:xfrm>
          <a:off x="0" y="0"/>
          <a:ext cx="0" cy="0"/>
          <a:chOff x="0" y="0"/>
          <a:chExt cx="0" cy="0"/>
        </a:xfrm>
      </p:grpSpPr>
      <p:sp>
        <p:nvSpPr>
          <p:cNvPr name="AutoShape 2" id="2"/>
          <p:cNvSpPr/>
          <p:nvPr/>
        </p:nvSpPr>
        <p:spPr>
          <a:xfrm>
            <a:off x="0" y="0"/>
            <a:ext cx="12192000" cy="6858000"/>
          </a:xfrm>
          <a:prstGeom prst="rect">
            <a:avLst/>
          </a:prstGeom>
          <a:gradFill rotWithShape="true" flip="none">
            <a:gsLst>
              <a:gs pos="0">
                <a:srgbClr val="0A854D"/>
              </a:gs>
              <a:gs pos="100000">
                <a:srgbClr val="318B49">
                  <a:alpha val="0"/>
                </a:srgbClr>
              </a:gs>
            </a:gsLst>
            <a:tileRect/>
          </a:gradFill>
          <a:ln>
            <a:noFill/>
          </a:ln>
        </p:spPr>
        <p:txBody>
          <a:bodyPr vert="horz" anchor="ctr" tIns="45720" lIns="91440" bIns="45720" rIns="91440"/>
          <a:p>
            <a:pPr algn="ctr" marL="0"/>
          </a:p>
        </p:txBody>
      </p:sp>
      <p:sp>
        <p:nvSpPr>
          <p:cNvPr name="Freeform 3" id="3"/>
          <p:cNvSpPr/>
          <p:nvPr/>
        </p:nvSpPr>
        <p:spPr>
          <a:xfrm>
            <a:off x="650240" y="893196"/>
            <a:ext cx="378355" cy="378355"/>
          </a:xfrm>
          <a:custGeom>
            <a:avLst/>
            <a:gdLst/>
            <a:ahLst/>
            <a:cxnLst/>
            <a:rect r="r" b="b" t="t" l="l"/>
            <a:pathLst>
              <a:path w="634790" h="634790" stroke="true" fill="norm" extrusionOk="true">
                <a:moveTo>
                  <a:pt x="268240" y="235406"/>
                </a:moveTo>
                <a:lnTo>
                  <a:pt x="268240" y="486178"/>
                </a:lnTo>
                <a:lnTo>
                  <a:pt x="368960" y="486178"/>
                </a:lnTo>
                <a:lnTo>
                  <a:pt x="368960" y="235406"/>
                </a:lnTo>
                <a:close/>
                <a:moveTo>
                  <a:pt x="319337" y="127942"/>
                </a:moveTo>
                <a:cubicBezTo>
                  <a:pt x="305602" y="127942"/>
                  <a:pt x="294063" y="132613"/>
                  <a:pt x="284721" y="141955"/>
                </a:cubicBezTo>
                <a:cubicBezTo>
                  <a:pt x="275379" y="151296"/>
                  <a:pt x="270709" y="162667"/>
                  <a:pt x="270709" y="176066"/>
                </a:cubicBezTo>
                <a:cubicBezTo>
                  <a:pt x="270709" y="189754"/>
                  <a:pt x="275391" y="201281"/>
                  <a:pt x="284757" y="210646"/>
                </a:cubicBezTo>
                <a:cubicBezTo>
                  <a:pt x="294122" y="220012"/>
                  <a:pt x="305649" y="224695"/>
                  <a:pt x="319337" y="224695"/>
                </a:cubicBezTo>
                <a:cubicBezTo>
                  <a:pt x="332973" y="224695"/>
                  <a:pt x="344487" y="219999"/>
                  <a:pt x="353878" y="210607"/>
                </a:cubicBezTo>
                <a:cubicBezTo>
                  <a:pt x="363270" y="201215"/>
                  <a:pt x="367966" y="189701"/>
                  <a:pt x="367966" y="176066"/>
                </a:cubicBezTo>
                <a:cubicBezTo>
                  <a:pt x="367966" y="162719"/>
                  <a:pt x="363282" y="151362"/>
                  <a:pt x="353914" y="141994"/>
                </a:cubicBezTo>
                <a:cubicBezTo>
                  <a:pt x="344546" y="132626"/>
                  <a:pt x="333020" y="127942"/>
                  <a:pt x="319337" y="127942"/>
                </a:cubicBezTo>
                <a:close/>
                <a:moveTo>
                  <a:pt x="317395" y="0"/>
                </a:moveTo>
                <a:cubicBezTo>
                  <a:pt x="492687" y="0"/>
                  <a:pt x="634790" y="142103"/>
                  <a:pt x="634790" y="317395"/>
                </a:cubicBezTo>
                <a:cubicBezTo>
                  <a:pt x="634790" y="492687"/>
                  <a:pt x="492687" y="634790"/>
                  <a:pt x="317395" y="634790"/>
                </a:cubicBezTo>
                <a:cubicBezTo>
                  <a:pt x="142103" y="634790"/>
                  <a:pt x="0" y="492687"/>
                  <a:pt x="0" y="317395"/>
                </a:cubicBezTo>
                <a:cubicBezTo>
                  <a:pt x="0" y="142103"/>
                  <a:pt x="142103" y="0"/>
                  <a:pt x="317395" y="0"/>
                </a:cubicBezTo>
                <a:close/>
              </a:path>
            </a:pathLst>
          </a:custGeom>
          <a:solidFill>
            <a:schemeClr val="bg1"/>
          </a:solidFill>
          <a:ln>
            <a:noFill/>
          </a:ln>
        </p:spPr>
        <p:txBody>
          <a:bodyPr vert="horz" anchor="ctr" wrap="square" tIns="45720" lIns="91440" bIns="45720" rIns="91440">
            <a:noAutofit/>
          </a:bodyPr>
          <a:p>
            <a:pPr algn="ctr" marL="0"/>
          </a:p>
        </p:txBody>
      </p:sp>
      <p:sp>
        <p:nvSpPr>
          <p:cNvPr name="TextBox 4" id="4"/>
          <p:cNvSpPr txBox="true"/>
          <p:nvPr/>
        </p:nvSpPr>
        <p:spPr>
          <a:xfrm>
            <a:off x="1051967" y="890172"/>
            <a:ext cx="2569777" cy="400110"/>
          </a:xfrm>
          <a:prstGeom prst="rect">
            <a:avLst/>
          </a:prstGeom>
          <a:noFill/>
        </p:spPr>
        <p:txBody>
          <a:bodyPr anchor="t" rtlCol="false" vert="horz" wrap="square" tIns="45720" lIns="91440" bIns="45720" rIns="91440">
            <a:spAutoFit/>
          </a:bodyPr>
          <a:lstStyle/>
          <a:p>
            <a:pPr algn="l" marL="0">
              <a:defRPr/>
            </a:pPr>
            <a:r>
              <a:rPr lang="en-US" b="true" i="false" sz="2000" baseline="0" u="none">
                <a:solidFill>
                  <a:schemeClr val="bg1"/>
                </a:solidFill>
                <a:latin typeface="微软雅黑"/>
                <a:ea typeface="微软雅黑"/>
              </a:rPr>
              <a:t>YOUR LOGO</a:t>
            </a:r>
            <a:endParaRPr lang="en-US" sz="1100"/>
          </a:p>
        </p:txBody>
      </p:sp>
      <p:sp>
        <p:nvSpPr>
          <p:cNvPr name="TextBox 5" id="5"/>
          <p:cNvSpPr txBox="true"/>
          <p:nvPr/>
        </p:nvSpPr>
        <p:spPr>
          <a:xfrm>
            <a:off x="2048643" y="2426912"/>
            <a:ext cx="8094713" cy="1200329"/>
          </a:xfrm>
          <a:prstGeom prst="rect">
            <a:avLst/>
          </a:prstGeom>
          <a:noFill/>
        </p:spPr>
        <p:txBody>
          <a:bodyPr anchor="t" rtlCol="false" vert="horz" wrap="square" tIns="45720" lIns="91440" bIns="45720" rIns="91440">
            <a:spAutoFit/>
          </a:bodyPr>
          <a:lstStyle/>
          <a:p>
            <a:pPr algn="ctr" marL="0">
              <a:defRPr/>
            </a:pPr>
            <a:r>
              <a:rPr lang="zh-CN" b="true" i="false" sz="7200" baseline="0" u="none" altLang="en-US">
                <a:solidFill>
                  <a:schemeClr val="bg1"/>
                </a:solidFill>
                <a:latin typeface="微软雅黑"/>
                <a:ea typeface="微软雅黑"/>
              </a:rPr>
              <a:t>感谢聆听</a:t>
            </a:r>
            <a:endParaRPr lang="en-US" sz="1100"/>
          </a:p>
        </p:txBody>
      </p:sp>
      <p:grpSp>
        <p:nvGrpSpPr>
          <p:cNvPr name="Group 6" id="6"/>
          <p:cNvGrpSpPr/>
          <p:nvPr/>
        </p:nvGrpSpPr>
        <p:grpSpPr>
          <a:xfrm>
            <a:off x="3938125" y="3815347"/>
            <a:ext cx="4798350" cy="338555"/>
            <a:chOff x="4050366" y="3647437"/>
            <a:chExt cx="4798350" cy="338555"/>
          </a:xfrm>
        </p:grpSpPr>
        <p:sp>
          <p:nvSpPr>
            <p:cNvPr name="TextBox 7" id="7"/>
            <p:cNvSpPr txBox="true"/>
            <p:nvPr/>
          </p:nvSpPr>
          <p:spPr>
            <a:xfrm>
              <a:off x="4366414" y="3647437"/>
              <a:ext cx="1623082" cy="338554"/>
            </a:xfrm>
            <a:prstGeom prst="rect">
              <a:avLst/>
            </a:prstGeom>
            <a:noFill/>
          </p:spPr>
          <p:txBody>
            <a:bodyPr anchor="t" rtlCol="false" vert="horz" wrap="square" tIns="45720" lIns="91440" bIns="45720" rIns="91440">
              <a:spAutoFit/>
            </a:bodyPr>
            <a:lstStyle/>
            <a:p>
              <a:pPr algn="l" marL="0">
                <a:defRPr/>
              </a:pPr>
              <a:r>
                <a:rPr lang="zh-CN" b="false" i="false" sz="1600" baseline="0" u="none" altLang="en-US">
                  <a:solidFill>
                    <a:schemeClr val="bg1"/>
                  </a:solidFill>
                  <a:latin typeface="微软雅黑"/>
                  <a:ea typeface="微软雅黑"/>
                </a:rPr>
                <a:t>演讲人：</a:t>
              </a:r>
              <a:r>
                <a:rPr lang="en-US" b="false" i="false" sz="1600" baseline="0" u="none">
                  <a:solidFill>
                    <a:schemeClr val="bg1"/>
                  </a:solidFill>
                  <a:latin typeface="微软雅黑"/>
                  <a:ea typeface="微软雅黑"/>
                </a:rPr>
                <a:t>XXX</a:t>
              </a:r>
              <a:endParaRPr lang="en-US" sz="1100"/>
            </a:p>
          </p:txBody>
        </p:sp>
        <p:sp>
          <p:nvSpPr>
            <p:cNvPr name="TextBox 8" id="8"/>
            <p:cNvSpPr txBox="true"/>
            <p:nvPr/>
          </p:nvSpPr>
          <p:spPr>
            <a:xfrm>
              <a:off x="6096000" y="3647438"/>
              <a:ext cx="2752716" cy="338554"/>
            </a:xfrm>
            <a:prstGeom prst="rect">
              <a:avLst/>
            </a:prstGeom>
            <a:noFill/>
          </p:spPr>
          <p:txBody>
            <a:bodyPr anchor="t" rtlCol="false" vert="horz" wrap="square" tIns="45720" lIns="91440" bIns="45720" rIns="91440">
              <a:spAutoFit/>
            </a:bodyPr>
            <a:lstStyle/>
            <a:p>
              <a:pPr algn="ctr" marL="0">
                <a:defRPr/>
              </a:pPr>
              <a:r>
                <a:rPr lang="zh-CN" b="false" i="false" sz="1600" baseline="0" u="none" altLang="en-US">
                  <a:solidFill>
                    <a:schemeClr val="bg1"/>
                  </a:solidFill>
                  <a:latin typeface="微软雅黑"/>
                  <a:ea typeface="微软雅黑"/>
                </a:rPr>
                <a:t>时间：2026年06月04日</a:t>
              </a:r>
              <a:endParaRPr lang="en-US" sz="1100"/>
            </a:p>
          </p:txBody>
        </p:sp>
        <p:pic>
          <p:nvPicPr>
            <p:cNvPr name="image41.png" id="9"/>
            <p:cNvPicPr>
              <a:picLocks noChangeAspect="true"/>
            </p:cNvPicPr>
            <p:nvPr/>
          </p:nvPicPr>
          <p:blipFill>
            <a:blip r:embed="rId3">
              <a:biLevel thresh="25000"/>
            </a:blip>
            <a:stretch>
              <a:fillRect t="0" l="0" b="0" r="0"/>
            </a:stretch>
          </p:blipFill>
          <p:spPr>
            <a:xfrm>
              <a:off x="4050366" y="3647437"/>
              <a:ext cx="338555" cy="338555"/>
            </a:xfrm>
            <a:prstGeom prst="rect">
              <a:avLst/>
            </a:prstGeom>
          </p:spPr>
        </p:pic>
        <p:pic>
          <p:nvPicPr>
            <p:cNvPr name="image42.png" id="10"/>
            <p:cNvPicPr>
              <a:picLocks noChangeAspect="true"/>
            </p:cNvPicPr>
            <p:nvPr/>
          </p:nvPicPr>
          <p:blipFill>
            <a:blip r:embed="rId4">
              <a:biLevel thresh="25000"/>
            </a:blip>
            <a:stretch>
              <a:fillRect t="0" l="0" b="0" r="0"/>
            </a:stretch>
          </p:blipFill>
          <p:spPr>
            <a:xfrm>
              <a:off x="5989496" y="3684004"/>
              <a:ext cx="265421" cy="265421"/>
            </a:xfrm>
            <a:prstGeom prst="rect">
              <a:avLst/>
            </a:prstGeom>
          </p:spPr>
        </p:pic>
      </p:grpSp>
      <p:sp>
        <p:nvSpPr>
          <p:cNvPr name="AutoShape 11" id="11"/>
          <p:cNvSpPr/>
          <p:nvPr/>
        </p:nvSpPr>
        <p:spPr>
          <a:xfrm>
            <a:off x="10795000" y="6540500"/>
            <a:ext cx="1270000" cy="190500"/>
          </a:xfrm>
          <a:prstGeom prst="rect">
            <a:avLst/>
          </a:prstGeom>
          <a:solidFill>
            <a:srgbClr val="000000">
              <a:alpha val="0"/>
            </a:srgbClr>
          </a:solidFill>
        </p:spPr>
        <p:txBody>
          <a:bodyPr anchor="t" rtlCol="false"/>
          <a:lstStyle/>
          <a:p>
            <a:pPr algn="r">
              <a:defRPr/>
            </a:pPr>
            <a:r>
              <a:rPr lang="en-US" b="false" i="false" sz="800" baseline="0" u="none">
                <a:solidFill>
                  <a:srgbClr val="808080"/>
                </a:solidFill>
                <a:latin typeface="Microsoft YaHei"/>
                <a:ea typeface="Microsoft YaHei"/>
              </a:rPr>
              <a:t>内容由AI生成</a:t>
            </a:r>
            <a:endParaRPr lang="en-US" sz="1100"/>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全屏显示(4:3)</PresentationFormat>
  <Paragraphs>0</Paragraphs>
  <Slides>37</Slides>
  <Notes>0</Notes>
  <HiddenSlides>0</HiddenSlides>
  <MMClips>0</MMClips>
  <ScaleCrop>false</ScaleCrop>
  <HeadingPairs>
    <vt:vector size="6" baseType="variant">
      <vt:variant>
        <vt:lpstr>已用的字体</vt:lpstr>
      </vt:variant>
      <vt:variant>
        <vt:i4>1</vt:i4>
      </vt:variant>
      <vt:variant>
        <vt:lpstr>主题</vt:lpstr>
      </vt:variant>
      <vt:variant>
        <vt:i4>1</vt:i4>
      </vt:variant>
      <vt:variant>
        <vt:lpstr>幻灯片标题</vt:lpstr>
      </vt:variant>
      <vt:variant>
        <vt:i4>0</vt:i4>
      </vt:variant>
    </vt:vector>
  </HeadingPairs>
  <TitlesOfParts>
    <vt:vector size="2" baseType="lpstr">
      <vt:lpstr>Arial</vt:lpstr>
      <vt:lpstr>Office Theme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2026-06-04T09:46:02Z</dcterms:created>
  <cp:lastModifiedBy>user</cp:lastModifiedBy>
  <dcterms:modified xsi:type="dcterms:W3CDTF">2026-06-04T09:46:02Z</dcterms:modified>
  <cp:revision>1</cp:revision>
</cp:coreProperties>
</file>

<file path=docProps/custom.xml><?xml version="1.0" encoding="utf-8"?>
<Properties xmlns="http://schemas.openxmlformats.org/officeDocument/2006/custom-properties" xmlns:vt="http://schemas.openxmlformats.org/officeDocument/2006/docPropsVTypes">
  <property pid="2" fmtid="{D5CDD505-2E9C-101B-9397-08002B2CF9AE}" name="copyright">
    <vt:lpwstr>https://docmee.cn</vt:lpwstr>
  </property>
  <property pid="3" fmtid="{D5CDD505-2E9C-101B-9397-08002B2CF9AE}" name="developer">
    <vt:lpwstr>https://github.com/veasion</vt:lpwstr>
  </property>
  <property pid="4" fmtid="{D5CDD505-2E9C-101B-9397-08002B2CF9AE}" name="AIGC">
    <vt:lpwstr>{"ContentPropagator":"文多多","Label":"1","ReservedCode1":"1780566362362","ProduceID":"wenduoduo-pptx-1780566362362","ReservedCode2":"1780566362362","PropagateID":"wenduoduo-pptx1780566362362","ContentProducer":"文多多"}</vt:lpwstr>
  </property>
</Properties>
</file>