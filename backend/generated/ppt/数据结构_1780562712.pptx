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3" id="3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4" id="4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vert="horz" anchor="b" tIns="45720" lIns="91440" bIns="45720" rIns="91440"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60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anchor="t" tIns="45720" lIns="91440" bIns="45720" rIns="91440"/>
          <a:p>
            <a:pPr algn="ctr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单击此处编辑母版副标题样式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eaVert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838200" y="1825625"/>
            <a:ext cx="10515600" cy="435133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anchor="b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60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400" baseline="0" u="none" altLang="en-US">
                <a:solidFill>
                  <a:schemeClr val="tx1">
                    <a:tint val="75000"/>
                  </a:schemeClr>
                </a:solidFill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obj" sz="half" idx="1"/>
          </p:nvPr>
        </p:nvSpPr>
        <p:spPr>
          <a:xfrm>
            <a:off x="838200" y="1825625"/>
            <a:ext cx="5181600" cy="435133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obj" sz="half" idx="2"/>
          </p:nvPr>
        </p:nvSpPr>
        <p:spPr>
          <a:xfrm>
            <a:off x="6172200" y="1825625"/>
            <a:ext cx="5181600" cy="435133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5" id="5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6" id="6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vert="horz" anchor="b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true" i="false" sz="24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type="obj" sz="half" idx="2"/>
          </p:nvPr>
        </p:nvSpPr>
        <p:spPr>
          <a:xfrm>
            <a:off x="839788" y="2505075"/>
            <a:ext cx="5157787" cy="368458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5" id="5"/>
          <p:cNvSpPr/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vert="horz" anchor="b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true" i="false" sz="24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6" id="6"/>
          <p:cNvSpPr/>
          <p:nvPr>
            <p:ph type="obj" sz="quarter" idx="4"/>
          </p:nvPr>
        </p:nvSpPr>
        <p:spPr>
          <a:xfrm>
            <a:off x="6172200" y="2505075"/>
            <a:ext cx="5183188" cy="368458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7" id="7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8" id="8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9" id="9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4" id="4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anchor="b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32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5183188" y="987425"/>
            <a:ext cx="6172200" cy="4873625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32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16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6" id="6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anchor="b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32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</a:p>
        </p:txBody>
      </p:sp>
      <p:sp>
        <p:nvSpPr>
          <p:cNvPr name="AutoShape 4" id="4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16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6" id="6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9.xml" Type="http://schemas.openxmlformats.org/officeDocument/2006/relationships/slideLayout"/><Relationship Id="rId11" Target="../slideLayouts/slideLayout10.xml" Type="http://schemas.openxmlformats.org/officeDocument/2006/relationships/slideLayout"/><Relationship Id="rId12" Target="../slideLayouts/slideLayout11.xml" Type="http://schemas.openxmlformats.org/officeDocument/2006/relationships/slideLayout"/><Relationship Id="rId2" Target="../theme/theme1.xml" Type="http://schemas.openxmlformats.org/officeDocument/2006/relationships/theme"/><Relationship Id="rId3" Target="../slideLayouts/slideLayout2.xml" Type="http://schemas.openxmlformats.org/officeDocument/2006/relationships/slideLayout"/><Relationship Id="rId4" Target="../slideLayouts/slideLayout3.xml" Type="http://schemas.openxmlformats.org/officeDocument/2006/relationships/slideLayout"/><Relationship Id="rId5" Target="../slideLayouts/slideLayout4.xml" Type="http://schemas.openxmlformats.org/officeDocument/2006/relationships/slideLayout"/><Relationship Id="rId6" Target="../slideLayouts/slideLayout5.xml" Type="http://schemas.openxmlformats.org/officeDocument/2006/relationships/slideLayout"/><Relationship Id="rId7" Target="../slideLayouts/slideLayout6.xml" Type="http://schemas.openxmlformats.org/officeDocument/2006/relationships/slideLayout"/><Relationship Id="rId8" Target="../slideLayouts/slideLayout7.xml" Type="http://schemas.openxmlformats.org/officeDocument/2006/relationships/slideLayout"/><Relationship Id="rId9" Target="../slideLayouts/slideLayout8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  <a:fld type="slidenum" id="{3386411A-70EE-422D-B97C-F56BEE3FF077}">
              <a:rPr lang="zh-CN" b="false" i="false" sz="1800" baseline="0" u="none" altLang="en-US">
                <a:solidFill>
                  <a:schemeClr val="tx1"/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jpe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318B49"/>
              </a:gs>
              <a:gs pos="100000">
                <a:srgbClr val="318B49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623888" y="1894452"/>
            <a:ext cx="8245916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数据结构：从零开始构建高效程序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50240" y="4033171"/>
            <a:ext cx="1776730" cy="441949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2811647" y="4033170"/>
            <a:ext cx="2912110" cy="441949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749617" y="4069478"/>
            <a:ext cx="1577975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演讲人：</a:t>
            </a: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XXX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2911024" y="4069478"/>
            <a:ext cx="2724150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日期：2026年06月04日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50240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795248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940256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1085264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1230272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1375280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1520288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1665296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6" id="16"/>
          <p:cNvSpPr/>
          <p:nvPr/>
        </p:nvSpPr>
        <p:spPr>
          <a:xfrm>
            <a:off x="1810304" y="3329621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7" id="17"/>
          <p:cNvSpPr/>
          <p:nvPr/>
        </p:nvSpPr>
        <p:spPr>
          <a:xfrm>
            <a:off x="1955312" y="3329621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Freeform 18" id="18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19" id="19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550863" y="5598496"/>
            <a:ext cx="508431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>
            <a:off x="2844865" y="5793461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sp>
        <p:nvSpPr>
          <p:cNvPr name="AutoShape 22" id="2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-6000" b="0" r="-6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159426" y="1096826"/>
            <a:ext cx="7419975" cy="92333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5400" baseline="0" u="none">
                <a:solidFill>
                  <a:schemeClr val="bg1"/>
                </a:solidFill>
                <a:latin typeface="微软雅黑"/>
                <a:ea typeface="微软雅黑"/>
              </a:rPr>
              <a:t>CONTENTS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>
            <a:off x="1226608" y="3227917"/>
            <a:ext cx="947166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cxnSp>
        <p:nvCxnSpPr>
          <p:cNvPr name="Connector 4" id="4"/>
          <p:cNvCxnSpPr/>
          <p:nvPr/>
        </p:nvCxnSpPr>
        <p:spPr>
          <a:xfrm>
            <a:off x="1226608" y="5931416"/>
            <a:ext cx="947166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sp>
        <p:nvSpPr>
          <p:cNvPr name="TextBox 5" id="5"/>
          <p:cNvSpPr txBox="true"/>
          <p:nvPr/>
        </p:nvSpPr>
        <p:spPr>
          <a:xfrm>
            <a:off x="1100382" y="3525581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课程引言：为什么要学习数据结构？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226608" y="2020156"/>
            <a:ext cx="1636699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800" baseline="0" u="none">
                <a:solidFill>
                  <a:schemeClr val="bg1"/>
                </a:solidFill>
                <a:latin typeface="等线"/>
                <a:ea typeface="等线"/>
              </a:rPr>
              <a:t>YOUR LOGO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471825" y="3780966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数据结构基础概念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1090985" y="4105194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线性表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6471825" y="4360579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树与二叉树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090985" y="4684807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图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471825" y="4937368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查找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090985" y="5264420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排序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0" y="0"/>
            <a:ext cx="12191999" cy="478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课程引言：为什么要学习数据结构？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01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5.png" id="2"/>
          <p:cNvPicPr>
            <a:picLocks noChangeAspect="true"/>
          </p:cNvPicPr>
          <p:nvPr/>
        </p:nvPicPr>
        <p:blipFill>
          <a:blip r:embed="rId2"/>
          <a:srcRect t="33866" b="33866"/>
          <a:stretch>
            <a:fillRect/>
          </a:stretch>
        </p:blipFill>
        <p:spPr>
          <a:xfrm>
            <a:off x="812164" y="806451"/>
            <a:ext cx="10567671" cy="1704974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5105998" y="1722605"/>
            <a:ext cx="1980000" cy="19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6.jpeg" id="4"/>
          <p:cNvPicPr>
            <a:picLocks noChangeAspect="true"/>
          </p:cNvPicPr>
          <p:nvPr/>
        </p:nvPicPr>
        <p:blipFill>
          <a:blip r:embed="rId3"/>
          <a:srcRect t="1255" l="23769" b="-1255" r="1147"/>
          <a:stretch>
            <a:fillRect t="0" l="0" b="0" r="0"/>
          </a:stretch>
        </p:blipFill>
        <p:spPr>
          <a:xfrm>
            <a:off x="5210851" y="1827458"/>
            <a:ext cx="1770294" cy="1770294"/>
          </a:xfrm>
          <a:prstGeom prst="ellipse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1343024" y="4004981"/>
            <a:ext cx="9505949" cy="52322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数据结构的核心地位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812164" y="5351357"/>
            <a:ext cx="10567671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数据结构是计算机存储、组织数据的方式，它直接决定了程序的运行效率和解决问题的难易程度。选择合适的算法和数据结构，是编写高质量软件的基础。例如，在搜索引擎中，高效的索引结构使得海量数据的检索能在毫秒级完成，这背后正是数据结构和算法的精妙设计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3410584" y="4886119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2133079" y="4939667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2437879" y="4939666"/>
            <a:ext cx="219075" cy="219075"/>
          </a:xfrm>
          <a:prstGeom prst="ellipse">
            <a:avLst/>
          </a:prstGeom>
          <a:solidFill>
            <a:srgbClr val="34944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2742679" y="4939665"/>
            <a:ext cx="219075" cy="219075"/>
          </a:xfrm>
          <a:prstGeom prst="ellipse">
            <a:avLst/>
          </a:prstGeom>
          <a:solidFill>
            <a:srgbClr val="086C3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3047479" y="4939665"/>
            <a:ext cx="219075" cy="219075"/>
          </a:xfrm>
          <a:prstGeom prst="ellipse">
            <a:avLst/>
          </a:prstGeom>
          <a:solidFill>
            <a:srgbClr val="053D24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8925444" y="4939667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9230244" y="4939666"/>
            <a:ext cx="219075" cy="219075"/>
          </a:xfrm>
          <a:prstGeom prst="ellipse">
            <a:avLst/>
          </a:prstGeom>
          <a:solidFill>
            <a:srgbClr val="34944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9535044" y="4939665"/>
            <a:ext cx="219075" cy="219075"/>
          </a:xfrm>
          <a:prstGeom prst="ellipse">
            <a:avLst/>
          </a:prstGeom>
          <a:solidFill>
            <a:srgbClr val="086C3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9839844" y="4939665"/>
            <a:ext cx="219075" cy="219075"/>
          </a:xfrm>
          <a:prstGeom prst="ellipse">
            <a:avLst/>
          </a:prstGeom>
          <a:solidFill>
            <a:srgbClr val="053D24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6" id="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 flip="none">
          <a:gsLst>
            <a:gs pos="0">
              <a:srgbClr val="053D24"/>
            </a:gs>
            <a:gs pos="47600">
              <a:srgbClr val="1B6638"/>
            </a:gs>
            <a:gs pos="100000">
              <a:srgbClr val="34944D"/>
            </a:gs>
          </a:gsLst>
          <a:lin ang="5400000"/>
          <a:tileRect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3171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4.jpeg" id="3"/>
          <p:cNvPicPr>
            <a:picLocks noChangeAspect="true"/>
          </p:cNvPicPr>
          <p:nvPr/>
        </p:nvPicPr>
        <p:blipFill>
          <a:blip r:embed="rId2"/>
          <a:srcRect t="10463" b="10463"/>
          <a:stretch>
            <a:fillRect/>
          </a:stretch>
        </p:blipFill>
        <p:spPr>
          <a:xfrm>
            <a:off x="800323" y="626745"/>
            <a:ext cx="4571554" cy="545211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6343378" y="1136894"/>
            <a:ext cx="5164367" cy="9541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2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课程学习地图与目标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339235" y="3847112"/>
            <a:ext cx="4178299" cy="584775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chemeClr val="bg1"/>
                </a:solidFill>
                <a:latin typeface="微软雅黑"/>
                <a:ea typeface="微软雅黑"/>
              </a:rPr>
              <a:t> </a:t>
            </a:r>
            <a:r>
              <a:rPr lang="en-US" b="true" i="false" sz="1600" baseline="0" u="none">
                <a:solidFill>
                  <a:schemeClr val="bg1"/>
                </a:solidFill>
                <a:latin typeface="微软雅黑"/>
                <a:ea typeface="微软雅黑"/>
              </a:rPr>
              <a:t> 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343378" y="4431887"/>
            <a:ext cx="5421508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本课程将系统介绍线性表、树、图等核心数据结构的概念、存储方式及基本操作。我们的目标是让大家不仅能理解每种结构的特性，更能根据实际问题选择并应用合适的数据结构，为后续深入学习算法和系统设计打下坚实基础。课程内容包括理论讲解与代码实践两部分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416899" y="889091"/>
            <a:ext cx="5090846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sp>
        <p:nvSpPr>
          <p:cNvPr name="AutoShape 8" id="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数据结构基础概念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02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基本术语与逻辑结构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2163956" y="1443867"/>
            <a:ext cx="7676460" cy="4582860"/>
          </a:xfrm>
          <a:prstGeom prst="roundRect">
            <a:avLst>
              <a:gd name="adj" fmla="val 3815"/>
            </a:avLst>
          </a:prstGeom>
          <a:solidFill>
            <a:schemeClr val="bg1"/>
          </a:solidFill>
          <a:ln cap="rnd">
            <a:noFill/>
          </a:ln>
          <a:effectLst>
            <a:outerShdw algn="ctr" blurRad="254000" dist="127000" rotWithShape="false">
              <a:schemeClr val="bg1">
                <a:alpha val="20000"/>
                <a:lumMod val="65000"/>
              </a:schemeClr>
            </a:outerShdw>
          </a:effectLst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marL="0">
              <a:defRPr/>
            </a:pP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2539116" y="4229608"/>
            <a:ext cx="6926140" cy="427763"/>
          </a:xfrm>
          <a:prstGeom prst="rect">
            <a:avLst/>
          </a:prstGeom>
          <a:noFill/>
          <a:ln cap="sq">
            <a:noFill/>
            <a:miter lim="800000"/>
          </a:ln>
        </p:spPr>
        <p:txBody>
          <a:bodyPr anchor="b" rtlCol="false" vert="horz" wrap="square" tIns="45720" lIns="91440" bIns="45720" rIns="91440">
            <a:normAutofit/>
          </a:bodyPr>
          <a:lstStyle/>
          <a:p>
            <a:pPr algn="ctr" marL="0">
              <a:defRPr/>
            </a:pPr>
            <a:r>
              <a:rPr lang="en-US" b="true" i="false" sz="1600" baseline="0" u="none">
                <a:ln w="12700"/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2539116" y="4677025"/>
            <a:ext cx="6926140" cy="1024240"/>
          </a:xfrm>
          <a:prstGeom prst="rect">
            <a:avLst/>
          </a:prstGeom>
          <a:noFill/>
          <a:ln cap="sq">
            <a:noFill/>
          </a:ln>
        </p:spPr>
        <p:txBody>
          <a:bodyPr anchor="t" rtlCol="false" vert="horz" wrap="square" tIns="45720" lIns="91440" bIns="45720" rIns="91440">
            <a:norm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 w="12700"/>
                <a:solidFill>
                  <a:schemeClr val="tx1"/>
                </a:solidFill>
                <a:latin typeface="微软雅黑"/>
                <a:ea typeface="微软雅黑"/>
              </a:rPr>
              <a:t>数据元素是数据的基本单位，一个数据元素可以由若干个数据项组成。数据结构分为逻辑结构和存储结构，其中逻辑结构描述数据元素之间的逻辑关系，主要分为四类：线性结构、树形结构、图形结构和集合。集合结构中的数据元素间没有其他关系，仅属于同一个集合。</a:t>
            </a:r>
            <a:endParaRPr lang="en-US" sz="1100"/>
          </a:p>
        </p:txBody>
      </p:sp>
      <p:pic>
        <p:nvPicPr>
          <p:cNvPr name="image1.png" id="6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2367778" y="1630017"/>
            <a:ext cx="7268817" cy="2484782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27991" y="2553356"/>
            <a:ext cx="4504858" cy="553998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just" marL="0">
              <a:defRPr/>
            </a:pPr>
            <a:r>
              <a:rPr lang="zh-CN" b="true" i="false" sz="18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 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529607" y="3501474"/>
            <a:ext cx="4603242" cy="15392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just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存储结构是逻辑结构在计算机内存中的实现，主要包括顺序存储和链式存储两种方式。顺序存储使用一组连续的存储单元依次存放数据元素；链式存储通过指针将存储在不同位置的元素链接起来。抽象数据类型是一个数学模型及定义在该模型上的一组操作，它将数据结构和操作封装在一起。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>
            <a:off x="630464" y="3272577"/>
            <a:ext cx="1460995" cy="0"/>
          </a:xfrm>
          <a:prstGeom prst="line">
            <a:avLst/>
          </a:prstGeom>
          <a:ln w="57150">
            <a:solidFill>
              <a:schemeClr val="accent1"/>
            </a:solidFill>
          </a:ln>
        </p:spPr>
      </p:cxnSp>
      <p:grpSp>
        <p:nvGrpSpPr>
          <p:cNvPr name="Group 5" id="5"/>
          <p:cNvGrpSpPr/>
          <p:nvPr/>
        </p:nvGrpSpPr>
        <p:grpSpPr>
          <a:xfrm>
            <a:off x="627991" y="5184086"/>
            <a:ext cx="524665" cy="141342"/>
            <a:chOff x="10058773" y="1986783"/>
            <a:chExt cx="312798" cy="84266"/>
          </a:xfrm>
        </p:grpSpPr>
        <p:sp>
          <p:nvSpPr>
            <p:cNvPr name="AutoShape 6" id="6"/>
            <p:cNvSpPr/>
            <p:nvPr/>
          </p:nvSpPr>
          <p:spPr>
            <a:xfrm>
              <a:off x="10058773" y="1986783"/>
              <a:ext cx="84266" cy="84266"/>
            </a:xfrm>
            <a:prstGeom prst="ellipse">
              <a:avLst/>
            </a:prstGeom>
            <a:solidFill>
              <a:schemeClr val="accent1">
                <a:alpha val="38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7" id="7"/>
            <p:cNvSpPr/>
            <p:nvPr/>
          </p:nvSpPr>
          <p:spPr>
            <a:xfrm>
              <a:off x="10175613" y="1986783"/>
              <a:ext cx="84266" cy="84266"/>
            </a:xfrm>
            <a:prstGeom prst="ellipse">
              <a:avLst/>
            </a:prstGeom>
            <a:solidFill>
              <a:schemeClr val="accent1">
                <a:alpha val="38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8" id="8"/>
            <p:cNvSpPr/>
            <p:nvPr/>
          </p:nvSpPr>
          <p:spPr>
            <a:xfrm>
              <a:off x="10287305" y="1986783"/>
              <a:ext cx="84266" cy="84266"/>
            </a:xfrm>
            <a:prstGeom prst="ellipse">
              <a:avLst/>
            </a:prstGeom>
            <a:solidFill>
              <a:schemeClr val="accent1">
                <a:alpha val="38000"/>
              </a:schemeClr>
            </a:solidFill>
            <a:ln>
              <a:noFill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grpSp>
        <p:nvGrpSpPr>
          <p:cNvPr name="Group 9" id="9"/>
          <p:cNvGrpSpPr/>
          <p:nvPr/>
        </p:nvGrpSpPr>
        <p:grpSpPr>
          <a:xfrm>
            <a:off x="5735282" y="1724780"/>
            <a:ext cx="5767084" cy="3692284"/>
            <a:chOff x="5766104" y="1724780"/>
            <a:chExt cx="5767084" cy="3692284"/>
          </a:xfrm>
        </p:grpSpPr>
        <p:sp>
          <p:nvSpPr>
            <p:cNvPr name="AutoShape 10" id="10"/>
            <p:cNvSpPr/>
            <p:nvPr/>
          </p:nvSpPr>
          <p:spPr>
            <a:xfrm>
              <a:off x="5864553" y="2092972"/>
              <a:ext cx="5519727" cy="3232456"/>
            </a:xfrm>
            <a:prstGeom prst="roundRect">
              <a:avLst>
                <a:gd name="adj" fmla="val 13678"/>
              </a:avLst>
            </a:prstGeom>
            <a:blipFill>
              <a:blip r:embed="rId2"/>
              <a:stretch>
                <a:fillRect t="0" l="0" b="0" r="0"/>
              </a:stretch>
            </a:blipFill>
            <a:ln>
              <a:noFill/>
            </a:ln>
            <a:effectLst>
              <a:innerShdw blurRad="127000" dir="2700000" dist="63500">
                <a:schemeClr val="bg1"/>
              </a:innerShdw>
            </a:effectLst>
          </p:spPr>
          <p:txBody>
            <a:bodyPr vert="horz" anchor="ctr" tIns="45720" lIns="91440" bIns="45720" rIns="91440">
              <a:normAutofit/>
            </a:bodyPr>
            <a:p>
              <a:pPr fontAlgn="auto" algn="ctr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</a:p>
          </p:txBody>
        </p:sp>
        <p:pic>
          <p:nvPicPr>
            <p:cNvPr name="image2.png" id="11"/>
            <p:cNvPicPr>
              <a:picLocks noChangeAspect="true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5999082" y="2201221"/>
              <a:ext cx="5268568" cy="2982865"/>
            </a:xfrm>
            <a:custGeom>
              <a:pathLst>
                <a:path w="5064289" h="2940512" stroke="true" fill="norm" extrusionOk="true">
                  <a:moveTo>
                    <a:pt x="261500" y="0"/>
                  </a:moveTo>
                  <a:lnTo>
                    <a:pt x="4802789" y="0"/>
                  </a:lnTo>
                  <a:cubicBezTo>
                    <a:pt x="4947211" y="0"/>
                    <a:pt x="5064289" y="117078"/>
                    <a:pt x="5064289" y="261500"/>
                  </a:cubicBezTo>
                  <a:lnTo>
                    <a:pt x="5064289" y="2679012"/>
                  </a:lnTo>
                  <a:cubicBezTo>
                    <a:pt x="5064289" y="2823434"/>
                    <a:pt x="4947211" y="2940512"/>
                    <a:pt x="4802789" y="2940512"/>
                  </a:cubicBezTo>
                  <a:lnTo>
                    <a:pt x="261500" y="2940512"/>
                  </a:lnTo>
                  <a:cubicBezTo>
                    <a:pt x="117078" y="2940512"/>
                    <a:pt x="0" y="2823434"/>
                    <a:pt x="0" y="2679012"/>
                  </a:cubicBezTo>
                  <a:lnTo>
                    <a:pt x="0" y="261500"/>
                  </a:lnTo>
                  <a:cubicBezTo>
                    <a:pt x="0" y="117078"/>
                    <a:pt x="117078" y="0"/>
                    <a:pt x="261500" y="0"/>
                  </a:cubicBezTo>
                  <a:close/>
                </a:path>
              </a:pathLst>
            </a:custGeom>
          </p:spPr>
        </p:pic>
        <p:grpSp>
          <p:nvGrpSpPr>
            <p:cNvPr name="Group 12" id="12"/>
            <p:cNvGrpSpPr/>
            <p:nvPr/>
          </p:nvGrpSpPr>
          <p:grpSpPr>
            <a:xfrm>
              <a:off x="10796804" y="1724780"/>
              <a:ext cx="736384" cy="736384"/>
              <a:chOff x="5694163" y="2334577"/>
              <a:chExt cx="807085" cy="807085"/>
            </a:xfrm>
          </p:grpSpPr>
          <p:sp>
            <p:nvSpPr>
              <p:cNvPr name="AutoShape 13" id="13"/>
              <p:cNvSpPr/>
              <p:nvPr/>
            </p:nvSpPr>
            <p:spPr>
              <a:xfrm>
                <a:off x="5694163" y="2334577"/>
                <a:ext cx="807085" cy="807085"/>
              </a:xfrm>
              <a:prstGeom prst="roundRect">
                <a:avLst/>
              </a:prstGeom>
              <a:solidFill>
                <a:srgbClr val="E2E5EE"/>
              </a:solidFill>
              <a:ln>
                <a:noFill/>
              </a:ln>
              <a:effectLst>
                <a:outerShdw algn="br" blurRad="254000" dir="2700000" dist="190500" rotWithShape="false">
                  <a:srgbClr val="CCD3DC"/>
                </a:outerShdw>
              </a:effectLst>
            </p:spPr>
            <p:txBody>
              <a:bodyPr vert="horz" anchor="ctr" tIns="45720" lIns="91440" bIns="45720" rIns="91440">
                <a:normAutofit/>
              </a:bodyPr>
              <a:p>
                <a:pPr fontAlgn="auto" algn="ctr" indent="0" marR="0" mar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14" id="14"/>
              <p:cNvSpPr/>
              <p:nvPr/>
            </p:nvSpPr>
            <p:spPr>
              <a:xfrm>
                <a:off x="5694163" y="2334577"/>
                <a:ext cx="807085" cy="807085"/>
              </a:xfrm>
              <a:prstGeom prst="roundRect">
                <a:avLst/>
              </a:prstGeom>
              <a:solidFill>
                <a:srgbClr val="E2E5EE"/>
              </a:solidFill>
              <a:ln>
                <a:noFill/>
              </a:ln>
              <a:effectLst>
                <a:outerShdw algn="br" blurRad="254000" dir="13500000" dist="190500" rotWithShape="false">
                  <a:schemeClr val="bg1"/>
                </a:outerShdw>
              </a:effectLst>
            </p:spPr>
            <p:txBody>
              <a:bodyPr vert="horz" anchor="ctr" tIns="45720" lIns="91440" bIns="45720" rIns="91440">
                <a:normAutofit/>
              </a:bodyPr>
              <a:p>
                <a:pPr fontAlgn="auto" algn="ctr" indent="0" marR="0" mar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>
              <a:off x="5766104" y="4951108"/>
              <a:ext cx="465956" cy="465956"/>
              <a:chOff x="5694163" y="2334577"/>
              <a:chExt cx="807085" cy="807085"/>
            </a:xfrm>
          </p:grpSpPr>
          <p:sp>
            <p:nvSpPr>
              <p:cNvPr name="AutoShape 16" id="16"/>
              <p:cNvSpPr/>
              <p:nvPr/>
            </p:nvSpPr>
            <p:spPr>
              <a:xfrm>
                <a:off x="5694163" y="2334577"/>
                <a:ext cx="807085" cy="807085"/>
              </a:xfrm>
              <a:prstGeom prst="roundRect">
                <a:avLst/>
              </a:prstGeom>
              <a:solidFill>
                <a:srgbClr val="E2E5EE"/>
              </a:solidFill>
              <a:ln>
                <a:noFill/>
              </a:ln>
              <a:effectLst>
                <a:outerShdw algn="br" blurRad="254000" dir="2700000" dist="190500" rotWithShape="false">
                  <a:srgbClr val="CCD3DC"/>
                </a:outerShdw>
              </a:effectLst>
            </p:spPr>
            <p:txBody>
              <a:bodyPr vert="horz" anchor="ctr" tIns="45720" lIns="91440" bIns="45720" rIns="91440">
                <a:normAutofit/>
              </a:bodyPr>
              <a:p>
                <a:pPr fontAlgn="auto" algn="ctr" indent="0" marR="0" mar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  <p:sp>
            <p:nvSpPr>
              <p:cNvPr name="AutoShape 17" id="17"/>
              <p:cNvSpPr/>
              <p:nvPr/>
            </p:nvSpPr>
            <p:spPr>
              <a:xfrm>
                <a:off x="5694163" y="2334577"/>
                <a:ext cx="807085" cy="807085"/>
              </a:xfrm>
              <a:prstGeom prst="roundRect">
                <a:avLst/>
              </a:prstGeom>
              <a:solidFill>
                <a:srgbClr val="E2E5EE"/>
              </a:solidFill>
              <a:ln>
                <a:noFill/>
              </a:ln>
              <a:effectLst>
                <a:outerShdw algn="br" blurRad="254000" dir="13500000" dist="190500" rotWithShape="false">
                  <a:schemeClr val="bg1"/>
                </a:outerShdw>
              </a:effectLst>
            </p:spPr>
            <p:txBody>
              <a:bodyPr vert="horz" anchor="ctr" tIns="45720" lIns="91440" bIns="45720" rIns="91440">
                <a:normAutofit/>
              </a:bodyPr>
              <a:p>
                <a:pPr fontAlgn="auto" algn="ctr" indent="0" marR="0" mar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>
            <a:off x="6343378" y="1136894"/>
            <a:ext cx="5164367" cy="954107"/>
          </a:xfrm>
          <a:prstGeom prst="rect">
            <a:avLst/>
          </a:prstGeom>
        </p:spPr>
        <p:txBody>
          <a:bodyPr anchor="b" rtlCol="false" vert="horz" tIns="45720" lIns="91440" bIns="45720" rIns="91440">
            <a:norm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存储结构与抽象数据类型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线性表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03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709138" y="2001451"/>
            <a:ext cx="3982654" cy="3982654"/>
            <a:chOff x="6240781" y="1363135"/>
            <a:chExt cx="4963584" cy="4963584"/>
          </a:xfrm>
        </p:grpSpPr>
        <p:grpSp>
          <p:nvGrpSpPr>
            <p:cNvPr name="Group 3" id="3"/>
            <p:cNvGrpSpPr/>
            <p:nvPr/>
          </p:nvGrpSpPr>
          <p:grpSpPr>
            <a:xfrm>
              <a:off x="6240781" y="1363135"/>
              <a:ext cx="3255433" cy="2434167"/>
              <a:chOff x="4657725" y="946151"/>
              <a:chExt cx="2441575" cy="1825625"/>
            </a:xfrm>
          </p:grpSpPr>
          <p:sp>
            <p:nvSpPr>
              <p:cNvPr name="Freeform 4" id="4"/>
              <p:cNvSpPr/>
              <p:nvPr/>
            </p:nvSpPr>
            <p:spPr>
              <a:xfrm>
                <a:off x="5953125" y="2046288"/>
                <a:ext cx="1146175" cy="593725"/>
              </a:xfrm>
              <a:custGeom>
                <a:avLst/>
                <a:gdLst/>
                <a:ahLst/>
                <a:cxnLst/>
                <a:rect r="r" b="b" t="t" l="l"/>
                <a:pathLst>
                  <a:path w="904" h="468" stroke="true" fill="norm" extrusionOk="true">
                    <a:moveTo>
                      <a:pt x="849" y="0"/>
                    </a:moveTo>
                    <a:cubicBezTo>
                      <a:pt x="893" y="0"/>
                      <a:pt x="904" y="26"/>
                      <a:pt x="873" y="58"/>
                    </a:cubicBezTo>
                    <a:cubicBezTo>
                      <a:pt x="507" y="436"/>
                      <a:pt x="507" y="436"/>
                      <a:pt x="507" y="436"/>
                    </a:cubicBezTo>
                    <a:cubicBezTo>
                      <a:pt x="477" y="468"/>
                      <a:pt x="427" y="468"/>
                      <a:pt x="396" y="436"/>
                    </a:cubicBezTo>
                    <a:cubicBezTo>
                      <a:pt x="30" y="58"/>
                      <a:pt x="30" y="58"/>
                      <a:pt x="30" y="58"/>
                    </a:cubicBezTo>
                    <a:cubicBezTo>
                      <a:pt x="0" y="26"/>
                      <a:pt x="11" y="0"/>
                      <a:pt x="55" y="0"/>
                    </a:cubicBezTo>
                    <a:lnTo>
                      <a:pt x="849" y="0"/>
                    </a:lnTo>
                    <a:close/>
                  </a:path>
                </a:pathLst>
              </a:custGeom>
              <a:solidFill>
                <a:srgbClr val="008A55"/>
              </a:solidFill>
              <a:ln>
                <a:noFill/>
              </a:ln>
            </p:spPr>
            <p:txBody>
              <a:bodyPr vert="horz" anchor="t" wrap="square" tIns="60960" lIns="121920" bIns="60960" rIns="12192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5" id="5"/>
              <p:cNvSpPr/>
              <p:nvPr/>
            </p:nvSpPr>
            <p:spPr>
              <a:xfrm>
                <a:off x="4657725" y="946151"/>
                <a:ext cx="2151063" cy="1825625"/>
              </a:xfrm>
              <a:custGeom>
                <a:avLst/>
                <a:gdLst/>
                <a:ahLst/>
                <a:cxnLst/>
                <a:rect r="r" b="b" t="t" l="l"/>
                <a:pathLst>
                  <a:path w="1696" h="1440" stroke="true" fill="norm" extrusionOk="true">
                    <a:moveTo>
                      <a:pt x="848" y="0"/>
                    </a:moveTo>
                    <a:cubicBezTo>
                      <a:pt x="380" y="0"/>
                      <a:pt x="0" y="380"/>
                      <a:pt x="0" y="848"/>
                    </a:cubicBezTo>
                    <a:cubicBezTo>
                      <a:pt x="0" y="1078"/>
                      <a:pt x="92" y="1287"/>
                      <a:pt x="241" y="1440"/>
                    </a:cubicBezTo>
                    <a:cubicBezTo>
                      <a:pt x="374" y="1315"/>
                      <a:pt x="540" y="1235"/>
                      <a:pt x="718" y="1209"/>
                    </a:cubicBezTo>
                    <a:cubicBezTo>
                      <a:pt x="570" y="1156"/>
                      <a:pt x="464" y="1014"/>
                      <a:pt x="464" y="848"/>
                    </a:cubicBezTo>
                    <a:cubicBezTo>
                      <a:pt x="464" y="636"/>
                      <a:pt x="636" y="464"/>
                      <a:pt x="848" y="464"/>
                    </a:cubicBezTo>
                    <a:cubicBezTo>
                      <a:pt x="1060" y="464"/>
                      <a:pt x="1232" y="636"/>
                      <a:pt x="1232" y="848"/>
                    </a:cubicBezTo>
                    <a:cubicBezTo>
                      <a:pt x="1232" y="889"/>
                      <a:pt x="1225" y="929"/>
                      <a:pt x="1213" y="966"/>
                    </a:cubicBezTo>
                    <a:cubicBezTo>
                      <a:pt x="1293" y="966"/>
                      <a:pt x="1293" y="966"/>
                      <a:pt x="1293" y="966"/>
                    </a:cubicBezTo>
                    <a:cubicBezTo>
                      <a:pt x="1293" y="1062"/>
                      <a:pt x="1293" y="1062"/>
                      <a:pt x="1293" y="1062"/>
                    </a:cubicBezTo>
                    <a:cubicBezTo>
                      <a:pt x="1669" y="1062"/>
                      <a:pt x="1669" y="1062"/>
                      <a:pt x="1669" y="1062"/>
                    </a:cubicBezTo>
                    <a:cubicBezTo>
                      <a:pt x="1687" y="994"/>
                      <a:pt x="1696" y="922"/>
                      <a:pt x="1696" y="848"/>
                    </a:cubicBezTo>
                    <a:cubicBezTo>
                      <a:pt x="1696" y="380"/>
                      <a:pt x="1316" y="0"/>
                      <a:pt x="848" y="0"/>
                    </a:cubicBezTo>
                    <a:close/>
                  </a:path>
                </a:pathLst>
              </a:custGeom>
              <a:solidFill>
                <a:srgbClr val="008A55"/>
              </a:solidFill>
              <a:ln>
                <a:noFill/>
              </a:ln>
            </p:spPr>
            <p:txBody>
              <a:bodyPr vert="horz" anchor="t" wrap="square" tIns="60960" lIns="121920" bIns="60960" rIns="121920">
                <a:prstTxWarp prst="textNoShape">
                  <a:avLst/>
                </a:prstTxWarp>
              </a:bodyPr>
              <a:p>
                <a:pPr algn="l" marL="0"/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>
              <a:off x="6240781" y="3111502"/>
              <a:ext cx="2434167" cy="3215217"/>
              <a:chOff x="4657725" y="2257426"/>
              <a:chExt cx="1825625" cy="2411413"/>
            </a:xfrm>
          </p:grpSpPr>
          <p:sp>
            <p:nvSpPr>
              <p:cNvPr name="Freeform 7" id="7"/>
              <p:cNvSpPr/>
              <p:nvPr/>
            </p:nvSpPr>
            <p:spPr>
              <a:xfrm>
                <a:off x="5753100" y="2257426"/>
                <a:ext cx="593725" cy="1146175"/>
              </a:xfrm>
              <a:custGeom>
                <a:avLst/>
                <a:gdLst/>
                <a:ahLst/>
                <a:cxnLst/>
                <a:rect r="r" b="b" t="t" l="l"/>
                <a:pathLst>
                  <a:path w="468" h="904" stroke="true" fill="norm" extrusionOk="true">
                    <a:moveTo>
                      <a:pt x="0" y="55"/>
                    </a:moveTo>
                    <a:cubicBezTo>
                      <a:pt x="0" y="11"/>
                      <a:pt x="26" y="0"/>
                      <a:pt x="57" y="30"/>
                    </a:cubicBezTo>
                    <a:cubicBezTo>
                      <a:pt x="436" y="397"/>
                      <a:pt x="436" y="397"/>
                      <a:pt x="436" y="397"/>
                    </a:cubicBezTo>
                    <a:cubicBezTo>
                      <a:pt x="468" y="427"/>
                      <a:pt x="468" y="477"/>
                      <a:pt x="436" y="508"/>
                    </a:cubicBezTo>
                    <a:cubicBezTo>
                      <a:pt x="57" y="874"/>
                      <a:pt x="57" y="874"/>
                      <a:pt x="57" y="874"/>
                    </a:cubicBezTo>
                    <a:cubicBezTo>
                      <a:pt x="26" y="904"/>
                      <a:pt x="0" y="893"/>
                      <a:pt x="0" y="849"/>
                    </a:cubicBez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385723"/>
              </a:solidFill>
              <a:ln>
                <a:noFill/>
              </a:ln>
            </p:spPr>
            <p:txBody>
              <a:bodyPr vert="horz" anchor="t" wrap="square" tIns="60960" lIns="121920" bIns="60960" rIns="12192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8" id="8"/>
              <p:cNvSpPr/>
              <p:nvPr/>
            </p:nvSpPr>
            <p:spPr>
              <a:xfrm>
                <a:off x="4657725" y="2517776"/>
                <a:ext cx="1825625" cy="2151063"/>
              </a:xfrm>
              <a:custGeom>
                <a:avLst/>
                <a:gdLst/>
                <a:ahLst/>
                <a:cxnLst/>
                <a:rect r="r" b="b" t="t" l="l"/>
                <a:pathLst>
                  <a:path w="1440" h="1696" stroke="true" fill="norm" extrusionOk="true">
                    <a:moveTo>
                      <a:pt x="1209" y="978"/>
                    </a:moveTo>
                    <a:cubicBezTo>
                      <a:pt x="1156" y="1126"/>
                      <a:pt x="1014" y="1232"/>
                      <a:pt x="848" y="1232"/>
                    </a:cubicBezTo>
                    <a:cubicBezTo>
                      <a:pt x="636" y="1232"/>
                      <a:pt x="464" y="1060"/>
                      <a:pt x="464" y="848"/>
                    </a:cubicBezTo>
                    <a:cubicBezTo>
                      <a:pt x="464" y="636"/>
                      <a:pt x="636" y="464"/>
                      <a:pt x="848" y="464"/>
                    </a:cubicBezTo>
                    <a:cubicBezTo>
                      <a:pt x="890" y="464"/>
                      <a:pt x="931" y="471"/>
                      <a:pt x="969" y="483"/>
                    </a:cubicBezTo>
                    <a:cubicBezTo>
                      <a:pt x="969" y="9"/>
                      <a:pt x="969" y="9"/>
                      <a:pt x="969" y="9"/>
                    </a:cubicBezTo>
                    <a:cubicBezTo>
                      <a:pt x="929" y="3"/>
                      <a:pt x="889" y="0"/>
                      <a:pt x="848" y="0"/>
                    </a:cubicBezTo>
                    <a:cubicBezTo>
                      <a:pt x="380" y="0"/>
                      <a:pt x="0" y="380"/>
                      <a:pt x="0" y="848"/>
                    </a:cubicBezTo>
                    <a:cubicBezTo>
                      <a:pt x="0" y="1316"/>
                      <a:pt x="380" y="1696"/>
                      <a:pt x="848" y="1696"/>
                    </a:cubicBezTo>
                    <a:cubicBezTo>
                      <a:pt x="1078" y="1696"/>
                      <a:pt x="1287" y="1604"/>
                      <a:pt x="1440" y="1455"/>
                    </a:cubicBezTo>
                    <a:cubicBezTo>
                      <a:pt x="1315" y="1322"/>
                      <a:pt x="1235" y="1156"/>
                      <a:pt x="1209" y="978"/>
                    </a:cubicBezTo>
                    <a:close/>
                  </a:path>
                </a:pathLst>
              </a:custGeom>
              <a:solidFill>
                <a:srgbClr val="385723"/>
              </a:solidFill>
              <a:ln>
                <a:noFill/>
              </a:ln>
            </p:spPr>
            <p:txBody>
              <a:bodyPr vert="horz" anchor="t" wrap="square" tIns="60960" lIns="121920" bIns="60960" rIns="121920">
                <a:prstTxWarp prst="textNoShape">
                  <a:avLst/>
                </a:prstTxWarp>
              </a:bodyPr>
              <a:p>
                <a:pPr algn="l" marL="0"/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>
              <a:off x="7967980" y="3892551"/>
              <a:ext cx="3236384" cy="2434167"/>
              <a:chOff x="5953125" y="2843213"/>
              <a:chExt cx="2427288" cy="1825625"/>
            </a:xfrm>
          </p:grpSpPr>
          <p:sp>
            <p:nvSpPr>
              <p:cNvPr name="Freeform 10" id="10"/>
              <p:cNvSpPr/>
              <p:nvPr/>
            </p:nvSpPr>
            <p:spPr>
              <a:xfrm>
                <a:off x="5953125" y="2989263"/>
                <a:ext cx="1146175" cy="593725"/>
              </a:xfrm>
              <a:custGeom>
                <a:avLst/>
                <a:gdLst/>
                <a:ahLst/>
                <a:cxnLst/>
                <a:rect r="r" b="b" t="t" l="l"/>
                <a:pathLst>
                  <a:path w="904" h="468" stroke="true" fill="norm" extrusionOk="true">
                    <a:moveTo>
                      <a:pt x="55" y="468"/>
                    </a:moveTo>
                    <a:cubicBezTo>
                      <a:pt x="11" y="468"/>
                      <a:pt x="0" y="442"/>
                      <a:pt x="30" y="411"/>
                    </a:cubicBezTo>
                    <a:cubicBezTo>
                      <a:pt x="396" y="32"/>
                      <a:pt x="396" y="32"/>
                      <a:pt x="396" y="32"/>
                    </a:cubicBezTo>
                    <a:cubicBezTo>
                      <a:pt x="427" y="0"/>
                      <a:pt x="477" y="0"/>
                      <a:pt x="507" y="32"/>
                    </a:cubicBezTo>
                    <a:cubicBezTo>
                      <a:pt x="873" y="411"/>
                      <a:pt x="873" y="411"/>
                      <a:pt x="873" y="411"/>
                    </a:cubicBezTo>
                    <a:cubicBezTo>
                      <a:pt x="904" y="442"/>
                      <a:pt x="893" y="468"/>
                      <a:pt x="849" y="468"/>
                    </a:cubicBezTo>
                    <a:lnTo>
                      <a:pt x="55" y="46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anchor="t" wrap="square" tIns="60960" lIns="121920" bIns="60960" rIns="12192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11" id="11"/>
              <p:cNvSpPr/>
              <p:nvPr/>
            </p:nvSpPr>
            <p:spPr>
              <a:xfrm>
                <a:off x="6230938" y="2843213"/>
                <a:ext cx="2149475" cy="1825625"/>
              </a:xfrm>
              <a:custGeom>
                <a:avLst/>
                <a:gdLst/>
                <a:ahLst/>
                <a:cxnLst/>
                <a:rect r="r" b="b" t="t" l="l"/>
                <a:pathLst>
                  <a:path w="1696" h="1440" stroke="true" fill="norm" extrusionOk="true">
                    <a:moveTo>
                      <a:pt x="978" y="231"/>
                    </a:moveTo>
                    <a:cubicBezTo>
                      <a:pt x="1126" y="284"/>
                      <a:pt x="1232" y="426"/>
                      <a:pt x="1232" y="592"/>
                    </a:cubicBezTo>
                    <a:cubicBezTo>
                      <a:pt x="1232" y="804"/>
                      <a:pt x="1060" y="976"/>
                      <a:pt x="848" y="976"/>
                    </a:cubicBezTo>
                    <a:cubicBezTo>
                      <a:pt x="636" y="976"/>
                      <a:pt x="464" y="804"/>
                      <a:pt x="464" y="592"/>
                    </a:cubicBezTo>
                    <a:cubicBezTo>
                      <a:pt x="464" y="546"/>
                      <a:pt x="472" y="503"/>
                      <a:pt x="487" y="462"/>
                    </a:cubicBezTo>
                    <a:cubicBezTo>
                      <a:pt x="10" y="462"/>
                      <a:pt x="10" y="462"/>
                      <a:pt x="10" y="462"/>
                    </a:cubicBezTo>
                    <a:cubicBezTo>
                      <a:pt x="3" y="504"/>
                      <a:pt x="0" y="548"/>
                      <a:pt x="0" y="592"/>
                    </a:cubicBezTo>
                    <a:cubicBezTo>
                      <a:pt x="0" y="1060"/>
                      <a:pt x="380" y="1440"/>
                      <a:pt x="848" y="1440"/>
                    </a:cubicBezTo>
                    <a:cubicBezTo>
                      <a:pt x="1316" y="1440"/>
                      <a:pt x="1696" y="1060"/>
                      <a:pt x="1696" y="592"/>
                    </a:cubicBezTo>
                    <a:cubicBezTo>
                      <a:pt x="1696" y="362"/>
                      <a:pt x="1604" y="153"/>
                      <a:pt x="1455" y="0"/>
                    </a:cubicBezTo>
                    <a:cubicBezTo>
                      <a:pt x="1322" y="125"/>
                      <a:pt x="1156" y="205"/>
                      <a:pt x="978" y="23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anchor="t" wrap="square" tIns="60960" lIns="121920" bIns="60960" rIns="121920">
                <a:prstTxWarp prst="textNoShape">
                  <a:avLst/>
                </a:prstTxWarp>
              </a:bodyPr>
              <a:p>
                <a:pPr algn="l" marL="0"/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>
              <a:off x="8770198" y="1363135"/>
              <a:ext cx="2434167" cy="3276600"/>
              <a:chOff x="6554788" y="946151"/>
              <a:chExt cx="1825625" cy="2457450"/>
            </a:xfrm>
          </p:grpSpPr>
          <p:sp>
            <p:nvSpPr>
              <p:cNvPr name="Freeform 13" id="13"/>
              <p:cNvSpPr/>
              <p:nvPr/>
            </p:nvSpPr>
            <p:spPr>
              <a:xfrm>
                <a:off x="6691313" y="2257426"/>
                <a:ext cx="593725" cy="1146175"/>
              </a:xfrm>
              <a:custGeom>
                <a:avLst/>
                <a:gdLst/>
                <a:ahLst/>
                <a:cxnLst/>
                <a:rect r="r" b="b" t="t" l="l"/>
                <a:pathLst>
                  <a:path w="468" h="904" stroke="true" fill="norm" extrusionOk="true">
                    <a:moveTo>
                      <a:pt x="468" y="849"/>
                    </a:moveTo>
                    <a:cubicBezTo>
                      <a:pt x="468" y="893"/>
                      <a:pt x="442" y="904"/>
                      <a:pt x="410" y="874"/>
                    </a:cubicBezTo>
                    <a:cubicBezTo>
                      <a:pt x="32" y="508"/>
                      <a:pt x="32" y="508"/>
                      <a:pt x="32" y="508"/>
                    </a:cubicBezTo>
                    <a:cubicBezTo>
                      <a:pt x="0" y="477"/>
                      <a:pt x="0" y="427"/>
                      <a:pt x="32" y="397"/>
                    </a:cubicBezTo>
                    <a:cubicBezTo>
                      <a:pt x="410" y="30"/>
                      <a:pt x="410" y="30"/>
                      <a:pt x="410" y="30"/>
                    </a:cubicBezTo>
                    <a:cubicBezTo>
                      <a:pt x="442" y="0"/>
                      <a:pt x="468" y="11"/>
                      <a:pt x="468" y="55"/>
                    </a:cubicBezTo>
                    <a:lnTo>
                      <a:pt x="468" y="849"/>
                    </a:lnTo>
                    <a:close/>
                  </a:path>
                </a:pathLst>
              </a:custGeom>
              <a:solidFill>
                <a:srgbClr val="007611"/>
              </a:solidFill>
              <a:ln>
                <a:noFill/>
              </a:ln>
            </p:spPr>
            <p:txBody>
              <a:bodyPr vert="horz" anchor="t" wrap="square" tIns="60960" lIns="121920" bIns="60960" rIns="12192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14" id="14"/>
              <p:cNvSpPr/>
              <p:nvPr/>
            </p:nvSpPr>
            <p:spPr>
              <a:xfrm>
                <a:off x="6554788" y="946151"/>
                <a:ext cx="1825625" cy="2151063"/>
              </a:xfrm>
              <a:custGeom>
                <a:avLst/>
                <a:gdLst/>
                <a:ahLst/>
                <a:cxnLst/>
                <a:rect r="r" b="b" t="t" l="l"/>
                <a:pathLst>
                  <a:path w="1440" h="1696" stroke="true" fill="norm" extrusionOk="true">
                    <a:moveTo>
                      <a:pt x="592" y="0"/>
                    </a:moveTo>
                    <a:cubicBezTo>
                      <a:pt x="362" y="0"/>
                      <a:pt x="153" y="92"/>
                      <a:pt x="0" y="241"/>
                    </a:cubicBezTo>
                    <a:cubicBezTo>
                      <a:pt x="125" y="374"/>
                      <a:pt x="205" y="540"/>
                      <a:pt x="231" y="718"/>
                    </a:cubicBezTo>
                    <a:cubicBezTo>
                      <a:pt x="284" y="570"/>
                      <a:pt x="426" y="464"/>
                      <a:pt x="592" y="464"/>
                    </a:cubicBezTo>
                    <a:cubicBezTo>
                      <a:pt x="804" y="464"/>
                      <a:pt x="976" y="636"/>
                      <a:pt x="976" y="848"/>
                    </a:cubicBezTo>
                    <a:cubicBezTo>
                      <a:pt x="976" y="1060"/>
                      <a:pt x="804" y="1232"/>
                      <a:pt x="592" y="1232"/>
                    </a:cubicBezTo>
                    <a:cubicBezTo>
                      <a:pt x="543" y="1232"/>
                      <a:pt x="495" y="1223"/>
                      <a:pt x="452" y="1206"/>
                    </a:cubicBezTo>
                    <a:cubicBezTo>
                      <a:pt x="452" y="1300"/>
                      <a:pt x="452" y="1300"/>
                      <a:pt x="452" y="1300"/>
                    </a:cubicBezTo>
                    <a:cubicBezTo>
                      <a:pt x="389" y="1300"/>
                      <a:pt x="389" y="1300"/>
                      <a:pt x="389" y="1300"/>
                    </a:cubicBezTo>
                    <a:cubicBezTo>
                      <a:pt x="389" y="1671"/>
                      <a:pt x="389" y="1671"/>
                      <a:pt x="389" y="1671"/>
                    </a:cubicBezTo>
                    <a:cubicBezTo>
                      <a:pt x="454" y="1687"/>
                      <a:pt x="522" y="1696"/>
                      <a:pt x="592" y="1696"/>
                    </a:cubicBezTo>
                    <a:cubicBezTo>
                      <a:pt x="1060" y="1696"/>
                      <a:pt x="1440" y="1316"/>
                      <a:pt x="1440" y="848"/>
                    </a:cubicBezTo>
                    <a:cubicBezTo>
                      <a:pt x="1440" y="380"/>
                      <a:pt x="1060" y="0"/>
                      <a:pt x="592" y="0"/>
                    </a:cubicBezTo>
                    <a:close/>
                  </a:path>
                </a:pathLst>
              </a:custGeom>
              <a:solidFill>
                <a:srgbClr val="007611"/>
              </a:solidFill>
              <a:ln>
                <a:noFill/>
              </a:ln>
            </p:spPr>
            <p:txBody>
              <a:bodyPr vert="horz" anchor="t" wrap="square" tIns="60960" lIns="121920" bIns="60960" rIns="121920">
                <a:prstTxWarp prst="textNoShape">
                  <a:avLst/>
                </a:prstTxWarp>
              </a:bodyPr>
              <a:p>
                <a:pPr algn="l" marL="0"/>
              </a:p>
            </p:txBody>
          </p:sp>
        </p:grpSp>
      </p:grpSp>
      <p:cxnSp>
        <p:nvCxnSpPr>
          <p:cNvPr name="Connector 15" id="15"/>
          <p:cNvCxnSpPr/>
          <p:nvPr/>
        </p:nvCxnSpPr>
        <p:spPr>
          <a:xfrm>
            <a:off x="5438889" y="1338268"/>
            <a:ext cx="0" cy="799015"/>
          </a:xfrm>
          <a:prstGeom prst="line">
            <a:avLst/>
          </a:prstGeom>
          <a:ln w="127000" cmpd="sng">
            <a:solidFill>
              <a:srgbClr val="385723"/>
            </a:solidFill>
          </a:ln>
        </p:spPr>
      </p:cxnSp>
      <p:cxnSp>
        <p:nvCxnSpPr>
          <p:cNvPr name="Connector 16" id="16"/>
          <p:cNvCxnSpPr/>
          <p:nvPr/>
        </p:nvCxnSpPr>
        <p:spPr>
          <a:xfrm>
            <a:off x="5438889" y="2703738"/>
            <a:ext cx="0" cy="799015"/>
          </a:xfrm>
          <a:prstGeom prst="line">
            <a:avLst/>
          </a:prstGeom>
          <a:ln w="127000" cmpd="sng">
            <a:solidFill>
              <a:srgbClr val="007611"/>
            </a:solidFill>
          </a:ln>
        </p:spPr>
      </p:cxnSp>
      <p:cxnSp>
        <p:nvCxnSpPr>
          <p:cNvPr name="Connector 17" id="17"/>
          <p:cNvCxnSpPr/>
          <p:nvPr/>
        </p:nvCxnSpPr>
        <p:spPr>
          <a:xfrm>
            <a:off x="5438889" y="3992778"/>
            <a:ext cx="0" cy="798910"/>
          </a:xfrm>
          <a:prstGeom prst="line">
            <a:avLst/>
          </a:prstGeom>
          <a:ln w="127000" cmpd="sng">
            <a:solidFill>
              <a:srgbClr val="008A55"/>
            </a:solidFill>
          </a:ln>
        </p:spPr>
      </p:cxnSp>
      <p:cxnSp>
        <p:nvCxnSpPr>
          <p:cNvPr name="Connector 18" id="18"/>
          <p:cNvCxnSpPr/>
          <p:nvPr/>
        </p:nvCxnSpPr>
        <p:spPr>
          <a:xfrm>
            <a:off x="5438889" y="5421586"/>
            <a:ext cx="0" cy="798910"/>
          </a:xfrm>
          <a:prstGeom prst="line">
            <a:avLst/>
          </a:prstGeom>
          <a:ln w="127000" cmpd="sng">
            <a:solidFill>
              <a:schemeClr val="accent4"/>
            </a:solidFill>
          </a:ln>
        </p:spPr>
      </p:cxnSp>
      <p:sp>
        <p:nvSpPr>
          <p:cNvPr name="TextBox 19" id="19"/>
          <p:cNvSpPr txBox="true"/>
          <p:nvPr/>
        </p:nvSpPr>
        <p:spPr>
          <a:xfrm>
            <a:off x="5539433" y="1427490"/>
            <a:ext cx="6157263" cy="10629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线性表是最常用且最简单的数据结构，由n个相同类型的数据元素组成的有限序列。除第一个元素外，每个元素有且仅有一个直接前驱；除最后一个元素外，每个元素有且仅有一个直接后继。基本操作包括初始化、插入、删除、查找、获取长度等，这些操作是算法设计的基础。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5539434" y="1173930"/>
            <a:ext cx="4814238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 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5539433" y="2725632"/>
            <a:ext cx="6157263" cy="89069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表将线性表的元素依次存放在一组地址连续的存储单元中。其特点是支持随机存取，即可以通过下标直接访问任意位置的元素，时间复杂度为O(1)。但插入和删除操作需要移动大量元素，时间复杂度为O(n)。此外，顺序表需要预先分配足够大的存储空间。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5539434" y="2472072"/>
            <a:ext cx="4814238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顺序表的存储与实现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5539433" y="4123445"/>
            <a:ext cx="6157263" cy="10629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单链表通过指针将各个节点链接起来，每个节点包含数据域和指针域。指针域存储下一个节点的地址，最后一个节点的指针域设置为空。单链表的优点在于插入和删除操作只需修改指针，不需要移动数据元素，时间复杂度为O(1)。但其缺点是不能随机存取，查找数据需要从头遍历。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5539434" y="3869885"/>
            <a:ext cx="4814238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单链表的结构与基本操作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5539433" y="5521258"/>
            <a:ext cx="6157263" cy="89069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循环链表将单链表的最后一个节点的指针指向头节点，形成一个环，这使得从任意节点出发都能遍历整个链表。双向链表的每个节点包含两个指针，分别指向前驱节点和后继节点，支持双向遍历。这些变种丰富了链表的功能，但相应地增加了存储开销。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5539434" y="5267698"/>
            <a:ext cx="4814238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循环链表与双向链表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268108" y="528771"/>
            <a:ext cx="9484333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线性表的定义与基本操作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461533" y="2761559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栈与队列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461533" y="4571057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栈是一种操作受限的线性表，只允许在表的一端（栈顶）进行插入和删除操作，遵循“先进后出”的原则。顺序栈使用数组实现，栈顶指针指向当前栈顶元素的位置。入栈时，栈顶指针加1；出栈时，栈顶指针减1。栈的应用包括函数调用、表达式求值等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461533" y="4109382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栈的定义与顺序存储结构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461237" y="4592816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队列也是一种操作受限的线性表，只允许在一端（队尾）进行插入，在另一端（队头）进行删除，遵循“先进先出”的原则。链式队列使用单链表实现，设置队头指针和队尾指针分别指向头节点和尾节点。入队操作在队尾插入新节点，出队操作删除队头节点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461237" y="4131141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队列的定义与链式存储结构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605245" y="3553063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910045" y="3553062"/>
            <a:ext cx="219075" cy="219075"/>
          </a:xfrm>
          <a:prstGeom prst="ellipse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1214845" y="3553061"/>
            <a:ext cx="219075" cy="219075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1519645" y="3553061"/>
            <a:ext cx="219075" cy="219075"/>
          </a:xfrm>
          <a:prstGeom prst="ellipse">
            <a:avLst/>
          </a:pr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0" y="6642100"/>
            <a:ext cx="12192000" cy="215900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12.png" id="12"/>
          <p:cNvPicPr>
            <a:picLocks noChangeAspect="true"/>
          </p:cNvPicPr>
          <p:nvPr/>
        </p:nvPicPr>
        <p:blipFill>
          <a:blip r:embed="rId2"/>
          <a:srcRect t="31548" b="31548"/>
          <a:stretch>
            <a:fillRect/>
          </a:stretch>
        </p:blipFill>
        <p:spPr>
          <a:xfrm>
            <a:off x="0" y="1"/>
            <a:ext cx="10017124" cy="2078339"/>
          </a:xfrm>
          <a:custGeom>
            <a:pathLst>
              <a:path w="10017124" h="2078339" stroke="true" fill="norm" extrusionOk="true">
                <a:moveTo>
                  <a:pt x="0" y="0"/>
                </a:moveTo>
                <a:lnTo>
                  <a:pt x="10009919" y="0"/>
                </a:lnTo>
                <a:lnTo>
                  <a:pt x="10017124" y="35687"/>
                </a:lnTo>
                <a:lnTo>
                  <a:pt x="10017124" y="1669799"/>
                </a:lnTo>
                <a:cubicBezTo>
                  <a:pt x="10017124" y="1895429"/>
                  <a:pt x="9834214" y="2078339"/>
                  <a:pt x="9608584" y="2078339"/>
                </a:cubicBezTo>
                <a:lnTo>
                  <a:pt x="0" y="2078339"/>
                </a:lnTo>
                <a:close/>
              </a:path>
            </a:pathLst>
          </a:custGeom>
        </p:spPr>
      </p:pic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8952611" y="2131743"/>
            <a:ext cx="4168026" cy="5368192"/>
            <a:chOff x="6253962" y="1708239"/>
            <a:chExt cx="3194833" cy="4114772"/>
          </a:xfrm>
        </p:grpSpPr>
        <p:sp>
          <p:nvSpPr>
            <p:cNvPr name="Freeform 3" id="3"/>
            <p:cNvSpPr/>
            <p:nvPr/>
          </p:nvSpPr>
          <p:spPr>
            <a:xfrm>
              <a:off x="6507790" y="2844763"/>
              <a:ext cx="389718" cy="480060"/>
            </a:xfrm>
            <a:custGeom>
              <a:avLst/>
              <a:gdLst/>
              <a:ahLst/>
              <a:cxnLst/>
              <a:rect r="r" b="b" t="t" l="l"/>
              <a:pathLst>
                <a:path w="4646" h="5723" stroke="true" fill="norm" extrusionOk="false">
                  <a:moveTo>
                    <a:pt x="1265" y="1"/>
                  </a:moveTo>
                  <a:cubicBezTo>
                    <a:pt x="1083" y="1"/>
                    <a:pt x="899" y="58"/>
                    <a:pt x="740" y="180"/>
                  </a:cubicBezTo>
                  <a:lnTo>
                    <a:pt x="474" y="369"/>
                  </a:lnTo>
                  <a:cubicBezTo>
                    <a:pt x="76" y="673"/>
                    <a:pt x="0" y="1241"/>
                    <a:pt x="285" y="1640"/>
                  </a:cubicBezTo>
                  <a:cubicBezTo>
                    <a:pt x="702" y="2171"/>
                    <a:pt x="1100" y="2702"/>
                    <a:pt x="1479" y="3289"/>
                  </a:cubicBezTo>
                  <a:cubicBezTo>
                    <a:pt x="1688" y="3612"/>
                    <a:pt x="2617" y="4825"/>
                    <a:pt x="3413" y="5413"/>
                  </a:cubicBezTo>
                  <a:cubicBezTo>
                    <a:pt x="3673" y="5602"/>
                    <a:pt x="3917" y="5722"/>
                    <a:pt x="4115" y="5722"/>
                  </a:cubicBezTo>
                  <a:cubicBezTo>
                    <a:pt x="4395" y="5722"/>
                    <a:pt x="4586" y="5484"/>
                    <a:pt x="4608" y="4863"/>
                  </a:cubicBezTo>
                  <a:cubicBezTo>
                    <a:pt x="4646" y="3062"/>
                    <a:pt x="2977" y="1659"/>
                    <a:pt x="1991" y="369"/>
                  </a:cubicBezTo>
                  <a:cubicBezTo>
                    <a:pt x="1809" y="130"/>
                    <a:pt x="1538" y="1"/>
                    <a:pt x="1265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" id="4"/>
            <p:cNvSpPr/>
            <p:nvPr/>
          </p:nvSpPr>
          <p:spPr>
            <a:xfrm>
              <a:off x="6644519" y="3051449"/>
              <a:ext cx="504302" cy="642037"/>
            </a:xfrm>
            <a:custGeom>
              <a:avLst/>
              <a:gdLst/>
              <a:ahLst/>
              <a:cxnLst/>
              <a:rect r="r" b="b" t="t" l="l"/>
              <a:pathLst>
                <a:path w="6012" h="7654" stroke="true" fill="norm" extrusionOk="false">
                  <a:moveTo>
                    <a:pt x="1063" y="1"/>
                  </a:moveTo>
                  <a:cubicBezTo>
                    <a:pt x="682" y="1"/>
                    <a:pt x="467" y="143"/>
                    <a:pt x="361" y="370"/>
                  </a:cubicBezTo>
                  <a:cubicBezTo>
                    <a:pt x="1" y="1072"/>
                    <a:pt x="722" y="2646"/>
                    <a:pt x="930" y="3309"/>
                  </a:cubicBezTo>
                  <a:cubicBezTo>
                    <a:pt x="1278" y="4319"/>
                    <a:pt x="2391" y="7654"/>
                    <a:pt x="3979" y="7654"/>
                  </a:cubicBezTo>
                  <a:cubicBezTo>
                    <a:pt x="4211" y="7654"/>
                    <a:pt x="4453" y="7583"/>
                    <a:pt x="4703" y="7424"/>
                  </a:cubicBezTo>
                  <a:cubicBezTo>
                    <a:pt x="6012" y="6609"/>
                    <a:pt x="5443" y="4106"/>
                    <a:pt x="4893" y="2987"/>
                  </a:cubicBezTo>
                  <a:cubicBezTo>
                    <a:pt x="4286" y="1754"/>
                    <a:pt x="2807" y="256"/>
                    <a:pt x="1385" y="29"/>
                  </a:cubicBezTo>
                  <a:cubicBezTo>
                    <a:pt x="1267" y="10"/>
                    <a:pt x="1160" y="1"/>
                    <a:pt x="1063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5" id="5"/>
            <p:cNvSpPr/>
            <p:nvPr/>
          </p:nvSpPr>
          <p:spPr>
            <a:xfrm>
              <a:off x="6580936" y="2838555"/>
              <a:ext cx="292750" cy="377555"/>
            </a:xfrm>
            <a:custGeom>
              <a:avLst/>
              <a:gdLst/>
              <a:ahLst/>
              <a:cxnLst/>
              <a:rect r="r" b="b" t="t" l="l"/>
              <a:pathLst>
                <a:path w="3490" h="4501" stroke="true" fill="norm" extrusionOk="false">
                  <a:moveTo>
                    <a:pt x="585" y="1"/>
                  </a:moveTo>
                  <a:cubicBezTo>
                    <a:pt x="357" y="1"/>
                    <a:pt x="155" y="54"/>
                    <a:pt x="1" y="159"/>
                  </a:cubicBezTo>
                  <a:lnTo>
                    <a:pt x="2883" y="4501"/>
                  </a:lnTo>
                  <a:cubicBezTo>
                    <a:pt x="3470" y="4122"/>
                    <a:pt x="3489" y="2529"/>
                    <a:pt x="2674" y="1315"/>
                  </a:cubicBezTo>
                  <a:cubicBezTo>
                    <a:pt x="2073" y="421"/>
                    <a:pt x="1225" y="1"/>
                    <a:pt x="585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6" id="6"/>
            <p:cNvSpPr/>
            <p:nvPr/>
          </p:nvSpPr>
          <p:spPr>
            <a:xfrm>
              <a:off x="6779738" y="3365421"/>
              <a:ext cx="782624" cy="790760"/>
            </a:xfrm>
            <a:custGeom>
              <a:avLst/>
              <a:gdLst/>
              <a:ahLst/>
              <a:cxnLst/>
              <a:rect r="r" b="b" t="t" l="l"/>
              <a:pathLst>
                <a:path w="9330" h="9427" stroke="true" fill="norm" extrusionOk="false">
                  <a:moveTo>
                    <a:pt x="1657" y="1"/>
                  </a:moveTo>
                  <a:cubicBezTo>
                    <a:pt x="1623" y="1"/>
                    <a:pt x="1589" y="1"/>
                    <a:pt x="1556" y="2"/>
                  </a:cubicBezTo>
                  <a:cubicBezTo>
                    <a:pt x="778" y="40"/>
                    <a:pt x="399" y="306"/>
                    <a:pt x="285" y="723"/>
                  </a:cubicBezTo>
                  <a:cubicBezTo>
                    <a:pt x="1" y="1747"/>
                    <a:pt x="1347" y="3643"/>
                    <a:pt x="1802" y="4458"/>
                  </a:cubicBezTo>
                  <a:cubicBezTo>
                    <a:pt x="2481" y="5642"/>
                    <a:pt x="4631" y="9427"/>
                    <a:pt x="6645" y="9427"/>
                  </a:cubicBezTo>
                  <a:cubicBezTo>
                    <a:pt x="7050" y="9427"/>
                    <a:pt x="7450" y="9273"/>
                    <a:pt x="7832" y="8914"/>
                  </a:cubicBezTo>
                  <a:cubicBezTo>
                    <a:pt x="9330" y="7492"/>
                    <a:pt x="7965" y="4345"/>
                    <a:pt x="6941" y="3017"/>
                  </a:cubicBezTo>
                  <a:cubicBezTo>
                    <a:pt x="5841" y="1564"/>
                    <a:pt x="3570" y="1"/>
                    <a:pt x="1657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7" id="7"/>
            <p:cNvSpPr/>
            <p:nvPr/>
          </p:nvSpPr>
          <p:spPr>
            <a:xfrm>
              <a:off x="7104195" y="3317692"/>
              <a:ext cx="1214702" cy="1117902"/>
            </a:xfrm>
            <a:custGeom>
              <a:avLst/>
              <a:gdLst/>
              <a:ahLst/>
              <a:cxnLst/>
              <a:rect r="r" b="b" t="t" l="l"/>
              <a:pathLst>
                <a:path w="14481" h="13327" stroke="true" fill="norm" extrusionOk="false">
                  <a:moveTo>
                    <a:pt x="3746" y="1"/>
                  </a:moveTo>
                  <a:cubicBezTo>
                    <a:pt x="2373" y="1"/>
                    <a:pt x="1053" y="593"/>
                    <a:pt x="1" y="2012"/>
                  </a:cubicBezTo>
                  <a:lnTo>
                    <a:pt x="1745" y="2486"/>
                  </a:lnTo>
                  <a:cubicBezTo>
                    <a:pt x="759" y="3169"/>
                    <a:pt x="172" y="4326"/>
                    <a:pt x="228" y="5539"/>
                  </a:cubicBezTo>
                  <a:cubicBezTo>
                    <a:pt x="228" y="5691"/>
                    <a:pt x="247" y="5824"/>
                    <a:pt x="266" y="5975"/>
                  </a:cubicBezTo>
                  <a:cubicBezTo>
                    <a:pt x="285" y="7303"/>
                    <a:pt x="911" y="8933"/>
                    <a:pt x="2087" y="10412"/>
                  </a:cubicBezTo>
                  <a:cubicBezTo>
                    <a:pt x="3279" y="11900"/>
                    <a:pt x="5711" y="13326"/>
                    <a:pt x="7859" y="13326"/>
                  </a:cubicBezTo>
                  <a:cubicBezTo>
                    <a:pt x="8887" y="13326"/>
                    <a:pt x="9851" y="12999"/>
                    <a:pt x="10581" y="12195"/>
                  </a:cubicBezTo>
                  <a:cubicBezTo>
                    <a:pt x="14480" y="7879"/>
                    <a:pt x="8755" y="1"/>
                    <a:pt x="3746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8" id="8"/>
            <p:cNvSpPr/>
            <p:nvPr/>
          </p:nvSpPr>
          <p:spPr>
            <a:xfrm>
              <a:off x="7366663" y="3627974"/>
              <a:ext cx="2082131" cy="2195037"/>
            </a:xfrm>
            <a:custGeom>
              <a:avLst/>
              <a:gdLst/>
              <a:ahLst/>
              <a:cxnLst/>
              <a:rect r="r" b="b" t="t" l="l"/>
              <a:pathLst>
                <a:path w="24822" h="26168" stroke="true" fill="norm" extrusionOk="false">
                  <a:moveTo>
                    <a:pt x="10183" y="1"/>
                  </a:moveTo>
                  <a:lnTo>
                    <a:pt x="1" y="8363"/>
                  </a:lnTo>
                  <a:lnTo>
                    <a:pt x="14658" y="26168"/>
                  </a:lnTo>
                  <a:lnTo>
                    <a:pt x="24821" y="17806"/>
                  </a:lnTo>
                  <a:lnTo>
                    <a:pt x="10183" y="1"/>
                  </a:lnTo>
                  <a:close/>
                </a:path>
              </a:pathLst>
            </a:custGeom>
            <a:solidFill>
              <a:srgbClr val="00503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9" id="9"/>
            <p:cNvSpPr/>
            <p:nvPr/>
          </p:nvSpPr>
          <p:spPr>
            <a:xfrm>
              <a:off x="7067622" y="3127279"/>
              <a:ext cx="656968" cy="643714"/>
            </a:xfrm>
            <a:custGeom>
              <a:avLst/>
              <a:gdLst/>
              <a:ahLst/>
              <a:cxnLst/>
              <a:rect r="r" b="b" t="t" l="l"/>
              <a:pathLst>
                <a:path w="7832" h="7674" stroke="true" fill="norm" extrusionOk="false">
                  <a:moveTo>
                    <a:pt x="3246" y="0"/>
                  </a:moveTo>
                  <a:cubicBezTo>
                    <a:pt x="2751" y="0"/>
                    <a:pt x="2270" y="121"/>
                    <a:pt x="1840" y="376"/>
                  </a:cubicBezTo>
                  <a:cubicBezTo>
                    <a:pt x="323" y="1287"/>
                    <a:pt x="1" y="3581"/>
                    <a:pt x="1138" y="5496"/>
                  </a:cubicBezTo>
                  <a:cubicBezTo>
                    <a:pt x="1957" y="6874"/>
                    <a:pt x="3317" y="7673"/>
                    <a:pt x="4580" y="7673"/>
                  </a:cubicBezTo>
                  <a:cubicBezTo>
                    <a:pt x="5071" y="7673"/>
                    <a:pt x="5549" y="7552"/>
                    <a:pt x="5974" y="7297"/>
                  </a:cubicBezTo>
                  <a:cubicBezTo>
                    <a:pt x="7510" y="6387"/>
                    <a:pt x="7832" y="4093"/>
                    <a:pt x="6694" y="2178"/>
                  </a:cubicBezTo>
                  <a:cubicBezTo>
                    <a:pt x="5875" y="799"/>
                    <a:pt x="4516" y="0"/>
                    <a:pt x="3246" y="0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0" id="10"/>
            <p:cNvSpPr/>
            <p:nvPr/>
          </p:nvSpPr>
          <p:spPr>
            <a:xfrm>
              <a:off x="6316874" y="1832301"/>
              <a:ext cx="1205727" cy="1946913"/>
            </a:xfrm>
            <a:custGeom>
              <a:avLst/>
              <a:gdLst/>
              <a:ahLst/>
              <a:cxnLst/>
              <a:rect r="r" b="b" t="t" l="l"/>
              <a:pathLst>
                <a:path w="14374" h="23210" stroke="true" fill="norm" extrusionOk="false">
                  <a:moveTo>
                    <a:pt x="5177" y="1"/>
                  </a:moveTo>
                  <a:lnTo>
                    <a:pt x="1" y="6144"/>
                  </a:lnTo>
                  <a:lnTo>
                    <a:pt x="9880" y="23209"/>
                  </a:lnTo>
                  <a:lnTo>
                    <a:pt x="14374" y="17635"/>
                  </a:lnTo>
                  <a:lnTo>
                    <a:pt x="5177" y="1"/>
                  </a:lnTo>
                  <a:close/>
                </a:path>
              </a:pathLst>
            </a:custGeom>
            <a:solidFill>
              <a:srgbClr val="005C3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1" id="11"/>
            <p:cNvSpPr/>
            <p:nvPr/>
          </p:nvSpPr>
          <p:spPr>
            <a:xfrm>
              <a:off x="6318468" y="1713020"/>
              <a:ext cx="1514331" cy="2067788"/>
            </a:xfrm>
            <a:custGeom>
              <a:avLst/>
              <a:gdLst/>
              <a:ahLst/>
              <a:cxnLst/>
              <a:rect r="r" b="b" t="t" l="l"/>
              <a:pathLst>
                <a:path w="18053" h="24651" stroke="true" fill="norm" extrusionOk="false">
                  <a:moveTo>
                    <a:pt x="7946" y="1"/>
                  </a:moveTo>
                  <a:lnTo>
                    <a:pt x="1" y="7547"/>
                  </a:lnTo>
                  <a:lnTo>
                    <a:pt x="9842" y="24650"/>
                  </a:lnTo>
                  <a:lnTo>
                    <a:pt x="18052" y="17805"/>
                  </a:lnTo>
                  <a:lnTo>
                    <a:pt x="7946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2" id="12"/>
            <p:cNvSpPr/>
            <p:nvPr/>
          </p:nvSpPr>
          <p:spPr>
            <a:xfrm>
              <a:off x="6326436" y="1708239"/>
              <a:ext cx="1643090" cy="2094798"/>
            </a:xfrm>
            <a:custGeom>
              <a:avLst/>
              <a:gdLst/>
              <a:ahLst/>
              <a:cxnLst/>
              <a:rect r="r" b="b" t="t" l="l"/>
              <a:pathLst>
                <a:path w="19588" h="24973" stroke="true" fill="norm" extrusionOk="false">
                  <a:moveTo>
                    <a:pt x="9918" y="1"/>
                  </a:moveTo>
                  <a:lnTo>
                    <a:pt x="1" y="7870"/>
                  </a:lnTo>
                  <a:lnTo>
                    <a:pt x="9842" y="24973"/>
                  </a:lnTo>
                  <a:lnTo>
                    <a:pt x="19588" y="17881"/>
                  </a:lnTo>
                  <a:lnTo>
                    <a:pt x="9918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3" id="13"/>
            <p:cNvSpPr/>
            <p:nvPr/>
          </p:nvSpPr>
          <p:spPr>
            <a:xfrm>
              <a:off x="7074920" y="3236746"/>
              <a:ext cx="1134846" cy="588855"/>
            </a:xfrm>
            <a:custGeom>
              <a:avLst/>
              <a:gdLst/>
              <a:ahLst/>
              <a:cxnLst/>
              <a:rect r="r" b="b" t="t" l="l"/>
              <a:pathLst>
                <a:path w="13529" h="7020" stroke="true" fill="norm" extrusionOk="false">
                  <a:moveTo>
                    <a:pt x="13035" y="0"/>
                  </a:moveTo>
                  <a:lnTo>
                    <a:pt x="1070" y="6068"/>
                  </a:lnTo>
                  <a:lnTo>
                    <a:pt x="5944" y="285"/>
                  </a:lnTo>
                  <a:lnTo>
                    <a:pt x="5299" y="190"/>
                  </a:lnTo>
                  <a:lnTo>
                    <a:pt x="312" y="6087"/>
                  </a:lnTo>
                  <a:cubicBezTo>
                    <a:pt x="1" y="6497"/>
                    <a:pt x="326" y="7020"/>
                    <a:pt x="776" y="7020"/>
                  </a:cubicBezTo>
                  <a:cubicBezTo>
                    <a:pt x="846" y="7020"/>
                    <a:pt x="920" y="7007"/>
                    <a:pt x="995" y="6978"/>
                  </a:cubicBezTo>
                  <a:lnTo>
                    <a:pt x="995" y="6997"/>
                  </a:lnTo>
                  <a:lnTo>
                    <a:pt x="1032" y="6978"/>
                  </a:lnTo>
                  <a:lnTo>
                    <a:pt x="13528" y="342"/>
                  </a:lnTo>
                  <a:lnTo>
                    <a:pt x="13035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4" id="14"/>
            <p:cNvSpPr/>
            <p:nvPr/>
          </p:nvSpPr>
          <p:spPr>
            <a:xfrm>
              <a:off x="6318468" y="1725770"/>
              <a:ext cx="1892892" cy="2056631"/>
            </a:xfrm>
            <a:custGeom>
              <a:avLst/>
              <a:gdLst/>
              <a:ahLst/>
              <a:cxnLst/>
              <a:rect r="r" b="b" t="t" l="l"/>
              <a:pathLst>
                <a:path w="22566" h="24518" stroke="true" fill="norm" extrusionOk="false">
                  <a:moveTo>
                    <a:pt x="12724" y="0"/>
                  </a:moveTo>
                  <a:lnTo>
                    <a:pt x="1" y="7414"/>
                  </a:lnTo>
                  <a:lnTo>
                    <a:pt x="9842" y="24517"/>
                  </a:lnTo>
                  <a:lnTo>
                    <a:pt x="22565" y="18336"/>
                  </a:lnTo>
                  <a:lnTo>
                    <a:pt x="12724" y="0"/>
                  </a:lnTo>
                  <a:close/>
                </a:path>
              </a:pathLst>
            </a:custGeom>
            <a:solidFill>
              <a:srgbClr val="007611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5" id="15"/>
            <p:cNvSpPr/>
            <p:nvPr/>
          </p:nvSpPr>
          <p:spPr>
            <a:xfrm>
              <a:off x="6277114" y="2322175"/>
              <a:ext cx="927405" cy="1479268"/>
            </a:xfrm>
            <a:custGeom>
              <a:avLst/>
              <a:gdLst/>
              <a:ahLst/>
              <a:cxnLst/>
              <a:rect r="r" b="b" t="t" l="l"/>
              <a:pathLst>
                <a:path w="11056" h="17635" stroke="true" fill="norm" extrusionOk="false">
                  <a:moveTo>
                    <a:pt x="1233" y="1"/>
                  </a:moveTo>
                  <a:lnTo>
                    <a:pt x="1" y="570"/>
                  </a:lnTo>
                  <a:lnTo>
                    <a:pt x="9785" y="17635"/>
                  </a:lnTo>
                  <a:lnTo>
                    <a:pt x="11055" y="17104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6" id="16"/>
            <p:cNvSpPr/>
            <p:nvPr/>
          </p:nvSpPr>
          <p:spPr>
            <a:xfrm>
              <a:off x="6253962" y="1724176"/>
              <a:ext cx="1131910" cy="673157"/>
            </a:xfrm>
            <a:custGeom>
              <a:avLst/>
              <a:gdLst/>
              <a:ahLst/>
              <a:cxnLst/>
              <a:rect r="r" b="b" t="t" l="l"/>
              <a:pathLst>
                <a:path w="13494" h="8025" stroke="true" fill="norm" extrusionOk="false">
                  <a:moveTo>
                    <a:pt x="13076" y="0"/>
                  </a:moveTo>
                  <a:lnTo>
                    <a:pt x="1054" y="7073"/>
                  </a:lnTo>
                  <a:lnTo>
                    <a:pt x="1054" y="7073"/>
                  </a:lnTo>
                  <a:lnTo>
                    <a:pt x="5946" y="1290"/>
                  </a:lnTo>
                  <a:lnTo>
                    <a:pt x="5700" y="1347"/>
                  </a:lnTo>
                  <a:lnTo>
                    <a:pt x="296" y="7092"/>
                  </a:lnTo>
                  <a:cubicBezTo>
                    <a:pt x="1" y="7501"/>
                    <a:pt x="315" y="8024"/>
                    <a:pt x="773" y="8024"/>
                  </a:cubicBezTo>
                  <a:cubicBezTo>
                    <a:pt x="845" y="8024"/>
                    <a:pt x="920" y="8011"/>
                    <a:pt x="997" y="7983"/>
                  </a:cubicBezTo>
                  <a:lnTo>
                    <a:pt x="1016" y="7983"/>
                  </a:lnTo>
                  <a:lnTo>
                    <a:pt x="134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b="false" i="false" sz="1800" baseline="0" u="none">
                  <a:solidFill>
                    <a:schemeClr val="tx1"/>
                  </a:solidFill>
                  <a:latin typeface="等线"/>
                  <a:ea typeface="等线"/>
                </a:rPr>
                <a:t> </a:t>
              </a:r>
            </a:p>
          </p:txBody>
        </p:sp>
        <p:sp>
          <p:nvSpPr>
            <p:cNvPr name="Freeform 17" id="17"/>
            <p:cNvSpPr/>
            <p:nvPr/>
          </p:nvSpPr>
          <p:spPr>
            <a:xfrm>
              <a:off x="6719342" y="3153199"/>
              <a:ext cx="353145" cy="632139"/>
            </a:xfrm>
            <a:custGeom>
              <a:avLst/>
              <a:gdLst/>
              <a:ahLst/>
              <a:cxnLst/>
              <a:rect r="r" b="b" t="t" l="l"/>
              <a:pathLst>
                <a:path w="4210" h="7536" stroke="true" fill="norm" extrusionOk="false">
                  <a:moveTo>
                    <a:pt x="1203" y="1"/>
                  </a:moveTo>
                  <a:cubicBezTo>
                    <a:pt x="1101" y="1"/>
                    <a:pt x="998" y="22"/>
                    <a:pt x="891" y="67"/>
                  </a:cubicBezTo>
                  <a:cubicBezTo>
                    <a:pt x="778" y="124"/>
                    <a:pt x="683" y="181"/>
                    <a:pt x="607" y="257"/>
                  </a:cubicBezTo>
                  <a:cubicBezTo>
                    <a:pt x="0" y="864"/>
                    <a:pt x="379" y="2286"/>
                    <a:pt x="436" y="2968"/>
                  </a:cubicBezTo>
                  <a:cubicBezTo>
                    <a:pt x="524" y="4003"/>
                    <a:pt x="823" y="7535"/>
                    <a:pt x="2472" y="7535"/>
                  </a:cubicBezTo>
                  <a:cubicBezTo>
                    <a:pt x="2606" y="7535"/>
                    <a:pt x="2749" y="7512"/>
                    <a:pt x="2901" y="7462"/>
                  </a:cubicBezTo>
                  <a:cubicBezTo>
                    <a:pt x="3755" y="7159"/>
                    <a:pt x="4096" y="6059"/>
                    <a:pt x="4153" y="5263"/>
                  </a:cubicBezTo>
                  <a:cubicBezTo>
                    <a:pt x="4210" y="4182"/>
                    <a:pt x="3622" y="3367"/>
                    <a:pt x="3167" y="2438"/>
                  </a:cubicBezTo>
                  <a:cubicBezTo>
                    <a:pt x="2858" y="1838"/>
                    <a:pt x="2148" y="1"/>
                    <a:pt x="1203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8" id="18"/>
            <p:cNvSpPr/>
            <p:nvPr/>
          </p:nvSpPr>
          <p:spPr>
            <a:xfrm>
              <a:off x="6609540" y="2933091"/>
              <a:ext cx="340479" cy="497423"/>
            </a:xfrm>
            <a:custGeom>
              <a:avLst/>
              <a:gdLst/>
              <a:ahLst/>
              <a:cxnLst/>
              <a:rect r="r" b="b" t="t" l="l"/>
              <a:pathLst>
                <a:path w="4059" h="5930" stroke="true" fill="norm" extrusionOk="false">
                  <a:moveTo>
                    <a:pt x="1478" y="1"/>
                  </a:moveTo>
                  <a:cubicBezTo>
                    <a:pt x="1311" y="1"/>
                    <a:pt x="1140" y="51"/>
                    <a:pt x="968" y="170"/>
                  </a:cubicBezTo>
                  <a:cubicBezTo>
                    <a:pt x="1" y="852"/>
                    <a:pt x="1063" y="2369"/>
                    <a:pt x="1328" y="3165"/>
                  </a:cubicBezTo>
                  <a:cubicBezTo>
                    <a:pt x="1632" y="4000"/>
                    <a:pt x="2049" y="4777"/>
                    <a:pt x="2580" y="5498"/>
                  </a:cubicBezTo>
                  <a:cubicBezTo>
                    <a:pt x="2811" y="5756"/>
                    <a:pt x="3037" y="5929"/>
                    <a:pt x="3237" y="5929"/>
                  </a:cubicBezTo>
                  <a:cubicBezTo>
                    <a:pt x="3447" y="5929"/>
                    <a:pt x="3629" y="5737"/>
                    <a:pt x="3755" y="5251"/>
                  </a:cubicBezTo>
                  <a:cubicBezTo>
                    <a:pt x="4059" y="4151"/>
                    <a:pt x="3698" y="2426"/>
                    <a:pt x="3148" y="1459"/>
                  </a:cubicBezTo>
                  <a:cubicBezTo>
                    <a:pt x="2841" y="936"/>
                    <a:pt x="2196" y="1"/>
                    <a:pt x="1478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9" id="19"/>
            <p:cNvSpPr/>
            <p:nvPr/>
          </p:nvSpPr>
          <p:spPr>
            <a:xfrm>
              <a:off x="6781331" y="3443013"/>
              <a:ext cx="858957" cy="786482"/>
            </a:xfrm>
            <a:custGeom>
              <a:avLst/>
              <a:gdLst/>
              <a:ahLst/>
              <a:cxnLst/>
              <a:rect r="r" b="b" t="t" l="l"/>
              <a:pathLst>
                <a:path w="10240" h="9376" stroke="true" fill="norm" extrusionOk="false">
                  <a:moveTo>
                    <a:pt x="2184" y="0"/>
                  </a:moveTo>
                  <a:cubicBezTo>
                    <a:pt x="1535" y="0"/>
                    <a:pt x="921" y="682"/>
                    <a:pt x="494" y="1239"/>
                  </a:cubicBezTo>
                  <a:cubicBezTo>
                    <a:pt x="361" y="1410"/>
                    <a:pt x="247" y="1599"/>
                    <a:pt x="190" y="1827"/>
                  </a:cubicBezTo>
                  <a:cubicBezTo>
                    <a:pt x="1" y="2585"/>
                    <a:pt x="588" y="3287"/>
                    <a:pt x="1138" y="3969"/>
                  </a:cubicBezTo>
                  <a:cubicBezTo>
                    <a:pt x="1480" y="4405"/>
                    <a:pt x="1859" y="4804"/>
                    <a:pt x="2219" y="5240"/>
                  </a:cubicBezTo>
                  <a:cubicBezTo>
                    <a:pt x="2750" y="5884"/>
                    <a:pt x="3414" y="6491"/>
                    <a:pt x="3964" y="7136"/>
                  </a:cubicBezTo>
                  <a:cubicBezTo>
                    <a:pt x="4753" y="8042"/>
                    <a:pt x="6004" y="9376"/>
                    <a:pt x="7308" y="9376"/>
                  </a:cubicBezTo>
                  <a:cubicBezTo>
                    <a:pt x="7697" y="9376"/>
                    <a:pt x="8089" y="9258"/>
                    <a:pt x="8476" y="8975"/>
                  </a:cubicBezTo>
                  <a:cubicBezTo>
                    <a:pt x="10240" y="7648"/>
                    <a:pt x="8685" y="5240"/>
                    <a:pt x="7339" y="4292"/>
                  </a:cubicBezTo>
                  <a:cubicBezTo>
                    <a:pt x="6523" y="3723"/>
                    <a:pt x="5689" y="3135"/>
                    <a:pt x="4912" y="2585"/>
                  </a:cubicBezTo>
                  <a:cubicBezTo>
                    <a:pt x="4134" y="2035"/>
                    <a:pt x="3660" y="1239"/>
                    <a:pt x="3091" y="518"/>
                  </a:cubicBezTo>
                  <a:cubicBezTo>
                    <a:pt x="2791" y="146"/>
                    <a:pt x="2484" y="0"/>
                    <a:pt x="2184" y="0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>
            <a:off x="-727004" y="2041703"/>
            <a:ext cx="4109930" cy="5292919"/>
            <a:chOff x="-304797" y="1707439"/>
            <a:chExt cx="3196342" cy="4116366"/>
          </a:xfrm>
        </p:grpSpPr>
        <p:sp>
          <p:nvSpPr>
            <p:cNvPr name="Freeform 21" id="21"/>
            <p:cNvSpPr/>
            <p:nvPr/>
          </p:nvSpPr>
          <p:spPr>
            <a:xfrm>
              <a:off x="2246405" y="2843963"/>
              <a:ext cx="389718" cy="480060"/>
            </a:xfrm>
            <a:custGeom>
              <a:avLst/>
              <a:gdLst/>
              <a:ahLst/>
              <a:cxnLst/>
              <a:rect r="r" b="b" t="t" l="l"/>
              <a:pathLst>
                <a:path w="4646" h="5723" stroke="true" fill="norm" extrusionOk="false">
                  <a:moveTo>
                    <a:pt x="3393" y="1"/>
                  </a:moveTo>
                  <a:cubicBezTo>
                    <a:pt x="3115" y="1"/>
                    <a:pt x="2837" y="130"/>
                    <a:pt x="2655" y="369"/>
                  </a:cubicBezTo>
                  <a:cubicBezTo>
                    <a:pt x="1688" y="1659"/>
                    <a:pt x="0" y="3062"/>
                    <a:pt x="57" y="4863"/>
                  </a:cubicBezTo>
                  <a:cubicBezTo>
                    <a:pt x="68" y="5484"/>
                    <a:pt x="254" y="5722"/>
                    <a:pt x="532" y="5722"/>
                  </a:cubicBezTo>
                  <a:cubicBezTo>
                    <a:pt x="729" y="5722"/>
                    <a:pt x="973" y="5602"/>
                    <a:pt x="1233" y="5413"/>
                  </a:cubicBezTo>
                  <a:cubicBezTo>
                    <a:pt x="2029" y="4825"/>
                    <a:pt x="2977" y="3612"/>
                    <a:pt x="3186" y="3289"/>
                  </a:cubicBezTo>
                  <a:cubicBezTo>
                    <a:pt x="3546" y="2702"/>
                    <a:pt x="3944" y="2171"/>
                    <a:pt x="4361" y="1640"/>
                  </a:cubicBezTo>
                  <a:cubicBezTo>
                    <a:pt x="4646" y="1241"/>
                    <a:pt x="4570" y="673"/>
                    <a:pt x="4172" y="369"/>
                  </a:cubicBezTo>
                  <a:lnTo>
                    <a:pt x="3925" y="180"/>
                  </a:lnTo>
                  <a:cubicBezTo>
                    <a:pt x="3766" y="58"/>
                    <a:pt x="3579" y="1"/>
                    <a:pt x="3393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2" id="22"/>
            <p:cNvSpPr/>
            <p:nvPr/>
          </p:nvSpPr>
          <p:spPr>
            <a:xfrm>
              <a:off x="1995093" y="3050649"/>
              <a:ext cx="504302" cy="642037"/>
            </a:xfrm>
            <a:custGeom>
              <a:avLst/>
              <a:gdLst/>
              <a:ahLst/>
              <a:cxnLst/>
              <a:rect r="r" b="b" t="t" l="l"/>
              <a:pathLst>
                <a:path w="6012" h="7654" stroke="true" fill="norm" extrusionOk="false">
                  <a:moveTo>
                    <a:pt x="4949" y="1"/>
                  </a:moveTo>
                  <a:cubicBezTo>
                    <a:pt x="4853" y="1"/>
                    <a:pt x="4746" y="10"/>
                    <a:pt x="4627" y="29"/>
                  </a:cubicBezTo>
                  <a:cubicBezTo>
                    <a:pt x="3205" y="256"/>
                    <a:pt x="1745" y="1754"/>
                    <a:pt x="1119" y="2987"/>
                  </a:cubicBezTo>
                  <a:cubicBezTo>
                    <a:pt x="569" y="4106"/>
                    <a:pt x="0" y="6609"/>
                    <a:pt x="1309" y="7424"/>
                  </a:cubicBezTo>
                  <a:cubicBezTo>
                    <a:pt x="1560" y="7583"/>
                    <a:pt x="1801" y="7654"/>
                    <a:pt x="2033" y="7654"/>
                  </a:cubicBezTo>
                  <a:cubicBezTo>
                    <a:pt x="3626" y="7654"/>
                    <a:pt x="4751" y="4319"/>
                    <a:pt x="5082" y="3309"/>
                  </a:cubicBezTo>
                  <a:cubicBezTo>
                    <a:pt x="5291" y="2646"/>
                    <a:pt x="6011" y="1072"/>
                    <a:pt x="5651" y="370"/>
                  </a:cubicBezTo>
                  <a:cubicBezTo>
                    <a:pt x="5545" y="143"/>
                    <a:pt x="5330" y="1"/>
                    <a:pt x="4949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3" id="23"/>
            <p:cNvSpPr/>
            <p:nvPr/>
          </p:nvSpPr>
          <p:spPr>
            <a:xfrm>
              <a:off x="2270228" y="2837755"/>
              <a:ext cx="292750" cy="377555"/>
            </a:xfrm>
            <a:custGeom>
              <a:avLst/>
              <a:gdLst/>
              <a:ahLst/>
              <a:cxnLst/>
              <a:rect r="r" b="b" t="t" l="l"/>
              <a:pathLst>
                <a:path w="3490" h="4501" stroke="true" fill="norm" extrusionOk="false">
                  <a:moveTo>
                    <a:pt x="2905" y="1"/>
                  </a:moveTo>
                  <a:cubicBezTo>
                    <a:pt x="2265" y="1"/>
                    <a:pt x="1417" y="421"/>
                    <a:pt x="816" y="1315"/>
                  </a:cubicBezTo>
                  <a:cubicBezTo>
                    <a:pt x="1" y="2529"/>
                    <a:pt x="20" y="4122"/>
                    <a:pt x="607" y="4501"/>
                  </a:cubicBezTo>
                  <a:lnTo>
                    <a:pt x="3490" y="159"/>
                  </a:lnTo>
                  <a:cubicBezTo>
                    <a:pt x="3335" y="54"/>
                    <a:pt x="3133" y="1"/>
                    <a:pt x="2905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4" id="24"/>
            <p:cNvSpPr/>
            <p:nvPr/>
          </p:nvSpPr>
          <p:spPr>
            <a:xfrm>
              <a:off x="1581552" y="3364621"/>
              <a:ext cx="784217" cy="790760"/>
            </a:xfrm>
            <a:custGeom>
              <a:avLst/>
              <a:gdLst/>
              <a:ahLst/>
              <a:cxnLst/>
              <a:rect r="r" b="b" t="t" l="l"/>
              <a:pathLst>
                <a:path w="9349" h="9427" stroke="true" fill="norm" extrusionOk="false">
                  <a:moveTo>
                    <a:pt x="7691" y="1"/>
                  </a:moveTo>
                  <a:cubicBezTo>
                    <a:pt x="5760" y="1"/>
                    <a:pt x="3507" y="1564"/>
                    <a:pt x="2390" y="3017"/>
                  </a:cubicBezTo>
                  <a:cubicBezTo>
                    <a:pt x="1385" y="4345"/>
                    <a:pt x="0" y="7492"/>
                    <a:pt x="1498" y="8914"/>
                  </a:cubicBezTo>
                  <a:cubicBezTo>
                    <a:pt x="1880" y="9273"/>
                    <a:pt x="2280" y="9427"/>
                    <a:pt x="2685" y="9427"/>
                  </a:cubicBezTo>
                  <a:cubicBezTo>
                    <a:pt x="4699" y="9427"/>
                    <a:pt x="6849" y="5642"/>
                    <a:pt x="7528" y="4458"/>
                  </a:cubicBezTo>
                  <a:cubicBezTo>
                    <a:pt x="7983" y="3643"/>
                    <a:pt x="9348" y="1747"/>
                    <a:pt x="9045" y="723"/>
                  </a:cubicBezTo>
                  <a:cubicBezTo>
                    <a:pt x="8931" y="306"/>
                    <a:pt x="8571" y="40"/>
                    <a:pt x="7794" y="2"/>
                  </a:cubicBezTo>
                  <a:cubicBezTo>
                    <a:pt x="7760" y="1"/>
                    <a:pt x="7725" y="1"/>
                    <a:pt x="7691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5" id="25"/>
            <p:cNvSpPr/>
            <p:nvPr/>
          </p:nvSpPr>
          <p:spPr>
            <a:xfrm>
              <a:off x="825352" y="3316892"/>
              <a:ext cx="1215961" cy="1117902"/>
            </a:xfrm>
            <a:custGeom>
              <a:avLst/>
              <a:gdLst/>
              <a:ahLst/>
              <a:cxnLst/>
              <a:rect r="r" b="b" t="t" l="l"/>
              <a:pathLst>
                <a:path w="14496" h="13327" stroke="true" fill="norm" extrusionOk="false">
                  <a:moveTo>
                    <a:pt x="10741" y="1"/>
                  </a:moveTo>
                  <a:cubicBezTo>
                    <a:pt x="5723" y="1"/>
                    <a:pt x="1" y="7879"/>
                    <a:pt x="3915" y="12195"/>
                  </a:cubicBezTo>
                  <a:cubicBezTo>
                    <a:pt x="4639" y="12999"/>
                    <a:pt x="5598" y="13326"/>
                    <a:pt x="6624" y="13326"/>
                  </a:cubicBezTo>
                  <a:cubicBezTo>
                    <a:pt x="8766" y="13326"/>
                    <a:pt x="11198" y="11900"/>
                    <a:pt x="12391" y="10412"/>
                  </a:cubicBezTo>
                  <a:cubicBezTo>
                    <a:pt x="13566" y="8933"/>
                    <a:pt x="14192" y="7303"/>
                    <a:pt x="14211" y="5975"/>
                  </a:cubicBezTo>
                  <a:cubicBezTo>
                    <a:pt x="14230" y="5824"/>
                    <a:pt x="14249" y="5691"/>
                    <a:pt x="14249" y="5539"/>
                  </a:cubicBezTo>
                  <a:cubicBezTo>
                    <a:pt x="14306" y="4326"/>
                    <a:pt x="13718" y="3169"/>
                    <a:pt x="12732" y="2486"/>
                  </a:cubicBezTo>
                  <a:lnTo>
                    <a:pt x="14495" y="2012"/>
                  </a:lnTo>
                  <a:cubicBezTo>
                    <a:pt x="13439" y="593"/>
                    <a:pt x="12116" y="1"/>
                    <a:pt x="10741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6" id="26"/>
            <p:cNvSpPr/>
            <p:nvPr/>
          </p:nvSpPr>
          <p:spPr>
            <a:xfrm>
              <a:off x="-304797" y="3627174"/>
              <a:ext cx="2082048" cy="2196631"/>
            </a:xfrm>
            <a:custGeom>
              <a:avLst/>
              <a:gdLst/>
              <a:ahLst/>
              <a:cxnLst/>
              <a:rect r="r" b="b" t="t" l="l"/>
              <a:pathLst>
                <a:path w="24821" h="26187" stroke="true" fill="norm" extrusionOk="false">
                  <a:moveTo>
                    <a:pt x="14638" y="1"/>
                  </a:moveTo>
                  <a:lnTo>
                    <a:pt x="0" y="17806"/>
                  </a:lnTo>
                  <a:lnTo>
                    <a:pt x="10182" y="26187"/>
                  </a:lnTo>
                  <a:lnTo>
                    <a:pt x="24821" y="8382"/>
                  </a:lnTo>
                  <a:lnTo>
                    <a:pt x="14638" y="1"/>
                  </a:lnTo>
                  <a:close/>
                </a:path>
              </a:pathLst>
            </a:custGeom>
            <a:solidFill>
              <a:srgbClr val="005C3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7" id="27"/>
            <p:cNvSpPr/>
            <p:nvPr/>
          </p:nvSpPr>
          <p:spPr>
            <a:xfrm>
              <a:off x="1419324" y="3126479"/>
              <a:ext cx="658562" cy="643714"/>
            </a:xfrm>
            <a:custGeom>
              <a:avLst/>
              <a:gdLst/>
              <a:ahLst/>
              <a:cxnLst/>
              <a:rect r="r" b="b" t="t" l="l"/>
              <a:pathLst>
                <a:path w="7851" h="7674" stroke="true" fill="norm" extrusionOk="false">
                  <a:moveTo>
                    <a:pt x="4586" y="0"/>
                  </a:moveTo>
                  <a:cubicBezTo>
                    <a:pt x="3316" y="0"/>
                    <a:pt x="1957" y="799"/>
                    <a:pt x="1138" y="2178"/>
                  </a:cubicBezTo>
                  <a:cubicBezTo>
                    <a:pt x="0" y="4093"/>
                    <a:pt x="323" y="6387"/>
                    <a:pt x="1877" y="7297"/>
                  </a:cubicBezTo>
                  <a:cubicBezTo>
                    <a:pt x="2308" y="7552"/>
                    <a:pt x="2787" y="7673"/>
                    <a:pt x="3280" y="7673"/>
                  </a:cubicBezTo>
                  <a:cubicBezTo>
                    <a:pt x="4544" y="7673"/>
                    <a:pt x="5894" y="6874"/>
                    <a:pt x="6713" y="5496"/>
                  </a:cubicBezTo>
                  <a:cubicBezTo>
                    <a:pt x="7850" y="3581"/>
                    <a:pt x="7528" y="1287"/>
                    <a:pt x="5992" y="376"/>
                  </a:cubicBezTo>
                  <a:cubicBezTo>
                    <a:pt x="5562" y="121"/>
                    <a:pt x="5081" y="0"/>
                    <a:pt x="4586" y="0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8" id="28"/>
            <p:cNvSpPr/>
            <p:nvPr/>
          </p:nvSpPr>
          <p:spPr>
            <a:xfrm>
              <a:off x="1621313" y="1831501"/>
              <a:ext cx="1205727" cy="1946913"/>
            </a:xfrm>
            <a:custGeom>
              <a:avLst/>
              <a:gdLst/>
              <a:ahLst/>
              <a:cxnLst/>
              <a:rect r="r" b="b" t="t" l="l"/>
              <a:pathLst>
                <a:path w="14374" h="23210" stroke="true" fill="norm" extrusionOk="false">
                  <a:moveTo>
                    <a:pt x="9216" y="1"/>
                  </a:moveTo>
                  <a:lnTo>
                    <a:pt x="0" y="17635"/>
                  </a:lnTo>
                  <a:lnTo>
                    <a:pt x="4494" y="23209"/>
                  </a:lnTo>
                  <a:lnTo>
                    <a:pt x="14373" y="6144"/>
                  </a:lnTo>
                  <a:lnTo>
                    <a:pt x="9216" y="1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9" id="29"/>
            <p:cNvSpPr/>
            <p:nvPr/>
          </p:nvSpPr>
          <p:spPr>
            <a:xfrm>
              <a:off x="1311115" y="1712220"/>
              <a:ext cx="1514331" cy="2067788"/>
            </a:xfrm>
            <a:custGeom>
              <a:avLst/>
              <a:gdLst/>
              <a:ahLst/>
              <a:cxnLst/>
              <a:rect r="r" b="b" t="t" l="l"/>
              <a:pathLst>
                <a:path w="18053" h="24651" stroke="true" fill="norm" extrusionOk="false">
                  <a:moveTo>
                    <a:pt x="10126" y="1"/>
                  </a:moveTo>
                  <a:lnTo>
                    <a:pt x="1" y="17805"/>
                  </a:lnTo>
                  <a:lnTo>
                    <a:pt x="8230" y="24650"/>
                  </a:lnTo>
                  <a:lnTo>
                    <a:pt x="18052" y="7547"/>
                  </a:lnTo>
                  <a:lnTo>
                    <a:pt x="10126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0" id="30"/>
            <p:cNvSpPr/>
            <p:nvPr/>
          </p:nvSpPr>
          <p:spPr>
            <a:xfrm>
              <a:off x="1174387" y="1707439"/>
              <a:ext cx="1644684" cy="2094798"/>
            </a:xfrm>
            <a:custGeom>
              <a:avLst/>
              <a:gdLst/>
              <a:ahLst/>
              <a:cxnLst/>
              <a:rect r="r" b="b" t="t" l="l"/>
              <a:pathLst>
                <a:path w="19607" h="24973" stroke="true" fill="norm" extrusionOk="false">
                  <a:moveTo>
                    <a:pt x="9671" y="1"/>
                  </a:moveTo>
                  <a:lnTo>
                    <a:pt x="0" y="17881"/>
                  </a:lnTo>
                  <a:lnTo>
                    <a:pt x="9765" y="24973"/>
                  </a:lnTo>
                  <a:lnTo>
                    <a:pt x="19606" y="7870"/>
                  </a:lnTo>
                  <a:lnTo>
                    <a:pt x="9671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1" id="31"/>
            <p:cNvSpPr/>
            <p:nvPr/>
          </p:nvSpPr>
          <p:spPr>
            <a:xfrm>
              <a:off x="934231" y="3235946"/>
              <a:ext cx="1135014" cy="588855"/>
            </a:xfrm>
            <a:custGeom>
              <a:avLst/>
              <a:gdLst/>
              <a:ahLst/>
              <a:cxnLst/>
              <a:rect r="r" b="b" t="t" l="l"/>
              <a:pathLst>
                <a:path w="13531" h="7020" stroke="true" fill="norm" extrusionOk="false">
                  <a:moveTo>
                    <a:pt x="493" y="0"/>
                  </a:moveTo>
                  <a:lnTo>
                    <a:pt x="0" y="342"/>
                  </a:lnTo>
                  <a:lnTo>
                    <a:pt x="12496" y="6978"/>
                  </a:lnTo>
                  <a:lnTo>
                    <a:pt x="12534" y="6997"/>
                  </a:lnTo>
                  <a:lnTo>
                    <a:pt x="12534" y="6978"/>
                  </a:lnTo>
                  <a:cubicBezTo>
                    <a:pt x="12608" y="7007"/>
                    <a:pt x="12682" y="7020"/>
                    <a:pt x="12753" y="7020"/>
                  </a:cubicBezTo>
                  <a:cubicBezTo>
                    <a:pt x="13202" y="7020"/>
                    <a:pt x="13530" y="6497"/>
                    <a:pt x="13235" y="6087"/>
                  </a:cubicBezTo>
                  <a:lnTo>
                    <a:pt x="8229" y="190"/>
                  </a:lnTo>
                  <a:lnTo>
                    <a:pt x="7585" y="285"/>
                  </a:lnTo>
                  <a:lnTo>
                    <a:pt x="12458" y="6068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2" id="32"/>
            <p:cNvSpPr/>
            <p:nvPr/>
          </p:nvSpPr>
          <p:spPr>
            <a:xfrm>
              <a:off x="932637" y="1724970"/>
              <a:ext cx="1892809" cy="2056631"/>
            </a:xfrm>
            <a:custGeom>
              <a:avLst/>
              <a:gdLst/>
              <a:ahLst/>
              <a:cxnLst/>
              <a:rect r="r" b="b" t="t" l="l"/>
              <a:pathLst>
                <a:path w="22565" h="24518" stroke="true" fill="norm" extrusionOk="false">
                  <a:moveTo>
                    <a:pt x="9841" y="0"/>
                  </a:moveTo>
                  <a:lnTo>
                    <a:pt x="0" y="18336"/>
                  </a:lnTo>
                  <a:lnTo>
                    <a:pt x="12723" y="24517"/>
                  </a:lnTo>
                  <a:lnTo>
                    <a:pt x="22564" y="7414"/>
                  </a:lnTo>
                  <a:lnTo>
                    <a:pt x="9841" y="0"/>
                  </a:lnTo>
                  <a:close/>
                </a:path>
              </a:pathLst>
            </a:custGeom>
            <a:solidFill>
              <a:srgbClr val="00965D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3" id="33"/>
            <p:cNvSpPr/>
            <p:nvPr/>
          </p:nvSpPr>
          <p:spPr>
            <a:xfrm>
              <a:off x="1939395" y="2321375"/>
              <a:ext cx="928999" cy="1479268"/>
            </a:xfrm>
            <a:custGeom>
              <a:avLst/>
              <a:gdLst/>
              <a:ahLst/>
              <a:cxnLst/>
              <a:rect r="r" b="b" t="t" l="l"/>
              <a:pathLst>
                <a:path w="11075" h="17635" stroke="true" fill="norm" extrusionOk="false">
                  <a:moveTo>
                    <a:pt x="9823" y="1"/>
                  </a:moveTo>
                  <a:lnTo>
                    <a:pt x="1" y="17104"/>
                  </a:lnTo>
                  <a:lnTo>
                    <a:pt x="1290" y="17635"/>
                  </a:lnTo>
                  <a:lnTo>
                    <a:pt x="11074" y="570"/>
                  </a:lnTo>
                  <a:lnTo>
                    <a:pt x="98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4" id="34"/>
            <p:cNvSpPr/>
            <p:nvPr/>
          </p:nvSpPr>
          <p:spPr>
            <a:xfrm>
              <a:off x="1758125" y="1723376"/>
              <a:ext cx="1133420" cy="673157"/>
            </a:xfrm>
            <a:custGeom>
              <a:avLst/>
              <a:gdLst/>
              <a:ahLst/>
              <a:cxnLst/>
              <a:rect r="r" b="b" t="t" l="l"/>
              <a:pathLst>
                <a:path w="13512" h="8025" stroke="true" fill="norm" extrusionOk="false">
                  <a:moveTo>
                    <a:pt x="0" y="0"/>
                  </a:moveTo>
                  <a:lnTo>
                    <a:pt x="12477" y="7983"/>
                  </a:lnTo>
                  <a:lnTo>
                    <a:pt x="12515" y="7983"/>
                  </a:lnTo>
                  <a:cubicBezTo>
                    <a:pt x="12589" y="8011"/>
                    <a:pt x="12663" y="8024"/>
                    <a:pt x="12734" y="8024"/>
                  </a:cubicBezTo>
                  <a:cubicBezTo>
                    <a:pt x="13183" y="8024"/>
                    <a:pt x="13511" y="7501"/>
                    <a:pt x="13216" y="7092"/>
                  </a:cubicBezTo>
                  <a:lnTo>
                    <a:pt x="7793" y="1347"/>
                  </a:lnTo>
                  <a:lnTo>
                    <a:pt x="7566" y="1290"/>
                  </a:lnTo>
                  <a:lnTo>
                    <a:pt x="12439" y="7073"/>
                  </a:lnTo>
                  <a:lnTo>
                    <a:pt x="12439" y="7073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5" id="35"/>
            <p:cNvSpPr/>
            <p:nvPr/>
          </p:nvSpPr>
          <p:spPr>
            <a:xfrm>
              <a:off x="2071426" y="3152399"/>
              <a:ext cx="354739" cy="632139"/>
            </a:xfrm>
            <a:custGeom>
              <a:avLst/>
              <a:gdLst/>
              <a:ahLst/>
              <a:cxnLst/>
              <a:rect r="r" b="b" t="t" l="l"/>
              <a:pathLst>
                <a:path w="4229" h="7536" stroke="true" fill="norm" extrusionOk="false">
                  <a:moveTo>
                    <a:pt x="3026" y="1"/>
                  </a:moveTo>
                  <a:cubicBezTo>
                    <a:pt x="2078" y="1"/>
                    <a:pt x="1354" y="1838"/>
                    <a:pt x="1062" y="2438"/>
                  </a:cubicBezTo>
                  <a:cubicBezTo>
                    <a:pt x="607" y="3367"/>
                    <a:pt x="1" y="4182"/>
                    <a:pt x="76" y="5263"/>
                  </a:cubicBezTo>
                  <a:cubicBezTo>
                    <a:pt x="114" y="6059"/>
                    <a:pt x="456" y="7159"/>
                    <a:pt x="1328" y="7462"/>
                  </a:cubicBezTo>
                  <a:cubicBezTo>
                    <a:pt x="1479" y="7512"/>
                    <a:pt x="1620" y="7535"/>
                    <a:pt x="1753" y="7535"/>
                  </a:cubicBezTo>
                  <a:cubicBezTo>
                    <a:pt x="3388" y="7535"/>
                    <a:pt x="3686" y="4003"/>
                    <a:pt x="3774" y="2968"/>
                  </a:cubicBezTo>
                  <a:cubicBezTo>
                    <a:pt x="3831" y="2286"/>
                    <a:pt x="4229" y="864"/>
                    <a:pt x="3603" y="257"/>
                  </a:cubicBezTo>
                  <a:cubicBezTo>
                    <a:pt x="3527" y="181"/>
                    <a:pt x="3433" y="124"/>
                    <a:pt x="3338" y="67"/>
                  </a:cubicBezTo>
                  <a:cubicBezTo>
                    <a:pt x="3231" y="22"/>
                    <a:pt x="3128" y="1"/>
                    <a:pt x="3026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6" id="36"/>
            <p:cNvSpPr/>
            <p:nvPr/>
          </p:nvSpPr>
          <p:spPr>
            <a:xfrm>
              <a:off x="2193895" y="2932291"/>
              <a:ext cx="340479" cy="497423"/>
            </a:xfrm>
            <a:custGeom>
              <a:avLst/>
              <a:gdLst/>
              <a:ahLst/>
              <a:cxnLst/>
              <a:rect r="r" b="b" t="t" l="l"/>
              <a:pathLst>
                <a:path w="4059" h="5930" stroke="true" fill="norm" extrusionOk="false">
                  <a:moveTo>
                    <a:pt x="2582" y="1"/>
                  </a:moveTo>
                  <a:cubicBezTo>
                    <a:pt x="1864" y="1"/>
                    <a:pt x="1222" y="936"/>
                    <a:pt x="930" y="1459"/>
                  </a:cubicBezTo>
                  <a:cubicBezTo>
                    <a:pt x="361" y="2426"/>
                    <a:pt x="1" y="4151"/>
                    <a:pt x="304" y="5251"/>
                  </a:cubicBezTo>
                  <a:cubicBezTo>
                    <a:pt x="440" y="5737"/>
                    <a:pt x="621" y="5929"/>
                    <a:pt x="829" y="5929"/>
                  </a:cubicBezTo>
                  <a:cubicBezTo>
                    <a:pt x="1027" y="5929"/>
                    <a:pt x="1249" y="5756"/>
                    <a:pt x="1480" y="5498"/>
                  </a:cubicBezTo>
                  <a:cubicBezTo>
                    <a:pt x="2010" y="4777"/>
                    <a:pt x="2447" y="4000"/>
                    <a:pt x="2750" y="3165"/>
                  </a:cubicBezTo>
                  <a:cubicBezTo>
                    <a:pt x="2996" y="2369"/>
                    <a:pt x="4058" y="852"/>
                    <a:pt x="3110" y="170"/>
                  </a:cubicBezTo>
                  <a:lnTo>
                    <a:pt x="3091" y="170"/>
                  </a:lnTo>
                  <a:cubicBezTo>
                    <a:pt x="2920" y="51"/>
                    <a:pt x="2748" y="1"/>
                    <a:pt x="2582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7" id="37"/>
            <p:cNvSpPr/>
            <p:nvPr/>
          </p:nvSpPr>
          <p:spPr>
            <a:xfrm>
              <a:off x="1503626" y="3442213"/>
              <a:ext cx="858957" cy="786482"/>
            </a:xfrm>
            <a:custGeom>
              <a:avLst/>
              <a:gdLst/>
              <a:ahLst/>
              <a:cxnLst/>
              <a:rect r="r" b="b" t="t" l="l"/>
              <a:pathLst>
                <a:path w="10240" h="9376" stroke="true" fill="norm" extrusionOk="false">
                  <a:moveTo>
                    <a:pt x="8063" y="0"/>
                  </a:moveTo>
                  <a:cubicBezTo>
                    <a:pt x="7765" y="0"/>
                    <a:pt x="7462" y="146"/>
                    <a:pt x="7168" y="518"/>
                  </a:cubicBezTo>
                  <a:cubicBezTo>
                    <a:pt x="6580" y="1239"/>
                    <a:pt x="6125" y="2035"/>
                    <a:pt x="5328" y="2585"/>
                  </a:cubicBezTo>
                  <a:cubicBezTo>
                    <a:pt x="4551" y="3135"/>
                    <a:pt x="3736" y="3723"/>
                    <a:pt x="2920" y="4292"/>
                  </a:cubicBezTo>
                  <a:cubicBezTo>
                    <a:pt x="1555" y="5240"/>
                    <a:pt x="0" y="7648"/>
                    <a:pt x="1783" y="8975"/>
                  </a:cubicBezTo>
                  <a:cubicBezTo>
                    <a:pt x="2165" y="9258"/>
                    <a:pt x="2555" y="9376"/>
                    <a:pt x="2941" y="9376"/>
                  </a:cubicBezTo>
                  <a:cubicBezTo>
                    <a:pt x="4237" y="9376"/>
                    <a:pt x="5487" y="8042"/>
                    <a:pt x="6277" y="7136"/>
                  </a:cubicBezTo>
                  <a:cubicBezTo>
                    <a:pt x="6845" y="6491"/>
                    <a:pt x="7490" y="5884"/>
                    <a:pt x="8040" y="5240"/>
                  </a:cubicBezTo>
                  <a:cubicBezTo>
                    <a:pt x="8381" y="4804"/>
                    <a:pt x="8760" y="4405"/>
                    <a:pt x="9102" y="3969"/>
                  </a:cubicBezTo>
                  <a:cubicBezTo>
                    <a:pt x="9652" y="3287"/>
                    <a:pt x="10239" y="2585"/>
                    <a:pt x="10050" y="1827"/>
                  </a:cubicBezTo>
                  <a:cubicBezTo>
                    <a:pt x="9993" y="1599"/>
                    <a:pt x="9898" y="1410"/>
                    <a:pt x="9746" y="1239"/>
                  </a:cubicBezTo>
                  <a:cubicBezTo>
                    <a:pt x="9319" y="682"/>
                    <a:pt x="8705" y="0"/>
                    <a:pt x="8063" y="0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>
            <a:off x="3229556" y="2111758"/>
            <a:ext cx="344133" cy="343830"/>
            <a:chOff x="3936466" y="2199116"/>
            <a:chExt cx="457004" cy="456601"/>
          </a:xfrm>
          <a:solidFill>
            <a:schemeClr val="accent6">
              <a:lumMod val="75000"/>
            </a:schemeClr>
          </a:solidFill>
        </p:grpSpPr>
        <p:sp>
          <p:nvSpPr>
            <p:cNvPr name="Freeform 39" id="39"/>
            <p:cNvSpPr/>
            <p:nvPr/>
          </p:nvSpPr>
          <p:spPr>
            <a:xfrm>
              <a:off x="4151341" y="2252613"/>
              <a:ext cx="120331" cy="120358"/>
            </a:xfrm>
            <a:custGeom>
              <a:avLst/>
              <a:gdLst/>
              <a:ahLst/>
              <a:cxnLst/>
              <a:rect r="r" b="b" t="t" l="l"/>
              <a:pathLst>
                <a:path w="5095" h="5094" stroke="true" fill="norm" extrusionOk="false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0" id="40"/>
            <p:cNvSpPr/>
            <p:nvPr/>
          </p:nvSpPr>
          <p:spPr>
            <a:xfrm>
              <a:off x="3997022" y="2199116"/>
              <a:ext cx="348311" cy="456601"/>
            </a:xfrm>
            <a:custGeom>
              <a:avLst/>
              <a:gdLst/>
              <a:ahLst/>
              <a:cxnLst/>
              <a:rect r="r" b="b" t="t" l="l"/>
              <a:pathLst>
                <a:path w="14748" h="19325" stroke="true" fill="norm" extrusionOk="false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1" id="41"/>
            <p:cNvSpPr/>
            <p:nvPr/>
          </p:nvSpPr>
          <p:spPr>
            <a:xfrm>
              <a:off x="3936466" y="2359632"/>
              <a:ext cx="53517" cy="26770"/>
            </a:xfrm>
            <a:custGeom>
              <a:avLst/>
              <a:gdLst/>
              <a:ahLst/>
              <a:cxnLst/>
              <a:rect r="r" b="b" t="t" l="l"/>
              <a:pathLst>
                <a:path w="2266" h="1133" stroke="true" fill="norm" extrusionOk="false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2" id="42"/>
            <p:cNvSpPr/>
            <p:nvPr/>
          </p:nvSpPr>
          <p:spPr>
            <a:xfrm>
              <a:off x="3939253" y="2270052"/>
              <a:ext cx="47944" cy="45388"/>
            </a:xfrm>
            <a:custGeom>
              <a:avLst/>
              <a:gdLst/>
              <a:ahLst/>
              <a:cxnLst/>
              <a:rect r="r" b="b" t="t" l="l"/>
              <a:pathLst>
                <a:path w="2030" h="1921" stroke="true" fill="norm" extrusionOk="false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3" id="43"/>
            <p:cNvSpPr/>
            <p:nvPr/>
          </p:nvSpPr>
          <p:spPr>
            <a:xfrm>
              <a:off x="3938828" y="2430592"/>
              <a:ext cx="48369" cy="45696"/>
            </a:xfrm>
            <a:custGeom>
              <a:avLst/>
              <a:gdLst/>
              <a:ahLst/>
              <a:cxnLst/>
              <a:rect r="r" b="b" t="t" l="l"/>
              <a:pathLst>
                <a:path w="2048" h="1934" stroke="true" fill="norm" extrusionOk="false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4" id="44"/>
            <p:cNvSpPr/>
            <p:nvPr/>
          </p:nvSpPr>
          <p:spPr>
            <a:xfrm>
              <a:off x="4339386" y="2359632"/>
              <a:ext cx="53517" cy="26770"/>
            </a:xfrm>
            <a:custGeom>
              <a:avLst/>
              <a:gdLst/>
              <a:ahLst/>
              <a:cxnLst/>
              <a:rect r="r" b="b" t="t" l="l"/>
              <a:pathLst>
                <a:path w="2266" h="1133" stroke="true" fill="norm" extrusionOk="false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5" id="45"/>
            <p:cNvSpPr/>
            <p:nvPr/>
          </p:nvSpPr>
          <p:spPr>
            <a:xfrm>
              <a:off x="4338819" y="2270052"/>
              <a:ext cx="51297" cy="45577"/>
            </a:xfrm>
            <a:custGeom>
              <a:avLst/>
              <a:gdLst/>
              <a:ahLst/>
              <a:cxnLst/>
              <a:rect r="r" b="b" t="t" l="l"/>
              <a:pathLst>
                <a:path w="2172" h="1929" stroke="true" fill="norm" extrusionOk="false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6" id="46"/>
            <p:cNvSpPr/>
            <p:nvPr/>
          </p:nvSpPr>
          <p:spPr>
            <a:xfrm>
              <a:off x="4342173" y="2430592"/>
              <a:ext cx="51297" cy="45577"/>
            </a:xfrm>
            <a:custGeom>
              <a:avLst/>
              <a:gdLst/>
              <a:ahLst/>
              <a:cxnLst/>
              <a:rect r="r" b="b" t="t" l="l"/>
              <a:pathLst>
                <a:path w="2172" h="1929" stroke="true" fill="norm" extrusionOk="false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sp>
        <p:nvSpPr>
          <p:cNvPr name="Freeform 47" id="47"/>
          <p:cNvSpPr/>
          <p:nvPr/>
        </p:nvSpPr>
        <p:spPr>
          <a:xfrm>
            <a:off x="2926238" y="4496259"/>
            <a:ext cx="313153" cy="306134"/>
          </a:xfrm>
          <a:custGeom>
            <a:avLst/>
            <a:gdLst/>
            <a:ahLst/>
            <a:cxnLst/>
            <a:rect r="r" b="b" t="t" l="l"/>
            <a:pathLst>
              <a:path w="19787" h="19396" stroke="true" fill="norm" extrusionOk="false">
                <a:moveTo>
                  <a:pt x="16583" y="1203"/>
                </a:moveTo>
                <a:cubicBezTo>
                  <a:pt x="17017" y="1203"/>
                  <a:pt x="17451" y="1370"/>
                  <a:pt x="17782" y="1702"/>
                </a:cubicBezTo>
                <a:cubicBezTo>
                  <a:pt x="18446" y="2363"/>
                  <a:pt x="18446" y="3438"/>
                  <a:pt x="17782" y="4102"/>
                </a:cubicBezTo>
                <a:lnTo>
                  <a:pt x="16565" y="5319"/>
                </a:lnTo>
                <a:lnTo>
                  <a:pt x="14165" y="2918"/>
                </a:lnTo>
                <a:lnTo>
                  <a:pt x="15382" y="1702"/>
                </a:lnTo>
                <a:cubicBezTo>
                  <a:pt x="15714" y="1370"/>
                  <a:pt x="16149" y="1203"/>
                  <a:pt x="16583" y="1203"/>
                </a:cubicBezTo>
                <a:close/>
                <a:moveTo>
                  <a:pt x="13362" y="3719"/>
                </a:moveTo>
                <a:lnTo>
                  <a:pt x="14162" y="4519"/>
                </a:lnTo>
                <a:lnTo>
                  <a:pt x="4587" y="14096"/>
                </a:lnTo>
                <a:cubicBezTo>
                  <a:pt x="4255" y="13861"/>
                  <a:pt x="3884" y="13692"/>
                  <a:pt x="3488" y="13595"/>
                </a:cubicBezTo>
                <a:lnTo>
                  <a:pt x="13310" y="3770"/>
                </a:lnTo>
                <a:lnTo>
                  <a:pt x="13362" y="3719"/>
                </a:lnTo>
                <a:close/>
                <a:moveTo>
                  <a:pt x="14965" y="5322"/>
                </a:moveTo>
                <a:lnTo>
                  <a:pt x="15765" y="6122"/>
                </a:lnTo>
                <a:lnTo>
                  <a:pt x="15714" y="6173"/>
                </a:lnTo>
                <a:lnTo>
                  <a:pt x="5888" y="15996"/>
                </a:lnTo>
                <a:cubicBezTo>
                  <a:pt x="5792" y="15600"/>
                  <a:pt x="5623" y="15229"/>
                  <a:pt x="5387" y="14897"/>
                </a:cubicBezTo>
                <a:lnTo>
                  <a:pt x="14965" y="5322"/>
                </a:lnTo>
                <a:close/>
                <a:moveTo>
                  <a:pt x="2704" y="14631"/>
                </a:moveTo>
                <a:cubicBezTo>
                  <a:pt x="3925" y="14631"/>
                  <a:pt x="4911" y="15655"/>
                  <a:pt x="4850" y="16889"/>
                </a:cubicBezTo>
                <a:lnTo>
                  <a:pt x="3736" y="17249"/>
                </a:lnTo>
                <a:cubicBezTo>
                  <a:pt x="3449" y="16572"/>
                  <a:pt x="2911" y="16035"/>
                  <a:pt x="2235" y="15748"/>
                </a:cubicBezTo>
                <a:lnTo>
                  <a:pt x="2594" y="14634"/>
                </a:lnTo>
                <a:cubicBezTo>
                  <a:pt x="2631" y="14632"/>
                  <a:pt x="2667" y="14631"/>
                  <a:pt x="2704" y="14631"/>
                </a:cubicBezTo>
                <a:close/>
                <a:moveTo>
                  <a:pt x="1888" y="16835"/>
                </a:moveTo>
                <a:cubicBezTo>
                  <a:pt x="2217" y="17001"/>
                  <a:pt x="2483" y="17267"/>
                  <a:pt x="2649" y="17596"/>
                </a:cubicBezTo>
                <a:lnTo>
                  <a:pt x="1528" y="17955"/>
                </a:lnTo>
                <a:lnTo>
                  <a:pt x="1888" y="16835"/>
                </a:lnTo>
                <a:close/>
                <a:moveTo>
                  <a:pt x="16654" y="1"/>
                </a:moveTo>
                <a:cubicBezTo>
                  <a:pt x="15897" y="1"/>
                  <a:pt x="15141" y="302"/>
                  <a:pt x="14581" y="901"/>
                </a:cubicBezTo>
                <a:lnTo>
                  <a:pt x="11710" y="3770"/>
                </a:lnTo>
                <a:lnTo>
                  <a:pt x="1882" y="13601"/>
                </a:lnTo>
                <a:cubicBezTo>
                  <a:pt x="1861" y="13619"/>
                  <a:pt x="1842" y="13641"/>
                  <a:pt x="1827" y="13662"/>
                </a:cubicBezTo>
                <a:lnTo>
                  <a:pt x="1809" y="13677"/>
                </a:lnTo>
                <a:lnTo>
                  <a:pt x="1788" y="13695"/>
                </a:lnTo>
                <a:cubicBezTo>
                  <a:pt x="1782" y="13701"/>
                  <a:pt x="1773" y="13707"/>
                  <a:pt x="1767" y="13716"/>
                </a:cubicBezTo>
                <a:cubicBezTo>
                  <a:pt x="1761" y="13722"/>
                  <a:pt x="1755" y="13725"/>
                  <a:pt x="1752" y="13731"/>
                </a:cubicBezTo>
                <a:cubicBezTo>
                  <a:pt x="1746" y="13737"/>
                  <a:pt x="1737" y="13746"/>
                  <a:pt x="1728" y="13755"/>
                </a:cubicBezTo>
                <a:lnTo>
                  <a:pt x="1716" y="13773"/>
                </a:lnTo>
                <a:cubicBezTo>
                  <a:pt x="1710" y="13782"/>
                  <a:pt x="1704" y="13789"/>
                  <a:pt x="1698" y="13801"/>
                </a:cubicBezTo>
                <a:cubicBezTo>
                  <a:pt x="1688" y="13810"/>
                  <a:pt x="1688" y="13813"/>
                  <a:pt x="1685" y="13819"/>
                </a:cubicBezTo>
                <a:cubicBezTo>
                  <a:pt x="1679" y="13825"/>
                  <a:pt x="1673" y="13837"/>
                  <a:pt x="1667" y="13846"/>
                </a:cubicBezTo>
                <a:cubicBezTo>
                  <a:pt x="1661" y="13855"/>
                  <a:pt x="1658" y="13861"/>
                  <a:pt x="1655" y="13870"/>
                </a:cubicBezTo>
                <a:cubicBezTo>
                  <a:pt x="1652" y="13879"/>
                  <a:pt x="1646" y="13885"/>
                  <a:pt x="1643" y="13894"/>
                </a:cubicBezTo>
                <a:cubicBezTo>
                  <a:pt x="1640" y="13903"/>
                  <a:pt x="1634" y="13918"/>
                  <a:pt x="1631" y="13933"/>
                </a:cubicBezTo>
                <a:cubicBezTo>
                  <a:pt x="1631" y="13936"/>
                  <a:pt x="1625" y="13939"/>
                  <a:pt x="1625" y="13943"/>
                </a:cubicBezTo>
                <a:lnTo>
                  <a:pt x="1625" y="13949"/>
                </a:lnTo>
                <a:cubicBezTo>
                  <a:pt x="1625" y="13949"/>
                  <a:pt x="1625" y="13952"/>
                  <a:pt x="1625" y="13952"/>
                </a:cubicBezTo>
                <a:lnTo>
                  <a:pt x="118" y="18656"/>
                </a:lnTo>
                <a:cubicBezTo>
                  <a:pt x="1" y="19021"/>
                  <a:pt x="272" y="19393"/>
                  <a:pt x="656" y="19396"/>
                </a:cubicBezTo>
                <a:cubicBezTo>
                  <a:pt x="713" y="19396"/>
                  <a:pt x="771" y="19387"/>
                  <a:pt x="828" y="19368"/>
                </a:cubicBezTo>
                <a:lnTo>
                  <a:pt x="5538" y="17859"/>
                </a:lnTo>
                <a:lnTo>
                  <a:pt x="5547" y="17856"/>
                </a:lnTo>
                <a:cubicBezTo>
                  <a:pt x="5559" y="17853"/>
                  <a:pt x="5571" y="17847"/>
                  <a:pt x="5584" y="17844"/>
                </a:cubicBezTo>
                <a:lnTo>
                  <a:pt x="5599" y="17838"/>
                </a:lnTo>
                <a:cubicBezTo>
                  <a:pt x="5611" y="17832"/>
                  <a:pt x="5623" y="17826"/>
                  <a:pt x="5635" y="17819"/>
                </a:cubicBezTo>
                <a:cubicBezTo>
                  <a:pt x="5650" y="17810"/>
                  <a:pt x="5653" y="17810"/>
                  <a:pt x="5659" y="17804"/>
                </a:cubicBezTo>
                <a:cubicBezTo>
                  <a:pt x="5668" y="17798"/>
                  <a:pt x="5680" y="17792"/>
                  <a:pt x="5689" y="17786"/>
                </a:cubicBezTo>
                <a:cubicBezTo>
                  <a:pt x="5698" y="17780"/>
                  <a:pt x="5701" y="17777"/>
                  <a:pt x="5710" y="17771"/>
                </a:cubicBezTo>
                <a:lnTo>
                  <a:pt x="5728" y="17756"/>
                </a:lnTo>
                <a:lnTo>
                  <a:pt x="5750" y="17738"/>
                </a:lnTo>
                <a:cubicBezTo>
                  <a:pt x="5756" y="17732"/>
                  <a:pt x="5762" y="17726"/>
                  <a:pt x="5768" y="17720"/>
                </a:cubicBezTo>
                <a:cubicBezTo>
                  <a:pt x="5774" y="17714"/>
                  <a:pt x="5780" y="17708"/>
                  <a:pt x="5783" y="17702"/>
                </a:cubicBezTo>
                <a:lnTo>
                  <a:pt x="5798" y="17687"/>
                </a:lnTo>
                <a:cubicBezTo>
                  <a:pt x="5810" y="17678"/>
                  <a:pt x="5819" y="17669"/>
                  <a:pt x="5828" y="17659"/>
                </a:cubicBezTo>
                <a:lnTo>
                  <a:pt x="15714" y="7777"/>
                </a:lnTo>
                <a:lnTo>
                  <a:pt x="18582" y="4902"/>
                </a:lnTo>
                <a:cubicBezTo>
                  <a:pt x="19754" y="3809"/>
                  <a:pt x="19787" y="1961"/>
                  <a:pt x="18655" y="829"/>
                </a:cubicBezTo>
                <a:cubicBezTo>
                  <a:pt x="18102" y="276"/>
                  <a:pt x="17378" y="1"/>
                  <a:pt x="16654" y="1"/>
                </a:cubicBezTo>
                <a:close/>
              </a:path>
            </a:pathLst>
          </a:custGeom>
          <a:solidFill>
            <a:srgbClr val="00680F"/>
          </a:solidFill>
          <a:ln>
            <a:noFill/>
          </a:ln>
        </p:spPr>
        <p:txBody>
          <a:bodyPr vert="horz" anchor="ctr" wrap="square" tIns="91425" lIns="91425" bIns="91425" rIns="91425">
            <a:noAutofit/>
          </a:bodyPr>
          <a:p>
            <a:pPr algn="l" rtl="false" indent="0" marL="0"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TextBox 48" id="48"/>
          <p:cNvSpPr txBox="true"/>
          <p:nvPr/>
        </p:nvSpPr>
        <p:spPr>
          <a:xfrm>
            <a:off x="1547970" y="915315"/>
            <a:ext cx="9096059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串</a:t>
            </a:r>
            <a:endParaRPr lang="en-US" sz="1100"/>
          </a:p>
        </p:txBody>
      </p:sp>
      <p:sp>
        <p:nvSpPr>
          <p:cNvPr name="TextBox 49" id="49"/>
          <p:cNvSpPr txBox="true"/>
          <p:nvPr/>
        </p:nvSpPr>
        <p:spPr>
          <a:xfrm>
            <a:off x="3480965" y="2406954"/>
            <a:ext cx="5360244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串是由零个或多个字符组成的有限序列，字符可以是字母、数字或其他符号。串的长度包含字符个数，空串长度为0。子串是串中任意个连续字符组成的子序列，主串是包含子串的串。串的操作包括求子串、串连接、模式匹配等，在文本处理领域有广泛应用。</a:t>
            </a:r>
            <a:endParaRPr lang="en-US" sz="1100"/>
          </a:p>
        </p:txBody>
      </p:sp>
      <p:sp>
        <p:nvSpPr>
          <p:cNvPr name="TextBox 50" id="50"/>
          <p:cNvSpPr txBox="true"/>
          <p:nvPr/>
        </p:nvSpPr>
        <p:spPr>
          <a:xfrm>
            <a:off x="3580002" y="2072474"/>
            <a:ext cx="577742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串的定义与基本概念</a:t>
            </a:r>
            <a:endParaRPr lang="en-US" sz="1100"/>
          </a:p>
        </p:txBody>
      </p:sp>
      <p:sp>
        <p:nvSpPr>
          <p:cNvPr name="TextBox 51" id="51"/>
          <p:cNvSpPr txBox="true"/>
          <p:nvPr/>
        </p:nvSpPr>
        <p:spPr>
          <a:xfrm>
            <a:off x="2556143" y="4885508"/>
            <a:ext cx="7079714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模式匹配是指在一个主串中查找一个模式串是否出现。朴素的模式匹配算法从主串的每个位置开始，与模式串逐字符比较，若匹配成功则返回位置，否则继续下一轮比较。最坏情况下时间复杂度为O(nm)，其中n为主串长度，m为模式串长度。这种方法直观但效率不高。</a:t>
            </a:r>
            <a:endParaRPr lang="en-US" sz="1100"/>
          </a:p>
        </p:txBody>
      </p:sp>
      <p:sp>
        <p:nvSpPr>
          <p:cNvPr name="TextBox 52" id="52"/>
          <p:cNvSpPr txBox="true"/>
          <p:nvPr/>
        </p:nvSpPr>
        <p:spPr>
          <a:xfrm>
            <a:off x="3256262" y="4455476"/>
            <a:ext cx="574636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简单的模式匹配算法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>
            <a:off x="-12700" y="-17126"/>
            <a:ext cx="12192000" cy="284458"/>
          </a:xfrm>
          <a:prstGeom prst="rect">
            <a:avLst/>
          </a:pr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54" id="5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树与二叉树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04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树的基本概念与术语</a:t>
            </a:r>
          </a:p>
        </p:txBody>
      </p:sp>
      <p:pic>
        <p:nvPicPr>
          <p:cNvPr name="image1.png" id="3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7198900" y="1472200"/>
            <a:ext cx="4320000" cy="4320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16200000">
            <a:off x="1776000" y="369300"/>
            <a:ext cx="4320000" cy="6525799"/>
          </a:xfrm>
          <a:prstGeom prst="round2DiagRect">
            <a:avLst>
              <a:gd name="adj1" fmla="val 2149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cap="sq">
            <a:noFill/>
            <a:miter lim="800000"/>
          </a:ln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marL="0">
              <a:defRPr/>
            </a:pP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166045" y="2488828"/>
            <a:ext cx="5539911" cy="246221"/>
          </a:xfrm>
          <a:prstGeom prst="rect">
            <a:avLst/>
          </a:prstGeom>
          <a:noFill/>
          <a:ln>
            <a:noFill/>
          </a:ln>
        </p:spPr>
        <p:txBody>
          <a:bodyPr anchor="b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ln w="12700"/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 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166044" y="2920242"/>
            <a:ext cx="5539912" cy="931409"/>
          </a:xfrm>
          <a:prstGeom prst="rect">
            <a:avLst/>
          </a:prstGeom>
          <a:noFill/>
          <a:ln>
            <a:noFill/>
          </a:ln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 w="12700"/>
                <a:solidFill>
                  <a:schemeClr val="tx1"/>
                </a:solidFill>
                <a:latin typeface="微软雅黑"/>
                <a:ea typeface="微软雅黑"/>
              </a:rPr>
              <a:t>树是一种非线性结构，由n个节点组成的有限集合。当n=0时为空树；否则有一个根节点，其余节点被划分为若干互不相交的子树。相关术语包括：节点的度（该节点拥有的子树个数）、树的度（树内各节点度的最大值）、叶子节点（度为0）、树的深度（节点的最大层次）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75421" y="4110418"/>
            <a:ext cx="3139930" cy="394571"/>
          </a:xfrm>
          <a:prstGeom prst="roundRect">
            <a:avLst>
              <a:gd name="adj" fmla="val 50000"/>
            </a:avLst>
          </a:prstGeom>
          <a:gradFill rotWithShape="true" flip="none">
            <a:gsLst>
              <a:gs pos="0">
                <a:schemeClr val="accent6">
                  <a:lumMod val="5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2700000"/>
            <a:tileRect/>
          </a:gradFill>
          <a:ln>
            <a:noFill/>
          </a:ln>
          <a:effectLst>
            <a:outerShdw algn="bl" blurRad="101600" dir="18900000" dist="38100" rotWithShape="false">
              <a:schemeClr val="accent2">
                <a:alpha val="40000"/>
                <a:lumMod val="20000"/>
                <a:lumOff val="80000"/>
              </a:schemeClr>
            </a:outerShdw>
          </a:effectLst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3915043" y="4110418"/>
            <a:ext cx="3082962" cy="394571"/>
          </a:xfrm>
          <a:prstGeom prst="roundRect">
            <a:avLst>
              <a:gd name="adj" fmla="val 50000"/>
            </a:avLst>
          </a:prstGeom>
          <a:gradFill rotWithShape="true" flip="none">
            <a:gsLst>
              <a:gs pos="0">
                <a:schemeClr val="accent6">
                  <a:lumMod val="5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2700000"/>
            <a:tileRect/>
          </a:gradFill>
          <a:ln>
            <a:noFill/>
          </a:ln>
          <a:effectLst>
            <a:outerShdw algn="bl" blurRad="101600" dir="18900000" dist="38100" rotWithShape="false">
              <a:schemeClr val="accent2">
                <a:alpha val="40000"/>
                <a:lumMod val="20000"/>
                <a:lumOff val="80000"/>
              </a:schemeClr>
            </a:outerShdw>
          </a:effectLst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grpSp>
        <p:nvGrpSpPr>
          <p:cNvPr name="Group 4" id="4"/>
          <p:cNvGrpSpPr/>
          <p:nvPr/>
        </p:nvGrpSpPr>
        <p:grpSpPr>
          <a:xfrm>
            <a:off x="591079" y="1962293"/>
            <a:ext cx="5834560" cy="1925145"/>
            <a:chOff x="4740678" y="4003347"/>
            <a:chExt cx="5834560" cy="1925145"/>
          </a:xfrm>
        </p:grpSpPr>
        <p:sp>
          <p:nvSpPr>
            <p:cNvPr name="AutoShape 5" id="5"/>
            <p:cNvSpPr/>
            <p:nvPr/>
          </p:nvSpPr>
          <p:spPr>
            <a:xfrm>
              <a:off x="4740678" y="4226327"/>
              <a:ext cx="5834560" cy="17021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algn="tl" blurRad="50800" dir="2700000" dist="38100" rotWithShape="false">
                <a:schemeClr val="accent6">
                  <a:alpha val="40000"/>
                  <a:lumMod val="40000"/>
                  <a:lumOff val="60000"/>
                </a:schemeClr>
              </a:outerShdw>
            </a:effectLst>
          </p:spPr>
          <p:txBody>
            <a:bodyPr vert="horz" anchor="ctr" tIns="45720" lIns="91440" bIns="45720" rIns="91440"/>
            <a:p>
              <a:pPr algn="ctr" marL="0"/>
            </a:p>
          </p:txBody>
        </p:sp>
        <p:sp>
          <p:nvSpPr>
            <p:cNvPr name="AutoShape 6" id="6"/>
            <p:cNvSpPr/>
            <p:nvPr/>
          </p:nvSpPr>
          <p:spPr>
            <a:xfrm>
              <a:off x="4842896" y="4003347"/>
              <a:ext cx="5647333" cy="468975"/>
            </a:xfrm>
            <a:prstGeom prst="roundRect">
              <a:avLst>
                <a:gd name="adj" fmla="val 50000"/>
              </a:avLst>
            </a:prstGeom>
            <a:gradFill rotWithShape="true" flip="none">
              <a:gsLst>
                <a:gs pos="0">
                  <a:schemeClr val="accent6">
                    <a:lumMod val="5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2700000"/>
              <a:tileRect/>
            </a:gradFill>
            <a:ln>
              <a:noFill/>
            </a:ln>
            <a:effectLst>
              <a:outerShdw algn="bl" blurRad="101600" dir="18900000" dist="38100" rotWithShape="false">
                <a:schemeClr val="accent2">
                  <a:alpha val="40000"/>
                  <a:lumMod val="20000"/>
                  <a:lumOff val="80000"/>
                </a:schemeClr>
              </a:outerShdw>
            </a:effectLst>
          </p:spPr>
          <p:txBody>
            <a:bodyPr vert="horz" anchor="ctr" wrap="square" tIns="45720" lIns="91440" bIns="45720" rIns="91440">
              <a:noAutofit/>
            </a:bodyPr>
            <a:p>
              <a:pPr algn="ctr" marL="0"/>
            </a:p>
          </p:txBody>
        </p:sp>
      </p:grpSp>
      <p:sp>
        <p:nvSpPr>
          <p:cNvPr name="TextBox 7" id="7"/>
          <p:cNvSpPr txBox="true"/>
          <p:nvPr/>
        </p:nvSpPr>
        <p:spPr>
          <a:xfrm>
            <a:off x="832501" y="2016681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 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682064" y="2447198"/>
            <a:ext cx="5743575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二叉树是每个节点最多有两个分支的树结构，具有5个重要性质。例如，二叉树的第i层上最多有2^(i-1)个节点；深度为k的二叉树最多有2^k-1个节点。二叉树的顺序存储适用于完全二叉树，链式存储使用二叉链表，每个节点包含数据域和左右孩子指针。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375421" y="4559876"/>
            <a:ext cx="3139930" cy="17216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二叉树的遍历是按照某种顺序访问树的所有节点。先序遍历首先访问根节点，再遍历左子树，最后遍历右子树；中序遍历先遍历左子树，再访问根节点，最后遍历右子树；后序遍历先遍历左子树，再遍历右子树，最后访问根节点。这些遍历方法对应着求解问题的不同逻辑顺序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204059" y="4167539"/>
            <a:ext cx="3379712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4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三种基本的遍历算法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3926495" y="4559876"/>
            <a:ext cx="3139930" cy="17216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线索二叉树通过利用空指针域存放指向节点前驱或后继的线索，实现了线性遍历，提高了遍历效率。哈夫曼树是一类带权路径长度最小的二叉树，常用于数据压缩中。构造哈夫曼树时，每次选择权值最小的两个节点合并，直到所有节点构成一棵树。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3755133" y="4167539"/>
            <a:ext cx="3379712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4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线索二叉树与哈夫曼树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521997" y="814543"/>
            <a:ext cx="9148005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二叉树的性质与存储结构</a:t>
            </a:r>
            <a:endParaRPr lang="en-US" sz="1100"/>
          </a:p>
        </p:txBody>
      </p:sp>
      <p:grpSp>
        <p:nvGrpSpPr>
          <p:cNvPr name="Group 14" id="14"/>
          <p:cNvGrpSpPr/>
          <p:nvPr/>
        </p:nvGrpSpPr>
        <p:grpSpPr>
          <a:xfrm>
            <a:off x="7469088" y="1539489"/>
            <a:ext cx="4880125" cy="5007756"/>
            <a:chOff x="6463819" y="895624"/>
            <a:chExt cx="5030489" cy="5362529"/>
          </a:xfrm>
        </p:grpSpPr>
        <p:sp>
          <p:nvSpPr>
            <p:cNvPr name="AutoShape 15" id="15"/>
            <p:cNvSpPr/>
            <p:nvPr/>
          </p:nvSpPr>
          <p:spPr>
            <a:xfrm>
              <a:off x="6463819" y="5525042"/>
              <a:ext cx="5030489" cy="733111"/>
            </a:xfrm>
            <a:prstGeom prst="ellipse">
              <a:avLst/>
            </a:prstGeom>
            <a:gradFill rotWithShape="true">
              <a:gsLst>
                <a:gs pos="0">
                  <a:srgbClr val="000000">
                    <a:alpha val="27000"/>
                  </a:srgbClr>
                </a:gs>
                <a:gs pos="100000">
                  <a:srgbClr val="000000">
                    <a:alpha val="0"/>
                  </a:srgbClr>
                </a:gs>
              </a:gsLst>
              <a:path path="shape">
                <a:fillToRect t="50000" l="50000" b="50000" r="50000"/>
              </a:path>
            </a:gradFill>
            <a:ln>
              <a:noFill/>
            </a:ln>
            <a:effectLst/>
          </p:spPr>
          <p:txBody>
            <a:bodyPr vert="horz" anchor="ctr" wrap="none" tIns="45720" lIns="91440" bIns="45720" rIns="91440"/>
            <a:p>
              <a:pPr algn="l" marL="0"/>
            </a:p>
          </p:txBody>
        </p:sp>
        <p:grpSp>
          <p:nvGrpSpPr>
            <p:cNvPr name="Group 16" id="16"/>
            <p:cNvGrpSpPr/>
            <p:nvPr/>
          </p:nvGrpSpPr>
          <p:grpSpPr>
            <a:xfrm>
              <a:off x="7481186" y="895624"/>
              <a:ext cx="3036047" cy="5119330"/>
              <a:chOff x="7481186" y="895624"/>
              <a:chExt cx="3036047" cy="5119330"/>
            </a:xfrm>
          </p:grpSpPr>
          <p:grpSp>
            <p:nvGrpSpPr>
              <p:cNvPr name="Group 17" id="17"/>
              <p:cNvGrpSpPr/>
              <p:nvPr/>
            </p:nvGrpSpPr>
            <p:grpSpPr>
              <a:xfrm>
                <a:off x="8115177" y="895624"/>
                <a:ext cx="2402056" cy="5119330"/>
                <a:chOff x="8115177" y="895624"/>
                <a:chExt cx="2402056" cy="5119330"/>
              </a:xfrm>
            </p:grpSpPr>
            <p:sp>
              <p:nvSpPr>
                <p:cNvPr name="Freeform 18" id="18"/>
                <p:cNvSpPr/>
                <p:nvPr/>
              </p:nvSpPr>
              <p:spPr>
                <a:xfrm>
                  <a:off x="8454096" y="895624"/>
                  <a:ext cx="1055862" cy="195767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91" h="1652" stroke="true" fill="norm" extrusionOk="true">
                      <a:moveTo>
                        <a:pt x="0" y="1652"/>
                      </a:moveTo>
                      <a:lnTo>
                        <a:pt x="891" y="1249"/>
                      </a:lnTo>
                      <a:lnTo>
                        <a:pt x="891" y="0"/>
                      </a:lnTo>
                      <a:lnTo>
                        <a:pt x="9" y="608"/>
                      </a:lnTo>
                      <a:lnTo>
                        <a:pt x="0" y="1652"/>
                      </a:ln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19" id="19"/>
                <p:cNvSpPr/>
                <p:nvPr/>
              </p:nvSpPr>
              <p:spPr>
                <a:xfrm>
                  <a:off x="9509957" y="895624"/>
                  <a:ext cx="1007276" cy="195530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50" h="1650" stroke="true" fill="norm" extrusionOk="true">
                      <a:moveTo>
                        <a:pt x="850" y="1650"/>
                      </a:moveTo>
                      <a:lnTo>
                        <a:pt x="0" y="1249"/>
                      </a:lnTo>
                      <a:lnTo>
                        <a:pt x="0" y="0"/>
                      </a:lnTo>
                      <a:lnTo>
                        <a:pt x="850" y="622"/>
                      </a:lnTo>
                      <a:lnTo>
                        <a:pt x="850" y="1650"/>
                      </a:lnTo>
                      <a:close/>
                    </a:path>
                  </a:pathLst>
                </a:custGeom>
                <a:solidFill>
                  <a:srgbClr val="FEBB12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20" id="20"/>
                <p:cNvSpPr/>
                <p:nvPr/>
              </p:nvSpPr>
              <p:spPr>
                <a:xfrm>
                  <a:off x="8454096" y="2375727"/>
                  <a:ext cx="2063137" cy="85559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741" h="722" stroke="true" fill="norm" extrusionOk="true">
                      <a:moveTo>
                        <a:pt x="1741" y="401"/>
                      </a:moveTo>
                      <a:lnTo>
                        <a:pt x="909" y="722"/>
                      </a:lnTo>
                      <a:lnTo>
                        <a:pt x="0" y="403"/>
                      </a:lnTo>
                      <a:lnTo>
                        <a:pt x="891" y="0"/>
                      </a:lnTo>
                      <a:lnTo>
                        <a:pt x="1741" y="401"/>
                      </a:lnTo>
                      <a:close/>
                    </a:path>
                  </a:pathLst>
                </a:custGeom>
                <a:solidFill>
                  <a:srgbClr val="C78E01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21" id="21"/>
                <p:cNvSpPr/>
                <p:nvPr/>
              </p:nvSpPr>
              <p:spPr>
                <a:xfrm>
                  <a:off x="9521808" y="2732421"/>
                  <a:ext cx="810561" cy="139122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84" h="1174" stroke="true" fill="norm" extrusionOk="true">
                      <a:moveTo>
                        <a:pt x="684" y="1174"/>
                      </a:moveTo>
                      <a:lnTo>
                        <a:pt x="0" y="1091"/>
                      </a:lnTo>
                      <a:lnTo>
                        <a:pt x="0" y="0"/>
                      </a:lnTo>
                      <a:lnTo>
                        <a:pt x="684" y="294"/>
                      </a:lnTo>
                      <a:lnTo>
                        <a:pt x="684" y="1174"/>
                      </a:lnTo>
                      <a:close/>
                    </a:path>
                  </a:pathLst>
                </a:custGeom>
                <a:solidFill>
                  <a:srgbClr val="007448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22" id="22"/>
                <p:cNvSpPr/>
                <p:nvPr/>
              </p:nvSpPr>
              <p:spPr>
                <a:xfrm>
                  <a:off x="8750353" y="2732421"/>
                  <a:ext cx="771455" cy="138174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651" h="1166" stroke="true" fill="norm" extrusionOk="true">
                      <a:moveTo>
                        <a:pt x="0" y="1166"/>
                      </a:moveTo>
                      <a:lnTo>
                        <a:pt x="651" y="1091"/>
                      </a:lnTo>
                      <a:lnTo>
                        <a:pt x="651" y="0"/>
                      </a:lnTo>
                      <a:lnTo>
                        <a:pt x="0" y="269"/>
                      </a:lnTo>
                      <a:lnTo>
                        <a:pt x="0" y="1166"/>
                      </a:lnTo>
                      <a:close/>
                    </a:path>
                  </a:pathLst>
                </a:custGeom>
                <a:solidFill>
                  <a:srgbClr val="008A55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23" id="23"/>
                <p:cNvSpPr/>
                <p:nvPr/>
              </p:nvSpPr>
              <p:spPr>
                <a:xfrm>
                  <a:off x="8750353" y="4022918"/>
                  <a:ext cx="1582015" cy="199085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335" h="168" stroke="true" fill="norm" extrusionOk="true">
                      <a:moveTo>
                        <a:pt x="0" y="77"/>
                      </a:moveTo>
                      <a:lnTo>
                        <a:pt x="840" y="168"/>
                      </a:lnTo>
                      <a:lnTo>
                        <a:pt x="1335" y="85"/>
                      </a:lnTo>
                      <a:lnTo>
                        <a:pt x="651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007448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24" id="24"/>
                <p:cNvSpPr/>
                <p:nvPr/>
              </p:nvSpPr>
              <p:spPr>
                <a:xfrm>
                  <a:off x="9195924" y="4050174"/>
                  <a:ext cx="1147109" cy="196478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68" h="1658" stroke="true" fill="norm" extrusionOk="true">
                      <a:moveTo>
                        <a:pt x="968" y="1371"/>
                      </a:moveTo>
                      <a:lnTo>
                        <a:pt x="0" y="1658"/>
                      </a:lnTo>
                      <a:lnTo>
                        <a:pt x="0" y="0"/>
                      </a:lnTo>
                      <a:lnTo>
                        <a:pt x="968" y="112"/>
                      </a:lnTo>
                      <a:lnTo>
                        <a:pt x="968" y="1371"/>
                      </a:ln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25" id="25"/>
                <p:cNvSpPr/>
                <p:nvPr/>
              </p:nvSpPr>
              <p:spPr>
                <a:xfrm>
                  <a:off x="8115177" y="4050174"/>
                  <a:ext cx="1080747" cy="1964780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912" h="1658" stroke="true" fill="norm" extrusionOk="true">
                      <a:moveTo>
                        <a:pt x="0" y="1371"/>
                      </a:moveTo>
                      <a:lnTo>
                        <a:pt x="912" y="1658"/>
                      </a:lnTo>
                      <a:lnTo>
                        <a:pt x="912" y="0"/>
                      </a:lnTo>
                      <a:lnTo>
                        <a:pt x="8" y="112"/>
                      </a:lnTo>
                      <a:lnTo>
                        <a:pt x="0" y="1371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</p:grpSp>
          <p:grpSp>
            <p:nvGrpSpPr>
              <p:cNvPr name="Group 26" id="26"/>
              <p:cNvGrpSpPr/>
              <p:nvPr/>
            </p:nvGrpSpPr>
            <p:grpSpPr>
              <a:xfrm>
                <a:off x="7481186" y="1894604"/>
                <a:ext cx="1497878" cy="4056358"/>
                <a:chOff x="7481186" y="1894604"/>
                <a:chExt cx="1497878" cy="4056358"/>
              </a:xfrm>
            </p:grpSpPr>
            <p:sp>
              <p:nvSpPr>
                <p:cNvPr name="Freeform 27" id="27"/>
                <p:cNvSpPr/>
                <p:nvPr/>
              </p:nvSpPr>
              <p:spPr>
                <a:xfrm>
                  <a:off x="7572433" y="2118575"/>
                  <a:ext cx="1013201" cy="367714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55" h="3103" stroke="true" fill="norm" extrusionOk="true">
                      <a:moveTo>
                        <a:pt x="823" y="0"/>
                      </a:moveTo>
                      <a:lnTo>
                        <a:pt x="855" y="0"/>
                      </a:lnTo>
                      <a:lnTo>
                        <a:pt x="31" y="3095"/>
                      </a:lnTo>
                      <a:lnTo>
                        <a:pt x="0" y="3103"/>
                      </a:lnTo>
                      <a:lnTo>
                        <a:pt x="823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28" id="28"/>
                <p:cNvSpPr/>
                <p:nvPr/>
              </p:nvSpPr>
              <p:spPr>
                <a:xfrm>
                  <a:off x="7693306" y="5332377"/>
                  <a:ext cx="319958" cy="63992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70" h="54" stroke="true" fill="norm" extrusionOk="true">
                      <a:moveTo>
                        <a:pt x="0" y="0"/>
                      </a:moveTo>
                      <a:lnTo>
                        <a:pt x="266" y="54"/>
                      </a:lnTo>
                      <a:lnTo>
                        <a:pt x="270" y="45"/>
                      </a:lnTo>
                      <a:lnTo>
                        <a:pt x="3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285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29" id="29"/>
                <p:cNvSpPr/>
                <p:nvPr/>
              </p:nvSpPr>
              <p:spPr>
                <a:xfrm>
                  <a:off x="7481186" y="1894604"/>
                  <a:ext cx="1461142" cy="405635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233" h="3423" stroke="true" fill="norm" extrusionOk="true">
                      <a:moveTo>
                        <a:pt x="1136" y="89"/>
                      </a:moveTo>
                      <a:lnTo>
                        <a:pt x="1077" y="337"/>
                      </a:lnTo>
                      <a:lnTo>
                        <a:pt x="826" y="466"/>
                      </a:lnTo>
                      <a:lnTo>
                        <a:pt x="900" y="189"/>
                      </a:lnTo>
                      <a:lnTo>
                        <a:pt x="821" y="266"/>
                      </a:lnTo>
                      <a:lnTo>
                        <a:pt x="0" y="3259"/>
                      </a:lnTo>
                      <a:lnTo>
                        <a:pt x="77" y="3292"/>
                      </a:lnTo>
                      <a:lnTo>
                        <a:pt x="158" y="2990"/>
                      </a:lnTo>
                      <a:lnTo>
                        <a:pt x="420" y="3061"/>
                      </a:lnTo>
                      <a:lnTo>
                        <a:pt x="343" y="3383"/>
                      </a:lnTo>
                      <a:lnTo>
                        <a:pt x="455" y="3423"/>
                      </a:lnTo>
                      <a:lnTo>
                        <a:pt x="1233" y="0"/>
                      </a:lnTo>
                      <a:lnTo>
                        <a:pt x="1136" y="89"/>
                      </a:lnTo>
                      <a:close/>
                      <a:moveTo>
                        <a:pt x="1050" y="445"/>
                      </a:moveTo>
                      <a:lnTo>
                        <a:pt x="1002" y="649"/>
                      </a:lnTo>
                      <a:lnTo>
                        <a:pt x="742" y="782"/>
                      </a:lnTo>
                      <a:lnTo>
                        <a:pt x="797" y="572"/>
                      </a:lnTo>
                      <a:lnTo>
                        <a:pt x="1050" y="445"/>
                      </a:lnTo>
                      <a:close/>
                      <a:moveTo>
                        <a:pt x="372" y="2181"/>
                      </a:moveTo>
                      <a:lnTo>
                        <a:pt x="449" y="1893"/>
                      </a:lnTo>
                      <a:lnTo>
                        <a:pt x="709" y="1860"/>
                      </a:lnTo>
                      <a:lnTo>
                        <a:pt x="636" y="2168"/>
                      </a:lnTo>
                      <a:lnTo>
                        <a:pt x="372" y="2181"/>
                      </a:lnTo>
                      <a:close/>
                      <a:moveTo>
                        <a:pt x="611" y="2272"/>
                      </a:moveTo>
                      <a:lnTo>
                        <a:pt x="541" y="2559"/>
                      </a:lnTo>
                      <a:lnTo>
                        <a:pt x="277" y="2534"/>
                      </a:lnTo>
                      <a:lnTo>
                        <a:pt x="349" y="2270"/>
                      </a:lnTo>
                      <a:lnTo>
                        <a:pt x="611" y="2272"/>
                      </a:lnTo>
                      <a:close/>
                      <a:moveTo>
                        <a:pt x="474" y="1798"/>
                      </a:moveTo>
                      <a:lnTo>
                        <a:pt x="541" y="1544"/>
                      </a:lnTo>
                      <a:lnTo>
                        <a:pt x="799" y="1483"/>
                      </a:lnTo>
                      <a:lnTo>
                        <a:pt x="734" y="1754"/>
                      </a:lnTo>
                      <a:lnTo>
                        <a:pt x="474" y="1798"/>
                      </a:lnTo>
                      <a:close/>
                      <a:moveTo>
                        <a:pt x="566" y="1446"/>
                      </a:moveTo>
                      <a:lnTo>
                        <a:pt x="624" y="1228"/>
                      </a:lnTo>
                      <a:lnTo>
                        <a:pt x="884" y="1136"/>
                      </a:lnTo>
                      <a:lnTo>
                        <a:pt x="824" y="1377"/>
                      </a:lnTo>
                      <a:lnTo>
                        <a:pt x="566" y="1446"/>
                      </a:lnTo>
                      <a:close/>
                      <a:moveTo>
                        <a:pt x="653" y="1121"/>
                      </a:moveTo>
                      <a:lnTo>
                        <a:pt x="715" y="888"/>
                      </a:lnTo>
                      <a:lnTo>
                        <a:pt x="975" y="757"/>
                      </a:lnTo>
                      <a:lnTo>
                        <a:pt x="911" y="1019"/>
                      </a:lnTo>
                      <a:lnTo>
                        <a:pt x="653" y="1121"/>
                      </a:lnTo>
                      <a:close/>
                      <a:moveTo>
                        <a:pt x="445" y="2955"/>
                      </a:moveTo>
                      <a:lnTo>
                        <a:pt x="181" y="2901"/>
                      </a:lnTo>
                      <a:lnTo>
                        <a:pt x="252" y="2634"/>
                      </a:lnTo>
                      <a:lnTo>
                        <a:pt x="514" y="2665"/>
                      </a:lnTo>
                      <a:lnTo>
                        <a:pt x="445" y="2955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30" id="30"/>
                <p:cNvSpPr/>
                <p:nvPr/>
              </p:nvSpPr>
              <p:spPr>
                <a:xfrm>
                  <a:off x="8220645" y="3240799"/>
                  <a:ext cx="312848" cy="113763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64" h="96" stroke="true" fill="norm" extrusionOk="true">
                      <a:moveTo>
                        <a:pt x="0" y="92"/>
                      </a:moveTo>
                      <a:lnTo>
                        <a:pt x="258" y="0"/>
                      </a:lnTo>
                      <a:lnTo>
                        <a:pt x="264" y="15"/>
                      </a:lnTo>
                      <a:lnTo>
                        <a:pt x="31" y="96"/>
                      </a:lnTo>
                      <a:lnTo>
                        <a:pt x="0" y="92"/>
                      </a:lnTo>
                      <a:close/>
                    </a:path>
                  </a:pathLst>
                </a:custGeom>
                <a:solidFill>
                  <a:srgbClr val="D1D2D2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31" id="31"/>
                <p:cNvSpPr/>
                <p:nvPr/>
              </p:nvSpPr>
              <p:spPr>
                <a:xfrm>
                  <a:off x="8425655" y="2421943"/>
                  <a:ext cx="299813" cy="15286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53" h="129" stroke="true" fill="norm" extrusionOk="true">
                      <a:moveTo>
                        <a:pt x="0" y="129"/>
                      </a:moveTo>
                      <a:lnTo>
                        <a:pt x="253" y="0"/>
                      </a:lnTo>
                      <a:lnTo>
                        <a:pt x="249" y="21"/>
                      </a:lnTo>
                      <a:lnTo>
                        <a:pt x="35" y="127"/>
                      </a:lnTo>
                      <a:lnTo>
                        <a:pt x="0" y="129"/>
                      </a:lnTo>
                      <a:close/>
                    </a:path>
                  </a:pathLst>
                </a:custGeom>
                <a:solidFill>
                  <a:srgbClr val="808285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32" id="32"/>
                <p:cNvSpPr/>
                <p:nvPr/>
              </p:nvSpPr>
              <p:spPr>
                <a:xfrm>
                  <a:off x="8328482" y="2791672"/>
                  <a:ext cx="308108" cy="15760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60" h="133" stroke="true" fill="norm" extrusionOk="true">
                      <a:moveTo>
                        <a:pt x="0" y="131"/>
                      </a:moveTo>
                      <a:lnTo>
                        <a:pt x="260" y="0"/>
                      </a:lnTo>
                      <a:lnTo>
                        <a:pt x="254" y="27"/>
                      </a:lnTo>
                      <a:lnTo>
                        <a:pt x="32" y="133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rgbClr val="808285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33" id="33"/>
                <p:cNvSpPr/>
                <p:nvPr/>
              </p:nvSpPr>
              <p:spPr>
                <a:xfrm>
                  <a:off x="8119917" y="3644894"/>
                  <a:ext cx="327068" cy="81767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76" h="69" stroke="true" fill="norm" extrusionOk="true">
                      <a:moveTo>
                        <a:pt x="0" y="67"/>
                      </a:moveTo>
                      <a:lnTo>
                        <a:pt x="270" y="0"/>
                      </a:lnTo>
                      <a:lnTo>
                        <a:pt x="276" y="17"/>
                      </a:lnTo>
                      <a:lnTo>
                        <a:pt x="33" y="69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solidFill>
                  <a:srgbClr val="808285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34" id="34"/>
                <p:cNvSpPr/>
                <p:nvPr/>
              </p:nvSpPr>
              <p:spPr>
                <a:xfrm>
                  <a:off x="8010894" y="4089280"/>
                  <a:ext cx="321143" cy="5095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71" h="43" stroke="true" fill="norm" extrusionOk="true">
                      <a:moveTo>
                        <a:pt x="0" y="41"/>
                      </a:moveTo>
                      <a:lnTo>
                        <a:pt x="266" y="0"/>
                      </a:lnTo>
                      <a:lnTo>
                        <a:pt x="271" y="17"/>
                      </a:lnTo>
                      <a:lnTo>
                        <a:pt x="31" y="43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rgbClr val="808285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35" id="35"/>
                <p:cNvSpPr/>
                <p:nvPr/>
              </p:nvSpPr>
              <p:spPr>
                <a:xfrm>
                  <a:off x="7809439" y="4897471"/>
                  <a:ext cx="329438" cy="29626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278" h="25" stroke="true" fill="norm" extrusionOk="true">
                      <a:moveTo>
                        <a:pt x="0" y="0"/>
                      </a:moveTo>
                      <a:lnTo>
                        <a:pt x="264" y="25"/>
                      </a:lnTo>
                      <a:lnTo>
                        <a:pt x="278" y="21"/>
                      </a:lnTo>
                      <a:lnTo>
                        <a:pt x="3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8285"/>
                </a:solidFill>
                <a:ln>
                  <a:noFill/>
                </a:ln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  <p:sp>
              <p:nvSpPr>
                <p:cNvPr name="Freeform 36" id="36"/>
                <p:cNvSpPr/>
                <p:nvPr/>
              </p:nvSpPr>
              <p:spPr>
                <a:xfrm>
                  <a:off x="8020375" y="1894604"/>
                  <a:ext cx="958689" cy="405635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809" h="3423" stroke="true" fill="norm" extrusionOk="true">
                      <a:moveTo>
                        <a:pt x="776" y="0"/>
                      </a:moveTo>
                      <a:lnTo>
                        <a:pt x="809" y="0"/>
                      </a:lnTo>
                      <a:lnTo>
                        <a:pt x="57" y="3410"/>
                      </a:lnTo>
                      <a:lnTo>
                        <a:pt x="0" y="3423"/>
                      </a:lnTo>
                      <a:lnTo>
                        <a:pt x="776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  <a:effectLst/>
              </p:spPr>
              <p:txBody>
                <a:bodyPr vert="horz" anchor="t" wrap="square" tIns="45720" lIns="91440" bIns="45720" rIns="91440">
                  <a:prstTxWarp prst="textNoShape">
                    <a:avLst/>
                  </a:prstTxWarp>
                </a:bodyPr>
                <a:p>
                  <a:pPr algn="l" marL="0"/>
                </a:p>
              </p:txBody>
            </p:sp>
          </p:grpSp>
        </p:grpSp>
      </p:grpSp>
      <p:grpSp>
        <p:nvGrpSpPr>
          <p:cNvPr name="Group 37" id="37"/>
          <p:cNvGrpSpPr/>
          <p:nvPr/>
        </p:nvGrpSpPr>
        <p:grpSpPr>
          <a:xfrm flipH="true">
            <a:off x="7321273" y="3590157"/>
            <a:ext cx="1375155" cy="2525253"/>
            <a:chOff x="8199726" y="980132"/>
            <a:chExt cx="2899947" cy="5325290"/>
          </a:xfrm>
        </p:grpSpPr>
        <p:sp>
          <p:nvSpPr>
            <p:cNvPr name="Freeform 38" id="38"/>
            <p:cNvSpPr/>
            <p:nvPr/>
          </p:nvSpPr>
          <p:spPr>
            <a:xfrm>
              <a:off x="8252045" y="3106512"/>
              <a:ext cx="930525" cy="762357"/>
            </a:xfrm>
            <a:custGeom>
              <a:avLst/>
              <a:gdLst/>
              <a:ahLst/>
              <a:cxnLst/>
              <a:rect r="r" b="b" t="t" l="l"/>
              <a:pathLst>
                <a:path w="105" h="86" stroke="true" fill="norm" extrusionOk="true">
                  <a:moveTo>
                    <a:pt x="65" y="86"/>
                  </a:moveTo>
                  <a:cubicBezTo>
                    <a:pt x="8" y="34"/>
                    <a:pt x="8" y="34"/>
                    <a:pt x="8" y="34"/>
                  </a:cubicBezTo>
                  <a:cubicBezTo>
                    <a:pt x="0" y="27"/>
                    <a:pt x="0" y="15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4" y="0"/>
                    <a:pt x="26" y="0"/>
                    <a:pt x="33" y="7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101" y="76"/>
                    <a:pt x="101" y="76"/>
                    <a:pt x="101" y="76"/>
                  </a:cubicBezTo>
                  <a:lnTo>
                    <a:pt x="65" y="86"/>
                  </a:ln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grpSp>
          <p:nvGrpSpPr>
            <p:cNvPr name="Group 39" id="39"/>
            <p:cNvGrpSpPr/>
            <p:nvPr/>
          </p:nvGrpSpPr>
          <p:grpSpPr>
            <a:xfrm>
              <a:off x="8199726" y="980132"/>
              <a:ext cx="2899947" cy="5325290"/>
              <a:chOff x="8199726" y="980132"/>
              <a:chExt cx="2899947" cy="5325290"/>
            </a:xfrm>
          </p:grpSpPr>
          <p:sp>
            <p:nvSpPr>
              <p:cNvPr name="Freeform 40" id="40"/>
              <p:cNvSpPr/>
              <p:nvPr/>
            </p:nvSpPr>
            <p:spPr>
              <a:xfrm>
                <a:off x="9126513" y="4328525"/>
                <a:ext cx="1061321" cy="1887208"/>
              </a:xfrm>
              <a:custGeom>
                <a:avLst/>
                <a:gdLst/>
                <a:ahLst/>
                <a:cxnLst/>
                <a:rect r="r" b="b" t="t" l="l"/>
                <a:pathLst>
                  <a:path w="120" h="213" stroke="true" fill="norm" extrusionOk="true">
                    <a:moveTo>
                      <a:pt x="31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32" y="0"/>
                      <a:pt x="33" y="0"/>
                      <a:pt x="33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89" y="0"/>
                      <a:pt x="90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1" y="0"/>
                      <a:pt x="91" y="0"/>
                      <a:pt x="9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0" y="7"/>
                      <a:pt x="120" y="7"/>
                      <a:pt x="120" y="7"/>
                    </a:cubicBezTo>
                    <a:cubicBezTo>
                      <a:pt x="120" y="7"/>
                      <a:pt x="120" y="8"/>
                      <a:pt x="120" y="8"/>
                    </a:cubicBezTo>
                    <a:cubicBezTo>
                      <a:pt x="120" y="211"/>
                      <a:pt x="120" y="211"/>
                      <a:pt x="120" y="211"/>
                    </a:cubicBezTo>
                    <a:cubicBezTo>
                      <a:pt x="120" y="212"/>
                      <a:pt x="120" y="212"/>
                      <a:pt x="120" y="213"/>
                    </a:cubicBezTo>
                    <a:cubicBezTo>
                      <a:pt x="62" y="213"/>
                      <a:pt x="62" y="213"/>
                      <a:pt x="62" y="213"/>
                    </a:cubicBezTo>
                    <a:cubicBezTo>
                      <a:pt x="62" y="212"/>
                      <a:pt x="62" y="212"/>
                      <a:pt x="62" y="211"/>
                    </a:cubicBezTo>
                    <a:cubicBezTo>
                      <a:pt x="62" y="90"/>
                      <a:pt x="62" y="90"/>
                      <a:pt x="62" y="90"/>
                    </a:cubicBezTo>
                    <a:cubicBezTo>
                      <a:pt x="62" y="90"/>
                      <a:pt x="62" y="89"/>
                      <a:pt x="62" y="89"/>
                    </a:cubicBezTo>
                    <a:cubicBezTo>
                      <a:pt x="62" y="39"/>
                      <a:pt x="62" y="39"/>
                      <a:pt x="62" y="39"/>
                    </a:cubicBezTo>
                    <a:cubicBezTo>
                      <a:pt x="62" y="36"/>
                      <a:pt x="63" y="34"/>
                      <a:pt x="60" y="34"/>
                    </a:cubicBezTo>
                    <a:cubicBezTo>
                      <a:pt x="60" y="34"/>
                      <a:pt x="60" y="34"/>
                      <a:pt x="60" y="34"/>
                    </a:cubicBezTo>
                    <a:cubicBezTo>
                      <a:pt x="57" y="34"/>
                      <a:pt x="59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211"/>
                      <a:pt x="58" y="211"/>
                      <a:pt x="58" y="211"/>
                    </a:cubicBezTo>
                    <a:cubicBezTo>
                      <a:pt x="58" y="212"/>
                      <a:pt x="58" y="212"/>
                      <a:pt x="58" y="213"/>
                    </a:cubicBezTo>
                    <a:cubicBezTo>
                      <a:pt x="1" y="213"/>
                      <a:pt x="1" y="213"/>
                      <a:pt x="1" y="213"/>
                    </a:cubicBezTo>
                    <a:cubicBezTo>
                      <a:pt x="1" y="212"/>
                      <a:pt x="0" y="212"/>
                      <a:pt x="0" y="21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4"/>
                      <a:pt x="1" y="4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0"/>
                      <a:pt x="30" y="0"/>
                      <a:pt x="31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41" id="41"/>
              <p:cNvSpPr/>
              <p:nvPr/>
            </p:nvSpPr>
            <p:spPr>
              <a:xfrm>
                <a:off x="9126513" y="4328525"/>
                <a:ext cx="530660" cy="1887208"/>
              </a:xfrm>
              <a:custGeom>
                <a:avLst/>
                <a:gdLst/>
                <a:ahLst/>
                <a:cxnLst/>
                <a:rect r="r" b="b" t="t" l="l"/>
                <a:pathLst>
                  <a:path w="60" h="213" stroke="true" fill="norm" extrusionOk="true">
                    <a:moveTo>
                      <a:pt x="31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32" y="0"/>
                      <a:pt x="33" y="0"/>
                      <a:pt x="33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0" y="34"/>
                      <a:pt x="60" y="34"/>
                      <a:pt x="60" y="34"/>
                    </a:cubicBezTo>
                    <a:cubicBezTo>
                      <a:pt x="60" y="34"/>
                      <a:pt x="60" y="34"/>
                      <a:pt x="60" y="34"/>
                    </a:cubicBezTo>
                    <a:cubicBezTo>
                      <a:pt x="60" y="34"/>
                      <a:pt x="60" y="34"/>
                      <a:pt x="60" y="34"/>
                    </a:cubicBezTo>
                    <a:cubicBezTo>
                      <a:pt x="57" y="34"/>
                      <a:pt x="59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211"/>
                      <a:pt x="58" y="211"/>
                      <a:pt x="58" y="211"/>
                    </a:cubicBezTo>
                    <a:cubicBezTo>
                      <a:pt x="58" y="212"/>
                      <a:pt x="58" y="212"/>
                      <a:pt x="58" y="213"/>
                    </a:cubicBezTo>
                    <a:cubicBezTo>
                      <a:pt x="1" y="213"/>
                      <a:pt x="1" y="213"/>
                      <a:pt x="1" y="213"/>
                    </a:cubicBezTo>
                    <a:cubicBezTo>
                      <a:pt x="1" y="212"/>
                      <a:pt x="0" y="212"/>
                      <a:pt x="0" y="21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4"/>
                      <a:pt x="1" y="4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0"/>
                      <a:pt x="30" y="0"/>
                      <a:pt x="31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42" id="42"/>
              <p:cNvSpPr/>
              <p:nvPr/>
            </p:nvSpPr>
            <p:spPr>
              <a:xfrm>
                <a:off x="9100353" y="6028880"/>
                <a:ext cx="541873" cy="276542"/>
              </a:xfrm>
              <a:custGeom>
                <a:avLst/>
                <a:gdLst/>
                <a:ahLst/>
                <a:cxnLst/>
                <a:rect r="r" b="b" t="t" l="l"/>
                <a:pathLst>
                  <a:path w="61" h="31" stroke="true" fill="norm" extrusionOk="true"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47" y="0"/>
                      <a:pt x="61" y="11"/>
                      <a:pt x="61" y="25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56" y="31"/>
                      <a:pt x="56" y="31"/>
                      <a:pt x="56" y="31"/>
                    </a:cubicBezTo>
                    <a:cubicBezTo>
                      <a:pt x="56" y="30"/>
                      <a:pt x="56" y="30"/>
                      <a:pt x="56" y="30"/>
                    </a:cubicBezTo>
                    <a:cubicBezTo>
                      <a:pt x="56" y="28"/>
                      <a:pt x="54" y="27"/>
                      <a:pt x="52" y="27"/>
                    </a:cubicBezTo>
                    <a:cubicBezTo>
                      <a:pt x="50" y="27"/>
                      <a:pt x="49" y="28"/>
                      <a:pt x="49" y="30"/>
                    </a:cubicBezTo>
                    <a:cubicBezTo>
                      <a:pt x="49" y="31"/>
                      <a:pt x="49" y="31"/>
                      <a:pt x="49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5" y="28"/>
                      <a:pt x="43" y="27"/>
                      <a:pt x="41" y="27"/>
                    </a:cubicBezTo>
                    <a:cubicBezTo>
                      <a:pt x="39" y="27"/>
                      <a:pt x="38" y="28"/>
                      <a:pt x="38" y="30"/>
                    </a:cubicBezTo>
                    <a:cubicBezTo>
                      <a:pt x="38" y="31"/>
                      <a:pt x="38" y="31"/>
                      <a:pt x="38" y="31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8"/>
                      <a:pt x="32" y="27"/>
                      <a:pt x="30" y="27"/>
                    </a:cubicBezTo>
                    <a:cubicBezTo>
                      <a:pt x="28" y="27"/>
                      <a:pt x="27" y="28"/>
                      <a:pt x="27" y="30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3" y="28"/>
                      <a:pt x="21" y="27"/>
                      <a:pt x="19" y="27"/>
                    </a:cubicBezTo>
                    <a:cubicBezTo>
                      <a:pt x="17" y="27"/>
                      <a:pt x="16" y="28"/>
                      <a:pt x="16" y="30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28"/>
                      <a:pt x="10" y="27"/>
                      <a:pt x="8" y="27"/>
                    </a:cubicBezTo>
                    <a:cubicBezTo>
                      <a:pt x="6" y="27"/>
                      <a:pt x="5" y="28"/>
                      <a:pt x="5" y="30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1"/>
                      <a:pt x="13" y="0"/>
                      <a:pt x="30" y="0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43" id="43"/>
              <p:cNvSpPr/>
              <p:nvPr/>
            </p:nvSpPr>
            <p:spPr>
              <a:xfrm>
                <a:off x="9092879" y="6215733"/>
                <a:ext cx="549347" cy="89688"/>
              </a:xfrm>
              <a:custGeom>
                <a:avLst/>
                <a:gdLst/>
                <a:ahLst/>
                <a:cxnLst/>
                <a:rect r="r" b="b" t="t" l="l"/>
                <a:pathLst>
                  <a:path w="62" h="10" stroke="true" fill="norm" extrusionOk="true">
                    <a:moveTo>
                      <a:pt x="6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3"/>
                      <a:pt x="1" y="7"/>
                      <a:pt x="1" y="10"/>
                    </a:cubicBezTo>
                    <a:cubicBezTo>
                      <a:pt x="24" y="10"/>
                      <a:pt x="39" y="10"/>
                      <a:pt x="62" y="10"/>
                    </a:cubicBezTo>
                    <a:cubicBezTo>
                      <a:pt x="62" y="7"/>
                      <a:pt x="62" y="3"/>
                      <a:pt x="6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44" id="44"/>
              <p:cNvSpPr/>
              <p:nvPr/>
            </p:nvSpPr>
            <p:spPr>
              <a:xfrm>
                <a:off x="9675858" y="6028880"/>
                <a:ext cx="538134" cy="276542"/>
              </a:xfrm>
              <a:custGeom>
                <a:avLst/>
                <a:gdLst/>
                <a:ahLst/>
                <a:cxnLst/>
                <a:rect r="r" b="b" t="t" l="l"/>
                <a:pathLst>
                  <a:path w="61" h="31" stroke="true" fill="norm" extrusionOk="true">
                    <a:moveTo>
                      <a:pt x="31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47" y="0"/>
                      <a:pt x="61" y="11"/>
                      <a:pt x="61" y="25"/>
                    </a:cubicBezTo>
                    <a:cubicBezTo>
                      <a:pt x="61" y="31"/>
                      <a:pt x="61" y="31"/>
                      <a:pt x="61" y="31"/>
                    </a:cubicBezTo>
                    <a:cubicBezTo>
                      <a:pt x="56" y="31"/>
                      <a:pt x="56" y="31"/>
                      <a:pt x="56" y="31"/>
                    </a:cubicBezTo>
                    <a:cubicBezTo>
                      <a:pt x="56" y="30"/>
                      <a:pt x="56" y="30"/>
                      <a:pt x="56" y="30"/>
                    </a:cubicBezTo>
                    <a:cubicBezTo>
                      <a:pt x="56" y="28"/>
                      <a:pt x="55" y="27"/>
                      <a:pt x="53" y="27"/>
                    </a:cubicBezTo>
                    <a:cubicBezTo>
                      <a:pt x="51" y="27"/>
                      <a:pt x="49" y="28"/>
                      <a:pt x="49" y="30"/>
                    </a:cubicBezTo>
                    <a:cubicBezTo>
                      <a:pt x="49" y="31"/>
                      <a:pt x="49" y="31"/>
                      <a:pt x="49" y="31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5" y="28"/>
                      <a:pt x="44" y="27"/>
                      <a:pt x="42" y="27"/>
                    </a:cubicBezTo>
                    <a:cubicBezTo>
                      <a:pt x="40" y="27"/>
                      <a:pt x="38" y="28"/>
                      <a:pt x="38" y="30"/>
                    </a:cubicBezTo>
                    <a:cubicBezTo>
                      <a:pt x="38" y="31"/>
                      <a:pt x="38" y="31"/>
                      <a:pt x="38" y="31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8"/>
                      <a:pt x="33" y="27"/>
                      <a:pt x="31" y="27"/>
                    </a:cubicBezTo>
                    <a:cubicBezTo>
                      <a:pt x="29" y="27"/>
                      <a:pt x="27" y="28"/>
                      <a:pt x="27" y="30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3" y="28"/>
                      <a:pt x="22" y="27"/>
                      <a:pt x="20" y="27"/>
                    </a:cubicBezTo>
                    <a:cubicBezTo>
                      <a:pt x="18" y="27"/>
                      <a:pt x="16" y="28"/>
                      <a:pt x="16" y="30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28"/>
                      <a:pt x="11" y="27"/>
                      <a:pt x="9" y="27"/>
                    </a:cubicBezTo>
                    <a:cubicBezTo>
                      <a:pt x="7" y="27"/>
                      <a:pt x="5" y="28"/>
                      <a:pt x="5" y="30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1"/>
                      <a:pt x="14" y="0"/>
                      <a:pt x="31" y="0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45" id="45"/>
              <p:cNvSpPr/>
              <p:nvPr/>
            </p:nvSpPr>
            <p:spPr>
              <a:xfrm>
                <a:off x="9675858" y="6215733"/>
                <a:ext cx="538134" cy="89688"/>
              </a:xfrm>
              <a:custGeom>
                <a:avLst/>
                <a:gdLst/>
                <a:ahLst/>
                <a:cxnLst/>
                <a:rect r="r" b="b" t="t" l="l"/>
                <a:pathLst>
                  <a:path w="61" h="10" stroke="true" fill="norm" extrusionOk="true">
                    <a:moveTo>
                      <a:pt x="61" y="0"/>
                    </a:moveTo>
                    <a:cubicBezTo>
                      <a:pt x="61" y="3"/>
                      <a:pt x="61" y="7"/>
                      <a:pt x="61" y="10"/>
                    </a:cubicBezTo>
                    <a:cubicBezTo>
                      <a:pt x="38" y="10"/>
                      <a:pt x="23" y="10"/>
                      <a:pt x="0" y="10"/>
                    </a:cubicBezTo>
                    <a:cubicBezTo>
                      <a:pt x="0" y="7"/>
                      <a:pt x="0" y="3"/>
                      <a:pt x="0" y="0"/>
                    </a:cubicBez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46" id="46"/>
              <p:cNvSpPr/>
              <p:nvPr/>
            </p:nvSpPr>
            <p:spPr>
              <a:xfrm>
                <a:off x="8764019" y="2564640"/>
                <a:ext cx="1786308" cy="1898418"/>
              </a:xfrm>
              <a:custGeom>
                <a:avLst/>
                <a:gdLst/>
                <a:ahLst/>
                <a:cxnLst/>
                <a:rect r="r" b="b" t="t" l="l"/>
                <a:pathLst>
                  <a:path w="202" h="214" stroke="true" fill="norm" extrusionOk="true">
                    <a:moveTo>
                      <a:pt x="164" y="78"/>
                    </a:moveTo>
                    <a:cubicBezTo>
                      <a:pt x="164" y="131"/>
                      <a:pt x="164" y="131"/>
                      <a:pt x="164" y="131"/>
                    </a:cubicBezTo>
                    <a:cubicBezTo>
                      <a:pt x="164" y="214"/>
                      <a:pt x="164" y="214"/>
                      <a:pt x="164" y="214"/>
                    </a:cubicBezTo>
                    <a:cubicBezTo>
                      <a:pt x="38" y="214"/>
                      <a:pt x="38" y="214"/>
                      <a:pt x="38" y="214"/>
                    </a:cubicBezTo>
                    <a:cubicBezTo>
                      <a:pt x="38" y="131"/>
                      <a:pt x="38" y="131"/>
                      <a:pt x="38" y="131"/>
                    </a:cubicBezTo>
                    <a:cubicBezTo>
                      <a:pt x="38" y="127"/>
                      <a:pt x="38" y="127"/>
                      <a:pt x="38" y="127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3" y="41"/>
                      <a:pt x="3" y="41"/>
                      <a:pt x="3" y="41"/>
                    </a:cubicBezTo>
                    <a:cubicBezTo>
                      <a:pt x="4" y="22"/>
                      <a:pt x="5" y="18"/>
                      <a:pt x="24" y="11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39" y="0"/>
                      <a:pt x="139" y="0"/>
                      <a:pt x="139" y="0"/>
                    </a:cubicBezTo>
                    <a:cubicBezTo>
                      <a:pt x="174" y="10"/>
                      <a:pt x="174" y="10"/>
                      <a:pt x="174" y="10"/>
                    </a:cubicBezTo>
                    <a:cubicBezTo>
                      <a:pt x="199" y="19"/>
                      <a:pt x="198" y="19"/>
                      <a:pt x="199" y="46"/>
                    </a:cubicBezTo>
                    <a:cubicBezTo>
                      <a:pt x="202" y="115"/>
                      <a:pt x="202" y="115"/>
                      <a:pt x="202" y="115"/>
                    </a:cubicBezTo>
                    <a:cubicBezTo>
                      <a:pt x="164" y="115"/>
                      <a:pt x="164" y="115"/>
                      <a:pt x="164" y="115"/>
                    </a:cubicBezTo>
                    <a:cubicBezTo>
                      <a:pt x="164" y="78"/>
                      <a:pt x="164" y="78"/>
                      <a:pt x="164" y="78"/>
                    </a:cubicBezTo>
                    <a:cubicBezTo>
                      <a:pt x="164" y="78"/>
                      <a:pt x="164" y="78"/>
                      <a:pt x="164" y="7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47" id="47"/>
              <p:cNvSpPr/>
              <p:nvPr/>
            </p:nvSpPr>
            <p:spPr>
              <a:xfrm>
                <a:off x="8764019" y="2564640"/>
                <a:ext cx="885681" cy="1898418"/>
              </a:xfrm>
              <a:custGeom>
                <a:avLst/>
                <a:gdLst/>
                <a:ahLst/>
                <a:cxnLst/>
                <a:rect r="r" b="b" t="t" l="l"/>
                <a:pathLst>
                  <a:path w="100" h="214" stroke="true" fill="norm" extrusionOk="true">
                    <a:moveTo>
                      <a:pt x="100" y="214"/>
                    </a:moveTo>
                    <a:cubicBezTo>
                      <a:pt x="38" y="214"/>
                      <a:pt x="38" y="214"/>
                      <a:pt x="38" y="214"/>
                    </a:cubicBezTo>
                    <a:cubicBezTo>
                      <a:pt x="38" y="131"/>
                      <a:pt x="38" y="131"/>
                      <a:pt x="38" y="131"/>
                    </a:cubicBezTo>
                    <a:cubicBezTo>
                      <a:pt x="38" y="127"/>
                      <a:pt x="38" y="127"/>
                      <a:pt x="38" y="127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3" y="41"/>
                      <a:pt x="3" y="41"/>
                      <a:pt x="3" y="41"/>
                    </a:cubicBezTo>
                    <a:cubicBezTo>
                      <a:pt x="4" y="22"/>
                      <a:pt x="5" y="18"/>
                      <a:pt x="24" y="11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100" y="0"/>
                      <a:pt x="100" y="0"/>
                      <a:pt x="100" y="0"/>
                    </a:cubicBezTo>
                    <a:lnTo>
                      <a:pt x="100" y="214"/>
                    </a:lnTo>
                    <a:close/>
                  </a:path>
                </a:pathLst>
              </a:custGeom>
              <a:solidFill>
                <a:srgbClr val="484848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48" id="48"/>
              <p:cNvSpPr/>
              <p:nvPr/>
            </p:nvSpPr>
            <p:spPr>
              <a:xfrm>
                <a:off x="9313365" y="2299308"/>
                <a:ext cx="672668" cy="896892"/>
              </a:xfrm>
              <a:custGeom>
                <a:avLst/>
                <a:gdLst/>
                <a:ahLst/>
                <a:cxnLst/>
                <a:rect r="r" b="b" t="t" l="l"/>
                <a:pathLst>
                  <a:path w="180" h="240" stroke="true" fill="norm" extrusionOk="true">
                    <a:moveTo>
                      <a:pt x="180" y="71"/>
                    </a:moveTo>
                    <a:lnTo>
                      <a:pt x="92" y="240"/>
                    </a:lnTo>
                    <a:lnTo>
                      <a:pt x="0" y="71"/>
                    </a:lnTo>
                    <a:lnTo>
                      <a:pt x="33" y="69"/>
                    </a:lnTo>
                    <a:lnTo>
                      <a:pt x="33" y="0"/>
                    </a:lnTo>
                    <a:lnTo>
                      <a:pt x="151" y="0"/>
                    </a:lnTo>
                    <a:lnTo>
                      <a:pt x="151" y="69"/>
                    </a:lnTo>
                    <a:lnTo>
                      <a:pt x="180" y="71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49" id="49"/>
              <p:cNvSpPr/>
              <p:nvPr/>
            </p:nvSpPr>
            <p:spPr>
              <a:xfrm>
                <a:off x="9418003" y="2299308"/>
                <a:ext cx="459658" cy="373704"/>
              </a:xfrm>
              <a:custGeom>
                <a:avLst/>
                <a:gdLst/>
                <a:ahLst/>
                <a:cxnLst/>
                <a:rect r="r" b="b" t="t" l="l"/>
                <a:pathLst>
                  <a:path w="52" h="42" stroke="true" fill="norm" extrusionOk="true">
                    <a:moveTo>
                      <a:pt x="0" y="29"/>
                    </a:moveTo>
                    <a:cubicBezTo>
                      <a:pt x="2" y="29"/>
                      <a:pt x="2" y="29"/>
                      <a:pt x="2" y="29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29"/>
                      <a:pt x="52" y="29"/>
                      <a:pt x="52" y="29"/>
                    </a:cubicBezTo>
                    <a:cubicBezTo>
                      <a:pt x="52" y="29"/>
                      <a:pt x="52" y="29"/>
                      <a:pt x="52" y="29"/>
                    </a:cubicBezTo>
                    <a:cubicBezTo>
                      <a:pt x="46" y="37"/>
                      <a:pt x="37" y="42"/>
                      <a:pt x="26" y="42"/>
                    </a:cubicBezTo>
                    <a:cubicBezTo>
                      <a:pt x="16" y="42"/>
                      <a:pt x="6" y="37"/>
                      <a:pt x="0" y="29"/>
                    </a:cubicBezTo>
                    <a:close/>
                  </a:path>
                </a:pathLst>
              </a:custGeom>
              <a:solidFill>
                <a:srgbClr val="E0DAAF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50" id="50"/>
              <p:cNvSpPr/>
              <p:nvPr/>
            </p:nvSpPr>
            <p:spPr>
              <a:xfrm>
                <a:off x="9436687" y="2299308"/>
                <a:ext cx="440971" cy="284016"/>
              </a:xfrm>
              <a:custGeom>
                <a:avLst/>
                <a:gdLst/>
                <a:ahLst/>
                <a:cxnLst/>
                <a:rect r="r" b="b" t="t" l="l"/>
                <a:pathLst>
                  <a:path w="50" h="32" stroke="true" fill="norm" extrusionOk="true">
                    <a:moveTo>
                      <a:pt x="0" y="28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0" y="28"/>
                      <a:pt x="50" y="28"/>
                      <a:pt x="50" y="28"/>
                    </a:cubicBezTo>
                    <a:cubicBezTo>
                      <a:pt x="42" y="30"/>
                      <a:pt x="33" y="32"/>
                      <a:pt x="25" y="32"/>
                    </a:cubicBezTo>
                    <a:cubicBezTo>
                      <a:pt x="16" y="32"/>
                      <a:pt x="8" y="30"/>
                      <a:pt x="0" y="28"/>
                    </a:cubicBezTo>
                    <a:close/>
                  </a:path>
                </a:pathLst>
              </a:custGeom>
              <a:solidFill>
                <a:srgbClr val="CAC59E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51" id="51"/>
              <p:cNvSpPr/>
              <p:nvPr/>
            </p:nvSpPr>
            <p:spPr>
              <a:xfrm>
                <a:off x="9376894" y="2299308"/>
                <a:ext cx="272805" cy="627824"/>
              </a:xfrm>
              <a:custGeom>
                <a:avLst/>
                <a:gdLst/>
                <a:ahLst/>
                <a:cxnLst/>
                <a:rect r="r" b="b" t="t" l="l"/>
                <a:pathLst>
                  <a:path w="73" h="168" stroke="true" fill="norm" extrusionOk="true">
                    <a:moveTo>
                      <a:pt x="73" y="168"/>
                    </a:moveTo>
                    <a:lnTo>
                      <a:pt x="0" y="71"/>
                    </a:lnTo>
                    <a:lnTo>
                      <a:pt x="16" y="69"/>
                    </a:lnTo>
                    <a:lnTo>
                      <a:pt x="16" y="0"/>
                    </a:lnTo>
                    <a:lnTo>
                      <a:pt x="73" y="0"/>
                    </a:lnTo>
                    <a:lnTo>
                      <a:pt x="73" y="168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52" id="52"/>
              <p:cNvSpPr/>
              <p:nvPr/>
            </p:nvSpPr>
            <p:spPr>
              <a:xfrm>
                <a:off x="9418003" y="2299308"/>
                <a:ext cx="231697" cy="373704"/>
              </a:xfrm>
              <a:custGeom>
                <a:avLst/>
                <a:gdLst/>
                <a:ahLst/>
                <a:cxnLst/>
                <a:rect r="r" b="b" t="t" l="l"/>
                <a:pathLst>
                  <a:path w="26" h="42" stroke="true" fill="norm" extrusionOk="true">
                    <a:moveTo>
                      <a:pt x="0" y="29"/>
                    </a:moveTo>
                    <a:cubicBezTo>
                      <a:pt x="2" y="29"/>
                      <a:pt x="2" y="29"/>
                      <a:pt x="2" y="29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2"/>
                      <a:pt x="26" y="42"/>
                      <a:pt x="26" y="42"/>
                    </a:cubicBezTo>
                    <a:cubicBezTo>
                      <a:pt x="16" y="42"/>
                      <a:pt x="6" y="37"/>
                      <a:pt x="0" y="29"/>
                    </a:cubicBezTo>
                    <a:close/>
                  </a:path>
                </a:pathLst>
              </a:custGeom>
              <a:solidFill>
                <a:srgbClr val="EAE5C6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53" id="53"/>
              <p:cNvSpPr/>
              <p:nvPr/>
            </p:nvSpPr>
            <p:spPr>
              <a:xfrm>
                <a:off x="9436687" y="2299308"/>
                <a:ext cx="213013" cy="284016"/>
              </a:xfrm>
              <a:custGeom>
                <a:avLst/>
                <a:gdLst/>
                <a:ahLst/>
                <a:cxnLst/>
                <a:rect r="r" b="b" t="t" l="l"/>
                <a:pathLst>
                  <a:path w="24" h="32" stroke="true" fill="norm" extrusionOk="true">
                    <a:moveTo>
                      <a:pt x="0" y="28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16" y="32"/>
                      <a:pt x="8" y="30"/>
                      <a:pt x="0" y="28"/>
                    </a:cubicBezTo>
                    <a:close/>
                  </a:path>
                </a:pathLst>
              </a:custGeom>
              <a:solidFill>
                <a:srgbClr val="DAD6B9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54" id="54"/>
              <p:cNvSpPr/>
              <p:nvPr/>
            </p:nvSpPr>
            <p:spPr>
              <a:xfrm>
                <a:off x="8950871" y="1103455"/>
                <a:ext cx="1412603" cy="1401393"/>
              </a:xfrm>
              <a:custGeom>
                <a:avLst/>
                <a:gdLst/>
                <a:ahLst/>
                <a:cxnLst/>
                <a:rect r="r" b="b" t="t" l="l"/>
                <a:pathLst>
                  <a:path w="160" h="158" stroke="true" fill="norm" extrusionOk="true">
                    <a:moveTo>
                      <a:pt x="80" y="0"/>
                    </a:moveTo>
                    <a:cubicBezTo>
                      <a:pt x="81" y="0"/>
                      <a:pt x="83" y="1"/>
                      <a:pt x="85" y="1"/>
                    </a:cubicBezTo>
                    <a:cubicBezTo>
                      <a:pt x="139" y="1"/>
                      <a:pt x="139" y="1"/>
                      <a:pt x="139" y="1"/>
                    </a:cubicBezTo>
                    <a:cubicBezTo>
                      <a:pt x="143" y="18"/>
                      <a:pt x="143" y="18"/>
                      <a:pt x="143" y="18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0" y="77"/>
                      <a:pt x="160" y="77"/>
                      <a:pt x="160" y="77"/>
                    </a:cubicBezTo>
                    <a:cubicBezTo>
                      <a:pt x="159" y="77"/>
                      <a:pt x="159" y="77"/>
                      <a:pt x="159" y="77"/>
                    </a:cubicBezTo>
                    <a:cubicBezTo>
                      <a:pt x="159" y="78"/>
                      <a:pt x="159" y="79"/>
                      <a:pt x="159" y="79"/>
                    </a:cubicBezTo>
                    <a:cubicBezTo>
                      <a:pt x="159" y="123"/>
                      <a:pt x="124" y="158"/>
                      <a:pt x="80" y="158"/>
                    </a:cubicBezTo>
                    <a:cubicBezTo>
                      <a:pt x="36" y="158"/>
                      <a:pt x="0" y="123"/>
                      <a:pt x="0" y="79"/>
                    </a:cubicBezTo>
                    <a:cubicBezTo>
                      <a:pt x="0" y="77"/>
                      <a:pt x="0" y="75"/>
                      <a:pt x="0" y="73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76" y="1"/>
                      <a:pt x="78" y="0"/>
                      <a:pt x="80" y="0"/>
                    </a:cubicBezTo>
                    <a:close/>
                  </a:path>
                </a:pathLst>
              </a:custGeom>
              <a:solidFill>
                <a:srgbClr val="F7C2AB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55" id="55"/>
              <p:cNvSpPr/>
              <p:nvPr/>
            </p:nvSpPr>
            <p:spPr>
              <a:xfrm>
                <a:off x="8950871" y="1110929"/>
                <a:ext cx="609140" cy="1382707"/>
              </a:xfrm>
              <a:custGeom>
                <a:avLst/>
                <a:gdLst/>
                <a:ahLst/>
                <a:cxnLst/>
                <a:rect r="r" b="b" t="t" l="l"/>
                <a:pathLst>
                  <a:path w="69" h="156" stroke="true" fill="norm" extrusionOk="true">
                    <a:moveTo>
                      <a:pt x="69" y="156"/>
                    </a:moveTo>
                    <a:cubicBezTo>
                      <a:pt x="30" y="151"/>
                      <a:pt x="0" y="118"/>
                      <a:pt x="0" y="78"/>
                    </a:cubicBezTo>
                    <a:cubicBezTo>
                      <a:pt x="0" y="76"/>
                      <a:pt x="0" y="74"/>
                      <a:pt x="0" y="72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9" y="0"/>
                      <a:pt x="69" y="0"/>
                      <a:pt x="69" y="0"/>
                    </a:cubicBezTo>
                    <a:lnTo>
                      <a:pt x="69" y="156"/>
                    </a:lnTo>
                    <a:close/>
                  </a:path>
                </a:pathLst>
              </a:custGeom>
              <a:solidFill>
                <a:srgbClr val="FAD9CA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56" id="56"/>
              <p:cNvSpPr/>
              <p:nvPr/>
            </p:nvSpPr>
            <p:spPr>
              <a:xfrm>
                <a:off x="8879868" y="980132"/>
                <a:ext cx="1483608" cy="594192"/>
              </a:xfrm>
              <a:custGeom>
                <a:avLst/>
                <a:gdLst/>
                <a:ahLst/>
                <a:cxnLst/>
                <a:rect r="r" b="b" t="t" l="l"/>
                <a:pathLst>
                  <a:path w="168" h="67" stroke="true" fill="norm" extrusionOk="true">
                    <a:moveTo>
                      <a:pt x="168" y="43"/>
                    </a:moveTo>
                    <a:cubicBezTo>
                      <a:pt x="168" y="67"/>
                      <a:pt x="168" y="67"/>
                      <a:pt x="168" y="67"/>
                    </a:cubicBezTo>
                    <a:cubicBezTo>
                      <a:pt x="143" y="67"/>
                      <a:pt x="143" y="67"/>
                      <a:pt x="143" y="67"/>
                    </a:cubicBezTo>
                    <a:cubicBezTo>
                      <a:pt x="136" y="67"/>
                      <a:pt x="136" y="67"/>
                      <a:pt x="136" y="67"/>
                    </a:cubicBezTo>
                    <a:cubicBezTo>
                      <a:pt x="136" y="43"/>
                      <a:pt x="136" y="43"/>
                      <a:pt x="136" y="43"/>
                    </a:cubicBezTo>
                    <a:cubicBezTo>
                      <a:pt x="135" y="43"/>
                      <a:pt x="135" y="43"/>
                      <a:pt x="135" y="43"/>
                    </a:cubicBezTo>
                    <a:cubicBezTo>
                      <a:pt x="134" y="54"/>
                      <a:pt x="128" y="63"/>
                      <a:pt x="119" y="66"/>
                    </a:cubicBezTo>
                    <a:cubicBezTo>
                      <a:pt x="116" y="67"/>
                      <a:pt x="113" y="67"/>
                      <a:pt x="110" y="67"/>
                    </a:cubicBezTo>
                    <a:cubicBezTo>
                      <a:pt x="110" y="67"/>
                      <a:pt x="109" y="67"/>
                      <a:pt x="109" y="67"/>
                    </a:cubicBezTo>
                    <a:cubicBezTo>
                      <a:pt x="107" y="67"/>
                      <a:pt x="107" y="67"/>
                      <a:pt x="107" y="67"/>
                    </a:cubicBezTo>
                    <a:cubicBezTo>
                      <a:pt x="107" y="67"/>
                      <a:pt x="107" y="67"/>
                      <a:pt x="107" y="67"/>
                    </a:cubicBezTo>
                    <a:cubicBezTo>
                      <a:pt x="88" y="67"/>
                      <a:pt x="88" y="67"/>
                      <a:pt x="88" y="67"/>
                    </a:cubicBezTo>
                    <a:cubicBezTo>
                      <a:pt x="88" y="67"/>
                      <a:pt x="88" y="67"/>
                      <a:pt x="88" y="67"/>
                    </a:cubicBezTo>
                    <a:cubicBezTo>
                      <a:pt x="88" y="67"/>
                      <a:pt x="88" y="67"/>
                      <a:pt x="88" y="67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11" y="67"/>
                      <a:pt x="0" y="56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116" y="0"/>
                      <a:pt x="116" y="0"/>
                      <a:pt x="116" y="0"/>
                    </a:cubicBezTo>
                    <a:cubicBezTo>
                      <a:pt x="116" y="0"/>
                      <a:pt x="116" y="0"/>
                      <a:pt x="116" y="0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48" y="0"/>
                      <a:pt x="167" y="18"/>
                      <a:pt x="168" y="41"/>
                    </a:cubicBezTo>
                    <a:cubicBezTo>
                      <a:pt x="168" y="43"/>
                      <a:pt x="168" y="43"/>
                      <a:pt x="168" y="43"/>
                    </a:cubicBezTo>
                    <a:close/>
                  </a:path>
                </a:pathLst>
              </a:custGeom>
              <a:solidFill>
                <a:srgbClr val="755243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57" id="57"/>
              <p:cNvSpPr/>
              <p:nvPr/>
            </p:nvSpPr>
            <p:spPr>
              <a:xfrm>
                <a:off x="8879868" y="980132"/>
                <a:ext cx="691355" cy="594192"/>
              </a:xfrm>
              <a:custGeom>
                <a:avLst/>
                <a:gdLst/>
                <a:ahLst/>
                <a:cxnLst/>
                <a:rect r="r" b="b" t="t" l="l"/>
                <a:pathLst>
                  <a:path w="78" h="67" stroke="true" fill="norm" extrusionOk="true">
                    <a:moveTo>
                      <a:pt x="78" y="67"/>
                    </a:moveTo>
                    <a:cubicBezTo>
                      <a:pt x="24" y="67"/>
                      <a:pt x="24" y="67"/>
                      <a:pt x="24" y="67"/>
                    </a:cubicBezTo>
                    <a:cubicBezTo>
                      <a:pt x="11" y="67"/>
                      <a:pt x="0" y="56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8" y="0"/>
                      <a:pt x="78" y="0"/>
                      <a:pt x="78" y="0"/>
                    </a:cubicBezTo>
                    <a:lnTo>
                      <a:pt x="78" y="67"/>
                    </a:lnTo>
                    <a:close/>
                  </a:path>
                </a:pathLst>
              </a:custGeom>
              <a:solidFill>
                <a:srgbClr val="8A6250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58" id="58"/>
              <p:cNvSpPr/>
              <p:nvPr/>
            </p:nvSpPr>
            <p:spPr>
              <a:xfrm>
                <a:off x="10071984" y="995806"/>
                <a:ext cx="284015" cy="866996"/>
              </a:xfrm>
              <a:custGeom>
                <a:avLst/>
                <a:gdLst/>
                <a:ahLst/>
                <a:cxnLst/>
                <a:rect r="r" b="b" t="t" l="l"/>
                <a:pathLst>
                  <a:path w="32" h="98" stroke="true" fill="norm" extrusionOk="true">
                    <a:moveTo>
                      <a:pt x="2" y="0"/>
                    </a:moveTo>
                    <a:cubicBezTo>
                      <a:pt x="0" y="3"/>
                      <a:pt x="1" y="9"/>
                      <a:pt x="1" y="16"/>
                    </a:cubicBezTo>
                    <a:cubicBezTo>
                      <a:pt x="1" y="80"/>
                      <a:pt x="1" y="80"/>
                      <a:pt x="1" y="80"/>
                    </a:cubicBezTo>
                    <a:cubicBezTo>
                      <a:pt x="1" y="90"/>
                      <a:pt x="8" y="98"/>
                      <a:pt x="17" y="98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7" y="98"/>
                      <a:pt x="18" y="98"/>
                      <a:pt x="18" y="98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2" y="82"/>
                      <a:pt x="32" y="82"/>
                      <a:pt x="32" y="82"/>
                    </a:cubicBezTo>
                    <a:cubicBezTo>
                      <a:pt x="32" y="81"/>
                      <a:pt x="32" y="81"/>
                      <a:pt x="32" y="80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0" y="19"/>
                      <a:pt x="18" y="5"/>
                      <a:pt x="2" y="0"/>
                    </a:cubicBezTo>
                    <a:close/>
                  </a:path>
                </a:pathLst>
              </a:custGeom>
              <a:solidFill>
                <a:srgbClr val="755243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59" id="59"/>
              <p:cNvSpPr/>
              <p:nvPr/>
            </p:nvSpPr>
            <p:spPr>
              <a:xfrm>
                <a:off x="8704226" y="3532534"/>
                <a:ext cx="467132" cy="396126"/>
              </a:xfrm>
              <a:custGeom>
                <a:avLst/>
                <a:gdLst/>
                <a:ahLst/>
                <a:cxnLst/>
                <a:rect r="r" b="b" t="t" l="l"/>
                <a:pathLst>
                  <a:path w="53" h="45" stroke="true" fill="norm" extrusionOk="true">
                    <a:moveTo>
                      <a:pt x="53" y="25"/>
                    </a:moveTo>
                    <a:cubicBezTo>
                      <a:pt x="39" y="40"/>
                      <a:pt x="39" y="40"/>
                      <a:pt x="39" y="40"/>
                    </a:cubicBezTo>
                    <a:cubicBezTo>
                      <a:pt x="36" y="43"/>
                      <a:pt x="32" y="44"/>
                      <a:pt x="28" y="44"/>
                    </a:cubicBezTo>
                    <a:cubicBezTo>
                      <a:pt x="23" y="45"/>
                      <a:pt x="20" y="44"/>
                      <a:pt x="16" y="41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25" y="0"/>
                      <a:pt x="25" y="0"/>
                      <a:pt x="25" y="0"/>
                    </a:cubicBezTo>
                    <a:lnTo>
                      <a:pt x="53" y="25"/>
                    </a:lnTo>
                    <a:close/>
                  </a:path>
                </a:pathLst>
              </a:custGeom>
              <a:solidFill>
                <a:srgbClr val="484848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60" id="60"/>
              <p:cNvSpPr/>
              <p:nvPr/>
            </p:nvSpPr>
            <p:spPr>
              <a:xfrm>
                <a:off x="10213992" y="3353157"/>
                <a:ext cx="336334" cy="1020215"/>
              </a:xfrm>
              <a:custGeom>
                <a:avLst/>
                <a:gdLst/>
                <a:ahLst/>
                <a:cxnLst/>
                <a:rect r="r" b="b" t="t" l="l"/>
                <a:pathLst>
                  <a:path w="38" h="115" stroke="true" fill="norm" extrusionOk="true">
                    <a:moveTo>
                      <a:pt x="38" y="20"/>
                    </a:moveTo>
                    <a:cubicBezTo>
                      <a:pt x="38" y="96"/>
                      <a:pt x="38" y="96"/>
                      <a:pt x="38" y="96"/>
                    </a:cubicBezTo>
                    <a:cubicBezTo>
                      <a:pt x="38" y="106"/>
                      <a:pt x="30" y="115"/>
                      <a:pt x="19" y="115"/>
                    </a:cubicBezTo>
                    <a:cubicBezTo>
                      <a:pt x="19" y="115"/>
                      <a:pt x="19" y="115"/>
                      <a:pt x="19" y="115"/>
                    </a:cubicBezTo>
                    <a:cubicBezTo>
                      <a:pt x="9" y="115"/>
                      <a:pt x="0" y="106"/>
                      <a:pt x="0" y="9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lnTo>
                      <a:pt x="38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61" id="61"/>
              <p:cNvSpPr/>
              <p:nvPr/>
            </p:nvSpPr>
            <p:spPr>
              <a:xfrm>
                <a:off x="9552536" y="2673013"/>
                <a:ext cx="201800" cy="213014"/>
              </a:xfrm>
              <a:custGeom>
                <a:avLst/>
                <a:gdLst/>
                <a:ahLst/>
                <a:cxnLst/>
                <a:rect r="r" b="b" t="t" l="l"/>
                <a:pathLst>
                  <a:path w="54" h="57" stroke="true" fill="norm" extrusionOk="true">
                    <a:moveTo>
                      <a:pt x="0" y="14"/>
                    </a:moveTo>
                    <a:lnTo>
                      <a:pt x="28" y="57"/>
                    </a:lnTo>
                    <a:lnTo>
                      <a:pt x="54" y="14"/>
                    </a:lnTo>
                    <a:lnTo>
                      <a:pt x="28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B0B0B0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62" id="62"/>
              <p:cNvSpPr/>
              <p:nvPr/>
            </p:nvSpPr>
            <p:spPr>
              <a:xfrm>
                <a:off x="9552536" y="2673013"/>
                <a:ext cx="89689" cy="194325"/>
              </a:xfrm>
              <a:custGeom>
                <a:avLst/>
                <a:gdLst/>
                <a:ahLst/>
                <a:cxnLst/>
                <a:rect r="r" b="b" t="t" l="l"/>
                <a:pathLst>
                  <a:path w="24" h="52" stroke="true" fill="norm" extrusionOk="true">
                    <a:moveTo>
                      <a:pt x="0" y="14"/>
                    </a:moveTo>
                    <a:lnTo>
                      <a:pt x="24" y="52"/>
                    </a:lnTo>
                    <a:lnTo>
                      <a:pt x="24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63" id="63"/>
              <p:cNvSpPr/>
              <p:nvPr/>
            </p:nvSpPr>
            <p:spPr>
              <a:xfrm>
                <a:off x="9313365" y="2557166"/>
                <a:ext cx="336334" cy="239172"/>
              </a:xfrm>
              <a:custGeom>
                <a:avLst/>
                <a:gdLst/>
                <a:ahLst/>
                <a:cxnLst/>
                <a:rect r="r" b="b" t="t" l="l"/>
                <a:pathLst>
                  <a:path w="90" h="64" stroke="true" fill="norm" extrusionOk="true">
                    <a:moveTo>
                      <a:pt x="33" y="0"/>
                    </a:moveTo>
                    <a:lnTo>
                      <a:pt x="0" y="0"/>
                    </a:lnTo>
                    <a:lnTo>
                      <a:pt x="35" y="64"/>
                    </a:lnTo>
                    <a:lnTo>
                      <a:pt x="90" y="31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64" id="64"/>
              <p:cNvSpPr/>
              <p:nvPr/>
            </p:nvSpPr>
            <p:spPr>
              <a:xfrm>
                <a:off x="9657174" y="2557166"/>
                <a:ext cx="336334" cy="239172"/>
              </a:xfrm>
              <a:custGeom>
                <a:avLst/>
                <a:gdLst/>
                <a:ahLst/>
                <a:cxnLst/>
                <a:rect r="r" b="b" t="t" l="l"/>
                <a:pathLst>
                  <a:path w="90" h="64" stroke="true" fill="norm" extrusionOk="true">
                    <a:moveTo>
                      <a:pt x="57" y="0"/>
                    </a:moveTo>
                    <a:lnTo>
                      <a:pt x="90" y="0"/>
                    </a:lnTo>
                    <a:lnTo>
                      <a:pt x="55" y="64"/>
                    </a:lnTo>
                    <a:lnTo>
                      <a:pt x="0" y="3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65" id="65"/>
              <p:cNvSpPr/>
              <p:nvPr/>
            </p:nvSpPr>
            <p:spPr>
              <a:xfrm>
                <a:off x="9571220" y="2785126"/>
                <a:ext cx="168168" cy="411075"/>
              </a:xfrm>
              <a:custGeom>
                <a:avLst/>
                <a:gdLst/>
                <a:ahLst/>
                <a:cxnLst/>
                <a:rect r="r" b="b" t="t" l="l"/>
                <a:pathLst>
                  <a:path w="45" h="110" stroke="true" fill="norm" extrusionOk="true">
                    <a:moveTo>
                      <a:pt x="0" y="67"/>
                    </a:moveTo>
                    <a:lnTo>
                      <a:pt x="23" y="0"/>
                    </a:lnTo>
                    <a:lnTo>
                      <a:pt x="45" y="69"/>
                    </a:lnTo>
                    <a:lnTo>
                      <a:pt x="23" y="110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B0B0B0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66" id="66"/>
              <p:cNvSpPr/>
              <p:nvPr/>
            </p:nvSpPr>
            <p:spPr>
              <a:xfrm>
                <a:off x="9571220" y="2815022"/>
                <a:ext cx="78479" cy="362494"/>
              </a:xfrm>
              <a:custGeom>
                <a:avLst/>
                <a:gdLst/>
                <a:ahLst/>
                <a:cxnLst/>
                <a:rect r="r" b="b" t="t" l="l"/>
                <a:pathLst>
                  <a:path w="21" h="97" stroke="true" fill="norm" extrusionOk="true">
                    <a:moveTo>
                      <a:pt x="0" y="59"/>
                    </a:moveTo>
                    <a:lnTo>
                      <a:pt x="21" y="0"/>
                    </a:lnTo>
                    <a:lnTo>
                      <a:pt x="21" y="97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67" id="67"/>
              <p:cNvSpPr/>
              <p:nvPr/>
            </p:nvSpPr>
            <p:spPr>
              <a:xfrm>
                <a:off x="9190042" y="2564640"/>
                <a:ext cx="467132" cy="949210"/>
              </a:xfrm>
              <a:custGeom>
                <a:avLst/>
                <a:gdLst/>
                <a:ahLst/>
                <a:cxnLst/>
                <a:rect r="r" b="b" t="t" l="l"/>
                <a:pathLst>
                  <a:path w="125" h="254" stroke="true" fill="norm" extrusionOk="true">
                    <a:moveTo>
                      <a:pt x="33" y="0"/>
                    </a:moveTo>
                    <a:lnTo>
                      <a:pt x="0" y="83"/>
                    </a:lnTo>
                    <a:lnTo>
                      <a:pt x="54" y="81"/>
                    </a:lnTo>
                    <a:lnTo>
                      <a:pt x="12" y="128"/>
                    </a:lnTo>
                    <a:lnTo>
                      <a:pt x="123" y="254"/>
                    </a:lnTo>
                    <a:lnTo>
                      <a:pt x="125" y="169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5E5E5E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68" id="68"/>
              <p:cNvSpPr/>
              <p:nvPr/>
            </p:nvSpPr>
            <p:spPr>
              <a:xfrm>
                <a:off x="9649700" y="2564640"/>
                <a:ext cx="467132" cy="949210"/>
              </a:xfrm>
              <a:custGeom>
                <a:avLst/>
                <a:gdLst/>
                <a:ahLst/>
                <a:cxnLst/>
                <a:rect r="r" b="b" t="t" l="l"/>
                <a:pathLst>
                  <a:path w="125" h="254" stroke="true" fill="norm" extrusionOk="true">
                    <a:moveTo>
                      <a:pt x="92" y="0"/>
                    </a:moveTo>
                    <a:lnTo>
                      <a:pt x="125" y="83"/>
                    </a:lnTo>
                    <a:lnTo>
                      <a:pt x="71" y="81"/>
                    </a:lnTo>
                    <a:lnTo>
                      <a:pt x="113" y="128"/>
                    </a:lnTo>
                    <a:lnTo>
                      <a:pt x="0" y="254"/>
                    </a:lnTo>
                    <a:lnTo>
                      <a:pt x="0" y="169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4C4C4C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69" id="69"/>
              <p:cNvSpPr/>
              <p:nvPr/>
            </p:nvSpPr>
            <p:spPr>
              <a:xfrm>
                <a:off x="8199726" y="3061667"/>
                <a:ext cx="369969" cy="373704"/>
              </a:xfrm>
              <a:custGeom>
                <a:avLst/>
                <a:gdLst/>
                <a:ahLst/>
                <a:cxnLst/>
                <a:rect r="r" b="b" t="t" l="l"/>
                <a:pathLst>
                  <a:path w="42" h="42" stroke="true" fill="norm" extrusionOk="true">
                    <a:moveTo>
                      <a:pt x="42" y="14"/>
                    </a:moveTo>
                    <a:cubicBezTo>
                      <a:pt x="34" y="7"/>
                      <a:pt x="34" y="7"/>
                      <a:pt x="34" y="7"/>
                    </a:cubicBezTo>
                    <a:cubicBezTo>
                      <a:pt x="27" y="0"/>
                      <a:pt x="14" y="0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0" y="16"/>
                      <a:pt x="1" y="28"/>
                      <a:pt x="8" y="35"/>
                    </a:cubicBezTo>
                    <a:cubicBezTo>
                      <a:pt x="17" y="42"/>
                      <a:pt x="17" y="42"/>
                      <a:pt x="17" y="42"/>
                    </a:cubicBezTo>
                    <a:lnTo>
                      <a:pt x="42" y="14"/>
                    </a:lnTo>
                    <a:close/>
                  </a:path>
                </a:pathLst>
              </a:custGeom>
              <a:solidFill>
                <a:srgbClr val="F7C2AB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70" id="70"/>
              <p:cNvSpPr/>
              <p:nvPr/>
            </p:nvSpPr>
            <p:spPr>
              <a:xfrm>
                <a:off x="8233358" y="2919658"/>
                <a:ext cx="257857" cy="239172"/>
              </a:xfrm>
              <a:custGeom>
                <a:avLst/>
                <a:gdLst/>
                <a:ahLst/>
                <a:cxnLst/>
                <a:rect r="r" b="b" t="t" l="l"/>
                <a:pathLst>
                  <a:path w="29" h="27" stroke="true" fill="norm" extrusionOk="true">
                    <a:moveTo>
                      <a:pt x="2" y="8"/>
                    </a:moveTo>
                    <a:cubicBezTo>
                      <a:pt x="0" y="7"/>
                      <a:pt x="0" y="4"/>
                      <a:pt x="1" y="2"/>
                    </a:cubicBezTo>
                    <a:cubicBezTo>
                      <a:pt x="2" y="1"/>
                      <a:pt x="5" y="0"/>
                      <a:pt x="7" y="2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8" y="21"/>
                      <a:pt x="29" y="23"/>
                      <a:pt x="27" y="25"/>
                    </a:cubicBezTo>
                    <a:cubicBezTo>
                      <a:pt x="26" y="27"/>
                      <a:pt x="23" y="27"/>
                      <a:pt x="22" y="26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rgbClr val="F7C2AB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71" id="71"/>
              <p:cNvSpPr/>
              <p:nvPr/>
            </p:nvSpPr>
            <p:spPr>
              <a:xfrm>
                <a:off x="8412736" y="2957031"/>
                <a:ext cx="168168" cy="254120"/>
              </a:xfrm>
              <a:custGeom>
                <a:avLst/>
                <a:gdLst/>
                <a:ahLst/>
                <a:cxnLst/>
                <a:rect r="r" b="b" t="t" l="l"/>
                <a:pathLst>
                  <a:path w="19" h="29" stroke="true" fill="norm" extrusionOk="true">
                    <a:moveTo>
                      <a:pt x="2" y="7"/>
                    </a:moveTo>
                    <a:cubicBezTo>
                      <a:pt x="0" y="2"/>
                      <a:pt x="7" y="0"/>
                      <a:pt x="9" y="4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5"/>
                      <a:pt x="18" y="27"/>
                      <a:pt x="16" y="28"/>
                    </a:cubicBezTo>
                    <a:cubicBezTo>
                      <a:pt x="14" y="29"/>
                      <a:pt x="11" y="28"/>
                      <a:pt x="11" y="26"/>
                    </a:cubicBezTo>
                    <a:cubicBezTo>
                      <a:pt x="7" y="15"/>
                      <a:pt x="7" y="15"/>
                      <a:pt x="7" y="15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rgbClr val="F7C2AB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72" id="72"/>
              <p:cNvSpPr/>
              <p:nvPr/>
            </p:nvSpPr>
            <p:spPr>
              <a:xfrm>
                <a:off x="10083197" y="4212677"/>
                <a:ext cx="627824" cy="302702"/>
              </a:xfrm>
              <a:custGeom>
                <a:avLst/>
                <a:gdLst/>
                <a:ahLst/>
                <a:cxnLst/>
                <a:rect r="r" b="b" t="t" l="l"/>
                <a:pathLst>
                  <a:path w="71" h="34" stroke="true" fill="norm" extrusionOk="true">
                    <a:moveTo>
                      <a:pt x="23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5" y="0"/>
                      <a:pt x="61" y="3"/>
                      <a:pt x="65" y="7"/>
                    </a:cubicBezTo>
                    <a:cubicBezTo>
                      <a:pt x="69" y="11"/>
                      <a:pt x="71" y="16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34"/>
                      <a:pt x="71" y="34"/>
                      <a:pt x="71" y="34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62" y="22"/>
                      <a:pt x="62" y="22"/>
                      <a:pt x="62" y="22"/>
                    </a:cubicBezTo>
                    <a:cubicBezTo>
                      <a:pt x="62" y="22"/>
                      <a:pt x="62" y="22"/>
                      <a:pt x="62" y="22"/>
                    </a:cubicBezTo>
                    <a:cubicBezTo>
                      <a:pt x="62" y="22"/>
                      <a:pt x="62" y="22"/>
                      <a:pt x="62" y="22"/>
                    </a:cubicBezTo>
                    <a:cubicBezTo>
                      <a:pt x="62" y="19"/>
                      <a:pt x="60" y="16"/>
                      <a:pt x="58" y="14"/>
                    </a:cubicBezTo>
                    <a:cubicBezTo>
                      <a:pt x="56" y="11"/>
                      <a:pt x="53" y="10"/>
                      <a:pt x="49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19" y="10"/>
                      <a:pt x="16" y="11"/>
                      <a:pt x="14" y="14"/>
                    </a:cubicBezTo>
                    <a:cubicBezTo>
                      <a:pt x="11" y="16"/>
                      <a:pt x="10" y="19"/>
                      <a:pt x="10" y="22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6"/>
                      <a:pt x="3" y="11"/>
                      <a:pt x="7" y="7"/>
                    </a:cubicBezTo>
                    <a:cubicBezTo>
                      <a:pt x="11" y="3"/>
                      <a:pt x="17" y="1"/>
                      <a:pt x="23" y="0"/>
                    </a:cubicBezTo>
                    <a:cubicBezTo>
                      <a:pt x="23" y="0"/>
                      <a:pt x="23" y="0"/>
                      <a:pt x="23" y="0"/>
                    </a:cubicBezTo>
                    <a:close/>
                  </a:path>
                </a:pathLst>
              </a:custGeom>
              <a:solidFill>
                <a:srgbClr val="7C7A79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AutoShape 73" id="73"/>
              <p:cNvSpPr/>
              <p:nvPr/>
            </p:nvSpPr>
            <p:spPr>
              <a:xfrm>
                <a:off x="9739389" y="4470534"/>
                <a:ext cx="1322914" cy="982844"/>
              </a:xfrm>
              <a:prstGeom prst="rect">
                <a:avLst/>
              </a:prstGeom>
              <a:solidFill>
                <a:srgbClr val="242424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74" id="74"/>
              <p:cNvSpPr/>
              <p:nvPr/>
            </p:nvSpPr>
            <p:spPr>
              <a:xfrm>
                <a:off x="9739389" y="4515379"/>
                <a:ext cx="1322914" cy="646510"/>
              </a:xfrm>
              <a:custGeom>
                <a:avLst/>
                <a:gdLst/>
                <a:ahLst/>
                <a:cxnLst/>
                <a:rect r="r" b="b" t="t" l="l"/>
                <a:pathLst>
                  <a:path w="354" h="173" stroke="true" fill="norm" extrusionOk="true">
                    <a:moveTo>
                      <a:pt x="354" y="0"/>
                    </a:moveTo>
                    <a:lnTo>
                      <a:pt x="354" y="133"/>
                    </a:lnTo>
                    <a:lnTo>
                      <a:pt x="182" y="173"/>
                    </a:lnTo>
                    <a:lnTo>
                      <a:pt x="0" y="133"/>
                    </a:lnTo>
                    <a:lnTo>
                      <a:pt x="0" y="0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rgbClr val="420B26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75" id="75"/>
              <p:cNvSpPr/>
              <p:nvPr/>
            </p:nvSpPr>
            <p:spPr>
              <a:xfrm>
                <a:off x="9702018" y="4451848"/>
                <a:ext cx="1397655" cy="683881"/>
              </a:xfrm>
              <a:custGeom>
                <a:avLst/>
                <a:gdLst/>
                <a:ahLst/>
                <a:cxnLst/>
                <a:rect r="r" b="b" t="t" l="l"/>
                <a:pathLst>
                  <a:path w="374" h="183" stroke="true" fill="norm" extrusionOk="true">
                    <a:moveTo>
                      <a:pt x="0" y="0"/>
                    </a:moveTo>
                    <a:lnTo>
                      <a:pt x="374" y="0"/>
                    </a:lnTo>
                    <a:lnTo>
                      <a:pt x="374" y="140"/>
                    </a:lnTo>
                    <a:lnTo>
                      <a:pt x="194" y="183"/>
                    </a:lnTo>
                    <a:lnTo>
                      <a:pt x="0" y="1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4C4C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AutoShape 76" id="76"/>
              <p:cNvSpPr/>
              <p:nvPr/>
            </p:nvSpPr>
            <p:spPr>
              <a:xfrm>
                <a:off x="10348526" y="5038564"/>
                <a:ext cx="149482" cy="1494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AutoShape 77" id="77"/>
              <p:cNvSpPr/>
              <p:nvPr/>
            </p:nvSpPr>
            <p:spPr>
              <a:xfrm>
                <a:off x="10348526" y="5038564"/>
                <a:ext cx="78479" cy="14948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Freeform 78" id="78"/>
              <p:cNvSpPr/>
              <p:nvPr/>
            </p:nvSpPr>
            <p:spPr>
              <a:xfrm>
                <a:off x="10206520" y="4089356"/>
                <a:ext cx="362495" cy="291490"/>
              </a:xfrm>
              <a:custGeom>
                <a:avLst/>
                <a:gdLst/>
                <a:ahLst/>
                <a:cxnLst/>
                <a:rect r="r" b="b" t="t" l="l"/>
                <a:pathLst>
                  <a:path w="41" h="33" stroke="true" fill="norm" extrusionOk="true">
                    <a:moveTo>
                      <a:pt x="40" y="0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22"/>
                      <a:pt x="32" y="31"/>
                      <a:pt x="21" y="32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11" y="33"/>
                      <a:pt x="1" y="24"/>
                      <a:pt x="1" y="14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F7C2AB"/>
              </a:solidFill>
              <a:ln>
                <a:noFill/>
              </a:ln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</p:grpSp>
      </p:grpSp>
      <p:sp>
        <p:nvSpPr>
          <p:cNvPr name="AutoShape 79" id="7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89366" y="2185100"/>
            <a:ext cx="2959100" cy="39300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8268934" y="2185100"/>
            <a:ext cx="2959100" cy="39300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076857" y="3794224"/>
            <a:ext cx="2795231" cy="19986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树的存储结构包括双亲表示法、孩子表示法和孩子兄弟表示法。双亲表示法用一个数组存储节点，每个节点增加一个指示其双亲位置的域。孩子兄弟表示法以二叉链表作为树的存储结构，左指针指向第一个孩子，右指针指向下一个兄弟。树的遍历分为先根遍历和后根遍历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000478" y="3373790"/>
            <a:ext cx="2971800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树的存储结构与遍历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8369125" y="3794225"/>
            <a:ext cx="2795231" cy="19986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将森林中的每棵树视为兄弟关系，采用孩子兄弟表示法可将森林转化为一棵二叉树。转化规则是：将每棵树的根节点相连作为兄弟，然后将树中的孩子关系保持不变。二叉树恢复为森林的过程是逆过程。这种转换使得二叉树的算法可以方便地应用于森林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292746" y="3373791"/>
            <a:ext cx="2971800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森林与二叉树的转换</a:t>
            </a:r>
            <a:endParaRPr lang="en-US" sz="1100"/>
          </a:p>
        </p:txBody>
      </p:sp>
      <p:pic>
        <p:nvPicPr>
          <p:cNvPr name="image16.png" id="8"/>
          <p:cNvPicPr>
            <a:picLocks noChangeAspect="true"/>
          </p:cNvPicPr>
          <p:nvPr/>
        </p:nvPicPr>
        <p:blipFill>
          <a:blip r:embed="rId2">
            <a:biLevel thresh="75000"/>
          </a:blip>
          <a:stretch>
            <a:fillRect t="0" l="0" b="0" r="0"/>
          </a:stretch>
        </p:blipFill>
        <p:spPr>
          <a:xfrm>
            <a:off x="1173804" y="2415802"/>
            <a:ext cx="632775" cy="632775"/>
          </a:xfrm>
          <a:prstGeom prst="rect">
            <a:avLst/>
          </a:prstGeom>
        </p:spPr>
      </p:pic>
      <p:pic>
        <p:nvPicPr>
          <p:cNvPr name="image17.png" id="9"/>
          <p:cNvPicPr>
            <a:picLocks noChangeAspect="true"/>
          </p:cNvPicPr>
          <p:nvPr/>
        </p:nvPicPr>
        <p:blipFill>
          <a:blip r:embed="rId3">
            <a:biLevel thresh="75000"/>
          </a:blip>
          <a:stretch>
            <a:fillRect t="0" l="0" b="0" r="0"/>
          </a:stretch>
        </p:blipFill>
        <p:spPr>
          <a:xfrm>
            <a:off x="8448912" y="2482623"/>
            <a:ext cx="568951" cy="568951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>
            <a:off x="1143635" y="671665"/>
            <a:ext cx="9904730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树与森林的转换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2731"/>
            </a:avLst>
          </a:prstGeom>
          <a:solidFill>
            <a:srgbClr val="005032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18.jpeg" id="12"/>
          <p:cNvPicPr>
            <a:picLocks noChangeAspect="true"/>
          </p:cNvPicPr>
          <p:nvPr/>
        </p:nvPicPr>
        <p:blipFill>
          <a:blip r:embed="rId4"/>
          <a:srcRect l="10295" r="10295"/>
          <a:stretch>
            <a:fillRect/>
          </a:stretch>
        </p:blipFill>
        <p:spPr>
          <a:xfrm>
            <a:off x="5044995" y="2038529"/>
            <a:ext cx="2131497" cy="4048330"/>
          </a:xfrm>
          <a:prstGeom prst="roundRect">
            <a:avLst/>
          </a:prstGeom>
        </p:spPr>
      </p:pic>
      <p:pic>
        <p:nvPicPr>
          <p:cNvPr name="image19.png" id="13"/>
          <p:cNvPicPr>
            <a:picLocks noChangeAspect="true"/>
          </p:cNvPicPr>
          <p:nvPr/>
        </p:nvPicPr>
        <p:blipFill>
          <a:blip r:embed="rId5"/>
          <a:stretch>
            <a:fillRect t="0" l="0" b="0" r="0"/>
          </a:stretch>
        </p:blipFill>
        <p:spPr>
          <a:xfrm>
            <a:off x="5023457" y="1985687"/>
            <a:ext cx="2207180" cy="4129444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>
            <a:off x="989366" y="1597353"/>
            <a:ext cx="153078" cy="15307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1185459" y="1594631"/>
            <a:ext cx="153078" cy="153078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6" id="16"/>
          <p:cNvSpPr/>
          <p:nvPr/>
        </p:nvSpPr>
        <p:spPr>
          <a:xfrm>
            <a:off x="1381552" y="1594631"/>
            <a:ext cx="153078" cy="15307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7" id="17"/>
          <p:cNvSpPr/>
          <p:nvPr/>
        </p:nvSpPr>
        <p:spPr>
          <a:xfrm>
            <a:off x="1577645" y="1594631"/>
            <a:ext cx="153078" cy="15307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8" id="18"/>
          <p:cNvSpPr/>
          <p:nvPr/>
        </p:nvSpPr>
        <p:spPr>
          <a:xfrm>
            <a:off x="10422999" y="1594631"/>
            <a:ext cx="153078" cy="15307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9" id="19"/>
          <p:cNvSpPr/>
          <p:nvPr/>
        </p:nvSpPr>
        <p:spPr>
          <a:xfrm>
            <a:off x="10619092" y="1591909"/>
            <a:ext cx="153078" cy="153078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0" id="20"/>
          <p:cNvSpPr/>
          <p:nvPr/>
        </p:nvSpPr>
        <p:spPr>
          <a:xfrm>
            <a:off x="10815185" y="1591909"/>
            <a:ext cx="153078" cy="15307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1" id="21"/>
          <p:cNvSpPr/>
          <p:nvPr/>
        </p:nvSpPr>
        <p:spPr>
          <a:xfrm>
            <a:off x="11011278" y="1591909"/>
            <a:ext cx="153078" cy="15307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2" id="2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图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05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图的定义与基本术语</a:t>
            </a:r>
          </a:p>
        </p:txBody>
      </p:sp>
      <p:sp>
        <p:nvSpPr>
          <p:cNvPr name="Freeform 3" id="3"/>
          <p:cNvSpPr/>
          <p:nvPr/>
        </p:nvSpPr>
        <p:spPr>
          <a:xfrm>
            <a:off x="10756456" y="5153682"/>
            <a:ext cx="306387" cy="247432"/>
          </a:xfrm>
          <a:custGeom>
            <a:avLst/>
            <a:gdLst/>
            <a:ahLst/>
            <a:cxnLst/>
            <a:rect r="r" b="b" t="t" l="l"/>
            <a:pathLst>
              <a:path w="160" h="128" stroke="true" fill="norm" extrusionOk="true">
                <a:moveTo>
                  <a:pt x="159" y="66"/>
                </a:moveTo>
                <a:cubicBezTo>
                  <a:pt x="98" y="127"/>
                  <a:pt x="98" y="127"/>
                  <a:pt x="98" y="127"/>
                </a:cubicBezTo>
                <a:cubicBezTo>
                  <a:pt x="97" y="128"/>
                  <a:pt x="97" y="128"/>
                  <a:pt x="96" y="128"/>
                </a:cubicBezTo>
                <a:cubicBezTo>
                  <a:pt x="95" y="128"/>
                  <a:pt x="95" y="128"/>
                  <a:pt x="94" y="127"/>
                </a:cubicBezTo>
                <a:cubicBezTo>
                  <a:pt x="93" y="126"/>
                  <a:pt x="93" y="125"/>
                  <a:pt x="94" y="124"/>
                </a:cubicBezTo>
                <a:cubicBezTo>
                  <a:pt x="152" y="66"/>
                  <a:pt x="152" y="66"/>
                  <a:pt x="152" y="66"/>
                </a:cubicBezTo>
                <a:cubicBezTo>
                  <a:pt x="2" y="66"/>
                  <a:pt x="2" y="66"/>
                  <a:pt x="2" y="66"/>
                </a:cubicBezTo>
                <a:cubicBezTo>
                  <a:pt x="1" y="66"/>
                  <a:pt x="0" y="65"/>
                  <a:pt x="0" y="64"/>
                </a:cubicBezTo>
                <a:cubicBezTo>
                  <a:pt x="0" y="63"/>
                  <a:pt x="1" y="61"/>
                  <a:pt x="2" y="61"/>
                </a:cubicBezTo>
                <a:cubicBezTo>
                  <a:pt x="152" y="61"/>
                  <a:pt x="152" y="61"/>
                  <a:pt x="152" y="61"/>
                </a:cubicBezTo>
                <a:cubicBezTo>
                  <a:pt x="94" y="4"/>
                  <a:pt x="94" y="4"/>
                  <a:pt x="94" y="4"/>
                </a:cubicBezTo>
                <a:cubicBezTo>
                  <a:pt x="93" y="3"/>
                  <a:pt x="93" y="2"/>
                  <a:pt x="94" y="1"/>
                </a:cubicBezTo>
                <a:cubicBezTo>
                  <a:pt x="95" y="0"/>
                  <a:pt x="97" y="0"/>
                  <a:pt x="98" y="1"/>
                </a:cubicBezTo>
                <a:cubicBezTo>
                  <a:pt x="159" y="62"/>
                  <a:pt x="159" y="62"/>
                  <a:pt x="159" y="62"/>
                </a:cubicBezTo>
                <a:cubicBezTo>
                  <a:pt x="159" y="62"/>
                  <a:pt x="160" y="62"/>
                  <a:pt x="160" y="63"/>
                </a:cubicBezTo>
                <a:cubicBezTo>
                  <a:pt x="160" y="63"/>
                  <a:pt x="160" y="63"/>
                  <a:pt x="160" y="63"/>
                </a:cubicBezTo>
                <a:cubicBezTo>
                  <a:pt x="160" y="63"/>
                  <a:pt x="160" y="63"/>
                  <a:pt x="160" y="63"/>
                </a:cubicBezTo>
                <a:cubicBezTo>
                  <a:pt x="160" y="64"/>
                  <a:pt x="160" y="64"/>
                  <a:pt x="160" y="64"/>
                </a:cubicBezTo>
                <a:cubicBezTo>
                  <a:pt x="160" y="65"/>
                  <a:pt x="160" y="65"/>
                  <a:pt x="159" y="6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Freeform 4" id="4"/>
          <p:cNvSpPr/>
          <p:nvPr/>
        </p:nvSpPr>
        <p:spPr>
          <a:xfrm flipH="true">
            <a:off x="6235957" y="1130300"/>
            <a:ext cx="5872878" cy="4800600"/>
          </a:xfrm>
          <a:custGeom>
            <a:avLst/>
            <a:gdLst/>
            <a:ahLst/>
            <a:cxnLst/>
            <a:rect r="r" b="b" t="t" l="l"/>
            <a:pathLst>
              <a:path w="5872878" h="4800600" stroke="true" fill="norm" extrusionOk="true">
                <a:moveTo>
                  <a:pt x="4899657" y="2725315"/>
                </a:moveTo>
                <a:cubicBezTo>
                  <a:pt x="4362162" y="2725315"/>
                  <a:pt x="3926436" y="3161041"/>
                  <a:pt x="3926436" y="3698536"/>
                </a:cubicBezTo>
                <a:cubicBezTo>
                  <a:pt x="3926436" y="4236031"/>
                  <a:pt x="4362162" y="4671757"/>
                  <a:pt x="4899657" y="4671757"/>
                </a:cubicBezTo>
                <a:cubicBezTo>
                  <a:pt x="5437152" y="4671757"/>
                  <a:pt x="5872878" y="4236031"/>
                  <a:pt x="5872878" y="3698536"/>
                </a:cubicBezTo>
                <a:cubicBezTo>
                  <a:pt x="5872878" y="3161041"/>
                  <a:pt x="5437152" y="2725315"/>
                  <a:pt x="4899657" y="2725315"/>
                </a:cubicBezTo>
                <a:close/>
                <a:moveTo>
                  <a:pt x="2400301" y="0"/>
                </a:moveTo>
                <a:cubicBezTo>
                  <a:pt x="1074651" y="0"/>
                  <a:pt x="0" y="1074651"/>
                  <a:pt x="0" y="2400300"/>
                </a:cubicBezTo>
                <a:cubicBezTo>
                  <a:pt x="0" y="3725949"/>
                  <a:pt x="1074651" y="4800600"/>
                  <a:pt x="2400301" y="4800600"/>
                </a:cubicBezTo>
                <a:cubicBezTo>
                  <a:pt x="2980273" y="4800600"/>
                  <a:pt x="3512202" y="4594905"/>
                  <a:pt x="3927115" y="4252488"/>
                </a:cubicBezTo>
                <a:lnTo>
                  <a:pt x="3943803" y="4237322"/>
                </a:lnTo>
                <a:lnTo>
                  <a:pt x="3884198" y="4127509"/>
                </a:lnTo>
                <a:cubicBezTo>
                  <a:pt x="3828431" y="3995660"/>
                  <a:pt x="3797593" y="3850699"/>
                  <a:pt x="3797593" y="3698536"/>
                </a:cubicBezTo>
                <a:cubicBezTo>
                  <a:pt x="3797593" y="3127924"/>
                  <a:pt x="4231255" y="2658599"/>
                  <a:pt x="4786977" y="2602162"/>
                </a:cubicBezTo>
                <a:lnTo>
                  <a:pt x="4790417" y="2601988"/>
                </a:lnTo>
                <a:lnTo>
                  <a:pt x="4800602" y="2400300"/>
                </a:lnTo>
                <a:cubicBezTo>
                  <a:pt x="4800602" y="1074651"/>
                  <a:pt x="3725951" y="0"/>
                  <a:pt x="2400301" y="0"/>
                </a:cubicBezTo>
                <a:close/>
              </a:path>
            </a:pathLst>
          </a:custGeom>
          <a:blipFill>
            <a:blip r:embed="rId2"/>
            <a:stretch>
              <a:fillRect t="62" l="-12999" b="-62" r="-13357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767655" y="3312819"/>
            <a:ext cx="4366089" cy="19011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由顶点的有穷非空集合和顶点之间边的集合组成。按边是否有方向，图分为有向图和无向图。完全图中每对顶点之间都有边，权是与边相关的数据。相关术语包括：度（与顶点相关联的边的数目）、入度（以顶点为终点的有向边的数目）、出度（以顶点为起点的有向边的数目）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767656" y="2637343"/>
            <a:ext cx="436608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6990113" y="1493703"/>
            <a:ext cx="4666080" cy="3870594"/>
            <a:chOff x="4517221" y="2682505"/>
            <a:chExt cx="7100888" cy="5891212"/>
          </a:xfrm>
        </p:grpSpPr>
        <p:sp>
          <p:nvSpPr>
            <p:cNvPr name="Freeform 3" id="3"/>
            <p:cNvSpPr/>
            <p:nvPr/>
          </p:nvSpPr>
          <p:spPr>
            <a:xfrm>
              <a:off x="4679146" y="2884117"/>
              <a:ext cx="6938963" cy="5689600"/>
            </a:xfrm>
            <a:custGeom>
              <a:avLst/>
              <a:gdLst/>
              <a:ahLst/>
              <a:cxnLst/>
              <a:rect r="r" b="b" t="t" l="l"/>
              <a:pathLst>
                <a:path w="1847" h="1514" stroke="true" fill="norm" extrusionOk="true">
                  <a:moveTo>
                    <a:pt x="1735" y="757"/>
                  </a:moveTo>
                  <a:cubicBezTo>
                    <a:pt x="1623" y="1175"/>
                    <a:pt x="1169" y="1514"/>
                    <a:pt x="721" y="1514"/>
                  </a:cubicBezTo>
                  <a:cubicBezTo>
                    <a:pt x="273" y="1514"/>
                    <a:pt x="0" y="1175"/>
                    <a:pt x="112" y="757"/>
                  </a:cubicBezTo>
                  <a:cubicBezTo>
                    <a:pt x="224" y="339"/>
                    <a:pt x="679" y="0"/>
                    <a:pt x="1127" y="0"/>
                  </a:cubicBezTo>
                  <a:cubicBezTo>
                    <a:pt x="1575" y="0"/>
                    <a:pt x="1847" y="339"/>
                    <a:pt x="1735" y="757"/>
                  </a:cubicBezTo>
                  <a:close/>
                </a:path>
              </a:pathLst>
            </a:custGeom>
            <a:solidFill>
              <a:srgbClr val="878787">
                <a:lumMod val="50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" id="4"/>
            <p:cNvSpPr/>
            <p:nvPr/>
          </p:nvSpPr>
          <p:spPr>
            <a:xfrm>
              <a:off x="4607708" y="2795217"/>
              <a:ext cx="6938963" cy="5689600"/>
            </a:xfrm>
            <a:custGeom>
              <a:avLst/>
              <a:gdLst/>
              <a:ahLst/>
              <a:cxnLst/>
              <a:rect r="r" b="b" t="t" l="l"/>
              <a:pathLst>
                <a:path w="1847" h="1514" stroke="true" fill="norm" extrusionOk="true">
                  <a:moveTo>
                    <a:pt x="1735" y="757"/>
                  </a:moveTo>
                  <a:cubicBezTo>
                    <a:pt x="1623" y="1175"/>
                    <a:pt x="1169" y="1514"/>
                    <a:pt x="721" y="1514"/>
                  </a:cubicBezTo>
                  <a:cubicBezTo>
                    <a:pt x="273" y="1514"/>
                    <a:pt x="0" y="1175"/>
                    <a:pt x="112" y="757"/>
                  </a:cubicBezTo>
                  <a:cubicBezTo>
                    <a:pt x="224" y="339"/>
                    <a:pt x="678" y="0"/>
                    <a:pt x="1126" y="0"/>
                  </a:cubicBezTo>
                  <a:cubicBezTo>
                    <a:pt x="1574" y="0"/>
                    <a:pt x="1847" y="339"/>
                    <a:pt x="1735" y="757"/>
                  </a:cubicBezTo>
                  <a:close/>
                </a:path>
              </a:pathLst>
            </a:custGeom>
            <a:solidFill>
              <a:srgbClr val="878787">
                <a:lumMod val="75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5" id="5"/>
            <p:cNvSpPr/>
            <p:nvPr/>
          </p:nvSpPr>
          <p:spPr>
            <a:xfrm>
              <a:off x="4517221" y="2682505"/>
              <a:ext cx="6938963" cy="5689600"/>
            </a:xfrm>
            <a:custGeom>
              <a:avLst/>
              <a:gdLst/>
              <a:ahLst/>
              <a:cxnLst/>
              <a:rect r="r" b="b" t="t" l="l"/>
              <a:pathLst>
                <a:path w="1847" h="1514" stroke="true" fill="norm" extrusionOk="true">
                  <a:moveTo>
                    <a:pt x="1735" y="757"/>
                  </a:moveTo>
                  <a:cubicBezTo>
                    <a:pt x="1623" y="1175"/>
                    <a:pt x="1169" y="1514"/>
                    <a:pt x="721" y="1514"/>
                  </a:cubicBezTo>
                  <a:cubicBezTo>
                    <a:pt x="273" y="1514"/>
                    <a:pt x="0" y="1175"/>
                    <a:pt x="112" y="757"/>
                  </a:cubicBezTo>
                  <a:cubicBezTo>
                    <a:pt x="224" y="339"/>
                    <a:pt x="678" y="0"/>
                    <a:pt x="1126" y="0"/>
                  </a:cubicBezTo>
                  <a:cubicBezTo>
                    <a:pt x="1574" y="0"/>
                    <a:pt x="1847" y="339"/>
                    <a:pt x="1735" y="757"/>
                  </a:cubicBezTo>
                  <a:close/>
                </a:path>
              </a:pathLst>
            </a:custGeom>
            <a:solidFill>
              <a:srgbClr val="878787">
                <a:lumMod val="50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6" id="6"/>
            <p:cNvSpPr/>
            <p:nvPr/>
          </p:nvSpPr>
          <p:spPr>
            <a:xfrm>
              <a:off x="5174446" y="3222255"/>
              <a:ext cx="5624513" cy="4611687"/>
            </a:xfrm>
            <a:custGeom>
              <a:avLst/>
              <a:gdLst/>
              <a:ahLst/>
              <a:cxnLst/>
              <a:rect r="r" b="b" t="t" l="l"/>
              <a:pathLst>
                <a:path w="1497" h="1227" stroke="true" fill="norm" extrusionOk="true">
                  <a:moveTo>
                    <a:pt x="1406" y="613"/>
                  </a:moveTo>
                  <a:cubicBezTo>
                    <a:pt x="1315" y="952"/>
                    <a:pt x="947" y="1227"/>
                    <a:pt x="584" y="1227"/>
                  </a:cubicBezTo>
                  <a:cubicBezTo>
                    <a:pt x="221" y="1227"/>
                    <a:pt x="0" y="952"/>
                    <a:pt x="91" y="613"/>
                  </a:cubicBezTo>
                  <a:cubicBezTo>
                    <a:pt x="182" y="274"/>
                    <a:pt x="550" y="0"/>
                    <a:pt x="913" y="0"/>
                  </a:cubicBezTo>
                  <a:cubicBezTo>
                    <a:pt x="1276" y="0"/>
                    <a:pt x="1497" y="274"/>
                    <a:pt x="1406" y="613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7" id="7"/>
            <p:cNvSpPr/>
            <p:nvPr/>
          </p:nvSpPr>
          <p:spPr>
            <a:xfrm>
              <a:off x="5542746" y="3523880"/>
              <a:ext cx="4887913" cy="4005262"/>
            </a:xfrm>
            <a:custGeom>
              <a:avLst/>
              <a:gdLst/>
              <a:ahLst/>
              <a:cxnLst/>
              <a:rect r="r" b="b" t="t" l="l"/>
              <a:pathLst>
                <a:path w="1301" h="1066" stroke="true" fill="norm" extrusionOk="true">
                  <a:moveTo>
                    <a:pt x="1222" y="533"/>
                  </a:moveTo>
                  <a:cubicBezTo>
                    <a:pt x="1143" y="828"/>
                    <a:pt x="823" y="1066"/>
                    <a:pt x="508" y="1066"/>
                  </a:cubicBezTo>
                  <a:cubicBezTo>
                    <a:pt x="192" y="1066"/>
                    <a:pt x="0" y="828"/>
                    <a:pt x="79" y="533"/>
                  </a:cubicBezTo>
                  <a:cubicBezTo>
                    <a:pt x="158" y="239"/>
                    <a:pt x="478" y="0"/>
                    <a:pt x="793" y="0"/>
                  </a:cubicBezTo>
                  <a:cubicBezTo>
                    <a:pt x="1109" y="0"/>
                    <a:pt x="1301" y="239"/>
                    <a:pt x="1222" y="533"/>
                  </a:cubicBezTo>
                  <a:close/>
                </a:path>
              </a:pathLst>
            </a:custGeom>
            <a:solidFill>
              <a:srgbClr val="878787">
                <a:lumMod val="50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8" id="8"/>
            <p:cNvSpPr/>
            <p:nvPr/>
          </p:nvSpPr>
          <p:spPr>
            <a:xfrm>
              <a:off x="6049159" y="3933455"/>
              <a:ext cx="3873500" cy="3186112"/>
            </a:xfrm>
            <a:custGeom>
              <a:avLst/>
              <a:gdLst/>
              <a:ahLst/>
              <a:cxnLst/>
              <a:rect r="r" b="b" t="t" l="l"/>
              <a:pathLst>
                <a:path w="1031" h="848" stroke="true" fill="norm" extrusionOk="true">
                  <a:moveTo>
                    <a:pt x="968" y="424"/>
                  </a:moveTo>
                  <a:cubicBezTo>
                    <a:pt x="905" y="658"/>
                    <a:pt x="652" y="848"/>
                    <a:pt x="402" y="848"/>
                  </a:cubicBezTo>
                  <a:cubicBezTo>
                    <a:pt x="152" y="848"/>
                    <a:pt x="0" y="658"/>
                    <a:pt x="63" y="424"/>
                  </a:cubicBezTo>
                  <a:cubicBezTo>
                    <a:pt x="126" y="190"/>
                    <a:pt x="379" y="0"/>
                    <a:pt x="629" y="0"/>
                  </a:cubicBezTo>
                  <a:cubicBezTo>
                    <a:pt x="879" y="0"/>
                    <a:pt x="1031" y="190"/>
                    <a:pt x="968" y="424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9" id="9"/>
            <p:cNvSpPr/>
            <p:nvPr/>
          </p:nvSpPr>
          <p:spPr>
            <a:xfrm>
              <a:off x="6466671" y="4268417"/>
              <a:ext cx="3040063" cy="2517775"/>
            </a:xfrm>
            <a:custGeom>
              <a:avLst/>
              <a:gdLst/>
              <a:ahLst/>
              <a:cxnLst/>
              <a:rect r="r" b="b" t="t" l="l"/>
              <a:pathLst>
                <a:path w="809" h="670" stroke="true" fill="norm" extrusionOk="true">
                  <a:moveTo>
                    <a:pt x="759" y="335"/>
                  </a:moveTo>
                  <a:cubicBezTo>
                    <a:pt x="710" y="520"/>
                    <a:pt x="511" y="670"/>
                    <a:pt x="315" y="670"/>
                  </a:cubicBezTo>
                  <a:cubicBezTo>
                    <a:pt x="119" y="670"/>
                    <a:pt x="0" y="520"/>
                    <a:pt x="50" y="335"/>
                  </a:cubicBezTo>
                  <a:cubicBezTo>
                    <a:pt x="99" y="150"/>
                    <a:pt x="298" y="0"/>
                    <a:pt x="494" y="0"/>
                  </a:cubicBezTo>
                  <a:cubicBezTo>
                    <a:pt x="690" y="0"/>
                    <a:pt x="809" y="150"/>
                    <a:pt x="759" y="335"/>
                  </a:cubicBezTo>
                  <a:close/>
                </a:path>
              </a:pathLst>
            </a:custGeom>
            <a:solidFill>
              <a:srgbClr val="878787">
                <a:lumMod val="50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0" id="10"/>
            <p:cNvSpPr/>
            <p:nvPr/>
          </p:nvSpPr>
          <p:spPr>
            <a:xfrm>
              <a:off x="6876246" y="4595442"/>
              <a:ext cx="2220913" cy="1863725"/>
            </a:xfrm>
            <a:custGeom>
              <a:avLst/>
              <a:gdLst/>
              <a:ahLst/>
              <a:cxnLst/>
              <a:rect r="r" b="b" t="t" l="l"/>
              <a:pathLst>
                <a:path w="591" h="496" stroke="true" fill="norm" extrusionOk="true">
                  <a:moveTo>
                    <a:pt x="555" y="248"/>
                  </a:moveTo>
                  <a:cubicBezTo>
                    <a:pt x="518" y="385"/>
                    <a:pt x="372" y="496"/>
                    <a:pt x="229" y="496"/>
                  </a:cubicBezTo>
                  <a:cubicBezTo>
                    <a:pt x="86" y="496"/>
                    <a:pt x="0" y="385"/>
                    <a:pt x="36" y="248"/>
                  </a:cubicBezTo>
                  <a:cubicBezTo>
                    <a:pt x="73" y="111"/>
                    <a:pt x="219" y="0"/>
                    <a:pt x="362" y="0"/>
                  </a:cubicBezTo>
                  <a:cubicBezTo>
                    <a:pt x="505" y="0"/>
                    <a:pt x="591" y="111"/>
                    <a:pt x="555" y="248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1" id="11"/>
            <p:cNvSpPr/>
            <p:nvPr/>
          </p:nvSpPr>
          <p:spPr>
            <a:xfrm>
              <a:off x="7454096" y="5090742"/>
              <a:ext cx="1068388" cy="876300"/>
            </a:xfrm>
            <a:custGeom>
              <a:avLst/>
              <a:gdLst/>
              <a:ahLst/>
              <a:cxnLst/>
              <a:rect r="r" b="b" t="t" l="l"/>
              <a:pathLst>
                <a:path w="284" h="233" stroke="true" fill="norm" extrusionOk="true">
                  <a:moveTo>
                    <a:pt x="266" y="116"/>
                  </a:moveTo>
                  <a:cubicBezTo>
                    <a:pt x="249" y="180"/>
                    <a:pt x="179" y="233"/>
                    <a:pt x="110" y="233"/>
                  </a:cubicBezTo>
                  <a:cubicBezTo>
                    <a:pt x="41" y="233"/>
                    <a:pt x="0" y="180"/>
                    <a:pt x="17" y="116"/>
                  </a:cubicBezTo>
                  <a:cubicBezTo>
                    <a:pt x="34" y="52"/>
                    <a:pt x="104" y="0"/>
                    <a:pt x="173" y="0"/>
                  </a:cubicBezTo>
                  <a:cubicBezTo>
                    <a:pt x="242" y="0"/>
                    <a:pt x="284" y="52"/>
                    <a:pt x="266" y="116"/>
                  </a:cubicBezTo>
                  <a:close/>
                </a:path>
              </a:pathLst>
            </a:custGeom>
            <a:solidFill>
              <a:srgbClr val="878787">
                <a:lumMod val="50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>
            <a:off x="8635302" y="777276"/>
            <a:ext cx="1466733" cy="1498290"/>
            <a:chOff x="6076950" y="2555876"/>
            <a:chExt cx="3076576" cy="3143249"/>
          </a:xfrm>
          <a:effectLst>
            <a:outerShdw algn="bl" blurRad="177800" dir="18900000" rotWithShape="false" sy="23000">
              <a:srgbClr val="000000">
                <a:alpha val="29000"/>
              </a:srgbClr>
            </a:outerShdw>
          </a:effectLst>
        </p:grpSpPr>
        <p:sp>
          <p:nvSpPr>
            <p:cNvPr name="Freeform 13" id="13"/>
            <p:cNvSpPr/>
            <p:nvPr/>
          </p:nvSpPr>
          <p:spPr>
            <a:xfrm>
              <a:off x="8840788" y="5375275"/>
              <a:ext cx="312738" cy="323850"/>
            </a:xfrm>
            <a:custGeom>
              <a:avLst/>
              <a:gdLst/>
              <a:ahLst/>
              <a:cxnLst/>
              <a:rect r="r" b="b" t="t" l="l"/>
              <a:pathLst>
                <a:path w="83" h="86" stroke="true" fill="norm" extrusionOk="true">
                  <a:moveTo>
                    <a:pt x="68" y="68"/>
                  </a:moveTo>
                  <a:cubicBezTo>
                    <a:pt x="59" y="57"/>
                    <a:pt x="46" y="44"/>
                    <a:pt x="34" y="30"/>
                  </a:cubicBezTo>
                  <a:cubicBezTo>
                    <a:pt x="28" y="23"/>
                    <a:pt x="22" y="16"/>
                    <a:pt x="16" y="10"/>
                  </a:cubicBezTo>
                  <a:cubicBezTo>
                    <a:pt x="13" y="6"/>
                    <a:pt x="9" y="3"/>
                    <a:pt x="6" y="0"/>
                  </a:cubicBezTo>
                  <a:cubicBezTo>
                    <a:pt x="5" y="2"/>
                    <a:pt x="4" y="4"/>
                    <a:pt x="3" y="5"/>
                  </a:cubicBezTo>
                  <a:cubicBezTo>
                    <a:pt x="2" y="7"/>
                    <a:pt x="1" y="9"/>
                    <a:pt x="0" y="11"/>
                  </a:cubicBezTo>
                  <a:cubicBezTo>
                    <a:pt x="3" y="14"/>
                    <a:pt x="6" y="18"/>
                    <a:pt x="9" y="21"/>
                  </a:cubicBezTo>
                  <a:cubicBezTo>
                    <a:pt x="15" y="27"/>
                    <a:pt x="22" y="33"/>
                    <a:pt x="29" y="39"/>
                  </a:cubicBezTo>
                  <a:cubicBezTo>
                    <a:pt x="42" y="51"/>
                    <a:pt x="56" y="63"/>
                    <a:pt x="66" y="72"/>
                  </a:cubicBezTo>
                  <a:cubicBezTo>
                    <a:pt x="76" y="81"/>
                    <a:pt x="83" y="86"/>
                    <a:pt x="83" y="86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3" y="85"/>
                    <a:pt x="77" y="78"/>
                    <a:pt x="68" y="68"/>
                  </a:cubicBez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4" id="14"/>
            <p:cNvSpPr/>
            <p:nvPr/>
          </p:nvSpPr>
          <p:spPr>
            <a:xfrm>
              <a:off x="8129588" y="4606925"/>
              <a:ext cx="782638" cy="903287"/>
            </a:xfrm>
            <a:custGeom>
              <a:avLst/>
              <a:gdLst/>
              <a:ahLst/>
              <a:cxnLst/>
              <a:rect r="r" b="b" t="t" l="l"/>
              <a:pathLst>
                <a:path w="208" h="240" stroke="true" fill="norm" extrusionOk="true">
                  <a:moveTo>
                    <a:pt x="204" y="156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6"/>
                    <a:pt x="48" y="30"/>
                    <a:pt x="35" y="53"/>
                  </a:cubicBezTo>
                  <a:cubicBezTo>
                    <a:pt x="22" y="75"/>
                    <a:pt x="7" y="89"/>
                    <a:pt x="0" y="84"/>
                  </a:cubicBezTo>
                  <a:cubicBezTo>
                    <a:pt x="156" y="240"/>
                    <a:pt x="156" y="240"/>
                    <a:pt x="156" y="240"/>
                  </a:cubicBezTo>
                  <a:cubicBezTo>
                    <a:pt x="156" y="240"/>
                    <a:pt x="173" y="237"/>
                    <a:pt x="189" y="215"/>
                  </a:cubicBezTo>
                  <a:cubicBezTo>
                    <a:pt x="190" y="213"/>
                    <a:pt x="191" y="211"/>
                    <a:pt x="192" y="209"/>
                  </a:cubicBezTo>
                  <a:cubicBezTo>
                    <a:pt x="193" y="208"/>
                    <a:pt x="194" y="206"/>
                    <a:pt x="195" y="204"/>
                  </a:cubicBezTo>
                  <a:cubicBezTo>
                    <a:pt x="208" y="179"/>
                    <a:pt x="204" y="156"/>
                    <a:pt x="204" y="156"/>
                  </a:cubicBezTo>
                  <a:close/>
                </a:path>
              </a:pathLst>
            </a:custGeom>
            <a:solidFill>
              <a:srgbClr val="C5C5C5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5" id="15"/>
            <p:cNvSpPr/>
            <p:nvPr/>
          </p:nvSpPr>
          <p:spPr>
            <a:xfrm>
              <a:off x="8113713" y="4592638"/>
              <a:ext cx="219075" cy="349250"/>
            </a:xfrm>
            <a:custGeom>
              <a:avLst/>
              <a:gdLst/>
              <a:ahLst/>
              <a:cxnLst/>
              <a:rect r="r" b="b" t="t" l="l"/>
              <a:pathLst>
                <a:path w="58" h="93" stroke="true" fill="norm" extrusionOk="true">
                  <a:moveTo>
                    <a:pt x="52" y="4"/>
                  </a:moveTo>
                  <a:cubicBezTo>
                    <a:pt x="48" y="0"/>
                    <a:pt x="40" y="4"/>
                    <a:pt x="32" y="13"/>
                  </a:cubicBezTo>
                  <a:cubicBezTo>
                    <a:pt x="37" y="18"/>
                    <a:pt x="39" y="21"/>
                    <a:pt x="39" y="21"/>
                  </a:cubicBezTo>
                  <a:cubicBezTo>
                    <a:pt x="39" y="21"/>
                    <a:pt x="40" y="23"/>
                    <a:pt x="39" y="26"/>
                  </a:cubicBezTo>
                  <a:cubicBezTo>
                    <a:pt x="39" y="31"/>
                    <a:pt x="38" y="40"/>
                    <a:pt x="32" y="51"/>
                  </a:cubicBezTo>
                  <a:cubicBezTo>
                    <a:pt x="25" y="61"/>
                    <a:pt x="20" y="65"/>
                    <a:pt x="16" y="66"/>
                  </a:cubicBezTo>
                  <a:cubicBezTo>
                    <a:pt x="14" y="67"/>
                    <a:pt x="13" y="67"/>
                    <a:pt x="13" y="67"/>
                  </a:cubicBezTo>
                  <a:cubicBezTo>
                    <a:pt x="13" y="67"/>
                    <a:pt x="10" y="64"/>
                    <a:pt x="5" y="59"/>
                  </a:cubicBezTo>
                  <a:cubicBezTo>
                    <a:pt x="1" y="72"/>
                    <a:pt x="0" y="83"/>
                    <a:pt x="4" y="87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11" y="93"/>
                    <a:pt x="26" y="79"/>
                    <a:pt x="39" y="57"/>
                  </a:cubicBezTo>
                  <a:cubicBezTo>
                    <a:pt x="52" y="34"/>
                    <a:pt x="58" y="10"/>
                    <a:pt x="52" y="4"/>
                  </a:cubicBez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6" id="16"/>
            <p:cNvSpPr/>
            <p:nvPr/>
          </p:nvSpPr>
          <p:spPr>
            <a:xfrm>
              <a:off x="6076950" y="3233738"/>
              <a:ext cx="754063" cy="647700"/>
            </a:xfrm>
            <a:custGeom>
              <a:avLst/>
              <a:gdLst/>
              <a:ahLst/>
              <a:cxnLst/>
              <a:rect r="r" b="b" t="t" l="l"/>
              <a:pathLst>
                <a:path w="200" h="172" stroke="true" fill="norm" extrusionOk="true">
                  <a:moveTo>
                    <a:pt x="82" y="64"/>
                  </a:moveTo>
                  <a:cubicBezTo>
                    <a:pt x="105" y="25"/>
                    <a:pt x="156" y="22"/>
                    <a:pt x="200" y="38"/>
                  </a:cubicBezTo>
                  <a:cubicBezTo>
                    <a:pt x="200" y="37"/>
                    <a:pt x="199" y="36"/>
                    <a:pt x="200" y="36"/>
                  </a:cubicBezTo>
                  <a:cubicBezTo>
                    <a:pt x="159" y="13"/>
                    <a:pt x="108" y="0"/>
                    <a:pt x="73" y="14"/>
                  </a:cubicBezTo>
                  <a:cubicBezTo>
                    <a:pt x="5" y="41"/>
                    <a:pt x="0" y="80"/>
                    <a:pt x="8" y="126"/>
                  </a:cubicBezTo>
                  <a:cubicBezTo>
                    <a:pt x="13" y="151"/>
                    <a:pt x="34" y="167"/>
                    <a:pt x="63" y="172"/>
                  </a:cubicBezTo>
                  <a:cubicBezTo>
                    <a:pt x="57" y="136"/>
                    <a:pt x="63" y="96"/>
                    <a:pt x="82" y="64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7" id="17"/>
            <p:cNvSpPr/>
            <p:nvPr/>
          </p:nvSpPr>
          <p:spPr>
            <a:xfrm>
              <a:off x="6634163" y="2638425"/>
              <a:ext cx="279400" cy="730250"/>
            </a:xfrm>
            <a:custGeom>
              <a:avLst/>
              <a:gdLst/>
              <a:ahLst/>
              <a:cxnLst/>
              <a:rect r="r" b="b" t="t" l="l"/>
              <a:pathLst>
                <a:path w="74" h="194" stroke="true" fill="norm" extrusionOk="true">
                  <a:moveTo>
                    <a:pt x="40" y="38"/>
                  </a:moveTo>
                  <a:cubicBezTo>
                    <a:pt x="50" y="21"/>
                    <a:pt x="62" y="9"/>
                    <a:pt x="74" y="0"/>
                  </a:cubicBezTo>
                  <a:cubicBezTo>
                    <a:pt x="32" y="10"/>
                    <a:pt x="0" y="31"/>
                    <a:pt x="1" y="100"/>
                  </a:cubicBezTo>
                  <a:cubicBezTo>
                    <a:pt x="1" y="132"/>
                    <a:pt x="23" y="166"/>
                    <a:pt x="52" y="194"/>
                  </a:cubicBezTo>
                  <a:cubicBezTo>
                    <a:pt x="52" y="194"/>
                    <a:pt x="52" y="194"/>
                    <a:pt x="52" y="194"/>
                  </a:cubicBezTo>
                  <a:cubicBezTo>
                    <a:pt x="29" y="143"/>
                    <a:pt x="18" y="77"/>
                    <a:pt x="40" y="38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8" id="18"/>
            <p:cNvSpPr/>
            <p:nvPr/>
          </p:nvSpPr>
          <p:spPr>
            <a:xfrm>
              <a:off x="6291263" y="3316288"/>
              <a:ext cx="803275" cy="974725"/>
            </a:xfrm>
            <a:custGeom>
              <a:avLst/>
              <a:gdLst/>
              <a:ahLst/>
              <a:cxnLst/>
              <a:rect r="r" b="b" t="t" l="l"/>
              <a:pathLst>
                <a:path w="213" h="259" stroke="true" fill="norm" extrusionOk="true">
                  <a:moveTo>
                    <a:pt x="199" y="83"/>
                  </a:moveTo>
                  <a:cubicBezTo>
                    <a:pt x="173" y="54"/>
                    <a:pt x="145" y="23"/>
                    <a:pt x="143" y="16"/>
                  </a:cubicBezTo>
                  <a:cubicBezTo>
                    <a:pt x="99" y="0"/>
                    <a:pt x="48" y="3"/>
                    <a:pt x="25" y="42"/>
                  </a:cubicBezTo>
                  <a:cubicBezTo>
                    <a:pt x="6" y="74"/>
                    <a:pt x="0" y="114"/>
                    <a:pt x="6" y="150"/>
                  </a:cubicBezTo>
                  <a:cubicBezTo>
                    <a:pt x="11" y="176"/>
                    <a:pt x="22" y="201"/>
                    <a:pt x="39" y="218"/>
                  </a:cubicBezTo>
                  <a:cubicBezTo>
                    <a:pt x="80" y="259"/>
                    <a:pt x="140" y="246"/>
                    <a:pt x="172" y="190"/>
                  </a:cubicBezTo>
                  <a:cubicBezTo>
                    <a:pt x="191" y="158"/>
                    <a:pt x="207" y="130"/>
                    <a:pt x="211" y="104"/>
                  </a:cubicBezTo>
                  <a:cubicBezTo>
                    <a:pt x="212" y="102"/>
                    <a:pt x="213" y="101"/>
                    <a:pt x="213" y="99"/>
                  </a:cubicBezTo>
                  <a:cubicBezTo>
                    <a:pt x="213" y="99"/>
                    <a:pt x="213" y="98"/>
                    <a:pt x="212" y="98"/>
                  </a:cubicBezTo>
                  <a:cubicBezTo>
                    <a:pt x="207" y="92"/>
                    <a:pt x="203" y="87"/>
                    <a:pt x="199" y="83"/>
                  </a:cubicBezTo>
                  <a:close/>
                </a:path>
              </a:pathLst>
            </a:custGeom>
            <a:solidFill>
              <a:srgbClr val="878787">
                <a:lumMod val="60000"/>
                <a:lumOff val="40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9" id="19"/>
            <p:cNvSpPr/>
            <p:nvPr/>
          </p:nvSpPr>
          <p:spPr>
            <a:xfrm>
              <a:off x="6702425" y="2555876"/>
              <a:ext cx="763588" cy="1065212"/>
            </a:xfrm>
            <a:custGeom>
              <a:avLst/>
              <a:gdLst/>
              <a:ahLst/>
              <a:cxnLst/>
              <a:rect r="r" b="b" t="t" l="l"/>
              <a:pathLst>
                <a:path w="203" h="283" stroke="true" fill="norm" extrusionOk="true">
                  <a:moveTo>
                    <a:pt x="22" y="60"/>
                  </a:moveTo>
                  <a:cubicBezTo>
                    <a:pt x="0" y="99"/>
                    <a:pt x="11" y="165"/>
                    <a:pt x="34" y="216"/>
                  </a:cubicBezTo>
                  <a:cubicBezTo>
                    <a:pt x="37" y="216"/>
                    <a:pt x="55" y="231"/>
                    <a:pt x="72" y="246"/>
                  </a:cubicBezTo>
                  <a:cubicBezTo>
                    <a:pt x="79" y="252"/>
                    <a:pt x="87" y="259"/>
                    <a:pt x="95" y="267"/>
                  </a:cubicBezTo>
                  <a:cubicBezTo>
                    <a:pt x="97" y="268"/>
                    <a:pt x="98" y="269"/>
                    <a:pt x="99" y="270"/>
                  </a:cubicBezTo>
                  <a:cubicBezTo>
                    <a:pt x="103" y="274"/>
                    <a:pt x="108" y="278"/>
                    <a:pt x="113" y="283"/>
                  </a:cubicBezTo>
                  <a:cubicBezTo>
                    <a:pt x="133" y="272"/>
                    <a:pt x="150" y="241"/>
                    <a:pt x="170" y="207"/>
                  </a:cubicBezTo>
                  <a:cubicBezTo>
                    <a:pt x="203" y="151"/>
                    <a:pt x="196" y="72"/>
                    <a:pt x="155" y="31"/>
                  </a:cubicBezTo>
                  <a:cubicBezTo>
                    <a:pt x="126" y="2"/>
                    <a:pt x="88" y="0"/>
                    <a:pt x="56" y="22"/>
                  </a:cubicBezTo>
                  <a:cubicBezTo>
                    <a:pt x="44" y="31"/>
                    <a:pt x="32" y="43"/>
                    <a:pt x="22" y="60"/>
                  </a:cubicBezTo>
                  <a:close/>
                </a:path>
              </a:pathLst>
            </a:custGeom>
            <a:solidFill>
              <a:srgbClr val="878787">
                <a:lumMod val="60000"/>
                <a:lumOff val="40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0" id="20"/>
            <p:cNvSpPr/>
            <p:nvPr/>
          </p:nvSpPr>
          <p:spPr>
            <a:xfrm>
              <a:off x="6826250" y="3368675"/>
              <a:ext cx="1438275" cy="1476375"/>
            </a:xfrm>
            <a:custGeom>
              <a:avLst/>
              <a:gdLst/>
              <a:ahLst/>
              <a:cxnLst/>
              <a:rect r="r" b="b" t="t" l="l"/>
              <a:pathLst>
                <a:path w="382" h="392" stroke="true" fill="norm" extrusionOk="true">
                  <a:moveTo>
                    <a:pt x="381" y="346"/>
                  </a:moveTo>
                  <a:cubicBezTo>
                    <a:pt x="381" y="346"/>
                    <a:pt x="379" y="343"/>
                    <a:pt x="374" y="338"/>
                  </a:cubicBezTo>
                  <a:cubicBezTo>
                    <a:pt x="337" y="304"/>
                    <a:pt x="177" y="154"/>
                    <a:pt x="80" y="67"/>
                  </a:cubicBezTo>
                  <a:cubicBezTo>
                    <a:pt x="75" y="62"/>
                    <a:pt x="70" y="58"/>
                    <a:pt x="66" y="54"/>
                  </a:cubicBezTo>
                  <a:cubicBezTo>
                    <a:pt x="65" y="53"/>
                    <a:pt x="64" y="52"/>
                    <a:pt x="62" y="51"/>
                  </a:cubicBezTo>
                  <a:cubicBezTo>
                    <a:pt x="54" y="43"/>
                    <a:pt x="46" y="36"/>
                    <a:pt x="39" y="30"/>
                  </a:cubicBezTo>
                  <a:cubicBezTo>
                    <a:pt x="22" y="15"/>
                    <a:pt x="4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1" y="1"/>
                    <a:pt x="1" y="2"/>
                  </a:cubicBezTo>
                  <a:cubicBezTo>
                    <a:pt x="3" y="9"/>
                    <a:pt x="31" y="40"/>
                    <a:pt x="57" y="69"/>
                  </a:cubicBezTo>
                  <a:cubicBezTo>
                    <a:pt x="61" y="73"/>
                    <a:pt x="65" y="78"/>
                    <a:pt x="70" y="84"/>
                  </a:cubicBezTo>
                  <a:cubicBezTo>
                    <a:pt x="71" y="84"/>
                    <a:pt x="71" y="85"/>
                    <a:pt x="71" y="85"/>
                  </a:cubicBezTo>
                  <a:cubicBezTo>
                    <a:pt x="162" y="186"/>
                    <a:pt x="312" y="347"/>
                    <a:pt x="347" y="384"/>
                  </a:cubicBezTo>
                  <a:cubicBezTo>
                    <a:pt x="352" y="389"/>
                    <a:pt x="355" y="392"/>
                    <a:pt x="355" y="392"/>
                  </a:cubicBezTo>
                  <a:cubicBezTo>
                    <a:pt x="355" y="392"/>
                    <a:pt x="356" y="392"/>
                    <a:pt x="358" y="391"/>
                  </a:cubicBezTo>
                  <a:cubicBezTo>
                    <a:pt x="362" y="390"/>
                    <a:pt x="367" y="386"/>
                    <a:pt x="374" y="376"/>
                  </a:cubicBezTo>
                  <a:cubicBezTo>
                    <a:pt x="380" y="365"/>
                    <a:pt x="381" y="356"/>
                    <a:pt x="381" y="351"/>
                  </a:cubicBezTo>
                  <a:cubicBezTo>
                    <a:pt x="382" y="348"/>
                    <a:pt x="381" y="346"/>
                    <a:pt x="381" y="346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>
            <a:off x="7593909" y="1613056"/>
            <a:ext cx="1736965" cy="1774337"/>
            <a:chOff x="5920323" y="2302554"/>
            <a:chExt cx="2180669" cy="2227927"/>
          </a:xfrm>
          <a:effectLst>
            <a:outerShdw algn="bl" blurRad="177800" dir="18900000" rotWithShape="false" sy="23000">
              <a:srgbClr val="000000">
                <a:alpha val="29000"/>
              </a:srgbClr>
            </a:outerShdw>
          </a:effectLst>
        </p:grpSpPr>
        <p:sp>
          <p:nvSpPr>
            <p:cNvPr name="Freeform 22" id="22"/>
            <p:cNvSpPr/>
            <p:nvPr/>
          </p:nvSpPr>
          <p:spPr>
            <a:xfrm>
              <a:off x="7879324" y="4300937"/>
              <a:ext cx="221668" cy="229544"/>
            </a:xfrm>
            <a:custGeom>
              <a:avLst/>
              <a:gdLst/>
              <a:ahLst/>
              <a:cxnLst/>
              <a:rect r="r" b="b" t="t" l="l"/>
              <a:pathLst>
                <a:path w="83" h="86" stroke="true" fill="norm" extrusionOk="true">
                  <a:moveTo>
                    <a:pt x="68" y="68"/>
                  </a:moveTo>
                  <a:cubicBezTo>
                    <a:pt x="59" y="57"/>
                    <a:pt x="46" y="44"/>
                    <a:pt x="34" y="30"/>
                  </a:cubicBezTo>
                  <a:cubicBezTo>
                    <a:pt x="28" y="23"/>
                    <a:pt x="22" y="16"/>
                    <a:pt x="16" y="10"/>
                  </a:cubicBezTo>
                  <a:cubicBezTo>
                    <a:pt x="13" y="6"/>
                    <a:pt x="9" y="3"/>
                    <a:pt x="6" y="0"/>
                  </a:cubicBezTo>
                  <a:cubicBezTo>
                    <a:pt x="5" y="2"/>
                    <a:pt x="4" y="4"/>
                    <a:pt x="3" y="5"/>
                  </a:cubicBezTo>
                  <a:cubicBezTo>
                    <a:pt x="2" y="7"/>
                    <a:pt x="1" y="9"/>
                    <a:pt x="0" y="11"/>
                  </a:cubicBezTo>
                  <a:cubicBezTo>
                    <a:pt x="3" y="14"/>
                    <a:pt x="6" y="18"/>
                    <a:pt x="9" y="21"/>
                  </a:cubicBezTo>
                  <a:cubicBezTo>
                    <a:pt x="15" y="27"/>
                    <a:pt x="22" y="33"/>
                    <a:pt x="29" y="39"/>
                  </a:cubicBezTo>
                  <a:cubicBezTo>
                    <a:pt x="42" y="51"/>
                    <a:pt x="56" y="63"/>
                    <a:pt x="66" y="72"/>
                  </a:cubicBezTo>
                  <a:cubicBezTo>
                    <a:pt x="76" y="81"/>
                    <a:pt x="83" y="86"/>
                    <a:pt x="83" y="86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3" y="85"/>
                    <a:pt x="77" y="78"/>
                    <a:pt x="68" y="68"/>
                  </a:cubicBez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3" id="23"/>
            <p:cNvSpPr/>
            <p:nvPr/>
          </p:nvSpPr>
          <p:spPr>
            <a:xfrm>
              <a:off x="7375227" y="3756332"/>
              <a:ext cx="554732" cy="640248"/>
            </a:xfrm>
            <a:custGeom>
              <a:avLst/>
              <a:gdLst/>
              <a:ahLst/>
              <a:cxnLst/>
              <a:rect r="r" b="b" t="t" l="l"/>
              <a:pathLst>
                <a:path w="208" h="240" stroke="true" fill="norm" extrusionOk="true">
                  <a:moveTo>
                    <a:pt x="204" y="156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6"/>
                    <a:pt x="48" y="30"/>
                    <a:pt x="35" y="53"/>
                  </a:cubicBezTo>
                  <a:cubicBezTo>
                    <a:pt x="22" y="75"/>
                    <a:pt x="7" y="89"/>
                    <a:pt x="0" y="84"/>
                  </a:cubicBezTo>
                  <a:cubicBezTo>
                    <a:pt x="156" y="240"/>
                    <a:pt x="156" y="240"/>
                    <a:pt x="156" y="240"/>
                  </a:cubicBezTo>
                  <a:cubicBezTo>
                    <a:pt x="156" y="240"/>
                    <a:pt x="173" y="237"/>
                    <a:pt x="189" y="215"/>
                  </a:cubicBezTo>
                  <a:cubicBezTo>
                    <a:pt x="190" y="213"/>
                    <a:pt x="191" y="211"/>
                    <a:pt x="192" y="209"/>
                  </a:cubicBezTo>
                  <a:cubicBezTo>
                    <a:pt x="193" y="208"/>
                    <a:pt x="194" y="206"/>
                    <a:pt x="195" y="204"/>
                  </a:cubicBezTo>
                  <a:cubicBezTo>
                    <a:pt x="208" y="179"/>
                    <a:pt x="204" y="156"/>
                    <a:pt x="204" y="156"/>
                  </a:cubicBezTo>
                  <a:close/>
                </a:path>
              </a:pathLst>
            </a:custGeom>
            <a:solidFill>
              <a:srgbClr val="C5C5C5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4" id="24"/>
            <p:cNvSpPr/>
            <p:nvPr/>
          </p:nvSpPr>
          <p:spPr>
            <a:xfrm>
              <a:off x="7363975" y="3746206"/>
              <a:ext cx="155280" cy="247548"/>
            </a:xfrm>
            <a:custGeom>
              <a:avLst/>
              <a:gdLst/>
              <a:ahLst/>
              <a:cxnLst/>
              <a:rect r="r" b="b" t="t" l="l"/>
              <a:pathLst>
                <a:path w="58" h="93" stroke="true" fill="norm" extrusionOk="true">
                  <a:moveTo>
                    <a:pt x="52" y="4"/>
                  </a:moveTo>
                  <a:cubicBezTo>
                    <a:pt x="48" y="0"/>
                    <a:pt x="40" y="4"/>
                    <a:pt x="32" y="13"/>
                  </a:cubicBezTo>
                  <a:cubicBezTo>
                    <a:pt x="37" y="18"/>
                    <a:pt x="39" y="21"/>
                    <a:pt x="39" y="21"/>
                  </a:cubicBezTo>
                  <a:cubicBezTo>
                    <a:pt x="39" y="21"/>
                    <a:pt x="40" y="23"/>
                    <a:pt x="39" y="26"/>
                  </a:cubicBezTo>
                  <a:cubicBezTo>
                    <a:pt x="39" y="31"/>
                    <a:pt x="38" y="40"/>
                    <a:pt x="32" y="51"/>
                  </a:cubicBezTo>
                  <a:cubicBezTo>
                    <a:pt x="25" y="61"/>
                    <a:pt x="20" y="65"/>
                    <a:pt x="16" y="66"/>
                  </a:cubicBezTo>
                  <a:cubicBezTo>
                    <a:pt x="14" y="67"/>
                    <a:pt x="13" y="67"/>
                    <a:pt x="13" y="67"/>
                  </a:cubicBezTo>
                  <a:cubicBezTo>
                    <a:pt x="13" y="67"/>
                    <a:pt x="10" y="64"/>
                    <a:pt x="5" y="59"/>
                  </a:cubicBezTo>
                  <a:cubicBezTo>
                    <a:pt x="1" y="72"/>
                    <a:pt x="0" y="83"/>
                    <a:pt x="4" y="87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11" y="93"/>
                    <a:pt x="26" y="79"/>
                    <a:pt x="39" y="57"/>
                  </a:cubicBezTo>
                  <a:cubicBezTo>
                    <a:pt x="52" y="34"/>
                    <a:pt x="58" y="10"/>
                    <a:pt x="52" y="4"/>
                  </a:cubicBez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5" id="25"/>
            <p:cNvSpPr/>
            <p:nvPr/>
          </p:nvSpPr>
          <p:spPr>
            <a:xfrm>
              <a:off x="5920323" y="2783021"/>
              <a:ext cx="534478" cy="459088"/>
            </a:xfrm>
            <a:custGeom>
              <a:avLst/>
              <a:gdLst/>
              <a:ahLst/>
              <a:cxnLst/>
              <a:rect r="r" b="b" t="t" l="l"/>
              <a:pathLst>
                <a:path w="200" h="172" stroke="true" fill="norm" extrusionOk="true">
                  <a:moveTo>
                    <a:pt x="82" y="64"/>
                  </a:moveTo>
                  <a:cubicBezTo>
                    <a:pt x="105" y="25"/>
                    <a:pt x="156" y="22"/>
                    <a:pt x="200" y="38"/>
                  </a:cubicBezTo>
                  <a:cubicBezTo>
                    <a:pt x="200" y="37"/>
                    <a:pt x="199" y="36"/>
                    <a:pt x="200" y="36"/>
                  </a:cubicBezTo>
                  <a:cubicBezTo>
                    <a:pt x="159" y="13"/>
                    <a:pt x="108" y="0"/>
                    <a:pt x="73" y="14"/>
                  </a:cubicBezTo>
                  <a:cubicBezTo>
                    <a:pt x="5" y="41"/>
                    <a:pt x="0" y="80"/>
                    <a:pt x="8" y="126"/>
                  </a:cubicBezTo>
                  <a:cubicBezTo>
                    <a:pt x="13" y="151"/>
                    <a:pt x="34" y="167"/>
                    <a:pt x="63" y="172"/>
                  </a:cubicBezTo>
                  <a:cubicBezTo>
                    <a:pt x="57" y="136"/>
                    <a:pt x="63" y="96"/>
                    <a:pt x="82" y="64"/>
                  </a:cubicBezTo>
                  <a:close/>
                </a:path>
              </a:pathLst>
            </a:custGeom>
            <a:solidFill>
              <a:srgbClr val="007448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6" id="26"/>
            <p:cNvSpPr/>
            <p:nvPr/>
          </p:nvSpPr>
          <p:spPr>
            <a:xfrm>
              <a:off x="6315274" y="2361065"/>
              <a:ext cx="198038" cy="517599"/>
            </a:xfrm>
            <a:custGeom>
              <a:avLst/>
              <a:gdLst/>
              <a:ahLst/>
              <a:cxnLst/>
              <a:rect r="r" b="b" t="t" l="l"/>
              <a:pathLst>
                <a:path w="74" h="194" stroke="true" fill="norm" extrusionOk="true">
                  <a:moveTo>
                    <a:pt x="40" y="38"/>
                  </a:moveTo>
                  <a:cubicBezTo>
                    <a:pt x="50" y="21"/>
                    <a:pt x="62" y="9"/>
                    <a:pt x="74" y="0"/>
                  </a:cubicBezTo>
                  <a:cubicBezTo>
                    <a:pt x="32" y="10"/>
                    <a:pt x="0" y="31"/>
                    <a:pt x="1" y="100"/>
                  </a:cubicBezTo>
                  <a:cubicBezTo>
                    <a:pt x="1" y="132"/>
                    <a:pt x="23" y="166"/>
                    <a:pt x="52" y="194"/>
                  </a:cubicBezTo>
                  <a:cubicBezTo>
                    <a:pt x="52" y="194"/>
                    <a:pt x="52" y="194"/>
                    <a:pt x="52" y="194"/>
                  </a:cubicBezTo>
                  <a:cubicBezTo>
                    <a:pt x="29" y="143"/>
                    <a:pt x="18" y="77"/>
                    <a:pt x="40" y="38"/>
                  </a:cubicBezTo>
                  <a:close/>
                </a:path>
              </a:pathLst>
            </a:custGeom>
            <a:solidFill>
              <a:srgbClr val="007448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7" id="27"/>
            <p:cNvSpPr/>
            <p:nvPr/>
          </p:nvSpPr>
          <p:spPr>
            <a:xfrm>
              <a:off x="6072227" y="2841532"/>
              <a:ext cx="569359" cy="690883"/>
            </a:xfrm>
            <a:custGeom>
              <a:avLst/>
              <a:gdLst/>
              <a:ahLst/>
              <a:cxnLst/>
              <a:rect r="r" b="b" t="t" l="l"/>
              <a:pathLst>
                <a:path w="213" h="259" stroke="true" fill="norm" extrusionOk="true">
                  <a:moveTo>
                    <a:pt x="199" y="83"/>
                  </a:moveTo>
                  <a:cubicBezTo>
                    <a:pt x="173" y="54"/>
                    <a:pt x="145" y="23"/>
                    <a:pt x="143" y="16"/>
                  </a:cubicBezTo>
                  <a:cubicBezTo>
                    <a:pt x="99" y="0"/>
                    <a:pt x="48" y="3"/>
                    <a:pt x="25" y="42"/>
                  </a:cubicBezTo>
                  <a:cubicBezTo>
                    <a:pt x="6" y="74"/>
                    <a:pt x="0" y="114"/>
                    <a:pt x="6" y="150"/>
                  </a:cubicBezTo>
                  <a:cubicBezTo>
                    <a:pt x="11" y="176"/>
                    <a:pt x="22" y="201"/>
                    <a:pt x="39" y="218"/>
                  </a:cubicBezTo>
                  <a:cubicBezTo>
                    <a:pt x="80" y="259"/>
                    <a:pt x="140" y="246"/>
                    <a:pt x="172" y="190"/>
                  </a:cubicBezTo>
                  <a:cubicBezTo>
                    <a:pt x="191" y="158"/>
                    <a:pt x="207" y="130"/>
                    <a:pt x="211" y="104"/>
                  </a:cubicBezTo>
                  <a:cubicBezTo>
                    <a:pt x="212" y="102"/>
                    <a:pt x="213" y="101"/>
                    <a:pt x="213" y="99"/>
                  </a:cubicBezTo>
                  <a:cubicBezTo>
                    <a:pt x="213" y="99"/>
                    <a:pt x="213" y="98"/>
                    <a:pt x="212" y="98"/>
                  </a:cubicBezTo>
                  <a:cubicBezTo>
                    <a:pt x="207" y="92"/>
                    <a:pt x="203" y="87"/>
                    <a:pt x="199" y="83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8" id="28"/>
            <p:cNvSpPr/>
            <p:nvPr/>
          </p:nvSpPr>
          <p:spPr>
            <a:xfrm>
              <a:off x="6363658" y="2302554"/>
              <a:ext cx="541229" cy="755020"/>
            </a:xfrm>
            <a:custGeom>
              <a:avLst/>
              <a:gdLst/>
              <a:ahLst/>
              <a:cxnLst/>
              <a:rect r="r" b="b" t="t" l="l"/>
              <a:pathLst>
                <a:path w="203" h="283" stroke="true" fill="norm" extrusionOk="true">
                  <a:moveTo>
                    <a:pt x="22" y="60"/>
                  </a:moveTo>
                  <a:cubicBezTo>
                    <a:pt x="0" y="99"/>
                    <a:pt x="11" y="165"/>
                    <a:pt x="34" y="216"/>
                  </a:cubicBezTo>
                  <a:cubicBezTo>
                    <a:pt x="37" y="216"/>
                    <a:pt x="55" y="231"/>
                    <a:pt x="72" y="246"/>
                  </a:cubicBezTo>
                  <a:cubicBezTo>
                    <a:pt x="79" y="252"/>
                    <a:pt x="87" y="259"/>
                    <a:pt x="95" y="267"/>
                  </a:cubicBezTo>
                  <a:cubicBezTo>
                    <a:pt x="97" y="268"/>
                    <a:pt x="98" y="269"/>
                    <a:pt x="99" y="270"/>
                  </a:cubicBezTo>
                  <a:cubicBezTo>
                    <a:pt x="103" y="274"/>
                    <a:pt x="108" y="278"/>
                    <a:pt x="113" y="283"/>
                  </a:cubicBezTo>
                  <a:cubicBezTo>
                    <a:pt x="133" y="272"/>
                    <a:pt x="150" y="241"/>
                    <a:pt x="170" y="207"/>
                  </a:cubicBezTo>
                  <a:cubicBezTo>
                    <a:pt x="203" y="151"/>
                    <a:pt x="196" y="72"/>
                    <a:pt x="155" y="31"/>
                  </a:cubicBezTo>
                  <a:cubicBezTo>
                    <a:pt x="126" y="2"/>
                    <a:pt x="88" y="0"/>
                    <a:pt x="56" y="22"/>
                  </a:cubicBezTo>
                  <a:cubicBezTo>
                    <a:pt x="44" y="31"/>
                    <a:pt x="32" y="43"/>
                    <a:pt x="22" y="6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9" id="29"/>
            <p:cNvSpPr/>
            <p:nvPr/>
          </p:nvSpPr>
          <p:spPr>
            <a:xfrm>
              <a:off x="6451425" y="2878664"/>
              <a:ext cx="1019446" cy="1046451"/>
            </a:xfrm>
            <a:custGeom>
              <a:avLst/>
              <a:gdLst/>
              <a:ahLst/>
              <a:cxnLst/>
              <a:rect r="r" b="b" t="t" l="l"/>
              <a:pathLst>
                <a:path w="382" h="392" stroke="true" fill="norm" extrusionOk="true">
                  <a:moveTo>
                    <a:pt x="381" y="346"/>
                  </a:moveTo>
                  <a:cubicBezTo>
                    <a:pt x="381" y="346"/>
                    <a:pt x="379" y="343"/>
                    <a:pt x="374" y="338"/>
                  </a:cubicBezTo>
                  <a:cubicBezTo>
                    <a:pt x="337" y="304"/>
                    <a:pt x="177" y="154"/>
                    <a:pt x="80" y="67"/>
                  </a:cubicBezTo>
                  <a:cubicBezTo>
                    <a:pt x="75" y="62"/>
                    <a:pt x="70" y="58"/>
                    <a:pt x="66" y="54"/>
                  </a:cubicBezTo>
                  <a:cubicBezTo>
                    <a:pt x="65" y="53"/>
                    <a:pt x="64" y="52"/>
                    <a:pt x="62" y="51"/>
                  </a:cubicBezTo>
                  <a:cubicBezTo>
                    <a:pt x="54" y="43"/>
                    <a:pt x="46" y="36"/>
                    <a:pt x="39" y="30"/>
                  </a:cubicBezTo>
                  <a:cubicBezTo>
                    <a:pt x="22" y="15"/>
                    <a:pt x="4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1" y="1"/>
                    <a:pt x="1" y="2"/>
                  </a:cubicBezTo>
                  <a:cubicBezTo>
                    <a:pt x="3" y="9"/>
                    <a:pt x="31" y="40"/>
                    <a:pt x="57" y="69"/>
                  </a:cubicBezTo>
                  <a:cubicBezTo>
                    <a:pt x="61" y="73"/>
                    <a:pt x="65" y="78"/>
                    <a:pt x="70" y="84"/>
                  </a:cubicBezTo>
                  <a:cubicBezTo>
                    <a:pt x="71" y="84"/>
                    <a:pt x="71" y="85"/>
                    <a:pt x="71" y="85"/>
                  </a:cubicBezTo>
                  <a:cubicBezTo>
                    <a:pt x="162" y="186"/>
                    <a:pt x="312" y="347"/>
                    <a:pt x="347" y="384"/>
                  </a:cubicBezTo>
                  <a:cubicBezTo>
                    <a:pt x="352" y="389"/>
                    <a:pt x="355" y="392"/>
                    <a:pt x="355" y="392"/>
                  </a:cubicBezTo>
                  <a:cubicBezTo>
                    <a:pt x="355" y="392"/>
                    <a:pt x="356" y="392"/>
                    <a:pt x="358" y="391"/>
                  </a:cubicBezTo>
                  <a:cubicBezTo>
                    <a:pt x="362" y="390"/>
                    <a:pt x="367" y="386"/>
                    <a:pt x="374" y="376"/>
                  </a:cubicBezTo>
                  <a:cubicBezTo>
                    <a:pt x="380" y="365"/>
                    <a:pt x="381" y="356"/>
                    <a:pt x="381" y="351"/>
                  </a:cubicBezTo>
                  <a:cubicBezTo>
                    <a:pt x="382" y="348"/>
                    <a:pt x="381" y="346"/>
                    <a:pt x="381" y="346"/>
                  </a:cubicBezTo>
                  <a:close/>
                </a:path>
              </a:pathLst>
            </a:custGeom>
            <a:solidFill>
              <a:srgbClr val="007448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>
            <a:off x="8513803" y="1582130"/>
            <a:ext cx="2145625" cy="2184728"/>
            <a:chOff x="6076950" y="2566001"/>
            <a:chExt cx="3076576" cy="3133124"/>
          </a:xfrm>
          <a:effectLst>
            <a:outerShdw algn="bl" blurRad="177800" dir="18900000" rotWithShape="false" sy="23000">
              <a:srgbClr val="000000">
                <a:alpha val="29000"/>
              </a:srgbClr>
            </a:outerShdw>
          </a:effectLst>
        </p:grpSpPr>
        <p:sp>
          <p:nvSpPr>
            <p:cNvPr name="Freeform 31" id="31"/>
            <p:cNvSpPr/>
            <p:nvPr/>
          </p:nvSpPr>
          <p:spPr>
            <a:xfrm>
              <a:off x="8840788" y="5375275"/>
              <a:ext cx="312738" cy="323850"/>
            </a:xfrm>
            <a:custGeom>
              <a:avLst/>
              <a:gdLst/>
              <a:ahLst/>
              <a:cxnLst/>
              <a:rect r="r" b="b" t="t" l="l"/>
              <a:pathLst>
                <a:path w="83" h="86" stroke="true" fill="norm" extrusionOk="true">
                  <a:moveTo>
                    <a:pt x="68" y="68"/>
                  </a:moveTo>
                  <a:cubicBezTo>
                    <a:pt x="59" y="57"/>
                    <a:pt x="46" y="44"/>
                    <a:pt x="34" y="30"/>
                  </a:cubicBezTo>
                  <a:cubicBezTo>
                    <a:pt x="28" y="23"/>
                    <a:pt x="22" y="16"/>
                    <a:pt x="16" y="10"/>
                  </a:cubicBezTo>
                  <a:cubicBezTo>
                    <a:pt x="13" y="6"/>
                    <a:pt x="9" y="3"/>
                    <a:pt x="6" y="0"/>
                  </a:cubicBezTo>
                  <a:cubicBezTo>
                    <a:pt x="5" y="2"/>
                    <a:pt x="4" y="4"/>
                    <a:pt x="3" y="5"/>
                  </a:cubicBezTo>
                  <a:cubicBezTo>
                    <a:pt x="2" y="7"/>
                    <a:pt x="1" y="9"/>
                    <a:pt x="0" y="11"/>
                  </a:cubicBezTo>
                  <a:cubicBezTo>
                    <a:pt x="3" y="14"/>
                    <a:pt x="6" y="18"/>
                    <a:pt x="9" y="21"/>
                  </a:cubicBezTo>
                  <a:cubicBezTo>
                    <a:pt x="15" y="27"/>
                    <a:pt x="22" y="33"/>
                    <a:pt x="29" y="39"/>
                  </a:cubicBezTo>
                  <a:cubicBezTo>
                    <a:pt x="42" y="51"/>
                    <a:pt x="56" y="63"/>
                    <a:pt x="66" y="72"/>
                  </a:cubicBezTo>
                  <a:cubicBezTo>
                    <a:pt x="76" y="81"/>
                    <a:pt x="83" y="86"/>
                    <a:pt x="83" y="86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3" y="85"/>
                    <a:pt x="77" y="78"/>
                    <a:pt x="68" y="68"/>
                  </a:cubicBez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2" id="32"/>
            <p:cNvSpPr/>
            <p:nvPr/>
          </p:nvSpPr>
          <p:spPr>
            <a:xfrm>
              <a:off x="8129588" y="4606925"/>
              <a:ext cx="782638" cy="903287"/>
            </a:xfrm>
            <a:custGeom>
              <a:avLst/>
              <a:gdLst/>
              <a:ahLst/>
              <a:cxnLst/>
              <a:rect r="r" b="b" t="t" l="l"/>
              <a:pathLst>
                <a:path w="208" h="240" stroke="true" fill="norm" extrusionOk="true">
                  <a:moveTo>
                    <a:pt x="204" y="156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6"/>
                    <a:pt x="48" y="30"/>
                    <a:pt x="35" y="53"/>
                  </a:cubicBezTo>
                  <a:cubicBezTo>
                    <a:pt x="22" y="75"/>
                    <a:pt x="7" y="89"/>
                    <a:pt x="0" y="84"/>
                  </a:cubicBezTo>
                  <a:cubicBezTo>
                    <a:pt x="156" y="240"/>
                    <a:pt x="156" y="240"/>
                    <a:pt x="156" y="240"/>
                  </a:cubicBezTo>
                  <a:cubicBezTo>
                    <a:pt x="156" y="240"/>
                    <a:pt x="173" y="237"/>
                    <a:pt x="189" y="215"/>
                  </a:cubicBezTo>
                  <a:cubicBezTo>
                    <a:pt x="190" y="213"/>
                    <a:pt x="191" y="211"/>
                    <a:pt x="192" y="209"/>
                  </a:cubicBezTo>
                  <a:cubicBezTo>
                    <a:pt x="193" y="208"/>
                    <a:pt x="194" y="206"/>
                    <a:pt x="195" y="204"/>
                  </a:cubicBezTo>
                  <a:cubicBezTo>
                    <a:pt x="208" y="179"/>
                    <a:pt x="204" y="156"/>
                    <a:pt x="204" y="156"/>
                  </a:cubicBezTo>
                  <a:close/>
                </a:path>
              </a:pathLst>
            </a:custGeom>
            <a:solidFill>
              <a:srgbClr val="C5C5C5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3" id="33"/>
            <p:cNvSpPr/>
            <p:nvPr/>
          </p:nvSpPr>
          <p:spPr>
            <a:xfrm>
              <a:off x="8113713" y="4592638"/>
              <a:ext cx="219075" cy="349250"/>
            </a:xfrm>
            <a:custGeom>
              <a:avLst/>
              <a:gdLst/>
              <a:ahLst/>
              <a:cxnLst/>
              <a:rect r="r" b="b" t="t" l="l"/>
              <a:pathLst>
                <a:path w="58" h="93" stroke="true" fill="norm" extrusionOk="true">
                  <a:moveTo>
                    <a:pt x="52" y="4"/>
                  </a:moveTo>
                  <a:cubicBezTo>
                    <a:pt x="48" y="0"/>
                    <a:pt x="40" y="4"/>
                    <a:pt x="32" y="13"/>
                  </a:cubicBezTo>
                  <a:cubicBezTo>
                    <a:pt x="37" y="18"/>
                    <a:pt x="39" y="21"/>
                    <a:pt x="39" y="21"/>
                  </a:cubicBezTo>
                  <a:cubicBezTo>
                    <a:pt x="39" y="21"/>
                    <a:pt x="40" y="23"/>
                    <a:pt x="39" y="26"/>
                  </a:cubicBezTo>
                  <a:cubicBezTo>
                    <a:pt x="39" y="31"/>
                    <a:pt x="38" y="40"/>
                    <a:pt x="32" y="51"/>
                  </a:cubicBezTo>
                  <a:cubicBezTo>
                    <a:pt x="25" y="61"/>
                    <a:pt x="20" y="65"/>
                    <a:pt x="16" y="66"/>
                  </a:cubicBezTo>
                  <a:cubicBezTo>
                    <a:pt x="14" y="67"/>
                    <a:pt x="13" y="67"/>
                    <a:pt x="13" y="67"/>
                  </a:cubicBezTo>
                  <a:cubicBezTo>
                    <a:pt x="13" y="67"/>
                    <a:pt x="10" y="64"/>
                    <a:pt x="5" y="59"/>
                  </a:cubicBezTo>
                  <a:cubicBezTo>
                    <a:pt x="1" y="72"/>
                    <a:pt x="0" y="83"/>
                    <a:pt x="4" y="87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11" y="93"/>
                    <a:pt x="26" y="79"/>
                    <a:pt x="39" y="57"/>
                  </a:cubicBezTo>
                  <a:cubicBezTo>
                    <a:pt x="52" y="34"/>
                    <a:pt x="58" y="10"/>
                    <a:pt x="52" y="4"/>
                  </a:cubicBez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4" id="34"/>
            <p:cNvSpPr/>
            <p:nvPr/>
          </p:nvSpPr>
          <p:spPr>
            <a:xfrm>
              <a:off x="6076950" y="3233738"/>
              <a:ext cx="754063" cy="647700"/>
            </a:xfrm>
            <a:custGeom>
              <a:avLst/>
              <a:gdLst/>
              <a:ahLst/>
              <a:cxnLst/>
              <a:rect r="r" b="b" t="t" l="l"/>
              <a:pathLst>
                <a:path w="200" h="172" stroke="true" fill="norm" extrusionOk="true">
                  <a:moveTo>
                    <a:pt x="82" y="64"/>
                  </a:moveTo>
                  <a:cubicBezTo>
                    <a:pt x="105" y="25"/>
                    <a:pt x="156" y="22"/>
                    <a:pt x="200" y="38"/>
                  </a:cubicBezTo>
                  <a:cubicBezTo>
                    <a:pt x="200" y="37"/>
                    <a:pt x="199" y="36"/>
                    <a:pt x="200" y="36"/>
                  </a:cubicBezTo>
                  <a:cubicBezTo>
                    <a:pt x="159" y="13"/>
                    <a:pt x="108" y="0"/>
                    <a:pt x="73" y="14"/>
                  </a:cubicBezTo>
                  <a:cubicBezTo>
                    <a:pt x="5" y="41"/>
                    <a:pt x="0" y="80"/>
                    <a:pt x="8" y="126"/>
                  </a:cubicBezTo>
                  <a:cubicBezTo>
                    <a:pt x="13" y="151"/>
                    <a:pt x="34" y="167"/>
                    <a:pt x="63" y="172"/>
                  </a:cubicBezTo>
                  <a:cubicBezTo>
                    <a:pt x="57" y="136"/>
                    <a:pt x="63" y="96"/>
                    <a:pt x="82" y="64"/>
                  </a:cubicBezTo>
                  <a:close/>
                </a:path>
              </a:pathLst>
            </a:custGeom>
            <a:solidFill>
              <a:srgbClr val="FA5F00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5" id="35"/>
            <p:cNvSpPr/>
            <p:nvPr/>
          </p:nvSpPr>
          <p:spPr>
            <a:xfrm>
              <a:off x="6634163" y="2638425"/>
              <a:ext cx="279400" cy="730250"/>
            </a:xfrm>
            <a:custGeom>
              <a:avLst/>
              <a:gdLst/>
              <a:ahLst/>
              <a:cxnLst/>
              <a:rect r="r" b="b" t="t" l="l"/>
              <a:pathLst>
                <a:path w="74" h="194" stroke="true" fill="norm" extrusionOk="true">
                  <a:moveTo>
                    <a:pt x="40" y="38"/>
                  </a:moveTo>
                  <a:cubicBezTo>
                    <a:pt x="50" y="21"/>
                    <a:pt x="62" y="9"/>
                    <a:pt x="74" y="0"/>
                  </a:cubicBezTo>
                  <a:cubicBezTo>
                    <a:pt x="32" y="10"/>
                    <a:pt x="0" y="31"/>
                    <a:pt x="1" y="100"/>
                  </a:cubicBezTo>
                  <a:cubicBezTo>
                    <a:pt x="1" y="132"/>
                    <a:pt x="23" y="166"/>
                    <a:pt x="52" y="194"/>
                  </a:cubicBezTo>
                  <a:cubicBezTo>
                    <a:pt x="52" y="194"/>
                    <a:pt x="52" y="194"/>
                    <a:pt x="52" y="194"/>
                  </a:cubicBezTo>
                  <a:cubicBezTo>
                    <a:pt x="29" y="143"/>
                    <a:pt x="18" y="77"/>
                    <a:pt x="40" y="38"/>
                  </a:cubicBezTo>
                  <a:close/>
                </a:path>
              </a:pathLst>
            </a:custGeom>
            <a:solidFill>
              <a:srgbClr val="FA5F00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6" id="36"/>
            <p:cNvSpPr/>
            <p:nvPr/>
          </p:nvSpPr>
          <p:spPr>
            <a:xfrm>
              <a:off x="6291263" y="3296039"/>
              <a:ext cx="803275" cy="974725"/>
            </a:xfrm>
            <a:custGeom>
              <a:avLst/>
              <a:gdLst/>
              <a:ahLst/>
              <a:cxnLst/>
              <a:rect r="r" b="b" t="t" l="l"/>
              <a:pathLst>
                <a:path w="213" h="259" stroke="true" fill="norm" extrusionOk="true">
                  <a:moveTo>
                    <a:pt x="199" y="83"/>
                  </a:moveTo>
                  <a:cubicBezTo>
                    <a:pt x="173" y="54"/>
                    <a:pt x="145" y="23"/>
                    <a:pt x="143" y="16"/>
                  </a:cubicBezTo>
                  <a:cubicBezTo>
                    <a:pt x="99" y="0"/>
                    <a:pt x="48" y="3"/>
                    <a:pt x="25" y="42"/>
                  </a:cubicBezTo>
                  <a:cubicBezTo>
                    <a:pt x="6" y="74"/>
                    <a:pt x="0" y="114"/>
                    <a:pt x="6" y="150"/>
                  </a:cubicBezTo>
                  <a:cubicBezTo>
                    <a:pt x="11" y="176"/>
                    <a:pt x="22" y="201"/>
                    <a:pt x="39" y="218"/>
                  </a:cubicBezTo>
                  <a:cubicBezTo>
                    <a:pt x="80" y="259"/>
                    <a:pt x="140" y="246"/>
                    <a:pt x="172" y="190"/>
                  </a:cubicBezTo>
                  <a:cubicBezTo>
                    <a:pt x="191" y="158"/>
                    <a:pt x="207" y="130"/>
                    <a:pt x="211" y="104"/>
                  </a:cubicBezTo>
                  <a:cubicBezTo>
                    <a:pt x="212" y="102"/>
                    <a:pt x="213" y="101"/>
                    <a:pt x="213" y="99"/>
                  </a:cubicBezTo>
                  <a:cubicBezTo>
                    <a:pt x="213" y="99"/>
                    <a:pt x="213" y="98"/>
                    <a:pt x="212" y="98"/>
                  </a:cubicBezTo>
                  <a:cubicBezTo>
                    <a:pt x="207" y="92"/>
                    <a:pt x="203" y="87"/>
                    <a:pt x="199" y="83"/>
                  </a:cubicBezTo>
                  <a:close/>
                </a:path>
              </a:pathLst>
            </a:custGeom>
            <a:solidFill>
              <a:srgbClr val="FEB80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7" id="37"/>
            <p:cNvSpPr/>
            <p:nvPr/>
          </p:nvSpPr>
          <p:spPr>
            <a:xfrm>
              <a:off x="6692301" y="2566001"/>
              <a:ext cx="763588" cy="1065212"/>
            </a:xfrm>
            <a:custGeom>
              <a:avLst/>
              <a:gdLst/>
              <a:ahLst/>
              <a:cxnLst/>
              <a:rect r="r" b="b" t="t" l="l"/>
              <a:pathLst>
                <a:path w="203" h="283" stroke="true" fill="norm" extrusionOk="true">
                  <a:moveTo>
                    <a:pt x="22" y="60"/>
                  </a:moveTo>
                  <a:cubicBezTo>
                    <a:pt x="0" y="99"/>
                    <a:pt x="11" y="165"/>
                    <a:pt x="34" y="216"/>
                  </a:cubicBezTo>
                  <a:cubicBezTo>
                    <a:pt x="37" y="216"/>
                    <a:pt x="55" y="231"/>
                    <a:pt x="72" y="246"/>
                  </a:cubicBezTo>
                  <a:cubicBezTo>
                    <a:pt x="79" y="252"/>
                    <a:pt x="87" y="259"/>
                    <a:pt x="95" y="267"/>
                  </a:cubicBezTo>
                  <a:cubicBezTo>
                    <a:pt x="97" y="268"/>
                    <a:pt x="98" y="269"/>
                    <a:pt x="99" y="270"/>
                  </a:cubicBezTo>
                  <a:cubicBezTo>
                    <a:pt x="103" y="274"/>
                    <a:pt x="108" y="278"/>
                    <a:pt x="113" y="283"/>
                  </a:cubicBezTo>
                  <a:cubicBezTo>
                    <a:pt x="133" y="272"/>
                    <a:pt x="150" y="241"/>
                    <a:pt x="170" y="207"/>
                  </a:cubicBezTo>
                  <a:cubicBezTo>
                    <a:pt x="203" y="151"/>
                    <a:pt x="196" y="72"/>
                    <a:pt x="155" y="31"/>
                  </a:cubicBezTo>
                  <a:cubicBezTo>
                    <a:pt x="126" y="2"/>
                    <a:pt x="88" y="0"/>
                    <a:pt x="56" y="22"/>
                  </a:cubicBezTo>
                  <a:cubicBezTo>
                    <a:pt x="44" y="31"/>
                    <a:pt x="32" y="43"/>
                    <a:pt x="22" y="60"/>
                  </a:cubicBezTo>
                  <a:close/>
                </a:path>
              </a:pathLst>
            </a:custGeom>
            <a:solidFill>
              <a:srgbClr val="FEB80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8" id="38"/>
            <p:cNvSpPr/>
            <p:nvPr/>
          </p:nvSpPr>
          <p:spPr>
            <a:xfrm>
              <a:off x="6826250" y="3368675"/>
              <a:ext cx="1438275" cy="1476375"/>
            </a:xfrm>
            <a:custGeom>
              <a:avLst/>
              <a:gdLst/>
              <a:ahLst/>
              <a:cxnLst/>
              <a:rect r="r" b="b" t="t" l="l"/>
              <a:pathLst>
                <a:path w="382" h="392" stroke="true" fill="norm" extrusionOk="true">
                  <a:moveTo>
                    <a:pt x="381" y="346"/>
                  </a:moveTo>
                  <a:cubicBezTo>
                    <a:pt x="381" y="346"/>
                    <a:pt x="379" y="343"/>
                    <a:pt x="374" y="338"/>
                  </a:cubicBezTo>
                  <a:cubicBezTo>
                    <a:pt x="337" y="304"/>
                    <a:pt x="177" y="154"/>
                    <a:pt x="80" y="67"/>
                  </a:cubicBezTo>
                  <a:cubicBezTo>
                    <a:pt x="75" y="62"/>
                    <a:pt x="70" y="58"/>
                    <a:pt x="66" y="54"/>
                  </a:cubicBezTo>
                  <a:cubicBezTo>
                    <a:pt x="65" y="53"/>
                    <a:pt x="64" y="52"/>
                    <a:pt x="62" y="51"/>
                  </a:cubicBezTo>
                  <a:cubicBezTo>
                    <a:pt x="54" y="43"/>
                    <a:pt x="46" y="36"/>
                    <a:pt x="39" y="30"/>
                  </a:cubicBezTo>
                  <a:cubicBezTo>
                    <a:pt x="22" y="15"/>
                    <a:pt x="4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1" y="1"/>
                    <a:pt x="1" y="2"/>
                  </a:cubicBezTo>
                  <a:cubicBezTo>
                    <a:pt x="3" y="9"/>
                    <a:pt x="31" y="40"/>
                    <a:pt x="57" y="69"/>
                  </a:cubicBezTo>
                  <a:cubicBezTo>
                    <a:pt x="61" y="73"/>
                    <a:pt x="65" y="78"/>
                    <a:pt x="70" y="84"/>
                  </a:cubicBezTo>
                  <a:cubicBezTo>
                    <a:pt x="71" y="84"/>
                    <a:pt x="71" y="85"/>
                    <a:pt x="71" y="85"/>
                  </a:cubicBezTo>
                  <a:cubicBezTo>
                    <a:pt x="162" y="186"/>
                    <a:pt x="312" y="347"/>
                    <a:pt x="347" y="384"/>
                  </a:cubicBezTo>
                  <a:cubicBezTo>
                    <a:pt x="352" y="389"/>
                    <a:pt x="355" y="392"/>
                    <a:pt x="355" y="392"/>
                  </a:cubicBezTo>
                  <a:cubicBezTo>
                    <a:pt x="355" y="392"/>
                    <a:pt x="356" y="392"/>
                    <a:pt x="358" y="391"/>
                  </a:cubicBezTo>
                  <a:cubicBezTo>
                    <a:pt x="362" y="390"/>
                    <a:pt x="367" y="386"/>
                    <a:pt x="374" y="376"/>
                  </a:cubicBezTo>
                  <a:cubicBezTo>
                    <a:pt x="380" y="365"/>
                    <a:pt x="381" y="356"/>
                    <a:pt x="381" y="351"/>
                  </a:cubicBezTo>
                  <a:cubicBezTo>
                    <a:pt x="382" y="348"/>
                    <a:pt x="381" y="346"/>
                    <a:pt x="381" y="346"/>
                  </a:cubicBezTo>
                  <a:close/>
                </a:path>
              </a:pathLst>
            </a:custGeom>
            <a:solidFill>
              <a:srgbClr val="FA5F00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fontAlgn="auto" algn="l" indent="0" marR="0" mar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>
            <a:off x="725170" y="1145634"/>
            <a:ext cx="5688330" cy="867930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图的存储结构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725169" y="2747621"/>
            <a:ext cx="6110173" cy="89069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邻接矩阵用一个n阶方阵表示n个顶点的图，矩阵元素a[i][j]表示顶点i到顶点j是否有关联。对于无权图，1表示有边，0表示无边；对于有权图，则存储权值。邻接矩阵便于判断任意两个顶点之间是否有边，但空间复杂度为O(n^2)，对于稀疏图空间浪费严重。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725170" y="2397628"/>
            <a:ext cx="5370830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邻接矩阵表示法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>
            <a:off x="816162" y="631900"/>
            <a:ext cx="219075" cy="21907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3" id="43"/>
          <p:cNvSpPr/>
          <p:nvPr/>
        </p:nvSpPr>
        <p:spPr>
          <a:xfrm>
            <a:off x="1120962" y="631899"/>
            <a:ext cx="219075" cy="2190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4" id="44"/>
          <p:cNvSpPr/>
          <p:nvPr/>
        </p:nvSpPr>
        <p:spPr>
          <a:xfrm>
            <a:off x="1425762" y="631898"/>
            <a:ext cx="219075" cy="219075"/>
          </a:xfrm>
          <a:prstGeom prst="ellipse">
            <a:avLst/>
          </a:prstGeom>
          <a:solidFill>
            <a:srgbClr val="009E17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5" id="45"/>
          <p:cNvSpPr/>
          <p:nvPr/>
        </p:nvSpPr>
        <p:spPr>
          <a:xfrm>
            <a:off x="1730562" y="631898"/>
            <a:ext cx="219075" cy="219075"/>
          </a:xfrm>
          <a:prstGeom prst="ellipse">
            <a:avLst/>
          </a:prstGeom>
          <a:solidFill>
            <a:srgbClr val="007448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46" id="46"/>
          <p:cNvSpPr txBox="true"/>
          <p:nvPr/>
        </p:nvSpPr>
        <p:spPr>
          <a:xfrm>
            <a:off x="725169" y="4250143"/>
            <a:ext cx="6110173" cy="890693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邻接表由顶点表和边表组成。顶点表存储每个顶点的信息，边表存储与该顶点相邻接的顶点。对于有向图，通常建立出边表或入边表。邻接表空间复杂度为O(n+e)，适合表示稀疏图。它便于找到某个顶点的所有邻接点，但不便于判断两个顶点之间是否有边。</a:t>
            </a:r>
            <a:endParaRPr lang="en-US" sz="1100"/>
          </a:p>
        </p:txBody>
      </p:sp>
      <p:sp>
        <p:nvSpPr>
          <p:cNvPr name="TextBox 47" id="47"/>
          <p:cNvSpPr txBox="true"/>
          <p:nvPr/>
        </p:nvSpPr>
        <p:spPr>
          <a:xfrm>
            <a:off x="725170" y="3900150"/>
            <a:ext cx="5370830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邻接表表示法</a:t>
            </a:r>
            <a:endParaRPr lang="en-US" sz="1100"/>
          </a:p>
        </p:txBody>
      </p:sp>
      <p:sp>
        <p:nvSpPr>
          <p:cNvPr name="TextBox 48" id="48"/>
          <p:cNvSpPr txBox="true"/>
          <p:nvPr/>
        </p:nvSpPr>
        <p:spPr>
          <a:xfrm>
            <a:off x="725168" y="5754582"/>
            <a:ext cx="9476237" cy="61369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深度优先搜索类似树的先序遍历，从一个顶点出发，访问其未被访问的邻接点，递归进行直到所有顶点都被访问。广度优先搜索类似树的层次遍历，使用队列实现，依次访问与当前顶点相邻接的所有顶点。这两种算法时间复杂度均为O(n+e)，适用于解决连通性问题。</a:t>
            </a:r>
            <a:endParaRPr lang="en-US" sz="1100"/>
          </a:p>
        </p:txBody>
      </p:sp>
      <p:sp>
        <p:nvSpPr>
          <p:cNvPr name="TextBox 49" id="49"/>
          <p:cNvSpPr txBox="true"/>
          <p:nvPr/>
        </p:nvSpPr>
        <p:spPr>
          <a:xfrm>
            <a:off x="725169" y="5404589"/>
            <a:ext cx="5370830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图的遍历算法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3.jpeg" id="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6821169" y="0"/>
            <a:ext cx="5370830" cy="5321300"/>
          </a:xfrm>
          <a:custGeom>
            <a:pathLst>
              <a:path w="6036950" h="6040857" stroke="true" fill="norm" extrusionOk="true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>
            <a:solidFill>
              <a:schemeClr val="tx1">
                <a:alpha val="50000"/>
                <a:lumMod val="40000"/>
                <a:lumOff val="60000"/>
              </a:schemeClr>
            </a:solidFill>
            <a:prstDash val="solid"/>
          </a:ln>
          <a:effectLst>
            <a:outerShdw algn="ctr" dir="4200000" dist="254000" rotWithShape="false">
              <a:srgbClr val="00965D">
                <a:alpha val="15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>
            <a:off x="725170" y="1145634"/>
            <a:ext cx="5688330" cy="867930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最小生成树与最短路径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725170" y="2859303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普里姆算法从一个顶点开始，逐步将最小权值的边连接的顶点加入集合，适合稠密图。克鲁斯卡尔算法按边的权值从小到大选择边，保证不形成回路，适合稀疏图。两种算法都能得到一棵权值之和最小的生成树，广泛应用于网络规划、电路设计等领域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725170" y="2397628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普里姆算法与克鲁斯卡尔算法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725170" y="503982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迪杰斯特拉算法用于求解单源最短路径，从源点出发逐步扩展最短路径集合，时间复杂度O(n^2)。弗洛伊德算法求解所有顶点对的最短路径，采用动态规划思想，每次考虑经过一个中间顶点。这两种算法常应用于导航系统、网络路由选择等场景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725170" y="4578154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迪杰斯特拉算法与弗洛伊德算法</a:t>
            </a:r>
            <a:endParaRPr lang="en-US" sz="1100"/>
          </a:p>
        </p:txBody>
      </p:sp>
      <p:pic>
        <p:nvPicPr>
          <p:cNvPr name="image15.png" id="8"/>
          <p:cNvPicPr>
            <a:picLocks noChangeAspect="true"/>
          </p:cNvPicPr>
          <p:nvPr/>
        </p:nvPicPr>
        <p:blipFill>
          <a:blip r:embed="rId3">
            <a:duotone>
              <a:prstClr val="black"/>
              <a:schemeClr val="accent6">
                <a:satMod val="400000"/>
                <a:tint val="45000"/>
              </a:schemeClr>
            </a:duotone>
            <a:alphaModFix amt="70000"/>
          </a:blip>
          <a:stretch>
            <a:fillRect t="0" l="0" b="0" r="0"/>
          </a:stretch>
        </p:blipFill>
        <p:spPr>
          <a:xfrm rot="16200000">
            <a:off x="3154499" y="1176203"/>
            <a:ext cx="2517505" cy="8826501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>
            <a:off x="816162" y="631900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1120962" y="631899"/>
            <a:ext cx="219075" cy="219075"/>
          </a:xfrm>
          <a:prstGeom prst="ellipse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1425762" y="631898"/>
            <a:ext cx="219075" cy="219075"/>
          </a:xfrm>
          <a:prstGeom prst="ellipse">
            <a:avLst/>
          </a:prstGeom>
          <a:solidFill>
            <a:srgbClr val="00761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1730562" y="631898"/>
            <a:ext cx="219075" cy="219075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924800"/>
            <a:ext cx="2546536" cy="1920876"/>
            <a:chOff x="1803217" y="1044576"/>
            <a:chExt cx="2546536" cy="1920876"/>
          </a:xfrm>
        </p:grpSpPr>
        <p:sp>
          <p:nvSpPr>
            <p:cNvPr name="AutoShape 3" id="3"/>
            <p:cNvSpPr/>
            <p:nvPr/>
          </p:nvSpPr>
          <p:spPr>
            <a:xfrm>
              <a:off x="1803217" y="1044576"/>
              <a:ext cx="1190811" cy="1028700"/>
            </a:xfrm>
            <a:prstGeom prst="rect">
              <a:avLst/>
            </a:prstGeom>
            <a:solidFill>
              <a:srgbClr val="00480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2994028" y="1044576"/>
              <a:ext cx="1004888" cy="1920875"/>
            </a:xfrm>
            <a:custGeom>
              <a:avLst/>
              <a:gdLst/>
              <a:ahLst/>
              <a:cxnLst/>
              <a:rect r="r" b="b" t="t" l="l"/>
              <a:pathLst>
                <a:path w="633" h="1210" stroke="true" fill="norm" extrusionOk="true">
                  <a:moveTo>
                    <a:pt x="0" y="0"/>
                  </a:moveTo>
                  <a:lnTo>
                    <a:pt x="0" y="648"/>
                  </a:lnTo>
                  <a:lnTo>
                    <a:pt x="628" y="1210"/>
                  </a:lnTo>
                  <a:lnTo>
                    <a:pt x="633" y="1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E17">
                <a:alpha val="84706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5" id="5"/>
            <p:cNvSpPr/>
            <p:nvPr/>
          </p:nvSpPr>
          <p:spPr>
            <a:xfrm>
              <a:off x="3990978" y="2620964"/>
              <a:ext cx="358775" cy="344488"/>
            </a:xfrm>
            <a:prstGeom prst="rect">
              <a:avLst/>
            </a:prstGeom>
            <a:solidFill>
              <a:srgbClr val="009E17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6" id="6"/>
          <p:cNvGrpSpPr/>
          <p:nvPr/>
        </p:nvGrpSpPr>
        <p:grpSpPr>
          <a:xfrm>
            <a:off x="0" y="2285288"/>
            <a:ext cx="2538598" cy="1120775"/>
            <a:chOff x="1803217" y="2405064"/>
            <a:chExt cx="2538598" cy="1120775"/>
          </a:xfrm>
        </p:grpSpPr>
        <p:sp>
          <p:nvSpPr>
            <p:cNvPr name="AutoShape 7" id="7"/>
            <p:cNvSpPr/>
            <p:nvPr/>
          </p:nvSpPr>
          <p:spPr>
            <a:xfrm>
              <a:off x="1803217" y="2405064"/>
              <a:ext cx="1190811" cy="1028700"/>
            </a:xfrm>
            <a:prstGeom prst="rect">
              <a:avLst/>
            </a:prstGeom>
            <a:solidFill>
              <a:srgbClr val="FEB80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2994028" y="2405064"/>
              <a:ext cx="996950" cy="1120775"/>
            </a:xfrm>
            <a:custGeom>
              <a:avLst/>
              <a:gdLst/>
              <a:ahLst/>
              <a:cxnLst/>
              <a:rect r="r" b="b" t="t" l="l"/>
              <a:pathLst>
                <a:path w="628" h="706" stroke="true" fill="norm" extrusionOk="true">
                  <a:moveTo>
                    <a:pt x="0" y="648"/>
                  </a:moveTo>
                  <a:lnTo>
                    <a:pt x="0" y="0"/>
                  </a:lnTo>
                  <a:lnTo>
                    <a:pt x="628" y="504"/>
                  </a:lnTo>
                  <a:lnTo>
                    <a:pt x="628" y="706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FECA48">
                <a:alpha val="84706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9" id="9"/>
            <p:cNvSpPr/>
            <p:nvPr/>
          </p:nvSpPr>
          <p:spPr>
            <a:xfrm>
              <a:off x="3983040" y="3205164"/>
              <a:ext cx="358775" cy="3206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0" id="10"/>
          <p:cNvGrpSpPr/>
          <p:nvPr/>
        </p:nvGrpSpPr>
        <p:grpSpPr>
          <a:xfrm>
            <a:off x="0" y="4134725"/>
            <a:ext cx="2554473" cy="1933575"/>
            <a:chOff x="1803217" y="4254501"/>
            <a:chExt cx="2554473" cy="1933575"/>
          </a:xfrm>
        </p:grpSpPr>
        <p:sp>
          <p:nvSpPr>
            <p:cNvPr name="AutoShape 11" id="11"/>
            <p:cNvSpPr/>
            <p:nvPr/>
          </p:nvSpPr>
          <p:spPr>
            <a:xfrm>
              <a:off x="1803217" y="5159376"/>
              <a:ext cx="1190811" cy="1028700"/>
            </a:xfrm>
            <a:prstGeom prst="rect">
              <a:avLst/>
            </a:prstGeom>
            <a:solidFill>
              <a:srgbClr val="F6890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2994028" y="4254501"/>
              <a:ext cx="1004888" cy="1933575"/>
            </a:xfrm>
            <a:custGeom>
              <a:avLst/>
              <a:gdLst/>
              <a:ahLst/>
              <a:cxnLst/>
              <a:rect r="r" b="b" t="t" l="l"/>
              <a:pathLst>
                <a:path w="633" h="1218" stroke="true" fill="norm" extrusionOk="true">
                  <a:moveTo>
                    <a:pt x="0" y="570"/>
                  </a:moveTo>
                  <a:lnTo>
                    <a:pt x="0" y="1218"/>
                  </a:lnTo>
                  <a:lnTo>
                    <a:pt x="633" y="233"/>
                  </a:lnTo>
                  <a:lnTo>
                    <a:pt x="633" y="0"/>
                  </a:lnTo>
                  <a:lnTo>
                    <a:pt x="0" y="570"/>
                  </a:lnTo>
                  <a:close/>
                </a:path>
              </a:pathLst>
            </a:custGeom>
            <a:solidFill>
              <a:srgbClr val="FC9A24">
                <a:alpha val="84706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3" id="13"/>
            <p:cNvSpPr/>
            <p:nvPr/>
          </p:nvSpPr>
          <p:spPr>
            <a:xfrm>
              <a:off x="3998915" y="4259264"/>
              <a:ext cx="358775" cy="373063"/>
            </a:xfrm>
            <a:prstGeom prst="rect">
              <a:avLst/>
            </a:prstGeom>
            <a:solidFill>
              <a:srgbClr val="FC9A2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0" y="3571163"/>
            <a:ext cx="2570348" cy="1136650"/>
            <a:chOff x="1803217" y="3690939"/>
            <a:chExt cx="2570348" cy="1136650"/>
          </a:xfrm>
        </p:grpSpPr>
        <p:sp>
          <p:nvSpPr>
            <p:cNvPr name="AutoShape 15" id="15"/>
            <p:cNvSpPr/>
            <p:nvPr/>
          </p:nvSpPr>
          <p:spPr>
            <a:xfrm>
              <a:off x="1803217" y="3798889"/>
              <a:ext cx="1190811" cy="1028700"/>
            </a:xfrm>
            <a:prstGeom prst="rect">
              <a:avLst/>
            </a:prstGeom>
            <a:solidFill>
              <a:srgbClr val="00503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2994028" y="3692526"/>
              <a:ext cx="1020763" cy="1135063"/>
            </a:xfrm>
            <a:custGeom>
              <a:avLst/>
              <a:gdLst/>
              <a:ahLst/>
              <a:cxnLst/>
              <a:rect r="r" b="b" t="t" l="l"/>
              <a:pathLst>
                <a:path w="643" h="715" stroke="true" fill="norm" extrusionOk="true">
                  <a:moveTo>
                    <a:pt x="643" y="223"/>
                  </a:moveTo>
                  <a:lnTo>
                    <a:pt x="643" y="0"/>
                  </a:lnTo>
                  <a:lnTo>
                    <a:pt x="0" y="67"/>
                  </a:lnTo>
                  <a:lnTo>
                    <a:pt x="0" y="715"/>
                  </a:lnTo>
                  <a:lnTo>
                    <a:pt x="643" y="223"/>
                  </a:lnTo>
                  <a:close/>
                </a:path>
              </a:pathLst>
            </a:custGeom>
            <a:solidFill>
              <a:srgbClr val="00965D">
                <a:alpha val="85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7" id="17"/>
            <p:cNvSpPr/>
            <p:nvPr/>
          </p:nvSpPr>
          <p:spPr>
            <a:xfrm>
              <a:off x="4014790" y="3690939"/>
              <a:ext cx="358775" cy="3635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2023831" y="1953500"/>
            <a:ext cx="4235120" cy="4242399"/>
            <a:chOff x="2660883" y="2992368"/>
            <a:chExt cx="1847850" cy="1851026"/>
          </a:xfrm>
        </p:grpSpPr>
        <p:sp>
          <p:nvSpPr>
            <p:cNvPr name="Freeform 19" id="19"/>
            <p:cNvSpPr/>
            <p:nvPr/>
          </p:nvSpPr>
          <p:spPr>
            <a:xfrm>
              <a:off x="2865670" y="3195568"/>
              <a:ext cx="1495425" cy="1495425"/>
            </a:xfrm>
            <a:custGeom>
              <a:avLst/>
              <a:gdLst/>
              <a:ahLst/>
              <a:cxnLst/>
              <a:rect r="r" b="b" t="t" l="l"/>
              <a:pathLst>
                <a:path w="924" h="924" stroke="true" fill="norm" extrusionOk="true">
                  <a:moveTo>
                    <a:pt x="900" y="386"/>
                  </a:moveTo>
                  <a:cubicBezTo>
                    <a:pt x="844" y="386"/>
                    <a:pt x="844" y="386"/>
                    <a:pt x="844" y="386"/>
                  </a:cubicBezTo>
                  <a:cubicBezTo>
                    <a:pt x="840" y="366"/>
                    <a:pt x="834" y="346"/>
                    <a:pt x="827" y="327"/>
                  </a:cubicBezTo>
                  <a:cubicBezTo>
                    <a:pt x="875" y="300"/>
                    <a:pt x="875" y="300"/>
                    <a:pt x="875" y="300"/>
                  </a:cubicBezTo>
                  <a:cubicBezTo>
                    <a:pt x="886" y="293"/>
                    <a:pt x="890" y="279"/>
                    <a:pt x="883" y="268"/>
                  </a:cubicBezTo>
                  <a:cubicBezTo>
                    <a:pt x="836" y="185"/>
                    <a:pt x="836" y="185"/>
                    <a:pt x="836" y="185"/>
                  </a:cubicBezTo>
                  <a:cubicBezTo>
                    <a:pt x="829" y="174"/>
                    <a:pt x="815" y="170"/>
                    <a:pt x="803" y="177"/>
                  </a:cubicBezTo>
                  <a:cubicBezTo>
                    <a:pt x="754" y="205"/>
                    <a:pt x="754" y="205"/>
                    <a:pt x="754" y="205"/>
                  </a:cubicBezTo>
                  <a:cubicBezTo>
                    <a:pt x="741" y="190"/>
                    <a:pt x="726" y="176"/>
                    <a:pt x="711" y="163"/>
                  </a:cubicBezTo>
                  <a:cubicBezTo>
                    <a:pt x="738" y="115"/>
                    <a:pt x="738" y="115"/>
                    <a:pt x="738" y="115"/>
                  </a:cubicBezTo>
                  <a:cubicBezTo>
                    <a:pt x="745" y="104"/>
                    <a:pt x="741" y="90"/>
                    <a:pt x="730" y="83"/>
                  </a:cubicBezTo>
                  <a:cubicBezTo>
                    <a:pt x="647" y="35"/>
                    <a:pt x="647" y="35"/>
                    <a:pt x="647" y="35"/>
                  </a:cubicBezTo>
                  <a:cubicBezTo>
                    <a:pt x="636" y="29"/>
                    <a:pt x="621" y="33"/>
                    <a:pt x="615" y="44"/>
                  </a:cubicBezTo>
                  <a:cubicBezTo>
                    <a:pt x="586" y="93"/>
                    <a:pt x="586" y="93"/>
                    <a:pt x="586" y="93"/>
                  </a:cubicBezTo>
                  <a:cubicBezTo>
                    <a:pt x="568" y="87"/>
                    <a:pt x="548" y="82"/>
                    <a:pt x="528" y="79"/>
                  </a:cubicBezTo>
                  <a:cubicBezTo>
                    <a:pt x="528" y="24"/>
                    <a:pt x="528" y="24"/>
                    <a:pt x="528" y="24"/>
                  </a:cubicBezTo>
                  <a:cubicBezTo>
                    <a:pt x="528" y="11"/>
                    <a:pt x="517" y="0"/>
                    <a:pt x="504" y="0"/>
                  </a:cubicBezTo>
                  <a:cubicBezTo>
                    <a:pt x="409" y="0"/>
                    <a:pt x="409" y="0"/>
                    <a:pt x="409" y="0"/>
                  </a:cubicBezTo>
                  <a:cubicBezTo>
                    <a:pt x="396" y="0"/>
                    <a:pt x="385" y="11"/>
                    <a:pt x="385" y="24"/>
                  </a:cubicBezTo>
                  <a:cubicBezTo>
                    <a:pt x="385" y="80"/>
                    <a:pt x="385" y="80"/>
                    <a:pt x="385" y="80"/>
                  </a:cubicBezTo>
                  <a:cubicBezTo>
                    <a:pt x="365" y="84"/>
                    <a:pt x="346" y="90"/>
                    <a:pt x="327" y="97"/>
                  </a:cubicBezTo>
                  <a:cubicBezTo>
                    <a:pt x="300" y="49"/>
                    <a:pt x="300" y="49"/>
                    <a:pt x="300" y="49"/>
                  </a:cubicBezTo>
                  <a:cubicBezTo>
                    <a:pt x="293" y="38"/>
                    <a:pt x="279" y="34"/>
                    <a:pt x="267" y="41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74" y="95"/>
                    <a:pt x="170" y="109"/>
                    <a:pt x="176" y="121"/>
                  </a:cubicBezTo>
                  <a:cubicBezTo>
                    <a:pt x="205" y="170"/>
                    <a:pt x="205" y="170"/>
                    <a:pt x="205" y="170"/>
                  </a:cubicBezTo>
                  <a:cubicBezTo>
                    <a:pt x="190" y="183"/>
                    <a:pt x="176" y="198"/>
                    <a:pt x="163" y="213"/>
                  </a:cubicBezTo>
                  <a:cubicBezTo>
                    <a:pt x="115" y="186"/>
                    <a:pt x="115" y="186"/>
                    <a:pt x="115" y="186"/>
                  </a:cubicBezTo>
                  <a:cubicBezTo>
                    <a:pt x="104" y="179"/>
                    <a:pt x="89" y="183"/>
                    <a:pt x="83" y="194"/>
                  </a:cubicBezTo>
                  <a:cubicBezTo>
                    <a:pt x="35" y="277"/>
                    <a:pt x="35" y="277"/>
                    <a:pt x="35" y="277"/>
                  </a:cubicBezTo>
                  <a:cubicBezTo>
                    <a:pt x="29" y="288"/>
                    <a:pt x="33" y="303"/>
                    <a:pt x="44" y="309"/>
                  </a:cubicBezTo>
                  <a:cubicBezTo>
                    <a:pt x="93" y="338"/>
                    <a:pt x="93" y="338"/>
                    <a:pt x="93" y="338"/>
                  </a:cubicBezTo>
                  <a:cubicBezTo>
                    <a:pt x="87" y="356"/>
                    <a:pt x="82" y="376"/>
                    <a:pt x="78" y="396"/>
                  </a:cubicBezTo>
                  <a:cubicBezTo>
                    <a:pt x="24" y="396"/>
                    <a:pt x="24" y="396"/>
                    <a:pt x="24" y="396"/>
                  </a:cubicBezTo>
                  <a:cubicBezTo>
                    <a:pt x="10" y="396"/>
                    <a:pt x="0" y="407"/>
                    <a:pt x="0" y="420"/>
                  </a:cubicBezTo>
                  <a:cubicBezTo>
                    <a:pt x="0" y="515"/>
                    <a:pt x="0" y="515"/>
                    <a:pt x="0" y="515"/>
                  </a:cubicBezTo>
                  <a:cubicBezTo>
                    <a:pt x="0" y="528"/>
                    <a:pt x="10" y="539"/>
                    <a:pt x="24" y="539"/>
                  </a:cubicBezTo>
                  <a:cubicBezTo>
                    <a:pt x="80" y="539"/>
                    <a:pt x="80" y="539"/>
                    <a:pt x="80" y="539"/>
                  </a:cubicBezTo>
                  <a:cubicBezTo>
                    <a:pt x="84" y="559"/>
                    <a:pt x="90" y="578"/>
                    <a:pt x="97" y="597"/>
                  </a:cubicBezTo>
                  <a:cubicBezTo>
                    <a:pt x="49" y="624"/>
                    <a:pt x="49" y="624"/>
                    <a:pt x="49" y="624"/>
                  </a:cubicBezTo>
                  <a:cubicBezTo>
                    <a:pt x="38" y="631"/>
                    <a:pt x="34" y="645"/>
                    <a:pt x="41" y="657"/>
                  </a:cubicBezTo>
                  <a:cubicBezTo>
                    <a:pt x="88" y="739"/>
                    <a:pt x="88" y="739"/>
                    <a:pt x="88" y="739"/>
                  </a:cubicBezTo>
                  <a:cubicBezTo>
                    <a:pt x="95" y="750"/>
                    <a:pt x="109" y="754"/>
                    <a:pt x="121" y="748"/>
                  </a:cubicBezTo>
                  <a:cubicBezTo>
                    <a:pt x="170" y="719"/>
                    <a:pt x="170" y="719"/>
                    <a:pt x="170" y="719"/>
                  </a:cubicBezTo>
                  <a:cubicBezTo>
                    <a:pt x="183" y="734"/>
                    <a:pt x="198" y="748"/>
                    <a:pt x="213" y="761"/>
                  </a:cubicBezTo>
                  <a:cubicBezTo>
                    <a:pt x="186" y="809"/>
                    <a:pt x="186" y="809"/>
                    <a:pt x="186" y="809"/>
                  </a:cubicBezTo>
                  <a:cubicBezTo>
                    <a:pt x="179" y="820"/>
                    <a:pt x="183" y="835"/>
                    <a:pt x="194" y="841"/>
                  </a:cubicBezTo>
                  <a:cubicBezTo>
                    <a:pt x="277" y="889"/>
                    <a:pt x="277" y="889"/>
                    <a:pt x="277" y="889"/>
                  </a:cubicBezTo>
                  <a:cubicBezTo>
                    <a:pt x="288" y="895"/>
                    <a:pt x="303" y="891"/>
                    <a:pt x="309" y="880"/>
                  </a:cubicBezTo>
                  <a:cubicBezTo>
                    <a:pt x="338" y="831"/>
                    <a:pt x="338" y="831"/>
                    <a:pt x="338" y="831"/>
                  </a:cubicBezTo>
                  <a:cubicBezTo>
                    <a:pt x="356" y="837"/>
                    <a:pt x="376" y="842"/>
                    <a:pt x="396" y="846"/>
                  </a:cubicBezTo>
                  <a:cubicBezTo>
                    <a:pt x="396" y="901"/>
                    <a:pt x="396" y="901"/>
                    <a:pt x="396" y="901"/>
                  </a:cubicBezTo>
                  <a:cubicBezTo>
                    <a:pt x="396" y="914"/>
                    <a:pt x="407" y="924"/>
                    <a:pt x="420" y="924"/>
                  </a:cubicBezTo>
                  <a:cubicBezTo>
                    <a:pt x="515" y="924"/>
                    <a:pt x="515" y="924"/>
                    <a:pt x="515" y="924"/>
                  </a:cubicBezTo>
                  <a:cubicBezTo>
                    <a:pt x="528" y="924"/>
                    <a:pt x="539" y="914"/>
                    <a:pt x="539" y="901"/>
                  </a:cubicBezTo>
                  <a:cubicBezTo>
                    <a:pt x="539" y="844"/>
                    <a:pt x="539" y="844"/>
                    <a:pt x="539" y="844"/>
                  </a:cubicBezTo>
                  <a:cubicBezTo>
                    <a:pt x="558" y="840"/>
                    <a:pt x="578" y="834"/>
                    <a:pt x="597" y="827"/>
                  </a:cubicBezTo>
                  <a:cubicBezTo>
                    <a:pt x="624" y="875"/>
                    <a:pt x="624" y="875"/>
                    <a:pt x="624" y="875"/>
                  </a:cubicBezTo>
                  <a:cubicBezTo>
                    <a:pt x="631" y="886"/>
                    <a:pt x="645" y="890"/>
                    <a:pt x="656" y="883"/>
                  </a:cubicBezTo>
                  <a:cubicBezTo>
                    <a:pt x="739" y="836"/>
                    <a:pt x="739" y="836"/>
                    <a:pt x="739" y="836"/>
                  </a:cubicBezTo>
                  <a:cubicBezTo>
                    <a:pt x="750" y="829"/>
                    <a:pt x="754" y="815"/>
                    <a:pt x="747" y="803"/>
                  </a:cubicBezTo>
                  <a:cubicBezTo>
                    <a:pt x="719" y="754"/>
                    <a:pt x="719" y="754"/>
                    <a:pt x="719" y="754"/>
                  </a:cubicBezTo>
                  <a:cubicBezTo>
                    <a:pt x="734" y="741"/>
                    <a:pt x="748" y="726"/>
                    <a:pt x="761" y="711"/>
                  </a:cubicBezTo>
                  <a:cubicBezTo>
                    <a:pt x="809" y="738"/>
                    <a:pt x="809" y="738"/>
                    <a:pt x="809" y="738"/>
                  </a:cubicBezTo>
                  <a:cubicBezTo>
                    <a:pt x="820" y="745"/>
                    <a:pt x="834" y="741"/>
                    <a:pt x="841" y="730"/>
                  </a:cubicBezTo>
                  <a:cubicBezTo>
                    <a:pt x="889" y="647"/>
                    <a:pt x="889" y="647"/>
                    <a:pt x="889" y="647"/>
                  </a:cubicBezTo>
                  <a:cubicBezTo>
                    <a:pt x="895" y="636"/>
                    <a:pt x="891" y="621"/>
                    <a:pt x="880" y="615"/>
                  </a:cubicBezTo>
                  <a:cubicBezTo>
                    <a:pt x="831" y="587"/>
                    <a:pt x="831" y="587"/>
                    <a:pt x="831" y="587"/>
                  </a:cubicBezTo>
                  <a:cubicBezTo>
                    <a:pt x="837" y="568"/>
                    <a:pt x="842" y="548"/>
                    <a:pt x="846" y="528"/>
                  </a:cubicBezTo>
                  <a:cubicBezTo>
                    <a:pt x="900" y="528"/>
                    <a:pt x="900" y="528"/>
                    <a:pt x="900" y="528"/>
                  </a:cubicBezTo>
                  <a:cubicBezTo>
                    <a:pt x="913" y="528"/>
                    <a:pt x="924" y="517"/>
                    <a:pt x="924" y="504"/>
                  </a:cubicBezTo>
                  <a:cubicBezTo>
                    <a:pt x="924" y="409"/>
                    <a:pt x="924" y="409"/>
                    <a:pt x="924" y="409"/>
                  </a:cubicBezTo>
                  <a:cubicBezTo>
                    <a:pt x="924" y="396"/>
                    <a:pt x="913" y="386"/>
                    <a:pt x="900" y="386"/>
                  </a:cubicBezTo>
                  <a:close/>
                  <a:moveTo>
                    <a:pt x="462" y="709"/>
                  </a:moveTo>
                  <a:cubicBezTo>
                    <a:pt x="326" y="709"/>
                    <a:pt x="215" y="598"/>
                    <a:pt x="215" y="462"/>
                  </a:cubicBezTo>
                  <a:cubicBezTo>
                    <a:pt x="215" y="326"/>
                    <a:pt x="326" y="215"/>
                    <a:pt x="462" y="215"/>
                  </a:cubicBezTo>
                  <a:cubicBezTo>
                    <a:pt x="598" y="215"/>
                    <a:pt x="709" y="326"/>
                    <a:pt x="709" y="462"/>
                  </a:cubicBezTo>
                  <a:cubicBezTo>
                    <a:pt x="709" y="598"/>
                    <a:pt x="598" y="709"/>
                    <a:pt x="462" y="709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2865670" y="3195568"/>
              <a:ext cx="735013" cy="1495425"/>
            </a:xfrm>
            <a:custGeom>
              <a:avLst/>
              <a:gdLst/>
              <a:ahLst/>
              <a:cxnLst/>
              <a:rect r="r" b="b" t="t" l="l"/>
              <a:pathLst>
                <a:path w="454" h="924" stroke="true" fill="norm" extrusionOk="true">
                  <a:moveTo>
                    <a:pt x="454" y="708"/>
                  </a:moveTo>
                  <a:cubicBezTo>
                    <a:pt x="321" y="704"/>
                    <a:pt x="215" y="596"/>
                    <a:pt x="215" y="462"/>
                  </a:cubicBezTo>
                  <a:cubicBezTo>
                    <a:pt x="215" y="329"/>
                    <a:pt x="321" y="220"/>
                    <a:pt x="454" y="216"/>
                  </a:cubicBezTo>
                  <a:cubicBezTo>
                    <a:pt x="454" y="0"/>
                    <a:pt x="454" y="0"/>
                    <a:pt x="454" y="0"/>
                  </a:cubicBezTo>
                  <a:cubicBezTo>
                    <a:pt x="409" y="0"/>
                    <a:pt x="409" y="0"/>
                    <a:pt x="409" y="0"/>
                  </a:cubicBezTo>
                  <a:cubicBezTo>
                    <a:pt x="396" y="0"/>
                    <a:pt x="385" y="11"/>
                    <a:pt x="385" y="24"/>
                  </a:cubicBezTo>
                  <a:cubicBezTo>
                    <a:pt x="385" y="80"/>
                    <a:pt x="385" y="80"/>
                    <a:pt x="385" y="80"/>
                  </a:cubicBezTo>
                  <a:cubicBezTo>
                    <a:pt x="365" y="84"/>
                    <a:pt x="346" y="90"/>
                    <a:pt x="327" y="97"/>
                  </a:cubicBezTo>
                  <a:cubicBezTo>
                    <a:pt x="300" y="49"/>
                    <a:pt x="300" y="49"/>
                    <a:pt x="300" y="49"/>
                  </a:cubicBezTo>
                  <a:cubicBezTo>
                    <a:pt x="293" y="38"/>
                    <a:pt x="279" y="34"/>
                    <a:pt x="267" y="41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74" y="95"/>
                    <a:pt x="170" y="109"/>
                    <a:pt x="176" y="121"/>
                  </a:cubicBezTo>
                  <a:cubicBezTo>
                    <a:pt x="205" y="170"/>
                    <a:pt x="205" y="170"/>
                    <a:pt x="205" y="170"/>
                  </a:cubicBezTo>
                  <a:cubicBezTo>
                    <a:pt x="190" y="183"/>
                    <a:pt x="176" y="198"/>
                    <a:pt x="163" y="213"/>
                  </a:cubicBezTo>
                  <a:cubicBezTo>
                    <a:pt x="115" y="186"/>
                    <a:pt x="115" y="186"/>
                    <a:pt x="115" y="186"/>
                  </a:cubicBezTo>
                  <a:cubicBezTo>
                    <a:pt x="104" y="179"/>
                    <a:pt x="89" y="183"/>
                    <a:pt x="83" y="194"/>
                  </a:cubicBezTo>
                  <a:cubicBezTo>
                    <a:pt x="35" y="277"/>
                    <a:pt x="35" y="277"/>
                    <a:pt x="35" y="277"/>
                  </a:cubicBezTo>
                  <a:cubicBezTo>
                    <a:pt x="29" y="288"/>
                    <a:pt x="33" y="303"/>
                    <a:pt x="44" y="309"/>
                  </a:cubicBezTo>
                  <a:cubicBezTo>
                    <a:pt x="93" y="338"/>
                    <a:pt x="93" y="338"/>
                    <a:pt x="93" y="338"/>
                  </a:cubicBezTo>
                  <a:cubicBezTo>
                    <a:pt x="87" y="356"/>
                    <a:pt x="82" y="376"/>
                    <a:pt x="78" y="396"/>
                  </a:cubicBezTo>
                  <a:cubicBezTo>
                    <a:pt x="24" y="396"/>
                    <a:pt x="24" y="396"/>
                    <a:pt x="24" y="396"/>
                  </a:cubicBezTo>
                  <a:cubicBezTo>
                    <a:pt x="10" y="396"/>
                    <a:pt x="0" y="407"/>
                    <a:pt x="0" y="420"/>
                  </a:cubicBezTo>
                  <a:cubicBezTo>
                    <a:pt x="0" y="515"/>
                    <a:pt x="0" y="515"/>
                    <a:pt x="0" y="515"/>
                  </a:cubicBezTo>
                  <a:cubicBezTo>
                    <a:pt x="0" y="528"/>
                    <a:pt x="10" y="539"/>
                    <a:pt x="24" y="539"/>
                  </a:cubicBezTo>
                  <a:cubicBezTo>
                    <a:pt x="80" y="539"/>
                    <a:pt x="80" y="539"/>
                    <a:pt x="80" y="539"/>
                  </a:cubicBezTo>
                  <a:cubicBezTo>
                    <a:pt x="84" y="559"/>
                    <a:pt x="90" y="578"/>
                    <a:pt x="97" y="597"/>
                  </a:cubicBezTo>
                  <a:cubicBezTo>
                    <a:pt x="49" y="624"/>
                    <a:pt x="49" y="624"/>
                    <a:pt x="49" y="624"/>
                  </a:cubicBezTo>
                  <a:cubicBezTo>
                    <a:pt x="38" y="631"/>
                    <a:pt x="34" y="645"/>
                    <a:pt x="41" y="657"/>
                  </a:cubicBezTo>
                  <a:cubicBezTo>
                    <a:pt x="88" y="739"/>
                    <a:pt x="88" y="739"/>
                    <a:pt x="88" y="739"/>
                  </a:cubicBezTo>
                  <a:cubicBezTo>
                    <a:pt x="95" y="750"/>
                    <a:pt x="109" y="754"/>
                    <a:pt x="121" y="748"/>
                  </a:cubicBezTo>
                  <a:cubicBezTo>
                    <a:pt x="170" y="719"/>
                    <a:pt x="170" y="719"/>
                    <a:pt x="170" y="719"/>
                  </a:cubicBezTo>
                  <a:cubicBezTo>
                    <a:pt x="183" y="734"/>
                    <a:pt x="198" y="748"/>
                    <a:pt x="213" y="761"/>
                  </a:cubicBezTo>
                  <a:cubicBezTo>
                    <a:pt x="186" y="809"/>
                    <a:pt x="186" y="809"/>
                    <a:pt x="186" y="809"/>
                  </a:cubicBezTo>
                  <a:cubicBezTo>
                    <a:pt x="179" y="820"/>
                    <a:pt x="183" y="835"/>
                    <a:pt x="194" y="841"/>
                  </a:cubicBezTo>
                  <a:cubicBezTo>
                    <a:pt x="277" y="889"/>
                    <a:pt x="277" y="889"/>
                    <a:pt x="277" y="889"/>
                  </a:cubicBezTo>
                  <a:cubicBezTo>
                    <a:pt x="288" y="895"/>
                    <a:pt x="303" y="891"/>
                    <a:pt x="309" y="880"/>
                  </a:cubicBezTo>
                  <a:cubicBezTo>
                    <a:pt x="338" y="831"/>
                    <a:pt x="338" y="831"/>
                    <a:pt x="338" y="831"/>
                  </a:cubicBezTo>
                  <a:cubicBezTo>
                    <a:pt x="356" y="837"/>
                    <a:pt x="376" y="842"/>
                    <a:pt x="396" y="846"/>
                  </a:cubicBezTo>
                  <a:cubicBezTo>
                    <a:pt x="396" y="901"/>
                    <a:pt x="396" y="901"/>
                    <a:pt x="396" y="901"/>
                  </a:cubicBezTo>
                  <a:cubicBezTo>
                    <a:pt x="396" y="914"/>
                    <a:pt x="407" y="924"/>
                    <a:pt x="420" y="924"/>
                  </a:cubicBezTo>
                  <a:cubicBezTo>
                    <a:pt x="454" y="924"/>
                    <a:pt x="454" y="924"/>
                    <a:pt x="454" y="924"/>
                  </a:cubicBezTo>
                  <a:lnTo>
                    <a:pt x="454" y="708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1" id="21"/>
            <p:cNvSpPr/>
            <p:nvPr/>
          </p:nvSpPr>
          <p:spPr>
            <a:xfrm>
              <a:off x="3127608" y="3459093"/>
              <a:ext cx="971550" cy="969963"/>
            </a:xfrm>
            <a:custGeom>
              <a:avLst/>
              <a:gdLst/>
              <a:ahLst/>
              <a:cxnLst/>
              <a:rect r="r" b="b" t="t" l="l"/>
              <a:pathLst>
                <a:path w="600" h="600" stroke="true" fill="norm" extrusionOk="true">
                  <a:moveTo>
                    <a:pt x="300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6"/>
                    <a:pt x="134" y="600"/>
                    <a:pt x="300" y="600"/>
                  </a:cubicBezTo>
                  <a:cubicBezTo>
                    <a:pt x="466" y="600"/>
                    <a:pt x="600" y="466"/>
                    <a:pt x="600" y="300"/>
                  </a:cubicBezTo>
                  <a:cubicBezTo>
                    <a:pt x="600" y="134"/>
                    <a:pt x="466" y="0"/>
                    <a:pt x="300" y="0"/>
                  </a:cubicBezTo>
                  <a:close/>
                  <a:moveTo>
                    <a:pt x="300" y="547"/>
                  </a:moveTo>
                  <a:cubicBezTo>
                    <a:pt x="164" y="547"/>
                    <a:pt x="53" y="436"/>
                    <a:pt x="53" y="300"/>
                  </a:cubicBezTo>
                  <a:cubicBezTo>
                    <a:pt x="53" y="164"/>
                    <a:pt x="164" y="53"/>
                    <a:pt x="300" y="53"/>
                  </a:cubicBezTo>
                  <a:cubicBezTo>
                    <a:pt x="436" y="53"/>
                    <a:pt x="547" y="164"/>
                    <a:pt x="547" y="300"/>
                  </a:cubicBezTo>
                  <a:cubicBezTo>
                    <a:pt x="547" y="436"/>
                    <a:pt x="436" y="547"/>
                    <a:pt x="300" y="547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3600683" y="3459093"/>
              <a:ext cx="498475" cy="969963"/>
            </a:xfrm>
            <a:custGeom>
              <a:avLst/>
              <a:gdLst/>
              <a:ahLst/>
              <a:cxnLst/>
              <a:rect r="r" b="b" t="t" l="l"/>
              <a:pathLst>
                <a:path w="308" h="600" stroke="true" fill="norm" extrusionOk="true">
                  <a:moveTo>
                    <a:pt x="8" y="0"/>
                  </a:moveTo>
                  <a:cubicBezTo>
                    <a:pt x="5" y="0"/>
                    <a:pt x="2" y="0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4"/>
                    <a:pt x="5" y="53"/>
                    <a:pt x="8" y="53"/>
                  </a:cubicBezTo>
                  <a:cubicBezTo>
                    <a:pt x="144" y="53"/>
                    <a:pt x="255" y="164"/>
                    <a:pt x="255" y="300"/>
                  </a:cubicBezTo>
                  <a:cubicBezTo>
                    <a:pt x="255" y="436"/>
                    <a:pt x="144" y="547"/>
                    <a:pt x="8" y="547"/>
                  </a:cubicBezTo>
                  <a:cubicBezTo>
                    <a:pt x="5" y="547"/>
                    <a:pt x="2" y="547"/>
                    <a:pt x="0" y="546"/>
                  </a:cubicBezTo>
                  <a:cubicBezTo>
                    <a:pt x="0" y="600"/>
                    <a:pt x="0" y="600"/>
                    <a:pt x="0" y="600"/>
                  </a:cubicBezTo>
                  <a:cubicBezTo>
                    <a:pt x="2" y="600"/>
                    <a:pt x="5" y="600"/>
                    <a:pt x="8" y="600"/>
                  </a:cubicBezTo>
                  <a:cubicBezTo>
                    <a:pt x="174" y="600"/>
                    <a:pt x="308" y="466"/>
                    <a:pt x="308" y="300"/>
                  </a:cubicBezTo>
                  <a:cubicBezTo>
                    <a:pt x="308" y="134"/>
                    <a:pt x="174" y="0"/>
                    <a:pt x="8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3697520" y="4032181"/>
              <a:ext cx="811213" cy="811213"/>
            </a:xfrm>
            <a:custGeom>
              <a:avLst/>
              <a:gdLst/>
              <a:ahLst/>
              <a:cxnLst/>
              <a:rect r="r" b="b" t="t" l="l"/>
              <a:pathLst>
                <a:path w="501" h="502" stroke="true" fill="norm" extrusionOk="true">
                  <a:moveTo>
                    <a:pt x="464" y="465"/>
                  </a:moveTo>
                  <a:cubicBezTo>
                    <a:pt x="464" y="465"/>
                    <a:pt x="464" y="465"/>
                    <a:pt x="464" y="465"/>
                  </a:cubicBezTo>
                  <a:cubicBezTo>
                    <a:pt x="426" y="502"/>
                    <a:pt x="366" y="502"/>
                    <a:pt x="329" y="465"/>
                  </a:cubicBezTo>
                  <a:cubicBezTo>
                    <a:pt x="38" y="172"/>
                    <a:pt x="38" y="172"/>
                    <a:pt x="38" y="172"/>
                  </a:cubicBezTo>
                  <a:cubicBezTo>
                    <a:pt x="0" y="135"/>
                    <a:pt x="1" y="74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75" y="0"/>
                    <a:pt x="136" y="0"/>
                    <a:pt x="173" y="37"/>
                  </a:cubicBezTo>
                  <a:cubicBezTo>
                    <a:pt x="464" y="330"/>
                    <a:pt x="464" y="330"/>
                    <a:pt x="464" y="330"/>
                  </a:cubicBezTo>
                  <a:cubicBezTo>
                    <a:pt x="501" y="367"/>
                    <a:pt x="501" y="428"/>
                    <a:pt x="464" y="465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3802295" y="4200456"/>
              <a:ext cx="603250" cy="603250"/>
            </a:xfrm>
            <a:custGeom>
              <a:avLst/>
              <a:gdLst/>
              <a:ahLst/>
              <a:cxnLst/>
              <a:rect r="r" b="b" t="t" l="l"/>
              <a:pathLst>
                <a:path w="372" h="373" stroke="true" fill="norm" extrusionOk="true">
                  <a:moveTo>
                    <a:pt x="357" y="359"/>
                  </a:moveTo>
                  <a:cubicBezTo>
                    <a:pt x="343" y="373"/>
                    <a:pt x="320" y="373"/>
                    <a:pt x="305" y="359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0" y="52"/>
                    <a:pt x="0" y="28"/>
                    <a:pt x="14" y="14"/>
                  </a:cubicBezTo>
                  <a:cubicBezTo>
                    <a:pt x="29" y="0"/>
                    <a:pt x="52" y="0"/>
                    <a:pt x="66" y="14"/>
                  </a:cubicBezTo>
                  <a:cubicBezTo>
                    <a:pt x="358" y="307"/>
                    <a:pt x="358" y="307"/>
                    <a:pt x="358" y="307"/>
                  </a:cubicBezTo>
                  <a:cubicBezTo>
                    <a:pt x="372" y="321"/>
                    <a:pt x="372" y="344"/>
                    <a:pt x="358" y="359"/>
                  </a:cubicBezTo>
                  <a:lnTo>
                    <a:pt x="357" y="359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2660883" y="2992368"/>
              <a:ext cx="1209675" cy="1209675"/>
            </a:xfrm>
            <a:custGeom>
              <a:avLst/>
              <a:gdLst/>
              <a:ahLst/>
              <a:cxnLst/>
              <a:rect r="r" b="b" t="t" l="l"/>
              <a:pathLst>
                <a:path w="747" h="747" stroke="true" fill="norm" extrusionOk="true">
                  <a:moveTo>
                    <a:pt x="109" y="110"/>
                  </a:moveTo>
                  <a:cubicBezTo>
                    <a:pt x="109" y="110"/>
                    <a:pt x="109" y="110"/>
                    <a:pt x="109" y="110"/>
                  </a:cubicBezTo>
                  <a:cubicBezTo>
                    <a:pt x="180" y="39"/>
                    <a:pt x="274" y="0"/>
                    <a:pt x="374" y="0"/>
                  </a:cubicBezTo>
                  <a:cubicBezTo>
                    <a:pt x="580" y="1"/>
                    <a:pt x="747" y="168"/>
                    <a:pt x="747" y="374"/>
                  </a:cubicBezTo>
                  <a:cubicBezTo>
                    <a:pt x="747" y="473"/>
                    <a:pt x="708" y="567"/>
                    <a:pt x="637" y="637"/>
                  </a:cubicBezTo>
                  <a:cubicBezTo>
                    <a:pt x="567" y="708"/>
                    <a:pt x="473" y="747"/>
                    <a:pt x="373" y="747"/>
                  </a:cubicBezTo>
                  <a:cubicBezTo>
                    <a:pt x="273" y="747"/>
                    <a:pt x="180" y="708"/>
                    <a:pt x="109" y="637"/>
                  </a:cubicBezTo>
                  <a:cubicBezTo>
                    <a:pt x="39" y="566"/>
                    <a:pt x="0" y="472"/>
                    <a:pt x="0" y="373"/>
                  </a:cubicBezTo>
                  <a:cubicBezTo>
                    <a:pt x="0" y="274"/>
                    <a:pt x="39" y="180"/>
                    <a:pt x="109" y="11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2814870" y="3147943"/>
              <a:ext cx="900113" cy="898525"/>
            </a:xfrm>
            <a:custGeom>
              <a:avLst/>
              <a:gdLst/>
              <a:ahLst/>
              <a:cxnLst/>
              <a:rect r="r" b="b" t="t" l="l"/>
              <a:pathLst>
                <a:path w="556" h="555" stroke="true" fill="norm" extrusionOk="true">
                  <a:moveTo>
                    <a:pt x="82" y="81"/>
                  </a:moveTo>
                  <a:cubicBezTo>
                    <a:pt x="30" y="134"/>
                    <a:pt x="1" y="203"/>
                    <a:pt x="1" y="277"/>
                  </a:cubicBezTo>
                  <a:cubicBezTo>
                    <a:pt x="0" y="430"/>
                    <a:pt x="125" y="555"/>
                    <a:pt x="278" y="555"/>
                  </a:cubicBezTo>
                  <a:cubicBezTo>
                    <a:pt x="352" y="555"/>
                    <a:pt x="422" y="526"/>
                    <a:pt x="475" y="474"/>
                  </a:cubicBezTo>
                  <a:cubicBezTo>
                    <a:pt x="475" y="474"/>
                    <a:pt x="475" y="474"/>
                    <a:pt x="475" y="474"/>
                  </a:cubicBezTo>
                  <a:cubicBezTo>
                    <a:pt x="527" y="421"/>
                    <a:pt x="556" y="352"/>
                    <a:pt x="556" y="278"/>
                  </a:cubicBezTo>
                  <a:cubicBezTo>
                    <a:pt x="556" y="204"/>
                    <a:pt x="528" y="134"/>
                    <a:pt x="475" y="82"/>
                  </a:cubicBezTo>
                  <a:cubicBezTo>
                    <a:pt x="423" y="29"/>
                    <a:pt x="353" y="0"/>
                    <a:pt x="279" y="0"/>
                  </a:cubicBezTo>
                  <a:cubicBezTo>
                    <a:pt x="205" y="0"/>
                    <a:pt x="135" y="29"/>
                    <a:pt x="82" y="8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2902183" y="3147943"/>
              <a:ext cx="812800" cy="869950"/>
            </a:xfrm>
            <a:custGeom>
              <a:avLst/>
              <a:gdLst/>
              <a:ahLst/>
              <a:cxnLst/>
              <a:rect r="r" b="b" t="t" l="l"/>
              <a:pathLst>
                <a:path w="502" h="538" stroke="true" fill="norm" extrusionOk="true">
                  <a:moveTo>
                    <a:pt x="421" y="82"/>
                  </a:moveTo>
                  <a:cubicBezTo>
                    <a:pt x="369" y="29"/>
                    <a:pt x="299" y="0"/>
                    <a:pt x="225" y="0"/>
                  </a:cubicBezTo>
                  <a:cubicBezTo>
                    <a:pt x="204" y="0"/>
                    <a:pt x="183" y="2"/>
                    <a:pt x="164" y="6"/>
                  </a:cubicBezTo>
                  <a:cubicBezTo>
                    <a:pt x="133" y="20"/>
                    <a:pt x="106" y="39"/>
                    <a:pt x="81" y="64"/>
                  </a:cubicBezTo>
                  <a:cubicBezTo>
                    <a:pt x="29" y="116"/>
                    <a:pt x="0" y="185"/>
                    <a:pt x="0" y="259"/>
                  </a:cubicBezTo>
                  <a:cubicBezTo>
                    <a:pt x="0" y="412"/>
                    <a:pt x="124" y="537"/>
                    <a:pt x="277" y="538"/>
                  </a:cubicBezTo>
                  <a:cubicBezTo>
                    <a:pt x="298" y="538"/>
                    <a:pt x="318" y="535"/>
                    <a:pt x="338" y="531"/>
                  </a:cubicBezTo>
                  <a:cubicBezTo>
                    <a:pt x="369" y="517"/>
                    <a:pt x="397" y="498"/>
                    <a:pt x="421" y="474"/>
                  </a:cubicBezTo>
                  <a:cubicBezTo>
                    <a:pt x="421" y="474"/>
                    <a:pt x="421" y="474"/>
                    <a:pt x="421" y="474"/>
                  </a:cubicBezTo>
                  <a:cubicBezTo>
                    <a:pt x="473" y="421"/>
                    <a:pt x="502" y="352"/>
                    <a:pt x="502" y="278"/>
                  </a:cubicBezTo>
                  <a:cubicBezTo>
                    <a:pt x="502" y="204"/>
                    <a:pt x="474" y="134"/>
                    <a:pt x="421" y="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3584808" y="3916294"/>
              <a:ext cx="265113" cy="268288"/>
            </a:xfrm>
            <a:custGeom>
              <a:avLst/>
              <a:gdLst/>
              <a:ahLst/>
              <a:cxnLst/>
              <a:rect r="r" b="b" t="t" l="l"/>
              <a:pathLst>
                <a:path w="164" h="166" stroke="true" fill="norm" extrusionOk="true">
                  <a:moveTo>
                    <a:pt x="145" y="147"/>
                  </a:moveTo>
                  <a:cubicBezTo>
                    <a:pt x="127" y="166"/>
                    <a:pt x="96" y="166"/>
                    <a:pt x="78" y="147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0" y="67"/>
                    <a:pt x="0" y="37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37" y="0"/>
                    <a:pt x="67" y="0"/>
                    <a:pt x="86" y="18"/>
                  </a:cubicBezTo>
                  <a:cubicBezTo>
                    <a:pt x="145" y="80"/>
                    <a:pt x="145" y="80"/>
                    <a:pt x="145" y="80"/>
                  </a:cubicBezTo>
                  <a:cubicBezTo>
                    <a:pt x="164" y="98"/>
                    <a:pt x="164" y="129"/>
                    <a:pt x="145" y="147"/>
                  </a:cubicBezTo>
                  <a:cubicBezTo>
                    <a:pt x="145" y="147"/>
                    <a:pt x="145" y="147"/>
                    <a:pt x="145" y="14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9" id="29"/>
            <p:cNvSpPr/>
            <p:nvPr/>
          </p:nvSpPr>
          <p:spPr>
            <a:xfrm>
              <a:off x="3265720" y="3025706"/>
              <a:ext cx="571500" cy="1141413"/>
            </a:xfrm>
            <a:custGeom>
              <a:avLst/>
              <a:gdLst/>
              <a:ahLst/>
              <a:cxnLst/>
              <a:rect r="r" b="b" t="t" l="l"/>
              <a:pathLst>
                <a:path w="353" h="705" stroke="true" fill="norm" extrusionOk="true">
                  <a:moveTo>
                    <a:pt x="1" y="0"/>
                  </a:moveTo>
                  <a:cubicBezTo>
                    <a:pt x="195" y="1"/>
                    <a:pt x="353" y="159"/>
                    <a:pt x="353" y="353"/>
                  </a:cubicBezTo>
                  <a:cubicBezTo>
                    <a:pt x="352" y="447"/>
                    <a:pt x="316" y="535"/>
                    <a:pt x="249" y="601"/>
                  </a:cubicBezTo>
                  <a:cubicBezTo>
                    <a:pt x="183" y="668"/>
                    <a:pt x="94" y="705"/>
                    <a:pt x="1" y="705"/>
                  </a:cubicBezTo>
                  <a:cubicBezTo>
                    <a:pt x="0" y="705"/>
                    <a:pt x="0" y="705"/>
                    <a:pt x="0" y="705"/>
                  </a:cubicBezTo>
                  <a:cubicBezTo>
                    <a:pt x="0" y="658"/>
                    <a:pt x="0" y="658"/>
                    <a:pt x="0" y="658"/>
                  </a:cubicBezTo>
                  <a:cubicBezTo>
                    <a:pt x="0" y="658"/>
                    <a:pt x="0" y="658"/>
                    <a:pt x="1" y="658"/>
                  </a:cubicBezTo>
                  <a:cubicBezTo>
                    <a:pt x="82" y="658"/>
                    <a:pt x="158" y="626"/>
                    <a:pt x="216" y="568"/>
                  </a:cubicBezTo>
                  <a:cubicBezTo>
                    <a:pt x="274" y="511"/>
                    <a:pt x="305" y="434"/>
                    <a:pt x="306" y="353"/>
                  </a:cubicBezTo>
                  <a:cubicBezTo>
                    <a:pt x="306" y="185"/>
                    <a:pt x="169" y="48"/>
                    <a:pt x="1" y="47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2887895" y="3213031"/>
              <a:ext cx="825500" cy="831850"/>
            </a:xfrm>
            <a:custGeom>
              <a:avLst/>
              <a:gdLst/>
              <a:ahLst/>
              <a:cxnLst/>
              <a:rect r="r" b="b" t="t" l="l"/>
              <a:pathLst>
                <a:path w="510" h="514" stroke="true" fill="norm" extrusionOk="true">
                  <a:moveTo>
                    <a:pt x="201" y="452"/>
                  </a:moveTo>
                  <a:cubicBezTo>
                    <a:pt x="201" y="316"/>
                    <a:pt x="312" y="205"/>
                    <a:pt x="448" y="205"/>
                  </a:cubicBezTo>
                  <a:cubicBezTo>
                    <a:pt x="469" y="205"/>
                    <a:pt x="490" y="208"/>
                    <a:pt x="510" y="214"/>
                  </a:cubicBezTo>
                  <a:cubicBezTo>
                    <a:pt x="505" y="149"/>
                    <a:pt x="477" y="88"/>
                    <a:pt x="430" y="42"/>
                  </a:cubicBezTo>
                  <a:cubicBezTo>
                    <a:pt x="414" y="25"/>
                    <a:pt x="395" y="11"/>
                    <a:pt x="376" y="0"/>
                  </a:cubicBezTo>
                  <a:cubicBezTo>
                    <a:pt x="373" y="4"/>
                    <a:pt x="371" y="8"/>
                    <a:pt x="371" y="14"/>
                  </a:cubicBezTo>
                  <a:cubicBezTo>
                    <a:pt x="371" y="70"/>
                    <a:pt x="371" y="70"/>
                    <a:pt x="371" y="70"/>
                  </a:cubicBezTo>
                  <a:cubicBezTo>
                    <a:pt x="351" y="74"/>
                    <a:pt x="332" y="80"/>
                    <a:pt x="313" y="87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79" y="28"/>
                    <a:pt x="265" y="24"/>
                    <a:pt x="253" y="31"/>
                  </a:cubicBezTo>
                  <a:cubicBezTo>
                    <a:pt x="171" y="78"/>
                    <a:pt x="171" y="78"/>
                    <a:pt x="171" y="78"/>
                  </a:cubicBezTo>
                  <a:cubicBezTo>
                    <a:pt x="160" y="85"/>
                    <a:pt x="156" y="99"/>
                    <a:pt x="162" y="111"/>
                  </a:cubicBezTo>
                  <a:cubicBezTo>
                    <a:pt x="191" y="160"/>
                    <a:pt x="191" y="160"/>
                    <a:pt x="191" y="160"/>
                  </a:cubicBezTo>
                  <a:cubicBezTo>
                    <a:pt x="176" y="173"/>
                    <a:pt x="162" y="188"/>
                    <a:pt x="149" y="203"/>
                  </a:cubicBezTo>
                  <a:cubicBezTo>
                    <a:pt x="101" y="176"/>
                    <a:pt x="101" y="176"/>
                    <a:pt x="101" y="176"/>
                  </a:cubicBezTo>
                  <a:cubicBezTo>
                    <a:pt x="90" y="169"/>
                    <a:pt x="75" y="173"/>
                    <a:pt x="69" y="184"/>
                  </a:cubicBezTo>
                  <a:cubicBezTo>
                    <a:pt x="21" y="267"/>
                    <a:pt x="21" y="267"/>
                    <a:pt x="21" y="267"/>
                  </a:cubicBezTo>
                  <a:cubicBezTo>
                    <a:pt x="15" y="278"/>
                    <a:pt x="19" y="293"/>
                    <a:pt x="30" y="299"/>
                  </a:cubicBezTo>
                  <a:cubicBezTo>
                    <a:pt x="79" y="328"/>
                    <a:pt x="79" y="328"/>
                    <a:pt x="79" y="328"/>
                  </a:cubicBezTo>
                  <a:cubicBezTo>
                    <a:pt x="73" y="346"/>
                    <a:pt x="68" y="366"/>
                    <a:pt x="64" y="386"/>
                  </a:cubicBezTo>
                  <a:cubicBezTo>
                    <a:pt x="10" y="386"/>
                    <a:pt x="10" y="386"/>
                    <a:pt x="10" y="386"/>
                  </a:cubicBezTo>
                  <a:cubicBezTo>
                    <a:pt x="6" y="386"/>
                    <a:pt x="3" y="387"/>
                    <a:pt x="0" y="388"/>
                  </a:cubicBezTo>
                  <a:cubicBezTo>
                    <a:pt x="46" y="458"/>
                    <a:pt x="122" y="507"/>
                    <a:pt x="210" y="514"/>
                  </a:cubicBezTo>
                  <a:cubicBezTo>
                    <a:pt x="204" y="494"/>
                    <a:pt x="201" y="474"/>
                    <a:pt x="201" y="452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2887895" y="3836918"/>
              <a:ext cx="339725" cy="207963"/>
            </a:xfrm>
            <a:custGeom>
              <a:avLst/>
              <a:gdLst/>
              <a:ahLst/>
              <a:cxnLst/>
              <a:rect r="r" b="b" t="t" l="l"/>
              <a:pathLst>
                <a:path w="210" h="128" stroke="true" fill="norm" extrusionOk="true">
                  <a:moveTo>
                    <a:pt x="65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0"/>
                    <a:pt x="3" y="1"/>
                    <a:pt x="0" y="2"/>
                  </a:cubicBezTo>
                  <a:cubicBezTo>
                    <a:pt x="3" y="6"/>
                    <a:pt x="5" y="9"/>
                    <a:pt x="7" y="13"/>
                  </a:cubicBezTo>
                  <a:cubicBezTo>
                    <a:pt x="9" y="15"/>
                    <a:pt x="11" y="17"/>
                    <a:pt x="13" y="20"/>
                  </a:cubicBezTo>
                  <a:cubicBezTo>
                    <a:pt x="17" y="25"/>
                    <a:pt x="21" y="30"/>
                    <a:pt x="25" y="35"/>
                  </a:cubicBezTo>
                  <a:cubicBezTo>
                    <a:pt x="27" y="37"/>
                    <a:pt x="29" y="39"/>
                    <a:pt x="31" y="41"/>
                  </a:cubicBezTo>
                  <a:cubicBezTo>
                    <a:pt x="35" y="46"/>
                    <a:pt x="40" y="50"/>
                    <a:pt x="44" y="54"/>
                  </a:cubicBezTo>
                  <a:cubicBezTo>
                    <a:pt x="47" y="57"/>
                    <a:pt x="49" y="59"/>
                    <a:pt x="52" y="61"/>
                  </a:cubicBezTo>
                  <a:cubicBezTo>
                    <a:pt x="55" y="64"/>
                    <a:pt x="58" y="67"/>
                    <a:pt x="62" y="70"/>
                  </a:cubicBezTo>
                  <a:cubicBezTo>
                    <a:pt x="64" y="72"/>
                    <a:pt x="67" y="73"/>
                    <a:pt x="69" y="75"/>
                  </a:cubicBezTo>
                  <a:cubicBezTo>
                    <a:pt x="75" y="79"/>
                    <a:pt x="80" y="83"/>
                    <a:pt x="85" y="86"/>
                  </a:cubicBezTo>
                  <a:cubicBezTo>
                    <a:pt x="88" y="88"/>
                    <a:pt x="90" y="89"/>
                    <a:pt x="93" y="91"/>
                  </a:cubicBezTo>
                  <a:cubicBezTo>
                    <a:pt x="99" y="94"/>
                    <a:pt x="104" y="97"/>
                    <a:pt x="110" y="100"/>
                  </a:cubicBezTo>
                  <a:cubicBezTo>
                    <a:pt x="113" y="101"/>
                    <a:pt x="116" y="103"/>
                    <a:pt x="119" y="104"/>
                  </a:cubicBezTo>
                  <a:cubicBezTo>
                    <a:pt x="122" y="106"/>
                    <a:pt x="126" y="108"/>
                    <a:pt x="130" y="109"/>
                  </a:cubicBezTo>
                  <a:cubicBezTo>
                    <a:pt x="134" y="111"/>
                    <a:pt x="138" y="112"/>
                    <a:pt x="142" y="113"/>
                  </a:cubicBezTo>
                  <a:cubicBezTo>
                    <a:pt x="147" y="115"/>
                    <a:pt x="153" y="117"/>
                    <a:pt x="158" y="119"/>
                  </a:cubicBezTo>
                  <a:cubicBezTo>
                    <a:pt x="161" y="120"/>
                    <a:pt x="164" y="120"/>
                    <a:pt x="167" y="121"/>
                  </a:cubicBezTo>
                  <a:cubicBezTo>
                    <a:pt x="174" y="123"/>
                    <a:pt x="180" y="124"/>
                    <a:pt x="187" y="125"/>
                  </a:cubicBezTo>
                  <a:cubicBezTo>
                    <a:pt x="190" y="126"/>
                    <a:pt x="193" y="126"/>
                    <a:pt x="196" y="127"/>
                  </a:cubicBezTo>
                  <a:cubicBezTo>
                    <a:pt x="201" y="127"/>
                    <a:pt x="205" y="128"/>
                    <a:pt x="210" y="128"/>
                  </a:cubicBezTo>
                  <a:cubicBezTo>
                    <a:pt x="207" y="119"/>
                    <a:pt x="205" y="109"/>
                    <a:pt x="204" y="99"/>
                  </a:cubicBezTo>
                  <a:cubicBezTo>
                    <a:pt x="147" y="81"/>
                    <a:pt x="99" y="46"/>
                    <a:pt x="65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sp>
        <p:nvSpPr>
          <p:cNvPr name="TextBox 32" id="32"/>
          <p:cNvSpPr txBox="true"/>
          <p:nvPr/>
        </p:nvSpPr>
        <p:spPr>
          <a:xfrm>
            <a:off x="2546536" y="656049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拓扑排序与关键路径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6282764" y="250329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拓扑排序是针对有向无环图的一种排序算法，将顶点排成一个线性序列，使得图中任意一条有向边的起点在终点之前。实现时，每次选择入度为0的顶点输出，并删除该顶点关联的边。拓扑排序可用于检测是否有环，在项目管理、编译依赖处理中有重要应用。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6282764" y="2041624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拓扑排序的原理与实现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6282764" y="4725397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关键路径是AOE网中从源点到汇点的最长路径，决定了项目的最短工期。计算最早发生时间和最晚发生时间，找出时间余量为0的活动即关键活动。关键活动的延误会影响整个项目的进度，因此项目管理中需要密切关注关键路径上的活动。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6282764" y="4263722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关键路径与最早最晚时间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8810626" y="1483028"/>
            <a:ext cx="2647950" cy="290160"/>
          </a:xfrm>
          <a:prstGeom prst="leftArrow">
            <a:avLst/>
          </a:prstGeom>
          <a:gradFill rotWithShape="true" flip="none">
            <a:gsLst>
              <a:gs pos="0">
                <a:srgbClr val="007611"/>
              </a:gs>
              <a:gs pos="100000">
                <a:srgbClr val="007611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8" id="3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查找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06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680677">
            <a:off x="-124184" y="966251"/>
            <a:ext cx="10199989" cy="3784117"/>
          </a:xfrm>
          <a:custGeom>
            <a:avLst/>
            <a:gdLst/>
            <a:ahLst/>
            <a:cxnLst/>
            <a:rect r="r" b="b" t="t" l="l"/>
            <a:pathLst>
              <a:path w="2907" h="1077" stroke="true" fill="norm" extrusionOk="true">
                <a:moveTo>
                  <a:pt x="966" y="697"/>
                </a:moveTo>
                <a:cubicBezTo>
                  <a:pt x="1108" y="727"/>
                  <a:pt x="1497" y="786"/>
                  <a:pt x="1623" y="694"/>
                </a:cubicBezTo>
                <a:cubicBezTo>
                  <a:pt x="1667" y="661"/>
                  <a:pt x="1708" y="623"/>
                  <a:pt x="1752" y="588"/>
                </a:cubicBezTo>
                <a:cubicBezTo>
                  <a:pt x="2134" y="287"/>
                  <a:pt x="2404" y="399"/>
                  <a:pt x="2401" y="402"/>
                </a:cubicBezTo>
                <a:cubicBezTo>
                  <a:pt x="2518" y="510"/>
                  <a:pt x="2782" y="511"/>
                  <a:pt x="2907" y="415"/>
                </a:cubicBezTo>
                <a:cubicBezTo>
                  <a:pt x="2901" y="418"/>
                  <a:pt x="2896" y="421"/>
                  <a:pt x="2890" y="424"/>
                </a:cubicBezTo>
                <a:lnTo>
                  <a:pt x="2890" y="424"/>
                </a:lnTo>
                <a:cubicBezTo>
                  <a:pt x="2776" y="484"/>
                  <a:pt x="2556" y="468"/>
                  <a:pt x="2461" y="382"/>
                </a:cubicBezTo>
                <a:cubicBezTo>
                  <a:pt x="2594" y="342"/>
                  <a:pt x="2774" y="142"/>
                  <a:pt x="2813" y="0"/>
                </a:cubicBezTo>
                <a:cubicBezTo>
                  <a:pt x="2769" y="128"/>
                  <a:pt x="2609" y="309"/>
                  <a:pt x="2486" y="344"/>
                </a:cubicBezTo>
                <a:cubicBezTo>
                  <a:pt x="2412" y="366"/>
                  <a:pt x="2258" y="334"/>
                  <a:pt x="2149" y="312"/>
                </a:cubicBezTo>
                <a:cubicBezTo>
                  <a:pt x="2096" y="307"/>
                  <a:pt x="1767" y="523"/>
                  <a:pt x="1723" y="545"/>
                </a:cubicBezTo>
                <a:cubicBezTo>
                  <a:pt x="1685" y="564"/>
                  <a:pt x="1653" y="593"/>
                  <a:pt x="1621" y="619"/>
                </a:cubicBezTo>
                <a:cubicBezTo>
                  <a:pt x="1544" y="679"/>
                  <a:pt x="1459" y="684"/>
                  <a:pt x="1365" y="675"/>
                </a:cubicBezTo>
                <a:cubicBezTo>
                  <a:pt x="1283" y="668"/>
                  <a:pt x="1017" y="609"/>
                  <a:pt x="905" y="585"/>
                </a:cubicBezTo>
                <a:cubicBezTo>
                  <a:pt x="892" y="585"/>
                  <a:pt x="333" y="356"/>
                  <a:pt x="40" y="603"/>
                </a:cubicBezTo>
                <a:cubicBezTo>
                  <a:pt x="38" y="604"/>
                  <a:pt x="2" y="577"/>
                  <a:pt x="0" y="579"/>
                </a:cubicBezTo>
                <a:cubicBezTo>
                  <a:pt x="35" y="711"/>
                  <a:pt x="81" y="945"/>
                  <a:pt x="116" y="1077"/>
                </a:cubicBezTo>
                <a:cubicBezTo>
                  <a:pt x="134" y="1022"/>
                  <a:pt x="114" y="942"/>
                  <a:pt x="135" y="890"/>
                </a:cubicBezTo>
                <a:cubicBezTo>
                  <a:pt x="183" y="773"/>
                  <a:pt x="185" y="695"/>
                  <a:pt x="337" y="673"/>
                </a:cubicBezTo>
                <a:cubicBezTo>
                  <a:pt x="561" y="641"/>
                  <a:pt x="765" y="673"/>
                  <a:pt x="985" y="702"/>
                </a:cubicBezTo>
              </a:path>
            </a:pathLst>
          </a:custGeom>
          <a:solidFill>
            <a:srgbClr val="262626">
              <a:lumMod val="50000"/>
              <a:lumOff val="50000"/>
            </a:srgbClr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3" id="3"/>
          <p:cNvSpPr/>
          <p:nvPr/>
        </p:nvSpPr>
        <p:spPr>
          <a:xfrm>
            <a:off x="2311279" y="2495186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4" id="4"/>
          <p:cNvSpPr/>
          <p:nvPr/>
        </p:nvSpPr>
        <p:spPr>
          <a:xfrm>
            <a:off x="904429" y="2111651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5" id="5"/>
          <p:cNvSpPr/>
          <p:nvPr/>
        </p:nvSpPr>
        <p:spPr>
          <a:xfrm>
            <a:off x="3230626" y="2865321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6" id="6"/>
          <p:cNvSpPr/>
          <p:nvPr/>
        </p:nvSpPr>
        <p:spPr>
          <a:xfrm>
            <a:off x="5049749" y="3341238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7" id="7"/>
          <p:cNvSpPr/>
          <p:nvPr/>
        </p:nvSpPr>
        <p:spPr>
          <a:xfrm>
            <a:off x="6748553" y="2788653"/>
            <a:ext cx="106686" cy="1066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8" id="8"/>
          <p:cNvSpPr/>
          <p:nvPr/>
        </p:nvSpPr>
        <p:spPr>
          <a:xfrm>
            <a:off x="8259030" y="2865321"/>
            <a:ext cx="106686" cy="1066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9" id="9"/>
          <p:cNvSpPr/>
          <p:nvPr/>
        </p:nvSpPr>
        <p:spPr>
          <a:xfrm rot="8375883">
            <a:off x="2078838" y="1225780"/>
            <a:ext cx="2519256" cy="1089623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49000">
                <a:srgbClr val="008213"/>
              </a:gs>
              <a:gs pos="51000">
                <a:srgbClr val="009E17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0" id="10"/>
          <p:cNvSpPr/>
          <p:nvPr/>
        </p:nvSpPr>
        <p:spPr>
          <a:xfrm rot="7494101">
            <a:off x="4659063" y="2048528"/>
            <a:ext cx="2223903" cy="962171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49000">
                <a:schemeClr val="accent6">
                  <a:lumMod val="50000"/>
                </a:schemeClr>
              </a:gs>
              <a:gs pos="51000">
                <a:schemeClr val="accent6">
                  <a:lumMod val="75000"/>
                </a:schemeClr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1" id="11"/>
          <p:cNvSpPr/>
          <p:nvPr/>
        </p:nvSpPr>
        <p:spPr>
          <a:xfrm rot="7358619">
            <a:off x="7802403" y="1532887"/>
            <a:ext cx="2157161" cy="933297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50000">
                <a:schemeClr val="accent4">
                  <a:lumMod val="75000"/>
                </a:schemeClr>
              </a:gs>
              <a:gs pos="52000">
                <a:srgbClr val="DAA600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2" id="12"/>
          <p:cNvSpPr/>
          <p:nvPr/>
        </p:nvSpPr>
        <p:spPr>
          <a:xfrm rot="3380677">
            <a:off x="454315" y="2707210"/>
            <a:ext cx="2518870" cy="1089790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49000">
                <a:srgbClr val="00680F"/>
              </a:gs>
              <a:gs pos="51000">
                <a:srgbClr val="008A14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3" id="13"/>
          <p:cNvSpPr/>
          <p:nvPr/>
        </p:nvSpPr>
        <p:spPr>
          <a:xfrm rot="3467410">
            <a:off x="2808463" y="3409773"/>
            <a:ext cx="2223903" cy="962171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50000">
                <a:srgbClr val="F19B14">
                  <a:lumMod val="75000"/>
                </a:srgbClr>
              </a:gs>
              <a:gs pos="51000">
                <a:srgbClr val="F19B14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4" id="14"/>
          <p:cNvSpPr/>
          <p:nvPr/>
        </p:nvSpPr>
        <p:spPr>
          <a:xfrm rot="2257082">
            <a:off x="6586279" y="3025212"/>
            <a:ext cx="2157492" cy="933154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50000">
                <a:srgbClr val="008653"/>
              </a:gs>
              <a:gs pos="51000">
                <a:srgbClr val="00AC6A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TextBox 15" id="15"/>
          <p:cNvSpPr txBox="true"/>
          <p:nvPr/>
        </p:nvSpPr>
        <p:spPr>
          <a:xfrm>
            <a:off x="1547970" y="507938"/>
            <a:ext cx="9096059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静态查找表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374956" y="501587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顺序查找从表的一端开始依次比较，时间复杂度O(n)，适用于无序表。折半查找需要有序表，每次将查找区间缩小一半，时间复杂度O(log n)。折半查找的效率高于顺序查找，但要求数据预先排序，并且只能用于顺序存储结构。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319571" y="4643703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顺序查找与折半查找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6446214" y="501587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索引顺序查找结合了顺序查找和折半查找的优点。将表分成若干块，每块内元素无序，但块间有序（前一块最大元素小于后一块最小元素）。建立一个索引表，每块对应一个索引项包含块内最大关键字和起始位置。查找时先对索引表进行折半查找，再在块内顺序查找。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390829" y="4643703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索引顺序查找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0" y="0"/>
            <a:ext cx="12192000" cy="193442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1" id="21"/>
          <p:cNvSpPr/>
          <p:nvPr/>
        </p:nvSpPr>
        <p:spPr>
          <a:xfrm>
            <a:off x="0" y="6678531"/>
            <a:ext cx="12192000" cy="193442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2" id="2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7383317" y="5030817"/>
            <a:ext cx="2391410" cy="1249680"/>
            <a:chOff x="7481906" y="4764253"/>
            <a:chExt cx="2391410" cy="1249680"/>
          </a:xfrm>
        </p:grpSpPr>
        <p:sp>
          <p:nvSpPr>
            <p:cNvPr name="Freeform 3" id="3"/>
            <p:cNvSpPr/>
            <p:nvPr/>
          </p:nvSpPr>
          <p:spPr>
            <a:xfrm>
              <a:off x="7481906" y="511096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rgbClr val="00965D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8676976" y="511096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rgbClr val="00AC6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7481906" y="4764253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rgbClr val="00EA9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6" id="6"/>
          <p:cNvGrpSpPr/>
          <p:nvPr/>
        </p:nvGrpSpPr>
        <p:grpSpPr>
          <a:xfrm>
            <a:off x="7402255" y="4149388"/>
            <a:ext cx="2391410" cy="1249680"/>
            <a:chOff x="7500844" y="3882824"/>
            <a:chExt cx="2391410" cy="1249680"/>
          </a:xfrm>
        </p:grpSpPr>
        <p:sp>
          <p:nvSpPr>
            <p:cNvPr name="Freeform 7" id="7"/>
            <p:cNvSpPr/>
            <p:nvPr/>
          </p:nvSpPr>
          <p:spPr>
            <a:xfrm>
              <a:off x="7500844" y="4229534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8695914" y="4229534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7500844" y="3882824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0" id="10"/>
          <p:cNvGrpSpPr/>
          <p:nvPr/>
        </p:nvGrpSpPr>
        <p:grpSpPr>
          <a:xfrm>
            <a:off x="7383317" y="3247880"/>
            <a:ext cx="2391410" cy="1249680"/>
            <a:chOff x="7481906" y="2981316"/>
            <a:chExt cx="2391410" cy="1249680"/>
          </a:xfrm>
        </p:grpSpPr>
        <p:sp>
          <p:nvSpPr>
            <p:cNvPr name="Freeform 11" id="11"/>
            <p:cNvSpPr/>
            <p:nvPr/>
          </p:nvSpPr>
          <p:spPr>
            <a:xfrm>
              <a:off x="7481906" y="3328026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rgbClr val="00680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8676976" y="3328026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rgbClr val="00761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3" id="13"/>
            <p:cNvSpPr/>
            <p:nvPr/>
          </p:nvSpPr>
          <p:spPr>
            <a:xfrm>
              <a:off x="7481906" y="2981316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rgbClr val="75FF89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7383317" y="2393297"/>
            <a:ext cx="2391410" cy="1249680"/>
            <a:chOff x="7481906" y="2126733"/>
            <a:chExt cx="2391410" cy="1249680"/>
          </a:xfrm>
        </p:grpSpPr>
        <p:sp>
          <p:nvSpPr>
            <p:cNvPr name="Freeform 15" id="15"/>
            <p:cNvSpPr/>
            <p:nvPr/>
          </p:nvSpPr>
          <p:spPr>
            <a:xfrm>
              <a:off x="7481906" y="247344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rgbClr val="053D2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8676976" y="247344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rgbClr val="086C3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7" id="17"/>
            <p:cNvSpPr/>
            <p:nvPr/>
          </p:nvSpPr>
          <p:spPr>
            <a:xfrm>
              <a:off x="7481906" y="2126733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rgbClr val="9FF7C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sp>
        <p:nvSpPr>
          <p:cNvPr name="Freeform 18" id="18"/>
          <p:cNvSpPr/>
          <p:nvPr/>
        </p:nvSpPr>
        <p:spPr>
          <a:xfrm>
            <a:off x="9765837" y="2732621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rgbClr val="053D24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Freeform 19" id="19"/>
          <p:cNvSpPr/>
          <p:nvPr/>
        </p:nvSpPr>
        <p:spPr>
          <a:xfrm>
            <a:off x="9765837" y="3587204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rgbClr val="00600E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Freeform 20" id="20"/>
          <p:cNvSpPr/>
          <p:nvPr/>
        </p:nvSpPr>
        <p:spPr>
          <a:xfrm>
            <a:off x="9784775" y="4488712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Freeform 21" id="21"/>
          <p:cNvSpPr/>
          <p:nvPr/>
        </p:nvSpPr>
        <p:spPr>
          <a:xfrm>
            <a:off x="9765837" y="5370141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rgbClr val="005C39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pic>
        <p:nvPicPr>
          <p:cNvPr name="image7.png" id="2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7606164" y="1261626"/>
            <a:ext cx="1982321" cy="1585857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>
            <a:off x="624714" y="754932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动态查找表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631026" y="2425060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二叉排序树的左子树所有节点值小于根节点，右子树所有节点值大于根节点，中序遍历得到递增序列。平衡二叉树是所有节点的左右子树深度差不超过1，保证查找时间复杂度为O(log n)。插入操作可能破坏平衡，需要通过旋转调整。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631026" y="1963385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二叉排序树与平衡二叉树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631026" y="4620588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B树是一种多路平衡查找树，每个节点包含多个关键字和多个分支，深度小。B+树是B树的变种，所有数据都存储在叶子节点上，内节点只作为索引。B+树的叶子节点通过指针链接成链表，支持范围查找。B树和B+树广泛应用于数据库和文件系统。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631026" y="4158913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B树与B+树的定义与特性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723938" y="1466903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9" id="29"/>
          <p:cNvSpPr/>
          <p:nvPr/>
        </p:nvSpPr>
        <p:spPr>
          <a:xfrm>
            <a:off x="1028738" y="1466902"/>
            <a:ext cx="219075" cy="219075"/>
          </a:xfrm>
          <a:prstGeom prst="ellipse">
            <a:avLst/>
          </a:prstGeom>
          <a:solidFill>
            <a:srgbClr val="318B4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0" id="30"/>
          <p:cNvSpPr/>
          <p:nvPr/>
        </p:nvSpPr>
        <p:spPr>
          <a:xfrm>
            <a:off x="1333538" y="1466901"/>
            <a:ext cx="219075" cy="2190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1" id="31"/>
          <p:cNvSpPr/>
          <p:nvPr/>
        </p:nvSpPr>
        <p:spPr>
          <a:xfrm>
            <a:off x="1638338" y="1466901"/>
            <a:ext cx="219075" cy="219075"/>
          </a:xfrm>
          <a:prstGeom prst="ellipse">
            <a:avLst/>
          </a:prstGeom>
          <a:solidFill>
            <a:srgbClr val="053D24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2" id="32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2476"/>
            </a:avLst>
          </a:prstGeom>
          <a:solidFill>
            <a:srgbClr val="053D24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3" id="3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305932"/>
          </a:xfrm>
          <a:prstGeom prst="rect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0" y="6567288"/>
            <a:ext cx="12192000" cy="305932"/>
          </a:xfrm>
          <a:prstGeom prst="rect">
            <a:avLst/>
          </a:pr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5848334" y="2148998"/>
            <a:ext cx="2821350" cy="3055303"/>
          </a:xfrm>
          <a:custGeom>
            <a:avLst/>
            <a:gdLst/>
            <a:ahLst/>
            <a:cxnLst/>
            <a:rect r="r" b="b" t="t" l="l"/>
            <a:pathLst>
              <a:path w="3119522" h="3378200" stroke="true" fill="norm" extrusionOk="true">
                <a:moveTo>
                  <a:pt x="1689100" y="0"/>
                </a:moveTo>
                <a:cubicBezTo>
                  <a:pt x="2272140" y="0"/>
                  <a:pt x="2786185" y="295405"/>
                  <a:pt x="3089728" y="744708"/>
                </a:cubicBezTo>
                <a:lnTo>
                  <a:pt x="3119522" y="793750"/>
                </a:lnTo>
                <a:lnTo>
                  <a:pt x="2303088" y="793750"/>
                </a:lnTo>
                <a:lnTo>
                  <a:pt x="2296249" y="788636"/>
                </a:lnTo>
                <a:cubicBezTo>
                  <a:pt x="2122935" y="671548"/>
                  <a:pt x="1914002" y="603178"/>
                  <a:pt x="1689100" y="603178"/>
                </a:cubicBezTo>
                <a:cubicBezTo>
                  <a:pt x="1089362" y="603178"/>
                  <a:pt x="603178" y="1089362"/>
                  <a:pt x="603178" y="1689100"/>
                </a:cubicBezTo>
                <a:cubicBezTo>
                  <a:pt x="603178" y="2288838"/>
                  <a:pt x="1089362" y="2775022"/>
                  <a:pt x="1689100" y="2775022"/>
                </a:cubicBezTo>
                <a:cubicBezTo>
                  <a:pt x="1914002" y="2775022"/>
                  <a:pt x="2122935" y="2706653"/>
                  <a:pt x="2296249" y="2589564"/>
                </a:cubicBezTo>
                <a:lnTo>
                  <a:pt x="2303088" y="2584450"/>
                </a:lnTo>
                <a:lnTo>
                  <a:pt x="3119522" y="2584450"/>
                </a:lnTo>
                <a:lnTo>
                  <a:pt x="3089728" y="2633492"/>
                </a:lnTo>
                <a:cubicBezTo>
                  <a:pt x="2786185" y="3082796"/>
                  <a:pt x="2272140" y="3378200"/>
                  <a:pt x="1689100" y="3378200"/>
                </a:cubicBezTo>
                <a:cubicBezTo>
                  <a:pt x="756236" y="3378200"/>
                  <a:pt x="0" y="2621964"/>
                  <a:pt x="0" y="1689100"/>
                </a:cubicBezTo>
                <a:cubicBezTo>
                  <a:pt x="0" y="756236"/>
                  <a:pt x="756236" y="0"/>
                  <a:pt x="1689100" y="0"/>
                </a:cubicBezTo>
                <a:close/>
              </a:path>
            </a:pathLst>
          </a:cu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fontAlgn="base" algn="ctr" marL="0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5" id="5"/>
          <p:cNvSpPr/>
          <p:nvPr/>
        </p:nvSpPr>
        <p:spPr>
          <a:xfrm>
            <a:off x="3513963" y="2148998"/>
            <a:ext cx="2821350" cy="3055303"/>
          </a:xfrm>
          <a:custGeom>
            <a:avLst/>
            <a:gdLst/>
            <a:ahLst/>
            <a:cxnLst/>
            <a:rect r="r" b="b" t="t" l="l"/>
            <a:pathLst>
              <a:path w="3119522" h="3378200" stroke="true" fill="norm" extrusionOk="true">
                <a:moveTo>
                  <a:pt x="1430422" y="0"/>
                </a:moveTo>
                <a:cubicBezTo>
                  <a:pt x="2363286" y="0"/>
                  <a:pt x="3119522" y="756236"/>
                  <a:pt x="3119522" y="1689100"/>
                </a:cubicBezTo>
                <a:cubicBezTo>
                  <a:pt x="3119522" y="2621964"/>
                  <a:pt x="2363286" y="3378200"/>
                  <a:pt x="1430422" y="3378200"/>
                </a:cubicBezTo>
                <a:cubicBezTo>
                  <a:pt x="847382" y="3378200"/>
                  <a:pt x="333337" y="3082796"/>
                  <a:pt x="29794" y="2633492"/>
                </a:cubicBezTo>
                <a:lnTo>
                  <a:pt x="0" y="2584450"/>
                </a:lnTo>
                <a:lnTo>
                  <a:pt x="816434" y="2584450"/>
                </a:lnTo>
                <a:lnTo>
                  <a:pt x="823273" y="2589564"/>
                </a:lnTo>
                <a:cubicBezTo>
                  <a:pt x="996587" y="2706653"/>
                  <a:pt x="1205520" y="2775022"/>
                  <a:pt x="1430422" y="2775022"/>
                </a:cubicBezTo>
                <a:cubicBezTo>
                  <a:pt x="2030160" y="2775022"/>
                  <a:pt x="2516344" y="2288838"/>
                  <a:pt x="2516344" y="1689100"/>
                </a:cubicBezTo>
                <a:cubicBezTo>
                  <a:pt x="2516344" y="1089362"/>
                  <a:pt x="2030160" y="603178"/>
                  <a:pt x="1430422" y="603178"/>
                </a:cubicBezTo>
                <a:cubicBezTo>
                  <a:pt x="1205520" y="603178"/>
                  <a:pt x="996587" y="671547"/>
                  <a:pt x="823273" y="788636"/>
                </a:cubicBezTo>
                <a:lnTo>
                  <a:pt x="816434" y="793750"/>
                </a:lnTo>
                <a:lnTo>
                  <a:pt x="0" y="793750"/>
                </a:lnTo>
                <a:lnTo>
                  <a:pt x="29794" y="744708"/>
                </a:lnTo>
                <a:cubicBezTo>
                  <a:pt x="333337" y="295405"/>
                  <a:pt x="847382" y="0"/>
                  <a:pt x="1430422" y="0"/>
                </a:cubicBezTo>
                <a:close/>
              </a:path>
            </a:pathLst>
          </a:custGeom>
          <a:solidFill>
            <a:srgbClr val="00AC6A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8.png" id="6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6985690" y="3319800"/>
            <a:ext cx="733425" cy="733425"/>
          </a:xfrm>
          <a:prstGeom prst="rect">
            <a:avLst/>
          </a:prstGeom>
        </p:spPr>
      </p:pic>
      <p:pic>
        <p:nvPicPr>
          <p:cNvPr name="image10.png" id="7"/>
          <p:cNvPicPr>
            <a:picLocks noChangeAspect="true"/>
          </p:cNvPicPr>
          <p:nvPr/>
        </p:nvPicPr>
        <p:blipFill>
          <a:blip r:embed="rId3"/>
          <a:stretch>
            <a:fillRect t="0" l="0" b="0" r="0"/>
          </a:stretch>
        </p:blipFill>
        <p:spPr>
          <a:xfrm>
            <a:off x="4394007" y="3301657"/>
            <a:ext cx="733425" cy="733425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>
            <a:off x="1515259" y="965855"/>
            <a:ext cx="916148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anchor="ctr" wrap="none" tIns="45720" lIns="91440" bIns="45720" rIns="91440">
            <a:prstTxWarp prst="textNoShape">
              <a:avLst/>
            </a:prstTxWarp>
            <a:spAutoFit/>
          </a:bodyPr>
          <a:p>
            <a:pPr fontAlgn="base" algn="l" rtl="false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b="true" i="false" sz="28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散列查找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9123" y="2733440"/>
            <a:ext cx="2821351" cy="263956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哈希表通过关键字直接计算存储位置，理想情况下查找时间复杂度为O(1)。常用的哈希函数包括除留余数法、直接定址法、平方取中法等。当不同的关键字映射到同一位置时发生冲突，解决方法有开放地址法和链地址法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449124" y="2132438"/>
            <a:ext cx="2687895" cy="58477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哈希表的构造与冲突处理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8921526" y="2733440"/>
            <a:ext cx="2821351" cy="263956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哈希表的平均查找长度仅依赖于装填因子，与表长无关。装填因子越小，冲突概率越低，但空间浪费越大。链地址法适应性强，删除操作简单，适用于不确定表长的情况。哈希表常用于数据缓存、密码存储、编译器符号表等需要快速查找的场景。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9054981" y="2148998"/>
            <a:ext cx="2687895" cy="58477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哈希表的性能分析与应用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排序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07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4009" y="1766613"/>
            <a:ext cx="997389" cy="1754326"/>
          </a:xfrm>
          <a:prstGeom prst="rect">
            <a:avLst/>
          </a:prstGeom>
        </p:spPr>
        <p:txBody>
          <a:bodyPr vert="horz" anchor="t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1716469" y="1525771"/>
            <a:ext cx="2365200" cy="2364791"/>
          </a:xfrm>
          <a:prstGeom prst="rect">
            <a:avLst/>
          </a:prstGeom>
          <a:blipFill>
            <a:blip r:embed="rId2"/>
            <a:stretch>
              <a:fillRect t="0" l="0" b="0" r="0"/>
            </a:stretch>
          </a:blip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081669" y="1525771"/>
            <a:ext cx="6407821" cy="2364791"/>
          </a:xfrm>
          <a:prstGeom prst="rect">
            <a:avLst/>
          </a:prstGeom>
          <a:solidFill>
            <a:schemeClr val="accent6">
              <a:alpha val="10000"/>
              <a:lumMod val="60000"/>
              <a:lumOff val="40000"/>
            </a:schemeClr>
          </a:solidFill>
          <a:ln cap="flat" cmpd="sng">
            <a:prstDash val="solid"/>
          </a:ln>
        </p:spPr>
        <p:txBody>
          <a:bodyPr vert="horz" anchor="ctr" tIns="576000" lIns="396000" bIns="45720" rIns="91440">
            <a:normAutofit/>
          </a:bodyPr>
          <a:p>
            <a:pPr algn="l" marL="0">
              <a:lnSpc>
                <a:spcPct val="130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4266101" y="1766613"/>
            <a:ext cx="5968848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en-US" b="true" i="false" sz="1800" baseline="0" u="none">
                <a:solidFill>
                  <a:srgbClr val="2F2F2F"/>
                </a:solidFill>
                <a:latin typeface="微软雅黑"/>
                <a:ea typeface="微软雅黑"/>
              </a:rPr>
              <a:t>直接插入排序与希尔排序</a:t>
            </a:r>
          </a:p>
        </p:txBody>
      </p:sp>
      <p:sp>
        <p:nvSpPr>
          <p:cNvPr name="AutoShape 6" id="6"/>
          <p:cNvSpPr/>
          <p:nvPr/>
        </p:nvSpPr>
        <p:spPr>
          <a:xfrm>
            <a:off x="8124290" y="3890562"/>
            <a:ext cx="2365200" cy="2364791"/>
          </a:xfrm>
          <a:prstGeom prst="rect">
            <a:avLst/>
          </a:prstGeom>
          <a:blipFill>
            <a:blip r:embed="rId3"/>
            <a:stretch>
              <a:fillRect t="0" l="0" b="0" r="0"/>
            </a:stretch>
          </a:blip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1716469" y="3890562"/>
            <a:ext cx="6407820" cy="2364791"/>
          </a:xfrm>
          <a:prstGeom prst="rect">
            <a:avLst/>
          </a:prstGeom>
          <a:solidFill>
            <a:srgbClr val="005032"/>
          </a:solidFill>
          <a:ln cap="flat" cmpd="sng">
            <a:prstDash val="solid"/>
          </a:ln>
        </p:spPr>
        <p:txBody>
          <a:bodyPr vert="horz" anchor="ctr" tIns="576000" lIns="0" bIns="45720" rIns="396000">
            <a:normAutofit/>
          </a:bodyPr>
          <a:p>
            <a:pPr algn="r" marL="0">
              <a:lnSpc>
                <a:spcPct val="130000"/>
              </a:lnSpc>
            </a:pPr>
          </a:p>
        </p:txBody>
      </p:sp>
      <p:sp>
        <p:nvSpPr>
          <p:cNvPr name="AutoShape 8" id="8"/>
          <p:cNvSpPr/>
          <p:nvPr/>
        </p:nvSpPr>
        <p:spPr>
          <a:xfrm>
            <a:off x="1875945" y="4134612"/>
            <a:ext cx="6066430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en-US" b="true" i="false" sz="1800" baseline="0" u="none">
                <a:solidFill>
                  <a:schemeClr val="lt1"/>
                </a:solidFill>
                <a:latin typeface="微软雅黑"/>
                <a:ea typeface="微软雅黑"/>
              </a:rPr>
              <a:t>冒泡排序与快速排序</a:t>
            </a:r>
          </a:p>
        </p:txBody>
      </p:sp>
      <p:sp>
        <p:nvSpPr>
          <p:cNvPr name="AutoShape 9" id="9"/>
          <p:cNvSpPr/>
          <p:nvPr/>
        </p:nvSpPr>
        <p:spPr>
          <a:xfrm>
            <a:off x="4353785" y="2160249"/>
            <a:ext cx="5793481" cy="134652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直接插入排序将待排序元素插入到已排好序列的合适位置，时间复杂度O(n^2)，适用于小规模数据。希尔排序以增量为间隔分组进行插入排序，增量逐渐减小，最后增量为1时完成全部排序。希尔排序的平均时间复杂度约为O(n^1.3)，效率高于直接插入排序。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975329" y="4491692"/>
            <a:ext cx="5750712" cy="134652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冒泡排序通过相邻元素比较和交换将最大元素逐步移到最后，时间复杂度O(n^2)。快速排序是一种分治算法，选取一个基准元素，将小于基准的元素移到左边，大于基准的移到右边，递归处理左右子序列，平均时间复杂度O(n log n)。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1554950" y="602646"/>
            <a:ext cx="9096059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插入排序与交换排序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flipH="true">
            <a:off x="1705835" y="1108632"/>
            <a:ext cx="2647950" cy="280663"/>
          </a:xfrm>
          <a:prstGeom prst="leftArrow">
            <a:avLst/>
          </a:prstGeom>
          <a:gradFill rotWithShape="true" flip="none">
            <a:gsLst>
              <a:gs pos="0">
                <a:srgbClr val="00680F"/>
              </a:gs>
              <a:gs pos="100000">
                <a:srgbClr val="00680F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0" y="0"/>
            <a:ext cx="12192000" cy="284458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0" y="6573542"/>
            <a:ext cx="12192000" cy="284458"/>
          </a:xfrm>
          <a:prstGeom prst="rect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7611185" y="2179020"/>
            <a:ext cx="4018253" cy="3380704"/>
            <a:chOff x="8173747" y="3491364"/>
            <a:chExt cx="4018253" cy="3380704"/>
          </a:xfrm>
          <a:effectLst>
            <a:glow>
              <a:schemeClr val="accent1">
                <a:alpha val="40000"/>
              </a:schemeClr>
            </a:glow>
            <a:reflection algn="bl" dir="5400000" dist="12700" rotWithShape="false" sy="-100000" stA="23000" endPos="36000"/>
          </a:effectLst>
        </p:grpSpPr>
        <p:sp>
          <p:nvSpPr>
            <p:cNvPr name="AutoShape 3" id="3"/>
            <p:cNvSpPr/>
            <p:nvPr/>
          </p:nvSpPr>
          <p:spPr>
            <a:xfrm>
              <a:off x="11461117" y="3902601"/>
              <a:ext cx="730883" cy="2969467"/>
            </a:xfrm>
            <a:prstGeom prst="rect">
              <a:avLst/>
            </a:prstGeom>
            <a:solidFill>
              <a:srgbClr val="00761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11096210" y="3491364"/>
              <a:ext cx="364907" cy="829781"/>
            </a:xfrm>
            <a:custGeom>
              <a:avLst/>
              <a:gdLst/>
              <a:ahLst/>
              <a:cxnLst/>
              <a:rect r="r" b="b" t="t" l="l"/>
              <a:pathLst>
                <a:path w="341" h="795" stroke="true" fill="norm" extrusionOk="true">
                  <a:moveTo>
                    <a:pt x="341" y="394"/>
                  </a:moveTo>
                  <a:lnTo>
                    <a:pt x="0" y="0"/>
                  </a:lnTo>
                  <a:lnTo>
                    <a:pt x="0" y="400"/>
                  </a:lnTo>
                  <a:lnTo>
                    <a:pt x="341" y="795"/>
                  </a:lnTo>
                  <a:lnTo>
                    <a:pt x="341" y="394"/>
                  </a:lnTo>
                  <a:close/>
                </a:path>
              </a:pathLst>
            </a:custGeom>
            <a:solidFill>
              <a:srgbClr val="00480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11096210" y="3491364"/>
              <a:ext cx="1095790" cy="411237"/>
            </a:xfrm>
            <a:custGeom>
              <a:avLst/>
              <a:gdLst/>
              <a:ahLst/>
              <a:cxnLst/>
              <a:rect r="r" b="b" t="t" l="l"/>
              <a:pathLst>
                <a:path w="1024" h="394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1" y="394"/>
                  </a:lnTo>
                  <a:lnTo>
                    <a:pt x="1024" y="394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11096210" y="3688633"/>
              <a:ext cx="364907" cy="483256"/>
            </a:xfrm>
            <a:custGeom>
              <a:avLst/>
              <a:gdLst/>
              <a:ahLst/>
              <a:cxnLst/>
              <a:rect r="r" b="b" t="t" l="l"/>
              <a:pathLst>
                <a:path w="341" h="463" stroke="true" fill="norm" extrusionOk="true">
                  <a:moveTo>
                    <a:pt x="341" y="395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1" y="463"/>
                  </a:lnTo>
                  <a:lnTo>
                    <a:pt x="341" y="395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11461117" y="4027851"/>
              <a:ext cx="496530" cy="218144"/>
            </a:xfrm>
            <a:custGeom>
              <a:avLst/>
              <a:gdLst/>
              <a:ahLst/>
              <a:cxnLst/>
              <a:rect r="r" b="b" t="t" l="l"/>
              <a:pathLst>
                <a:path w="464" h="209" stroke="true" fill="norm" extrusionOk="true">
                  <a:moveTo>
                    <a:pt x="0" y="70"/>
                  </a:moveTo>
                  <a:lnTo>
                    <a:pt x="331" y="70"/>
                  </a:lnTo>
                  <a:lnTo>
                    <a:pt x="331" y="0"/>
                  </a:lnTo>
                  <a:lnTo>
                    <a:pt x="464" y="105"/>
                  </a:lnTo>
                  <a:lnTo>
                    <a:pt x="331" y="209"/>
                  </a:lnTo>
                  <a:lnTo>
                    <a:pt x="331" y="138"/>
                  </a:lnTo>
                  <a:lnTo>
                    <a:pt x="0" y="138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8" id="8"/>
            <p:cNvSpPr/>
            <p:nvPr/>
          </p:nvSpPr>
          <p:spPr>
            <a:xfrm>
              <a:off x="10730233" y="4321145"/>
              <a:ext cx="736603" cy="2550923"/>
            </a:xfrm>
            <a:prstGeom prst="rect">
              <a:avLst/>
            </a:prstGeom>
            <a:solidFill>
              <a:srgbClr val="FAA33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10364257" y="3908864"/>
              <a:ext cx="365977" cy="829781"/>
            </a:xfrm>
            <a:custGeom>
              <a:avLst/>
              <a:gdLst/>
              <a:ahLst/>
              <a:cxnLst/>
              <a:rect r="r" b="b" t="t" l="l"/>
              <a:pathLst>
                <a:path w="342" h="795" stroke="true" fill="norm" extrusionOk="true">
                  <a:moveTo>
                    <a:pt x="342" y="395"/>
                  </a:moveTo>
                  <a:lnTo>
                    <a:pt x="0" y="0"/>
                  </a:lnTo>
                  <a:lnTo>
                    <a:pt x="0" y="401"/>
                  </a:lnTo>
                  <a:lnTo>
                    <a:pt x="342" y="795"/>
                  </a:lnTo>
                  <a:lnTo>
                    <a:pt x="342" y="395"/>
                  </a:lnTo>
                  <a:close/>
                </a:path>
              </a:pathLst>
            </a:custGeom>
            <a:solidFill>
              <a:srgbClr val="E58A2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0" id="10"/>
            <p:cNvSpPr/>
            <p:nvPr/>
          </p:nvSpPr>
          <p:spPr>
            <a:xfrm>
              <a:off x="10364257" y="3908864"/>
              <a:ext cx="1096860" cy="412281"/>
            </a:xfrm>
            <a:custGeom>
              <a:avLst/>
              <a:gdLst/>
              <a:ahLst/>
              <a:cxnLst/>
              <a:rect r="r" b="b" t="t" l="l"/>
              <a:pathLst>
                <a:path w="1025" h="395" stroke="true" fill="norm" extrusionOk="true">
                  <a:moveTo>
                    <a:pt x="684" y="0"/>
                  </a:moveTo>
                  <a:lnTo>
                    <a:pt x="0" y="0"/>
                  </a:lnTo>
                  <a:lnTo>
                    <a:pt x="342" y="395"/>
                  </a:lnTo>
                  <a:lnTo>
                    <a:pt x="1025" y="395"/>
                  </a:lnTo>
                  <a:lnTo>
                    <a:pt x="684" y="0"/>
                  </a:lnTo>
                  <a:close/>
                </a:path>
              </a:pathLst>
            </a:custGeom>
            <a:solidFill>
              <a:srgbClr val="FFDF7B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>
              <a:off x="10364257" y="4107176"/>
              <a:ext cx="365977" cy="482213"/>
            </a:xfrm>
            <a:custGeom>
              <a:avLst/>
              <a:gdLst/>
              <a:ahLst/>
              <a:cxnLst/>
              <a:rect r="r" b="b" t="t" l="l"/>
              <a:pathLst>
                <a:path w="342" h="462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69"/>
                  </a:lnTo>
                  <a:lnTo>
                    <a:pt x="342" y="462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rgbClr val="FAA33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10730233" y="4445351"/>
              <a:ext cx="495460" cy="219188"/>
            </a:xfrm>
            <a:custGeom>
              <a:avLst/>
              <a:gdLst/>
              <a:ahLst/>
              <a:cxnLst/>
              <a:rect r="r" b="b" t="t" l="l"/>
              <a:pathLst>
                <a:path w="463" h="210" stroke="true" fill="norm" extrusionOk="true">
                  <a:moveTo>
                    <a:pt x="0" y="70"/>
                  </a:moveTo>
                  <a:lnTo>
                    <a:pt x="330" y="70"/>
                  </a:lnTo>
                  <a:lnTo>
                    <a:pt x="330" y="0"/>
                  </a:lnTo>
                  <a:lnTo>
                    <a:pt x="463" y="105"/>
                  </a:lnTo>
                  <a:lnTo>
                    <a:pt x="330" y="210"/>
                  </a:lnTo>
                  <a:lnTo>
                    <a:pt x="330" y="138"/>
                  </a:lnTo>
                  <a:lnTo>
                    <a:pt x="0" y="138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FFDF7B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3" id="13"/>
            <p:cNvSpPr/>
            <p:nvPr/>
          </p:nvSpPr>
          <p:spPr>
            <a:xfrm>
              <a:off x="9634443" y="4327407"/>
              <a:ext cx="365977" cy="828737"/>
            </a:xfrm>
            <a:custGeom>
              <a:avLst/>
              <a:gdLst/>
              <a:ahLst/>
              <a:cxnLst/>
              <a:rect r="r" b="b" t="t" l="l"/>
              <a:pathLst>
                <a:path w="342" h="794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400"/>
                  </a:lnTo>
                  <a:lnTo>
                    <a:pt x="342" y="794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0000420" y="4738644"/>
              <a:ext cx="729813" cy="213342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5" id="15"/>
            <p:cNvSpPr/>
            <p:nvPr/>
          </p:nvSpPr>
          <p:spPr>
            <a:xfrm>
              <a:off x="9634443" y="4327407"/>
              <a:ext cx="1095790" cy="411237"/>
            </a:xfrm>
            <a:custGeom>
              <a:avLst/>
              <a:gdLst/>
              <a:ahLst/>
              <a:cxnLst/>
              <a:rect r="r" b="b" t="t" l="l"/>
              <a:pathLst>
                <a:path w="1024" h="394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2" y="394"/>
                  </a:lnTo>
                  <a:lnTo>
                    <a:pt x="1024" y="394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9634443" y="4524676"/>
              <a:ext cx="365977" cy="484300"/>
            </a:xfrm>
            <a:custGeom>
              <a:avLst/>
              <a:gdLst/>
              <a:ahLst/>
              <a:cxnLst/>
              <a:rect r="r" b="b" t="t" l="l"/>
              <a:pathLst>
                <a:path w="342" h="464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2" y="464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7" id="17"/>
            <p:cNvSpPr/>
            <p:nvPr/>
          </p:nvSpPr>
          <p:spPr>
            <a:xfrm>
              <a:off x="10000420" y="4862851"/>
              <a:ext cx="494389" cy="219188"/>
            </a:xfrm>
            <a:custGeom>
              <a:avLst/>
              <a:gdLst/>
              <a:ahLst/>
              <a:cxnLst/>
              <a:rect r="r" b="b" t="t" l="l"/>
              <a:pathLst>
                <a:path w="462" h="210" stroke="true" fill="norm" extrusionOk="true">
                  <a:moveTo>
                    <a:pt x="0" y="70"/>
                  </a:moveTo>
                  <a:lnTo>
                    <a:pt x="330" y="70"/>
                  </a:lnTo>
                  <a:lnTo>
                    <a:pt x="330" y="0"/>
                  </a:lnTo>
                  <a:lnTo>
                    <a:pt x="462" y="105"/>
                  </a:lnTo>
                  <a:lnTo>
                    <a:pt x="330" y="210"/>
                  </a:lnTo>
                  <a:lnTo>
                    <a:pt x="330" y="140"/>
                  </a:lnTo>
                  <a:lnTo>
                    <a:pt x="0" y="14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8" id="18"/>
            <p:cNvSpPr/>
            <p:nvPr/>
          </p:nvSpPr>
          <p:spPr>
            <a:xfrm>
              <a:off x="8173747" y="5162407"/>
              <a:ext cx="1095790" cy="412281"/>
            </a:xfrm>
            <a:custGeom>
              <a:avLst/>
              <a:gdLst/>
              <a:ahLst/>
              <a:cxnLst/>
              <a:rect r="r" b="b" t="t" l="l"/>
              <a:pathLst>
                <a:path w="1024" h="395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0" y="395"/>
                  </a:lnTo>
                  <a:lnTo>
                    <a:pt x="1024" y="395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rgbClr val="00B41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9" id="19"/>
            <p:cNvSpPr/>
            <p:nvPr/>
          </p:nvSpPr>
          <p:spPr>
            <a:xfrm>
              <a:off x="8539355" y="5574688"/>
              <a:ext cx="731953" cy="1297380"/>
            </a:xfrm>
            <a:prstGeom prst="rect">
              <a:avLst/>
            </a:prstGeom>
            <a:solidFill>
              <a:srgbClr val="00965D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8173747" y="5162407"/>
              <a:ext cx="363836" cy="1709661"/>
            </a:xfrm>
            <a:custGeom>
              <a:avLst/>
              <a:gdLst/>
              <a:ahLst/>
              <a:cxnLst/>
              <a:rect r="r" b="b" t="t" l="l"/>
              <a:pathLst>
                <a:path w="340" h="1638" stroke="true" fill="norm" extrusionOk="true">
                  <a:moveTo>
                    <a:pt x="340" y="395"/>
                  </a:moveTo>
                  <a:lnTo>
                    <a:pt x="0" y="0"/>
                  </a:lnTo>
                  <a:lnTo>
                    <a:pt x="0" y="1243"/>
                  </a:lnTo>
                  <a:lnTo>
                    <a:pt x="340" y="1638"/>
                  </a:lnTo>
                  <a:lnTo>
                    <a:pt x="340" y="395"/>
                  </a:lnTo>
                  <a:close/>
                </a:path>
              </a:pathLst>
            </a:custGeom>
            <a:solidFill>
              <a:srgbClr val="00680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1" id="21"/>
            <p:cNvSpPr/>
            <p:nvPr/>
          </p:nvSpPr>
          <p:spPr>
            <a:xfrm>
              <a:off x="8537583" y="5698894"/>
              <a:ext cx="495460" cy="218144"/>
            </a:xfrm>
            <a:custGeom>
              <a:avLst/>
              <a:gdLst/>
              <a:ahLst/>
              <a:cxnLst/>
              <a:rect r="r" b="b" t="t" l="l"/>
              <a:pathLst>
                <a:path w="463" h="209" stroke="true" fill="norm" extrusionOk="true">
                  <a:moveTo>
                    <a:pt x="0" y="70"/>
                  </a:moveTo>
                  <a:lnTo>
                    <a:pt x="331" y="70"/>
                  </a:lnTo>
                  <a:lnTo>
                    <a:pt x="331" y="0"/>
                  </a:lnTo>
                  <a:lnTo>
                    <a:pt x="463" y="105"/>
                  </a:lnTo>
                  <a:lnTo>
                    <a:pt x="331" y="209"/>
                  </a:lnTo>
                  <a:lnTo>
                    <a:pt x="331" y="140"/>
                  </a:lnTo>
                  <a:lnTo>
                    <a:pt x="0" y="14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chemeClr val="bg1">
                <a:alpha val="63000"/>
                <a:lumMod val="9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8173747" y="5359675"/>
              <a:ext cx="363836" cy="485344"/>
            </a:xfrm>
            <a:custGeom>
              <a:avLst/>
              <a:gdLst/>
              <a:ahLst/>
              <a:cxnLst/>
              <a:rect r="r" b="b" t="t" l="l"/>
              <a:pathLst>
                <a:path w="340" h="465" stroke="true" fill="norm" extrusionOk="true">
                  <a:moveTo>
                    <a:pt x="340" y="395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0" y="465"/>
                  </a:lnTo>
                  <a:lnTo>
                    <a:pt x="340" y="395"/>
                  </a:lnTo>
                  <a:close/>
                </a:path>
              </a:pathLst>
            </a:custGeom>
            <a:solidFill>
              <a:schemeClr val="bg1">
                <a:alpha val="63000"/>
                <a:lumMod val="9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23" id="23"/>
            <p:cNvSpPr/>
            <p:nvPr/>
          </p:nvSpPr>
          <p:spPr>
            <a:xfrm>
              <a:off x="9269537" y="5156144"/>
              <a:ext cx="730883" cy="17159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8903560" y="4744907"/>
              <a:ext cx="365977" cy="829781"/>
            </a:xfrm>
            <a:custGeom>
              <a:avLst/>
              <a:gdLst/>
              <a:ahLst/>
              <a:cxnLst/>
              <a:rect r="r" b="b" t="t" l="l"/>
              <a:pathLst>
                <a:path w="342" h="795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400"/>
                  </a:lnTo>
                  <a:lnTo>
                    <a:pt x="342" y="795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8903560" y="4744907"/>
              <a:ext cx="1096860" cy="411237"/>
            </a:xfrm>
            <a:custGeom>
              <a:avLst/>
              <a:gdLst/>
              <a:ahLst/>
              <a:cxnLst/>
              <a:rect r="r" b="b" t="t" l="l"/>
              <a:pathLst>
                <a:path w="1025" h="394" stroke="true" fill="norm" extrusionOk="true">
                  <a:moveTo>
                    <a:pt x="683" y="0"/>
                  </a:moveTo>
                  <a:lnTo>
                    <a:pt x="0" y="0"/>
                  </a:lnTo>
                  <a:lnTo>
                    <a:pt x="342" y="394"/>
                  </a:lnTo>
                  <a:lnTo>
                    <a:pt x="1025" y="394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8903560" y="4942175"/>
              <a:ext cx="365977" cy="484300"/>
            </a:xfrm>
            <a:custGeom>
              <a:avLst/>
              <a:gdLst/>
              <a:ahLst/>
              <a:cxnLst/>
              <a:rect r="r" b="b" t="t" l="l"/>
              <a:pathLst>
                <a:path w="342" h="464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2" y="464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9269537" y="5281394"/>
              <a:ext cx="495460" cy="218144"/>
            </a:xfrm>
            <a:custGeom>
              <a:avLst/>
              <a:gdLst/>
              <a:ahLst/>
              <a:cxnLst/>
              <a:rect r="r" b="b" t="t" l="l"/>
              <a:pathLst>
                <a:path w="463" h="209" stroke="true" fill="norm" extrusionOk="true">
                  <a:moveTo>
                    <a:pt x="0" y="69"/>
                  </a:moveTo>
                  <a:lnTo>
                    <a:pt x="331" y="69"/>
                  </a:lnTo>
                  <a:lnTo>
                    <a:pt x="331" y="0"/>
                  </a:lnTo>
                  <a:lnTo>
                    <a:pt x="463" y="104"/>
                  </a:lnTo>
                  <a:lnTo>
                    <a:pt x="331" y="209"/>
                  </a:lnTo>
                  <a:lnTo>
                    <a:pt x="331" y="139"/>
                  </a:lnTo>
                  <a:lnTo>
                    <a:pt x="0" y="139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28" id="28"/>
          <p:cNvGrpSpPr/>
          <p:nvPr/>
        </p:nvGrpSpPr>
        <p:grpSpPr>
          <a:xfrm>
            <a:off x="10812709" y="1145604"/>
            <a:ext cx="445205" cy="1352282"/>
            <a:chOff x="4830763" y="469901"/>
            <a:chExt cx="593725" cy="1803400"/>
          </a:xfrm>
          <a:solidFill>
            <a:schemeClr val="bg1">
              <a:lumMod val="50000"/>
            </a:schemeClr>
          </a:solidFill>
        </p:grpSpPr>
        <p:sp>
          <p:nvSpPr>
            <p:cNvPr name="Freeform 29" id="29"/>
            <p:cNvSpPr/>
            <p:nvPr/>
          </p:nvSpPr>
          <p:spPr>
            <a:xfrm>
              <a:off x="4999038" y="469901"/>
              <a:ext cx="176213" cy="268288"/>
            </a:xfrm>
            <a:custGeom>
              <a:avLst/>
              <a:gdLst/>
              <a:ahLst/>
              <a:cxnLst/>
              <a:rect r="r" b="b" t="t" l="l"/>
              <a:pathLst>
                <a:path w="110" h="167" stroke="true" fill="norm" extrusionOk="true">
                  <a:moveTo>
                    <a:pt x="18" y="157"/>
                  </a:moveTo>
                  <a:cubicBezTo>
                    <a:pt x="15" y="164"/>
                    <a:pt x="55" y="167"/>
                    <a:pt x="59" y="166"/>
                  </a:cubicBezTo>
                  <a:cubicBezTo>
                    <a:pt x="67" y="164"/>
                    <a:pt x="75" y="161"/>
                    <a:pt x="81" y="157"/>
                  </a:cubicBezTo>
                  <a:cubicBezTo>
                    <a:pt x="85" y="155"/>
                    <a:pt x="90" y="149"/>
                    <a:pt x="94" y="148"/>
                  </a:cubicBezTo>
                  <a:cubicBezTo>
                    <a:pt x="86" y="141"/>
                    <a:pt x="102" y="109"/>
                    <a:pt x="105" y="101"/>
                  </a:cubicBezTo>
                  <a:cubicBezTo>
                    <a:pt x="109" y="88"/>
                    <a:pt x="110" y="76"/>
                    <a:pt x="110" y="62"/>
                  </a:cubicBezTo>
                  <a:cubicBezTo>
                    <a:pt x="108" y="23"/>
                    <a:pt x="77" y="0"/>
                    <a:pt x="38" y="9"/>
                  </a:cubicBezTo>
                  <a:cubicBezTo>
                    <a:pt x="3" y="17"/>
                    <a:pt x="0" y="55"/>
                    <a:pt x="3" y="84"/>
                  </a:cubicBezTo>
                  <a:cubicBezTo>
                    <a:pt x="4" y="94"/>
                    <a:pt x="7" y="103"/>
                    <a:pt x="8" y="113"/>
                  </a:cubicBezTo>
                  <a:cubicBezTo>
                    <a:pt x="8" y="118"/>
                    <a:pt x="10" y="121"/>
                    <a:pt x="13" y="125"/>
                  </a:cubicBezTo>
                  <a:cubicBezTo>
                    <a:pt x="20" y="135"/>
                    <a:pt x="21" y="145"/>
                    <a:pt x="18" y="157"/>
                  </a:cubicBezTo>
                  <a:cubicBezTo>
                    <a:pt x="18" y="157"/>
                    <a:pt x="26" y="131"/>
                    <a:pt x="18" y="1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4830763" y="715963"/>
              <a:ext cx="593725" cy="1557338"/>
            </a:xfrm>
            <a:custGeom>
              <a:avLst/>
              <a:gdLst/>
              <a:ahLst/>
              <a:cxnLst/>
              <a:rect r="r" b="b" t="t" l="l"/>
              <a:pathLst>
                <a:path w="369" h="968" stroke="true" fill="norm" extrusionOk="true">
                  <a:moveTo>
                    <a:pt x="316" y="343"/>
                  </a:moveTo>
                  <a:cubicBezTo>
                    <a:pt x="338" y="301"/>
                    <a:pt x="358" y="252"/>
                    <a:pt x="356" y="203"/>
                  </a:cubicBezTo>
                  <a:cubicBezTo>
                    <a:pt x="356" y="183"/>
                    <a:pt x="350" y="164"/>
                    <a:pt x="344" y="145"/>
                  </a:cubicBezTo>
                  <a:cubicBezTo>
                    <a:pt x="334" y="110"/>
                    <a:pt x="323" y="76"/>
                    <a:pt x="311" y="42"/>
                  </a:cubicBezTo>
                  <a:cubicBezTo>
                    <a:pt x="310" y="38"/>
                    <a:pt x="309" y="34"/>
                    <a:pt x="307" y="30"/>
                  </a:cubicBezTo>
                  <a:cubicBezTo>
                    <a:pt x="305" y="28"/>
                    <a:pt x="285" y="27"/>
                    <a:pt x="282" y="26"/>
                  </a:cubicBezTo>
                  <a:cubicBezTo>
                    <a:pt x="256" y="21"/>
                    <a:pt x="231" y="11"/>
                    <a:pt x="207" y="0"/>
                  </a:cubicBezTo>
                  <a:cubicBezTo>
                    <a:pt x="213" y="7"/>
                    <a:pt x="192" y="37"/>
                    <a:pt x="193" y="47"/>
                  </a:cubicBezTo>
                  <a:cubicBezTo>
                    <a:pt x="194" y="55"/>
                    <a:pt x="195" y="64"/>
                    <a:pt x="197" y="73"/>
                  </a:cubicBezTo>
                  <a:cubicBezTo>
                    <a:pt x="201" y="110"/>
                    <a:pt x="206" y="147"/>
                    <a:pt x="211" y="184"/>
                  </a:cubicBezTo>
                  <a:cubicBezTo>
                    <a:pt x="214" y="212"/>
                    <a:pt x="218" y="239"/>
                    <a:pt x="226" y="266"/>
                  </a:cubicBezTo>
                  <a:cubicBezTo>
                    <a:pt x="232" y="286"/>
                    <a:pt x="239" y="305"/>
                    <a:pt x="246" y="325"/>
                  </a:cubicBezTo>
                  <a:cubicBezTo>
                    <a:pt x="248" y="331"/>
                    <a:pt x="254" y="355"/>
                    <a:pt x="261" y="357"/>
                  </a:cubicBezTo>
                  <a:cubicBezTo>
                    <a:pt x="212" y="385"/>
                    <a:pt x="139" y="393"/>
                    <a:pt x="89" y="364"/>
                  </a:cubicBezTo>
                  <a:cubicBezTo>
                    <a:pt x="84" y="361"/>
                    <a:pt x="71" y="356"/>
                    <a:pt x="72" y="349"/>
                  </a:cubicBezTo>
                  <a:cubicBezTo>
                    <a:pt x="73" y="341"/>
                    <a:pt x="73" y="334"/>
                    <a:pt x="74" y="327"/>
                  </a:cubicBezTo>
                  <a:cubicBezTo>
                    <a:pt x="78" y="302"/>
                    <a:pt x="81" y="278"/>
                    <a:pt x="85" y="254"/>
                  </a:cubicBezTo>
                  <a:cubicBezTo>
                    <a:pt x="92" y="213"/>
                    <a:pt x="104" y="173"/>
                    <a:pt x="109" y="132"/>
                  </a:cubicBezTo>
                  <a:cubicBezTo>
                    <a:pt x="113" y="107"/>
                    <a:pt x="116" y="82"/>
                    <a:pt x="119" y="58"/>
                  </a:cubicBezTo>
                  <a:cubicBezTo>
                    <a:pt x="120" y="41"/>
                    <a:pt x="118" y="31"/>
                    <a:pt x="114" y="15"/>
                  </a:cubicBezTo>
                  <a:cubicBezTo>
                    <a:pt x="94" y="36"/>
                    <a:pt x="64" y="49"/>
                    <a:pt x="39" y="62"/>
                  </a:cubicBezTo>
                  <a:cubicBezTo>
                    <a:pt x="24" y="69"/>
                    <a:pt x="21" y="67"/>
                    <a:pt x="20" y="81"/>
                  </a:cubicBezTo>
                  <a:cubicBezTo>
                    <a:pt x="15" y="130"/>
                    <a:pt x="11" y="178"/>
                    <a:pt x="7" y="226"/>
                  </a:cubicBezTo>
                  <a:cubicBezTo>
                    <a:pt x="0" y="298"/>
                    <a:pt x="3" y="372"/>
                    <a:pt x="3" y="444"/>
                  </a:cubicBezTo>
                  <a:cubicBezTo>
                    <a:pt x="7" y="444"/>
                    <a:pt x="11" y="444"/>
                    <a:pt x="15" y="444"/>
                  </a:cubicBezTo>
                  <a:cubicBezTo>
                    <a:pt x="12" y="467"/>
                    <a:pt x="5" y="492"/>
                    <a:pt x="17" y="514"/>
                  </a:cubicBezTo>
                  <a:cubicBezTo>
                    <a:pt x="21" y="521"/>
                    <a:pt x="25" y="529"/>
                    <a:pt x="32" y="535"/>
                  </a:cubicBezTo>
                  <a:cubicBezTo>
                    <a:pt x="39" y="541"/>
                    <a:pt x="44" y="539"/>
                    <a:pt x="40" y="530"/>
                  </a:cubicBezTo>
                  <a:cubicBezTo>
                    <a:pt x="41" y="532"/>
                    <a:pt x="60" y="531"/>
                    <a:pt x="48" y="521"/>
                  </a:cubicBezTo>
                  <a:cubicBezTo>
                    <a:pt x="40" y="514"/>
                    <a:pt x="36" y="511"/>
                    <a:pt x="35" y="500"/>
                  </a:cubicBezTo>
                  <a:cubicBezTo>
                    <a:pt x="34" y="496"/>
                    <a:pt x="33" y="488"/>
                    <a:pt x="36" y="485"/>
                  </a:cubicBezTo>
                  <a:cubicBezTo>
                    <a:pt x="40" y="482"/>
                    <a:pt x="42" y="499"/>
                    <a:pt x="44" y="502"/>
                  </a:cubicBezTo>
                  <a:cubicBezTo>
                    <a:pt x="45" y="505"/>
                    <a:pt x="60" y="519"/>
                    <a:pt x="59" y="507"/>
                  </a:cubicBezTo>
                  <a:cubicBezTo>
                    <a:pt x="59" y="506"/>
                    <a:pt x="56" y="504"/>
                    <a:pt x="55" y="503"/>
                  </a:cubicBezTo>
                  <a:cubicBezTo>
                    <a:pt x="53" y="499"/>
                    <a:pt x="52" y="494"/>
                    <a:pt x="52" y="490"/>
                  </a:cubicBezTo>
                  <a:cubicBezTo>
                    <a:pt x="52" y="484"/>
                    <a:pt x="54" y="477"/>
                    <a:pt x="54" y="470"/>
                  </a:cubicBezTo>
                  <a:cubicBezTo>
                    <a:pt x="54" y="460"/>
                    <a:pt x="49" y="452"/>
                    <a:pt x="48" y="442"/>
                  </a:cubicBezTo>
                  <a:cubicBezTo>
                    <a:pt x="53" y="442"/>
                    <a:pt x="60" y="439"/>
                    <a:pt x="60" y="444"/>
                  </a:cubicBezTo>
                  <a:cubicBezTo>
                    <a:pt x="61" y="450"/>
                    <a:pt x="62" y="457"/>
                    <a:pt x="62" y="463"/>
                  </a:cubicBezTo>
                  <a:cubicBezTo>
                    <a:pt x="65" y="487"/>
                    <a:pt x="67" y="511"/>
                    <a:pt x="69" y="534"/>
                  </a:cubicBezTo>
                  <a:cubicBezTo>
                    <a:pt x="73" y="574"/>
                    <a:pt x="77" y="614"/>
                    <a:pt x="80" y="653"/>
                  </a:cubicBezTo>
                  <a:cubicBezTo>
                    <a:pt x="84" y="693"/>
                    <a:pt x="84" y="733"/>
                    <a:pt x="86" y="773"/>
                  </a:cubicBezTo>
                  <a:cubicBezTo>
                    <a:pt x="87" y="785"/>
                    <a:pt x="86" y="797"/>
                    <a:pt x="90" y="808"/>
                  </a:cubicBezTo>
                  <a:cubicBezTo>
                    <a:pt x="99" y="829"/>
                    <a:pt x="109" y="850"/>
                    <a:pt x="118" y="871"/>
                  </a:cubicBezTo>
                  <a:cubicBezTo>
                    <a:pt x="120" y="876"/>
                    <a:pt x="112" y="881"/>
                    <a:pt x="109" y="885"/>
                  </a:cubicBezTo>
                  <a:cubicBezTo>
                    <a:pt x="100" y="897"/>
                    <a:pt x="89" y="912"/>
                    <a:pt x="89" y="928"/>
                  </a:cubicBezTo>
                  <a:cubicBezTo>
                    <a:pt x="90" y="952"/>
                    <a:pt x="132" y="946"/>
                    <a:pt x="145" y="936"/>
                  </a:cubicBezTo>
                  <a:cubicBezTo>
                    <a:pt x="150" y="932"/>
                    <a:pt x="149" y="921"/>
                    <a:pt x="151" y="916"/>
                  </a:cubicBezTo>
                  <a:cubicBezTo>
                    <a:pt x="154" y="908"/>
                    <a:pt x="159" y="908"/>
                    <a:pt x="167" y="908"/>
                  </a:cubicBezTo>
                  <a:cubicBezTo>
                    <a:pt x="185" y="907"/>
                    <a:pt x="179" y="885"/>
                    <a:pt x="177" y="873"/>
                  </a:cubicBezTo>
                  <a:cubicBezTo>
                    <a:pt x="175" y="862"/>
                    <a:pt x="181" y="856"/>
                    <a:pt x="187" y="847"/>
                  </a:cubicBezTo>
                  <a:cubicBezTo>
                    <a:pt x="192" y="840"/>
                    <a:pt x="181" y="831"/>
                    <a:pt x="176" y="824"/>
                  </a:cubicBezTo>
                  <a:cubicBezTo>
                    <a:pt x="170" y="815"/>
                    <a:pt x="173" y="796"/>
                    <a:pt x="173" y="786"/>
                  </a:cubicBezTo>
                  <a:cubicBezTo>
                    <a:pt x="172" y="759"/>
                    <a:pt x="171" y="733"/>
                    <a:pt x="170" y="706"/>
                  </a:cubicBezTo>
                  <a:cubicBezTo>
                    <a:pt x="169" y="676"/>
                    <a:pt x="169" y="647"/>
                    <a:pt x="169" y="618"/>
                  </a:cubicBezTo>
                  <a:cubicBezTo>
                    <a:pt x="170" y="578"/>
                    <a:pt x="171" y="539"/>
                    <a:pt x="171" y="499"/>
                  </a:cubicBezTo>
                  <a:cubicBezTo>
                    <a:pt x="191" y="565"/>
                    <a:pt x="217" y="632"/>
                    <a:pt x="226" y="699"/>
                  </a:cubicBezTo>
                  <a:cubicBezTo>
                    <a:pt x="232" y="745"/>
                    <a:pt x="236" y="791"/>
                    <a:pt x="241" y="837"/>
                  </a:cubicBezTo>
                  <a:cubicBezTo>
                    <a:pt x="242" y="848"/>
                    <a:pt x="241" y="861"/>
                    <a:pt x="248" y="870"/>
                  </a:cubicBezTo>
                  <a:cubicBezTo>
                    <a:pt x="255" y="878"/>
                    <a:pt x="264" y="885"/>
                    <a:pt x="268" y="894"/>
                  </a:cubicBezTo>
                  <a:cubicBezTo>
                    <a:pt x="272" y="902"/>
                    <a:pt x="268" y="915"/>
                    <a:pt x="267" y="923"/>
                  </a:cubicBezTo>
                  <a:cubicBezTo>
                    <a:pt x="265" y="923"/>
                    <a:pt x="264" y="922"/>
                    <a:pt x="262" y="922"/>
                  </a:cubicBezTo>
                  <a:cubicBezTo>
                    <a:pt x="285" y="928"/>
                    <a:pt x="298" y="961"/>
                    <a:pt x="322" y="964"/>
                  </a:cubicBezTo>
                  <a:cubicBezTo>
                    <a:pt x="338" y="967"/>
                    <a:pt x="353" y="968"/>
                    <a:pt x="355" y="949"/>
                  </a:cubicBezTo>
                  <a:cubicBezTo>
                    <a:pt x="358" y="928"/>
                    <a:pt x="346" y="917"/>
                    <a:pt x="335" y="900"/>
                  </a:cubicBezTo>
                  <a:cubicBezTo>
                    <a:pt x="330" y="891"/>
                    <a:pt x="332" y="887"/>
                    <a:pt x="334" y="877"/>
                  </a:cubicBezTo>
                  <a:cubicBezTo>
                    <a:pt x="336" y="863"/>
                    <a:pt x="337" y="849"/>
                    <a:pt x="337" y="835"/>
                  </a:cubicBezTo>
                  <a:cubicBezTo>
                    <a:pt x="337" y="802"/>
                    <a:pt x="333" y="770"/>
                    <a:pt x="329" y="738"/>
                  </a:cubicBezTo>
                  <a:cubicBezTo>
                    <a:pt x="325" y="713"/>
                    <a:pt x="321" y="687"/>
                    <a:pt x="316" y="662"/>
                  </a:cubicBezTo>
                  <a:cubicBezTo>
                    <a:pt x="313" y="649"/>
                    <a:pt x="305" y="636"/>
                    <a:pt x="308" y="622"/>
                  </a:cubicBezTo>
                  <a:cubicBezTo>
                    <a:pt x="312" y="604"/>
                    <a:pt x="310" y="586"/>
                    <a:pt x="308" y="568"/>
                  </a:cubicBezTo>
                  <a:cubicBezTo>
                    <a:pt x="305" y="540"/>
                    <a:pt x="300" y="512"/>
                    <a:pt x="296" y="484"/>
                  </a:cubicBezTo>
                  <a:cubicBezTo>
                    <a:pt x="292" y="462"/>
                    <a:pt x="288" y="440"/>
                    <a:pt x="284" y="417"/>
                  </a:cubicBezTo>
                  <a:cubicBezTo>
                    <a:pt x="283" y="411"/>
                    <a:pt x="282" y="405"/>
                    <a:pt x="281" y="399"/>
                  </a:cubicBezTo>
                  <a:cubicBezTo>
                    <a:pt x="280" y="394"/>
                    <a:pt x="287" y="393"/>
                    <a:pt x="291" y="391"/>
                  </a:cubicBezTo>
                  <a:cubicBezTo>
                    <a:pt x="289" y="396"/>
                    <a:pt x="286" y="400"/>
                    <a:pt x="284" y="405"/>
                  </a:cubicBezTo>
                  <a:cubicBezTo>
                    <a:pt x="294" y="384"/>
                    <a:pt x="306" y="364"/>
                    <a:pt x="316" y="343"/>
                  </a:cubicBezTo>
                  <a:cubicBezTo>
                    <a:pt x="369" y="242"/>
                    <a:pt x="264" y="444"/>
                    <a:pt x="316" y="34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31" id="31"/>
          <p:cNvGrpSpPr/>
          <p:nvPr/>
        </p:nvGrpSpPr>
        <p:grpSpPr>
          <a:xfrm>
            <a:off x="6096000" y="5149497"/>
            <a:ext cx="1879021" cy="412281"/>
            <a:chOff x="6236665" y="5099395"/>
            <a:chExt cx="1879021" cy="412281"/>
          </a:xfrm>
        </p:grpSpPr>
        <p:sp>
          <p:nvSpPr>
            <p:cNvPr name="Freeform 32" id="32"/>
            <p:cNvSpPr/>
            <p:nvPr/>
          </p:nvSpPr>
          <p:spPr>
            <a:xfrm>
              <a:off x="7019896" y="5099395"/>
              <a:ext cx="1095790" cy="412281"/>
            </a:xfrm>
            <a:custGeom>
              <a:avLst/>
              <a:gdLst/>
              <a:ahLst/>
              <a:cxnLst/>
              <a:rect r="r" b="b" t="t" l="l"/>
              <a:pathLst>
                <a:path w="1024" h="395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0" y="395"/>
                  </a:lnTo>
                  <a:lnTo>
                    <a:pt x="1024" y="395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6236665" y="5099395"/>
              <a:ext cx="1205369" cy="412281"/>
            </a:xfrm>
            <a:custGeom>
              <a:avLst/>
              <a:gdLst/>
              <a:ahLst/>
              <a:cxnLst/>
              <a:rect r="r" b="b" t="t" l="l"/>
              <a:pathLst>
                <a:path w="1024" h="395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0" y="395"/>
                  </a:lnTo>
                  <a:lnTo>
                    <a:pt x="1024" y="395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sp>
        <p:nvSpPr>
          <p:cNvPr name="Freeform 34" id="34"/>
          <p:cNvSpPr/>
          <p:nvPr/>
        </p:nvSpPr>
        <p:spPr>
          <a:xfrm>
            <a:off x="6798733" y="3852619"/>
            <a:ext cx="607332" cy="1593202"/>
          </a:xfrm>
          <a:custGeom>
            <a:avLst/>
            <a:gdLst/>
            <a:ahLst/>
            <a:cxnLst/>
            <a:rect r="r" b="b" t="t" l="l"/>
            <a:pathLst>
              <a:path w="450" h="1168" stroke="true" fill="norm" extrusionOk="true">
                <a:moveTo>
                  <a:pt x="441" y="536"/>
                </a:moveTo>
                <a:cubicBezTo>
                  <a:pt x="448" y="532"/>
                  <a:pt x="442" y="521"/>
                  <a:pt x="440" y="515"/>
                </a:cubicBezTo>
                <a:cubicBezTo>
                  <a:pt x="435" y="498"/>
                  <a:pt x="431" y="481"/>
                  <a:pt x="426" y="464"/>
                </a:cubicBezTo>
                <a:cubicBezTo>
                  <a:pt x="412" y="415"/>
                  <a:pt x="399" y="366"/>
                  <a:pt x="385" y="316"/>
                </a:cubicBezTo>
                <a:cubicBezTo>
                  <a:pt x="375" y="278"/>
                  <a:pt x="364" y="240"/>
                  <a:pt x="354" y="202"/>
                </a:cubicBezTo>
                <a:cubicBezTo>
                  <a:pt x="350" y="186"/>
                  <a:pt x="343" y="178"/>
                  <a:pt x="326" y="172"/>
                </a:cubicBezTo>
                <a:cubicBezTo>
                  <a:pt x="301" y="162"/>
                  <a:pt x="272" y="162"/>
                  <a:pt x="248" y="150"/>
                </a:cubicBezTo>
                <a:cubicBezTo>
                  <a:pt x="245" y="160"/>
                  <a:pt x="239" y="173"/>
                  <a:pt x="240" y="184"/>
                </a:cubicBezTo>
                <a:cubicBezTo>
                  <a:pt x="241" y="199"/>
                  <a:pt x="243" y="215"/>
                  <a:pt x="245" y="231"/>
                </a:cubicBezTo>
                <a:cubicBezTo>
                  <a:pt x="250" y="269"/>
                  <a:pt x="254" y="308"/>
                  <a:pt x="265" y="345"/>
                </a:cubicBezTo>
                <a:cubicBezTo>
                  <a:pt x="271" y="365"/>
                  <a:pt x="269" y="388"/>
                  <a:pt x="268" y="409"/>
                </a:cubicBezTo>
                <a:cubicBezTo>
                  <a:pt x="268" y="417"/>
                  <a:pt x="271" y="440"/>
                  <a:pt x="263" y="446"/>
                </a:cubicBezTo>
                <a:cubicBezTo>
                  <a:pt x="250" y="456"/>
                  <a:pt x="227" y="455"/>
                  <a:pt x="211" y="455"/>
                </a:cubicBezTo>
                <a:cubicBezTo>
                  <a:pt x="194" y="455"/>
                  <a:pt x="178" y="453"/>
                  <a:pt x="161" y="453"/>
                </a:cubicBezTo>
                <a:cubicBezTo>
                  <a:pt x="169" y="450"/>
                  <a:pt x="163" y="404"/>
                  <a:pt x="163" y="398"/>
                </a:cubicBezTo>
                <a:cubicBezTo>
                  <a:pt x="162" y="382"/>
                  <a:pt x="163" y="366"/>
                  <a:pt x="163" y="350"/>
                </a:cubicBezTo>
                <a:cubicBezTo>
                  <a:pt x="165" y="310"/>
                  <a:pt x="165" y="270"/>
                  <a:pt x="166" y="230"/>
                </a:cubicBezTo>
                <a:cubicBezTo>
                  <a:pt x="166" y="217"/>
                  <a:pt x="167" y="204"/>
                  <a:pt x="167" y="191"/>
                </a:cubicBezTo>
                <a:cubicBezTo>
                  <a:pt x="167" y="176"/>
                  <a:pt x="159" y="161"/>
                  <a:pt x="154" y="147"/>
                </a:cubicBezTo>
                <a:cubicBezTo>
                  <a:pt x="151" y="139"/>
                  <a:pt x="158" y="133"/>
                  <a:pt x="166" y="139"/>
                </a:cubicBezTo>
                <a:cubicBezTo>
                  <a:pt x="176" y="147"/>
                  <a:pt x="189" y="153"/>
                  <a:pt x="202" y="155"/>
                </a:cubicBezTo>
                <a:cubicBezTo>
                  <a:pt x="216" y="158"/>
                  <a:pt x="229" y="150"/>
                  <a:pt x="241" y="144"/>
                </a:cubicBezTo>
                <a:cubicBezTo>
                  <a:pt x="235" y="130"/>
                  <a:pt x="238" y="116"/>
                  <a:pt x="236" y="102"/>
                </a:cubicBezTo>
                <a:cubicBezTo>
                  <a:pt x="245" y="106"/>
                  <a:pt x="246" y="88"/>
                  <a:pt x="246" y="84"/>
                </a:cubicBezTo>
                <a:cubicBezTo>
                  <a:pt x="246" y="73"/>
                  <a:pt x="248" y="67"/>
                  <a:pt x="239" y="70"/>
                </a:cubicBezTo>
                <a:cubicBezTo>
                  <a:pt x="242" y="38"/>
                  <a:pt x="232" y="0"/>
                  <a:pt x="193" y="3"/>
                </a:cubicBezTo>
                <a:cubicBezTo>
                  <a:pt x="146" y="6"/>
                  <a:pt x="141" y="40"/>
                  <a:pt x="144" y="79"/>
                </a:cubicBezTo>
                <a:cubicBezTo>
                  <a:pt x="118" y="75"/>
                  <a:pt x="98" y="98"/>
                  <a:pt x="90" y="120"/>
                </a:cubicBezTo>
                <a:cubicBezTo>
                  <a:pt x="87" y="126"/>
                  <a:pt x="87" y="136"/>
                  <a:pt x="82" y="141"/>
                </a:cubicBezTo>
                <a:cubicBezTo>
                  <a:pt x="79" y="145"/>
                  <a:pt x="75" y="149"/>
                  <a:pt x="72" y="153"/>
                </a:cubicBezTo>
                <a:cubicBezTo>
                  <a:pt x="59" y="170"/>
                  <a:pt x="46" y="187"/>
                  <a:pt x="35" y="205"/>
                </a:cubicBezTo>
                <a:cubicBezTo>
                  <a:pt x="24" y="221"/>
                  <a:pt x="14" y="240"/>
                  <a:pt x="10" y="260"/>
                </a:cubicBezTo>
                <a:cubicBezTo>
                  <a:pt x="8" y="274"/>
                  <a:pt x="0" y="307"/>
                  <a:pt x="12" y="320"/>
                </a:cubicBezTo>
                <a:cubicBezTo>
                  <a:pt x="18" y="326"/>
                  <a:pt x="39" y="322"/>
                  <a:pt x="47" y="322"/>
                </a:cubicBezTo>
                <a:cubicBezTo>
                  <a:pt x="63" y="321"/>
                  <a:pt x="87" y="317"/>
                  <a:pt x="94" y="300"/>
                </a:cubicBezTo>
                <a:cubicBezTo>
                  <a:pt x="97" y="347"/>
                  <a:pt x="100" y="395"/>
                  <a:pt x="100" y="442"/>
                </a:cubicBezTo>
                <a:cubicBezTo>
                  <a:pt x="101" y="494"/>
                  <a:pt x="90" y="551"/>
                  <a:pt x="72" y="600"/>
                </a:cubicBezTo>
                <a:cubicBezTo>
                  <a:pt x="69" y="608"/>
                  <a:pt x="69" y="608"/>
                  <a:pt x="80" y="609"/>
                </a:cubicBezTo>
                <a:cubicBezTo>
                  <a:pt x="85" y="610"/>
                  <a:pt x="94" y="608"/>
                  <a:pt x="95" y="614"/>
                </a:cubicBezTo>
                <a:cubicBezTo>
                  <a:pt x="97" y="629"/>
                  <a:pt x="97" y="644"/>
                  <a:pt x="98" y="658"/>
                </a:cubicBezTo>
                <a:cubicBezTo>
                  <a:pt x="100" y="712"/>
                  <a:pt x="101" y="765"/>
                  <a:pt x="102" y="819"/>
                </a:cubicBezTo>
                <a:cubicBezTo>
                  <a:pt x="104" y="897"/>
                  <a:pt x="104" y="975"/>
                  <a:pt x="102" y="1053"/>
                </a:cubicBezTo>
                <a:cubicBezTo>
                  <a:pt x="101" y="1068"/>
                  <a:pt x="101" y="1082"/>
                  <a:pt x="101" y="1097"/>
                </a:cubicBezTo>
                <a:cubicBezTo>
                  <a:pt x="101" y="1099"/>
                  <a:pt x="90" y="1105"/>
                  <a:pt x="88" y="1107"/>
                </a:cubicBezTo>
                <a:cubicBezTo>
                  <a:pt x="79" y="1114"/>
                  <a:pt x="69" y="1123"/>
                  <a:pt x="61" y="1132"/>
                </a:cubicBezTo>
                <a:cubicBezTo>
                  <a:pt x="56" y="1137"/>
                  <a:pt x="47" y="1147"/>
                  <a:pt x="50" y="1155"/>
                </a:cubicBezTo>
                <a:cubicBezTo>
                  <a:pt x="53" y="1168"/>
                  <a:pt x="78" y="1163"/>
                  <a:pt x="87" y="1161"/>
                </a:cubicBezTo>
                <a:cubicBezTo>
                  <a:pt x="103" y="1157"/>
                  <a:pt x="118" y="1149"/>
                  <a:pt x="130" y="1138"/>
                </a:cubicBezTo>
                <a:cubicBezTo>
                  <a:pt x="140" y="1129"/>
                  <a:pt x="144" y="1120"/>
                  <a:pt x="158" y="1114"/>
                </a:cubicBezTo>
                <a:cubicBezTo>
                  <a:pt x="171" y="1109"/>
                  <a:pt x="169" y="1107"/>
                  <a:pt x="171" y="1093"/>
                </a:cubicBezTo>
                <a:cubicBezTo>
                  <a:pt x="174" y="1073"/>
                  <a:pt x="177" y="1054"/>
                  <a:pt x="179" y="1034"/>
                </a:cubicBezTo>
                <a:cubicBezTo>
                  <a:pt x="185" y="989"/>
                  <a:pt x="192" y="942"/>
                  <a:pt x="193" y="897"/>
                </a:cubicBezTo>
                <a:cubicBezTo>
                  <a:pt x="193" y="872"/>
                  <a:pt x="190" y="848"/>
                  <a:pt x="190" y="824"/>
                </a:cubicBezTo>
                <a:cubicBezTo>
                  <a:pt x="189" y="803"/>
                  <a:pt x="193" y="782"/>
                  <a:pt x="197" y="762"/>
                </a:cubicBezTo>
                <a:cubicBezTo>
                  <a:pt x="204" y="725"/>
                  <a:pt x="213" y="688"/>
                  <a:pt x="223" y="652"/>
                </a:cubicBezTo>
                <a:cubicBezTo>
                  <a:pt x="248" y="693"/>
                  <a:pt x="274" y="737"/>
                  <a:pt x="290" y="782"/>
                </a:cubicBezTo>
                <a:cubicBezTo>
                  <a:pt x="298" y="805"/>
                  <a:pt x="297" y="828"/>
                  <a:pt x="295" y="852"/>
                </a:cubicBezTo>
                <a:cubicBezTo>
                  <a:pt x="293" y="884"/>
                  <a:pt x="289" y="917"/>
                  <a:pt x="287" y="949"/>
                </a:cubicBezTo>
                <a:cubicBezTo>
                  <a:pt x="287" y="961"/>
                  <a:pt x="286" y="973"/>
                  <a:pt x="288" y="985"/>
                </a:cubicBezTo>
                <a:cubicBezTo>
                  <a:pt x="288" y="989"/>
                  <a:pt x="293" y="999"/>
                  <a:pt x="290" y="1001"/>
                </a:cubicBezTo>
                <a:cubicBezTo>
                  <a:pt x="284" y="1007"/>
                  <a:pt x="284" y="1016"/>
                  <a:pt x="288" y="1024"/>
                </a:cubicBezTo>
                <a:cubicBezTo>
                  <a:pt x="292" y="1032"/>
                  <a:pt x="299" y="1038"/>
                  <a:pt x="307" y="1044"/>
                </a:cubicBezTo>
                <a:cubicBezTo>
                  <a:pt x="309" y="1047"/>
                  <a:pt x="308" y="1054"/>
                  <a:pt x="309" y="1058"/>
                </a:cubicBezTo>
                <a:cubicBezTo>
                  <a:pt x="313" y="1079"/>
                  <a:pt x="326" y="1118"/>
                  <a:pt x="354" y="1118"/>
                </a:cubicBezTo>
                <a:cubicBezTo>
                  <a:pt x="363" y="1118"/>
                  <a:pt x="374" y="1115"/>
                  <a:pt x="377" y="1106"/>
                </a:cubicBezTo>
                <a:cubicBezTo>
                  <a:pt x="383" y="1089"/>
                  <a:pt x="360" y="1072"/>
                  <a:pt x="353" y="1058"/>
                </a:cubicBezTo>
                <a:cubicBezTo>
                  <a:pt x="349" y="1049"/>
                  <a:pt x="350" y="1042"/>
                  <a:pt x="351" y="1032"/>
                </a:cubicBezTo>
                <a:cubicBezTo>
                  <a:pt x="354" y="1012"/>
                  <a:pt x="356" y="992"/>
                  <a:pt x="358" y="971"/>
                </a:cubicBezTo>
                <a:cubicBezTo>
                  <a:pt x="363" y="921"/>
                  <a:pt x="368" y="871"/>
                  <a:pt x="373" y="821"/>
                </a:cubicBezTo>
                <a:cubicBezTo>
                  <a:pt x="375" y="798"/>
                  <a:pt x="372" y="779"/>
                  <a:pt x="369" y="755"/>
                </a:cubicBezTo>
                <a:cubicBezTo>
                  <a:pt x="348" y="601"/>
                  <a:pt x="348" y="601"/>
                  <a:pt x="348" y="601"/>
                </a:cubicBezTo>
                <a:cubicBezTo>
                  <a:pt x="342" y="558"/>
                  <a:pt x="332" y="518"/>
                  <a:pt x="321" y="476"/>
                </a:cubicBezTo>
                <a:cubicBezTo>
                  <a:pt x="316" y="455"/>
                  <a:pt x="316" y="432"/>
                  <a:pt x="314" y="410"/>
                </a:cubicBezTo>
                <a:cubicBezTo>
                  <a:pt x="313" y="393"/>
                  <a:pt x="312" y="376"/>
                  <a:pt x="311" y="358"/>
                </a:cubicBezTo>
                <a:cubicBezTo>
                  <a:pt x="311" y="350"/>
                  <a:pt x="311" y="341"/>
                  <a:pt x="312" y="333"/>
                </a:cubicBezTo>
                <a:cubicBezTo>
                  <a:pt x="313" y="329"/>
                  <a:pt x="313" y="309"/>
                  <a:pt x="315" y="307"/>
                </a:cubicBezTo>
                <a:cubicBezTo>
                  <a:pt x="314" y="308"/>
                  <a:pt x="327" y="352"/>
                  <a:pt x="328" y="355"/>
                </a:cubicBezTo>
                <a:cubicBezTo>
                  <a:pt x="334" y="378"/>
                  <a:pt x="339" y="401"/>
                  <a:pt x="349" y="423"/>
                </a:cubicBezTo>
                <a:cubicBezTo>
                  <a:pt x="361" y="450"/>
                  <a:pt x="368" y="480"/>
                  <a:pt x="376" y="508"/>
                </a:cubicBezTo>
                <a:cubicBezTo>
                  <a:pt x="379" y="518"/>
                  <a:pt x="382" y="529"/>
                  <a:pt x="384" y="539"/>
                </a:cubicBezTo>
                <a:cubicBezTo>
                  <a:pt x="387" y="550"/>
                  <a:pt x="393" y="546"/>
                  <a:pt x="405" y="544"/>
                </a:cubicBezTo>
                <a:cubicBezTo>
                  <a:pt x="399" y="556"/>
                  <a:pt x="404" y="568"/>
                  <a:pt x="404" y="581"/>
                </a:cubicBezTo>
                <a:cubicBezTo>
                  <a:pt x="403" y="584"/>
                  <a:pt x="403" y="587"/>
                  <a:pt x="402" y="590"/>
                </a:cubicBezTo>
                <a:cubicBezTo>
                  <a:pt x="401" y="592"/>
                  <a:pt x="397" y="596"/>
                  <a:pt x="397" y="598"/>
                </a:cubicBezTo>
                <a:cubicBezTo>
                  <a:pt x="396" y="610"/>
                  <a:pt x="411" y="595"/>
                  <a:pt x="412" y="593"/>
                </a:cubicBezTo>
                <a:cubicBezTo>
                  <a:pt x="414" y="590"/>
                  <a:pt x="416" y="573"/>
                  <a:pt x="419" y="576"/>
                </a:cubicBezTo>
                <a:cubicBezTo>
                  <a:pt x="423" y="579"/>
                  <a:pt x="421" y="587"/>
                  <a:pt x="421" y="591"/>
                </a:cubicBezTo>
                <a:cubicBezTo>
                  <a:pt x="420" y="602"/>
                  <a:pt x="416" y="605"/>
                  <a:pt x="408" y="611"/>
                </a:cubicBezTo>
                <a:cubicBezTo>
                  <a:pt x="396" y="622"/>
                  <a:pt x="415" y="622"/>
                  <a:pt x="415" y="621"/>
                </a:cubicBezTo>
                <a:cubicBezTo>
                  <a:pt x="412" y="630"/>
                  <a:pt x="417" y="631"/>
                  <a:pt x="423" y="626"/>
                </a:cubicBezTo>
                <a:cubicBezTo>
                  <a:pt x="430" y="620"/>
                  <a:pt x="435" y="612"/>
                  <a:pt x="439" y="604"/>
                </a:cubicBezTo>
                <a:cubicBezTo>
                  <a:pt x="450" y="583"/>
                  <a:pt x="444" y="559"/>
                  <a:pt x="441" y="536"/>
                </a:cubicBezTo>
                <a:cubicBezTo>
                  <a:pt x="444" y="535"/>
                  <a:pt x="442" y="548"/>
                  <a:pt x="441" y="536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TextBox 35" id="35"/>
          <p:cNvSpPr txBox="true"/>
          <p:nvPr/>
        </p:nvSpPr>
        <p:spPr>
          <a:xfrm>
            <a:off x="520050" y="781495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选择排序与归并排序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520050" y="2640695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简单选择排序每次选择最小元素放到已排好序列末尾，时间复杂度O(n^2)。堆排序利用堆结构实现选择排序，建堆后每次取出堆顶元素（最大或最小）并重建堆，时间复杂度O(n log n)。堆排序不需要大量辅助空间，适合处理大规模数据。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520050" y="2179020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简单选择排序与堆排序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520050" y="4836223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归并排序也是分治算法，将序列分成两半分别排序后合并，时间复杂度稳定为O(n log n)，空间复杂度O(n)。基数排序按位进行分配和收集，不需要比较操作，时间复杂度O(dn)，其中d是关键字的位数。基数排序适用于整数或固定长度字符串的排序。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520050" y="4374548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归并排序与基数排序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>
            <a:off x="663762" y="1572999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1" id="41"/>
          <p:cNvSpPr/>
          <p:nvPr/>
        </p:nvSpPr>
        <p:spPr>
          <a:xfrm>
            <a:off x="968562" y="1572998"/>
            <a:ext cx="219075" cy="2190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2" id="42"/>
          <p:cNvSpPr/>
          <p:nvPr/>
        </p:nvSpPr>
        <p:spPr>
          <a:xfrm>
            <a:off x="1273362" y="1572997"/>
            <a:ext cx="219075" cy="219075"/>
          </a:xfrm>
          <a:prstGeom prst="ellipse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3" id="43"/>
          <p:cNvSpPr/>
          <p:nvPr/>
        </p:nvSpPr>
        <p:spPr>
          <a:xfrm>
            <a:off x="1578162" y="1572997"/>
            <a:ext cx="219075" cy="219075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4" id="4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2048643" y="2426912"/>
            <a:ext cx="8094713" cy="120032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72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感谢聆听</a:t>
            </a:r>
            <a:endParaRPr lang="en-US" sz="1100"/>
          </a:p>
        </p:txBody>
      </p:sp>
      <p:grpSp>
        <p:nvGrpSpPr>
          <p:cNvPr name="Group 6" id="6"/>
          <p:cNvGrpSpPr/>
          <p:nvPr/>
        </p:nvGrpSpPr>
        <p:grpSpPr>
          <a:xfrm>
            <a:off x="3938125" y="3815347"/>
            <a:ext cx="4798350" cy="338555"/>
            <a:chOff x="4050366" y="3647437"/>
            <a:chExt cx="4798350" cy="338555"/>
          </a:xfrm>
        </p:grpSpPr>
        <p:sp>
          <p:nvSpPr>
            <p:cNvPr name="TextBox 7" id="7"/>
            <p:cNvSpPr txBox="true"/>
            <p:nvPr/>
          </p:nvSpPr>
          <p:spPr>
            <a:xfrm>
              <a:off x="4366414" y="3647437"/>
              <a:ext cx="1623082" cy="338554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zh-CN" b="false" i="false" sz="1600" baseline="0" u="none" altLang="en-US">
                  <a:solidFill>
                    <a:schemeClr val="bg1"/>
                  </a:solidFill>
                  <a:latin typeface="微软雅黑"/>
                  <a:ea typeface="微软雅黑"/>
                </a:rPr>
                <a:t>演讲人：</a:t>
              </a:r>
              <a:r>
                <a:rPr lang="en-US" b="false" i="false" sz="16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XXX</a:t>
              </a:r>
              <a:endParaRPr lang="en-US" sz="1100"/>
            </a:p>
          </p:txBody>
        </p:sp>
        <p:sp>
          <p:nvSpPr>
            <p:cNvPr name="TextBox 8" id="8"/>
            <p:cNvSpPr txBox="true"/>
            <p:nvPr/>
          </p:nvSpPr>
          <p:spPr>
            <a:xfrm>
              <a:off x="6096000" y="3647438"/>
              <a:ext cx="2752716" cy="338554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zh-CN" b="false" i="false" sz="1600" baseline="0" u="none" altLang="en-US">
                  <a:solidFill>
                    <a:schemeClr val="bg1"/>
                  </a:solidFill>
                  <a:latin typeface="微软雅黑"/>
                  <a:ea typeface="微软雅黑"/>
                </a:rPr>
                <a:t>时间：2026年06月04日</a:t>
              </a:r>
              <a:endParaRPr lang="en-US" sz="1100"/>
            </a:p>
          </p:txBody>
        </p:sp>
        <p:pic>
          <p:nvPicPr>
            <p:cNvPr name="image41.png" id="9"/>
            <p:cNvPicPr>
              <a:picLocks noChangeAspect="true"/>
            </p:cNvPicPr>
            <p:nvPr/>
          </p:nvPicPr>
          <p:blipFill>
            <a:blip r:embed="rId3">
              <a:biLevel thresh="25000"/>
            </a:blip>
            <a:stretch>
              <a:fillRect t="0" l="0" b="0" r="0"/>
            </a:stretch>
          </p:blipFill>
          <p:spPr>
            <a:xfrm>
              <a:off x="4050366" y="3647437"/>
              <a:ext cx="338555" cy="338555"/>
            </a:xfrm>
            <a:prstGeom prst="rect">
              <a:avLst/>
            </a:prstGeom>
          </p:spPr>
        </p:pic>
        <p:pic>
          <p:nvPicPr>
            <p:cNvPr name="image42.png" id="10"/>
            <p:cNvPicPr>
              <a:picLocks noChangeAspect="true"/>
            </p:cNvPicPr>
            <p:nvPr/>
          </p:nvPicPr>
          <p:blipFill>
            <a:blip r:embed="rId4">
              <a:biLevel thresh="25000"/>
            </a:blip>
            <a:stretch>
              <a:fillRect t="0" l="0" b="0" r="0"/>
            </a:stretch>
          </p:blipFill>
          <p:spPr>
            <a:xfrm>
              <a:off x="5989496" y="3684004"/>
              <a:ext cx="265421" cy="265421"/>
            </a:xfrm>
            <a:prstGeom prst="rect">
              <a:avLst/>
            </a:prstGeom>
          </p:spPr>
        </p:pic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2026-06-04T08:44:54Z</dcterms:created>
  <cp:lastModifiedBy>user</cp:lastModifiedBy>
  <dcterms:modified xsi:type="dcterms:W3CDTF">2026-06-04T08:44:54Z</dcterms:modified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copyright">
    <vt:lpwstr>https://docmee.cn</vt:lpwstr>
  </property>
  <property pid="3" fmtid="{D5CDD505-2E9C-101B-9397-08002B2CF9AE}" name="developer">
    <vt:lpwstr>https://github.com/veasion</vt:lpwstr>
  </property>
  <property pid="4" fmtid="{D5CDD505-2E9C-101B-9397-08002B2CF9AE}" name="AIGC">
    <vt:lpwstr>{"ContentPropagator":"文多多","Label":"1","ReservedCode1":"1780562694343","ProduceID":"wenduoduo-pptx-1780562694343","ReservedCode2":"1780562694343","PropagateID":"wenduoduo-pptx1780562694343","ContentProducer":"文多多"}</vt:lpwstr>
  </property>
</Properties>
</file>